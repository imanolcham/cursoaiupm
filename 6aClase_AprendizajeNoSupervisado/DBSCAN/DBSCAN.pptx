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95" r:id="rId2"/>
    <p:sldId id="298" r:id="rId3"/>
    <p:sldId id="296" r:id="rId4"/>
    <p:sldId id="267" r:id="rId5"/>
    <p:sldId id="270" r:id="rId6"/>
    <p:sldId id="268" r:id="rId7"/>
    <p:sldId id="269" r:id="rId8"/>
    <p:sldId id="271" r:id="rId9"/>
    <p:sldId id="276" r:id="rId10"/>
    <p:sldId id="277" r:id="rId11"/>
    <p:sldId id="278" r:id="rId12"/>
    <p:sldId id="279" r:id="rId13"/>
    <p:sldId id="280" r:id="rId14"/>
    <p:sldId id="294" r:id="rId15"/>
    <p:sldId id="297" r:id="rId16"/>
    <p:sldId id="293" r:id="rId17"/>
    <p:sldId id="265" r:id="rId18"/>
  </p:sldIdLst>
  <p:sldSz cx="12192000" cy="6858000"/>
  <p:notesSz cx="6792913" cy="992505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293F6E3-07D9-4453-BD5B-66E585CADE65}">
          <p14:sldIdLst>
            <p14:sldId id="295"/>
            <p14:sldId id="298"/>
            <p14:sldId id="296"/>
            <p14:sldId id="267"/>
            <p14:sldId id="270"/>
            <p14:sldId id="268"/>
            <p14:sldId id="269"/>
            <p14:sldId id="271"/>
            <p14:sldId id="276"/>
            <p14:sldId id="277"/>
            <p14:sldId id="278"/>
            <p14:sldId id="279"/>
            <p14:sldId id="280"/>
            <p14:sldId id="294"/>
            <p14:sldId id="297"/>
            <p14:sldId id="293"/>
          </p14:sldIdLst>
        </p14:section>
        <p14:section name="Sección sin título" id="{52992FE5-E3ED-442C-96E2-59E0829CB5C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453E"/>
    <a:srgbClr val="F3BFB3"/>
    <a:srgbClr val="D4D4D4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908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44" y="270"/>
      </p:cViewPr>
      <p:guideLst>
        <p:guide orient="horz" pos="138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3595" cy="497976"/>
          </a:xfrm>
          <a:prstGeom prst="rect">
            <a:avLst/>
          </a:prstGeom>
        </p:spPr>
        <p:txBody>
          <a:bodyPr vert="horz" lIns="91376" tIns="45688" rIns="91376" bIns="45688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7746" y="1"/>
            <a:ext cx="2943595" cy="497976"/>
          </a:xfrm>
          <a:prstGeom prst="rect">
            <a:avLst/>
          </a:prstGeom>
        </p:spPr>
        <p:txBody>
          <a:bodyPr vert="horz" lIns="91376" tIns="45688" rIns="91376" bIns="45688" rtlCol="0"/>
          <a:lstStyle>
            <a:lvl1pPr algn="r">
              <a:defRPr sz="1200"/>
            </a:lvl1pPr>
          </a:lstStyle>
          <a:p>
            <a:fld id="{7A6179E6-35F0-4F71-96B3-CF6E453949F7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27076"/>
            <a:ext cx="2943595" cy="497975"/>
          </a:xfrm>
          <a:prstGeom prst="rect">
            <a:avLst/>
          </a:prstGeom>
        </p:spPr>
        <p:txBody>
          <a:bodyPr vert="horz" lIns="91376" tIns="45688" rIns="91376" bIns="45688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7746" y="9427076"/>
            <a:ext cx="2943595" cy="497975"/>
          </a:xfrm>
          <a:prstGeom prst="rect">
            <a:avLst/>
          </a:prstGeom>
        </p:spPr>
        <p:txBody>
          <a:bodyPr vert="horz" lIns="91376" tIns="45688" rIns="91376" bIns="45688" rtlCol="0" anchor="b"/>
          <a:lstStyle>
            <a:lvl1pPr algn="r">
              <a:defRPr sz="1200"/>
            </a:lvl1pPr>
          </a:lstStyle>
          <a:p>
            <a:fld id="{64CB6D2D-D9A9-4D56-A82A-4A572EE023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0958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3595" cy="497976"/>
          </a:xfrm>
          <a:prstGeom prst="rect">
            <a:avLst/>
          </a:prstGeom>
        </p:spPr>
        <p:txBody>
          <a:bodyPr vert="horz" lIns="91376" tIns="45688" rIns="91376" bIns="45688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6" y="1"/>
            <a:ext cx="2943595" cy="497976"/>
          </a:xfrm>
          <a:prstGeom prst="rect">
            <a:avLst/>
          </a:prstGeom>
        </p:spPr>
        <p:txBody>
          <a:bodyPr vert="horz" lIns="91376" tIns="45688" rIns="91376" bIns="45688" rtlCol="0"/>
          <a:lstStyle>
            <a:lvl1pPr algn="r">
              <a:defRPr sz="1200"/>
            </a:lvl1pPr>
          </a:lstStyle>
          <a:p>
            <a:fld id="{A93DBFC0-00FC-4C8F-976D-30EC62A610F5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76" tIns="45688" rIns="91376" bIns="45688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0"/>
            <a:ext cx="5434330" cy="3907989"/>
          </a:xfrm>
          <a:prstGeom prst="rect">
            <a:avLst/>
          </a:prstGeom>
        </p:spPr>
        <p:txBody>
          <a:bodyPr vert="horz" lIns="91376" tIns="45688" rIns="91376" bIns="4568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7076"/>
            <a:ext cx="2943595" cy="497975"/>
          </a:xfrm>
          <a:prstGeom prst="rect">
            <a:avLst/>
          </a:prstGeom>
        </p:spPr>
        <p:txBody>
          <a:bodyPr vert="horz" lIns="91376" tIns="45688" rIns="91376" bIns="45688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6" y="9427076"/>
            <a:ext cx="2943595" cy="497975"/>
          </a:xfrm>
          <a:prstGeom prst="rect">
            <a:avLst/>
          </a:prstGeom>
        </p:spPr>
        <p:txBody>
          <a:bodyPr vert="horz" lIns="91376" tIns="45688" rIns="91376" bIns="45688" rtlCol="0" anchor="b"/>
          <a:lstStyle>
            <a:lvl1pPr algn="r">
              <a:defRPr sz="1200"/>
            </a:lvl1pPr>
          </a:lstStyle>
          <a:p>
            <a:fld id="{1291E284-FB0A-4E60-AB2F-C5EDB034FE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39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2CFDE-017E-4AD7-A9BB-7B1F29A37D24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26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1F2C-7E5A-49FE-A1F2-F40A05FDB0B5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91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871F2-06CA-41C0-9642-AE98CE2819D8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37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12E0E-DEA5-4CB4-AC89-9E0A85102633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80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C19A-912B-4F6B-86F6-DEDA20743EE6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74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66311-CFD3-4432-B35D-98BDF232EF61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53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6593B-9F2E-4895-86C9-25023821CF63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68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91AE6-93D3-4168-BBC8-6F74CA69BEA7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4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1819-C8BA-416C-A0D6-7F83F1E7162D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16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970D-F9C1-4F49-9439-476E50F8F0A3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3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CB60-6850-4C7F-8AD0-135AE019E640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76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832A6-0A32-4744-B7B2-240034DF923D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26/02/2026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00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shee87.github.io/data%20science/general/Clustering-with-Scikit-with-GIFs/" TargetMode="Externa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bs.ifi.lmu.de/Publikationen/Papers/KDD-96.final.frame.pdf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cluster.DBSCAN.html" TargetMode="External"/><Relationship Id="rId7" Type="http://schemas.openxmlformats.org/officeDocument/2006/relationships/hyperlink" Target="http://www.sthda.com/english/wiki/wiki.php?id_contents=7940" TargetMode="External"/><Relationship Id="rId2" Type="http://schemas.openxmlformats.org/officeDocument/2006/relationships/hyperlink" Target="https://scikit-learn.org/stable/modules/clustering.html#dbsca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ashee87.github.io/data%20science/general/Clustering-with-Scikit-with-GIFs/" TargetMode="External"/><Relationship Id="rId5" Type="http://schemas.openxmlformats.org/officeDocument/2006/relationships/hyperlink" Target="https://medium.com/@satpatishrimanta/clustering-by-dbscan-density-based-spatial-clustering-of-applications-with-noise-clearly-f93c5c72f706" TargetMode="External"/><Relationship Id="rId4" Type="http://schemas.openxmlformats.org/officeDocument/2006/relationships/hyperlink" Target="https://www.kaggle.com/code/ranja7/clustering-with-dbsc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-4080" y="-777"/>
            <a:ext cx="12192000" cy="1212498"/>
          </a:xfrm>
          <a:prstGeom prst="rect">
            <a:avLst/>
          </a:prstGeom>
          <a:solidFill>
            <a:schemeClr val="accent1">
              <a:lumMod val="40000"/>
              <a:lumOff val="6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Picture 2" descr="DBSCAN animated">
            <a:extLst>
              <a:ext uri="{FF2B5EF4-FFF2-40B4-BE49-F238E27FC236}">
                <a16:creationId xmlns:a16="http://schemas.microsoft.com/office/drawing/2014/main" id="{DF57A840-A40C-321F-9B93-A6802E249DF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6" y="2588411"/>
            <a:ext cx="5687271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2693862" y="261791"/>
            <a:ext cx="195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accent1">
                    <a:lumMod val="50000"/>
                  </a:schemeClr>
                </a:solidFill>
              </a:rPr>
              <a:t>DBSCAN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286E82-FF38-1057-622F-02244AD16F2B}"/>
              </a:ext>
            </a:extLst>
          </p:cNvPr>
          <p:cNvSpPr txBox="1"/>
          <p:nvPr/>
        </p:nvSpPr>
        <p:spPr>
          <a:xfrm>
            <a:off x="110157" y="1229060"/>
            <a:ext cx="11975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>
                <a:solidFill>
                  <a:schemeClr val="accent1">
                    <a:lumMod val="50000"/>
                  </a:schemeClr>
                </a:solidFill>
              </a:rPr>
              <a:t>Density-Based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accent1">
                    <a:lumMod val="50000"/>
                  </a:schemeClr>
                </a:solidFill>
              </a:rPr>
              <a:t>Spatial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accent1">
                    <a:lumMod val="50000"/>
                  </a:schemeClr>
                </a:solidFill>
              </a:rPr>
              <a:t>Clustering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 of </a:t>
            </a:r>
            <a:r>
              <a:rPr lang="es-ES" i="1" dirty="0" err="1">
                <a:solidFill>
                  <a:schemeClr val="accent1">
                    <a:lumMod val="50000"/>
                  </a:schemeClr>
                </a:solidFill>
              </a:rPr>
              <a:t>Applications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accent1">
                    <a:lumMod val="50000"/>
                  </a:schemeClr>
                </a:solidFill>
              </a:rPr>
              <a:t>with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accent1">
                    <a:lumMod val="50000"/>
                  </a:schemeClr>
                </a:solidFill>
              </a:rPr>
              <a:t>Noise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es un algoritmo no supervisado de agrupamiento de datos. Agrupa puntos que están próximos entre si basándose en identificar zonas de alta densidad. </a:t>
            </a:r>
            <a:endParaRPr lang="es-ES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 txBox="1">
            <a:spLocks/>
          </p:cNvSpPr>
          <p:nvPr/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FAC8707-08F4-B68D-2A45-F2B19BBAC274}"/>
              </a:ext>
            </a:extLst>
          </p:cNvPr>
          <p:cNvSpPr txBox="1"/>
          <p:nvPr/>
        </p:nvSpPr>
        <p:spPr>
          <a:xfrm>
            <a:off x="5067555" y="2274838"/>
            <a:ext cx="668090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Propiedades de los métodos basados en densidad:</a:t>
            </a:r>
          </a:p>
          <a:p>
            <a:pPr algn="l"/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Los datos se agrupan por áreas de alta concentración de puntos rodeadas por áreas de baja concentración. Básicamente, el algoritmo encuentra los lugares que son densos en puntos de datos y los llama clústeres.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Los clústeres pueden tener cualquier forma. No están limitado a condiciones esperadas.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Los algoritmos de agrupamiento basados en densidad no intentan asignar los valores atípicos a ningún grupo, por lo que se ignoran. (detección de ruido)</a:t>
            </a:r>
          </a:p>
        </p:txBody>
      </p:sp>
      <p:pic>
        <p:nvPicPr>
          <p:cNvPr id="13" name="Picture 2" descr="Logo Universidad">
            <a:extLst>
              <a:ext uri="{FF2B5EF4-FFF2-40B4-BE49-F238E27FC236}">
                <a16:creationId xmlns:a16="http://schemas.microsoft.com/office/drawing/2014/main" id="{3C1518FD-9B9D-EB2F-895D-C671464FF1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51"/>
          <a:stretch/>
        </p:blipFill>
        <p:spPr bwMode="auto">
          <a:xfrm>
            <a:off x="0" y="4614"/>
            <a:ext cx="1416034" cy="129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D56AFBF-582A-D206-33B6-3419E2AE8A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73" t="1221" r="4089" b="-1221"/>
          <a:stretch/>
        </p:blipFill>
        <p:spPr>
          <a:xfrm>
            <a:off x="10174778" y="17581"/>
            <a:ext cx="2013142" cy="143991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6628F6E-EF28-4E8A-86FD-981EA7CE460F}"/>
              </a:ext>
            </a:extLst>
          </p:cNvPr>
          <p:cNvSpPr txBox="1"/>
          <p:nvPr/>
        </p:nvSpPr>
        <p:spPr>
          <a:xfrm>
            <a:off x="6675120" y="219672"/>
            <a:ext cx="3672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dirty="0">
                <a:solidFill>
                  <a:schemeClr val="tx2"/>
                </a:solidFill>
              </a:rPr>
              <a:t>Inteligencia Artificial para la </a:t>
            </a:r>
          </a:p>
          <a:p>
            <a:pPr algn="r"/>
            <a:r>
              <a:rPr lang="es-ES" sz="2400" dirty="0">
                <a:solidFill>
                  <a:schemeClr val="tx2"/>
                </a:solidFill>
              </a:rPr>
              <a:t>Ingeniería Aeroespacial</a:t>
            </a:r>
          </a:p>
        </p:txBody>
      </p:sp>
    </p:spTree>
    <p:extLst>
      <p:ext uri="{BB962C8B-B14F-4D97-AF65-F5344CB8AC3E}">
        <p14:creationId xmlns:p14="http://schemas.microsoft.com/office/powerpoint/2010/main" val="105323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2C113-17ED-A9AB-C532-DB536818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24471E7-924A-36E0-69B9-0A0C5105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5" name="Picture 2" descr="DBSCAN tutorial">
            <a:extLst>
              <a:ext uri="{FF2B5EF4-FFF2-40B4-BE49-F238E27FC236}">
                <a16:creationId xmlns:a16="http://schemas.microsoft.com/office/drawing/2014/main" id="{82CBA036-22FA-C227-2D7D-5A00862AD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14" y="1892199"/>
            <a:ext cx="4171114" cy="394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2142686-B7C8-7271-8B83-B2F9DF341374}"/>
              </a:ext>
            </a:extLst>
          </p:cNvPr>
          <p:cNvSpPr txBox="1"/>
          <p:nvPr/>
        </p:nvSpPr>
        <p:spPr>
          <a:xfrm>
            <a:off x="669650" y="5988359"/>
            <a:ext cx="3814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</a:rPr>
              <a:t>From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</a:rPr>
              <a:t> David </a:t>
            </a:r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</a:rPr>
              <a:t>Sheehan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https://dashee87.github.io/</a:t>
            </a:r>
            <a:endParaRPr lang="es-E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E8CE3B81-F912-6E6E-5898-50D6AB006683}"/>
              </a:ext>
            </a:extLst>
          </p:cNvPr>
          <p:cNvSpPr txBox="1">
            <a:spLocks/>
          </p:cNvSpPr>
          <p:nvPr/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E2ACF81-4E55-98CD-65B0-D0330705BF8B}"/>
              </a:ext>
            </a:extLst>
          </p:cNvPr>
          <p:cNvSpPr/>
          <p:nvPr/>
        </p:nvSpPr>
        <p:spPr>
          <a:xfrm>
            <a:off x="7905639" y="365760"/>
            <a:ext cx="1669407" cy="7819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Elige un punto no visitado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DD31F04-BD09-1800-B22D-63E0151EDEAD}"/>
              </a:ext>
            </a:extLst>
          </p:cNvPr>
          <p:cNvSpPr/>
          <p:nvPr/>
        </p:nvSpPr>
        <p:spPr>
          <a:xfrm>
            <a:off x="7258556" y="1488935"/>
            <a:ext cx="2848397" cy="7363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Márcalo como visitado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Cuenta sus vecinos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p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mbo 18">
                <a:extLst>
                  <a:ext uri="{FF2B5EF4-FFF2-40B4-BE49-F238E27FC236}">
                    <a16:creationId xmlns:a16="http://schemas.microsoft.com/office/drawing/2014/main" id="{F27D4F3D-440F-6522-FE07-ED5F34C13100}"/>
                  </a:ext>
                </a:extLst>
              </p:cNvPr>
              <p:cNvSpPr/>
              <p:nvPr/>
            </p:nvSpPr>
            <p:spPr>
              <a:xfrm>
                <a:off x="7850219" y="2617293"/>
                <a:ext cx="1780248" cy="839345"/>
              </a:xfrm>
              <a:prstGeom prst="diamond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𝑝𝑡𝑠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9" name="Rombo 18">
                <a:extLst>
                  <a:ext uri="{FF2B5EF4-FFF2-40B4-BE49-F238E27FC236}">
                    <a16:creationId xmlns:a16="http://schemas.microsoft.com/office/drawing/2014/main" id="{F27D4F3D-440F-6522-FE07-ED5F34C131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219" y="2617293"/>
                <a:ext cx="1780248" cy="839345"/>
              </a:xfrm>
              <a:prstGeom prst="diamond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543640D-688C-E91A-41C7-9A2CDEADB4ED}"/>
              </a:ext>
            </a:extLst>
          </p:cNvPr>
          <p:cNvSpPr/>
          <p:nvPr/>
        </p:nvSpPr>
        <p:spPr>
          <a:xfrm>
            <a:off x="7152010" y="3942619"/>
            <a:ext cx="3310991" cy="13361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Para cada punto vecino: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Añádelo al grupo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Márcalo como visitado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Cuenta sus vecinos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p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Flecha: doblada 20">
            <a:extLst>
              <a:ext uri="{FF2B5EF4-FFF2-40B4-BE49-F238E27FC236}">
                <a16:creationId xmlns:a16="http://schemas.microsoft.com/office/drawing/2014/main" id="{A1663DB2-27E9-5B9E-160B-ACBD2709CDC4}"/>
              </a:ext>
            </a:extLst>
          </p:cNvPr>
          <p:cNvSpPr/>
          <p:nvPr/>
        </p:nvSpPr>
        <p:spPr>
          <a:xfrm rot="16200000">
            <a:off x="6527403" y="1915288"/>
            <a:ext cx="736374" cy="1599175"/>
          </a:xfrm>
          <a:prstGeom prst="bentArrow">
            <a:avLst>
              <a:gd name="adj1" fmla="val 11476"/>
              <a:gd name="adj2" fmla="val 13868"/>
              <a:gd name="adj3" fmla="val 23755"/>
              <a:gd name="adj4" fmla="val 2184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8B3147E1-5F7A-A147-D749-9F6C8F449352}"/>
              </a:ext>
            </a:extLst>
          </p:cNvPr>
          <p:cNvSpPr/>
          <p:nvPr/>
        </p:nvSpPr>
        <p:spPr>
          <a:xfrm>
            <a:off x="5364914" y="1423067"/>
            <a:ext cx="1669407" cy="7819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Etiquétalo como ruido</a:t>
            </a:r>
          </a:p>
        </p:txBody>
      </p:sp>
      <p:sp>
        <p:nvSpPr>
          <p:cNvPr id="23" name="Flecha: doblada 22">
            <a:extLst>
              <a:ext uri="{FF2B5EF4-FFF2-40B4-BE49-F238E27FC236}">
                <a16:creationId xmlns:a16="http://schemas.microsoft.com/office/drawing/2014/main" id="{95FAEB5E-845A-B6FA-BFB6-8D2BC2D3ED8E}"/>
              </a:ext>
            </a:extLst>
          </p:cNvPr>
          <p:cNvSpPr/>
          <p:nvPr/>
        </p:nvSpPr>
        <p:spPr>
          <a:xfrm>
            <a:off x="6193455" y="550259"/>
            <a:ext cx="1599175" cy="751430"/>
          </a:xfrm>
          <a:prstGeom prst="bentArrow">
            <a:avLst>
              <a:gd name="adj1" fmla="val 11476"/>
              <a:gd name="adj2" fmla="val 13868"/>
              <a:gd name="adj3" fmla="val 23755"/>
              <a:gd name="adj4" fmla="val 2184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mbo 24">
                <a:extLst>
                  <a:ext uri="{FF2B5EF4-FFF2-40B4-BE49-F238E27FC236}">
                    <a16:creationId xmlns:a16="http://schemas.microsoft.com/office/drawing/2014/main" id="{3C534812-2F5F-676F-C217-C839CB697512}"/>
                  </a:ext>
                </a:extLst>
              </p:cNvPr>
              <p:cNvSpPr/>
              <p:nvPr/>
            </p:nvSpPr>
            <p:spPr>
              <a:xfrm>
                <a:off x="7905639" y="5629372"/>
                <a:ext cx="1780248" cy="839345"/>
              </a:xfrm>
              <a:prstGeom prst="diamond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𝑝𝑡𝑠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5" name="Rombo 24">
                <a:extLst>
                  <a:ext uri="{FF2B5EF4-FFF2-40B4-BE49-F238E27FC236}">
                    <a16:creationId xmlns:a16="http://schemas.microsoft.com/office/drawing/2014/main" id="{3C534812-2F5F-676F-C217-C839CB6975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639" y="5629372"/>
                <a:ext cx="1780248" cy="839345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lecha: en U 25">
            <a:extLst>
              <a:ext uri="{FF2B5EF4-FFF2-40B4-BE49-F238E27FC236}">
                <a16:creationId xmlns:a16="http://schemas.microsoft.com/office/drawing/2014/main" id="{006AF776-DC14-CE4F-F8EC-B84AA6ED7633}"/>
              </a:ext>
            </a:extLst>
          </p:cNvPr>
          <p:cNvSpPr/>
          <p:nvPr/>
        </p:nvSpPr>
        <p:spPr>
          <a:xfrm rot="16200000" flipV="1">
            <a:off x="9780339" y="4064573"/>
            <a:ext cx="2092310" cy="2055199"/>
          </a:xfrm>
          <a:prstGeom prst="uturnArrow">
            <a:avLst>
              <a:gd name="adj1" fmla="val 3938"/>
              <a:gd name="adj2" fmla="val 5196"/>
              <a:gd name="adj3" fmla="val 9367"/>
              <a:gd name="adj4" fmla="val 4387"/>
              <a:gd name="adj5" fmla="val 60728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7" name="Flecha: hacia abajo 26">
            <a:extLst>
              <a:ext uri="{FF2B5EF4-FFF2-40B4-BE49-F238E27FC236}">
                <a16:creationId xmlns:a16="http://schemas.microsoft.com/office/drawing/2014/main" id="{429BE171-D08E-71AB-C2B7-B5B1090E0415}"/>
              </a:ext>
            </a:extLst>
          </p:cNvPr>
          <p:cNvSpPr/>
          <p:nvPr/>
        </p:nvSpPr>
        <p:spPr>
          <a:xfrm>
            <a:off x="8631099" y="3529658"/>
            <a:ext cx="180000" cy="36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: doblada 27">
            <a:extLst>
              <a:ext uri="{FF2B5EF4-FFF2-40B4-BE49-F238E27FC236}">
                <a16:creationId xmlns:a16="http://schemas.microsoft.com/office/drawing/2014/main" id="{3A06F105-2CF7-95E2-1650-5A1FED323AAC}"/>
              </a:ext>
            </a:extLst>
          </p:cNvPr>
          <p:cNvSpPr/>
          <p:nvPr/>
        </p:nvSpPr>
        <p:spPr>
          <a:xfrm rot="16200000">
            <a:off x="6665356" y="5001310"/>
            <a:ext cx="307777" cy="1946774"/>
          </a:xfrm>
          <a:prstGeom prst="bentArrow">
            <a:avLst>
              <a:gd name="adj1" fmla="val 11476"/>
              <a:gd name="adj2" fmla="val 13868"/>
              <a:gd name="adj3" fmla="val 23755"/>
              <a:gd name="adj4" fmla="val 2184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27A78AE-2CF7-A33F-FF9F-3BFFF4E52162}"/>
              </a:ext>
            </a:extLst>
          </p:cNvPr>
          <p:cNvSpPr/>
          <p:nvPr/>
        </p:nvSpPr>
        <p:spPr>
          <a:xfrm>
            <a:off x="5153738" y="5141618"/>
            <a:ext cx="1863510" cy="5866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Punto frontera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Pasa al siguiente</a:t>
            </a:r>
          </a:p>
        </p:txBody>
      </p:sp>
      <p:sp>
        <p:nvSpPr>
          <p:cNvPr id="30" name="Flecha: doblada 29">
            <a:extLst>
              <a:ext uri="{FF2B5EF4-FFF2-40B4-BE49-F238E27FC236}">
                <a16:creationId xmlns:a16="http://schemas.microsoft.com/office/drawing/2014/main" id="{8C94D346-BC2A-1107-9ED8-1EE0D1807990}"/>
              </a:ext>
            </a:extLst>
          </p:cNvPr>
          <p:cNvSpPr/>
          <p:nvPr/>
        </p:nvSpPr>
        <p:spPr>
          <a:xfrm>
            <a:off x="5906199" y="4791018"/>
            <a:ext cx="1599175" cy="324119"/>
          </a:xfrm>
          <a:prstGeom prst="bentArrow">
            <a:avLst>
              <a:gd name="adj1" fmla="val 11476"/>
              <a:gd name="adj2" fmla="val 13868"/>
              <a:gd name="adj3" fmla="val 23755"/>
              <a:gd name="adj4" fmla="val 2184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37D2D6D-E767-03D6-6436-F894C728CC71}"/>
              </a:ext>
            </a:extLst>
          </p:cNvPr>
          <p:cNvSpPr txBox="1"/>
          <p:nvPr/>
        </p:nvSpPr>
        <p:spPr>
          <a:xfrm>
            <a:off x="38826" y="136523"/>
            <a:ext cx="2321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Aprendizaje No Supervisado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669B69E-DBFA-902C-8533-672D4A9D04B8}"/>
              </a:ext>
            </a:extLst>
          </p:cNvPr>
          <p:cNvSpPr txBox="1"/>
          <p:nvPr/>
        </p:nvSpPr>
        <p:spPr>
          <a:xfrm>
            <a:off x="10797066" y="59677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36" name="Flecha: hacia abajo 35">
            <a:extLst>
              <a:ext uri="{FF2B5EF4-FFF2-40B4-BE49-F238E27FC236}">
                <a16:creationId xmlns:a16="http://schemas.microsoft.com/office/drawing/2014/main" id="{50D96FB8-3215-C088-0F79-50CA820FD1F1}"/>
              </a:ext>
            </a:extLst>
          </p:cNvPr>
          <p:cNvSpPr/>
          <p:nvPr/>
        </p:nvSpPr>
        <p:spPr>
          <a:xfrm>
            <a:off x="8705763" y="5302371"/>
            <a:ext cx="180000" cy="360000"/>
          </a:xfrm>
          <a:prstGeom prst="down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Flecha: hacia abajo 36">
            <a:extLst>
              <a:ext uri="{FF2B5EF4-FFF2-40B4-BE49-F238E27FC236}">
                <a16:creationId xmlns:a16="http://schemas.microsoft.com/office/drawing/2014/main" id="{AF64B219-FA26-3123-2293-380857444F21}"/>
              </a:ext>
            </a:extLst>
          </p:cNvPr>
          <p:cNvSpPr/>
          <p:nvPr/>
        </p:nvSpPr>
        <p:spPr>
          <a:xfrm>
            <a:off x="8631526" y="1174049"/>
            <a:ext cx="180000" cy="360000"/>
          </a:xfrm>
          <a:prstGeom prst="down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Flecha: hacia abajo 37">
            <a:extLst>
              <a:ext uri="{FF2B5EF4-FFF2-40B4-BE49-F238E27FC236}">
                <a16:creationId xmlns:a16="http://schemas.microsoft.com/office/drawing/2014/main" id="{7A33C598-69E9-E2E5-5168-E52B343F8C9B}"/>
              </a:ext>
            </a:extLst>
          </p:cNvPr>
          <p:cNvSpPr/>
          <p:nvPr/>
        </p:nvSpPr>
        <p:spPr>
          <a:xfrm>
            <a:off x="8650342" y="2205038"/>
            <a:ext cx="180000" cy="360000"/>
          </a:xfrm>
          <a:prstGeom prst="down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647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BSCAN animated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6" y="2588411"/>
            <a:ext cx="5687271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5024762" y="2241592"/>
            <a:ext cx="71021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DBSCAN no utiliza etiquetas, es un algoritmo de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clustering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no supervisado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DBSCAN es </a:t>
            </a:r>
            <a:r>
              <a:rPr lang="es-ES" b="1" i="1" dirty="0" err="1">
                <a:solidFill>
                  <a:schemeClr val="accent1">
                    <a:lumMod val="50000"/>
                  </a:schemeClr>
                </a:solidFill>
              </a:rPr>
              <a:t>instance-based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(basado en instancias), no genera un modelo explícito de los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clusters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. En cambio, construye clústeres explorando los puntos vecinos en función de una distancia y densidad establecidas.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DBSCAN es un algoritmo </a:t>
            </a:r>
            <a:r>
              <a:rPr lang="es-ES" b="1" dirty="0" err="1">
                <a:solidFill>
                  <a:schemeClr val="accent1">
                    <a:lumMod val="50000"/>
                  </a:schemeClr>
                </a:solidFill>
              </a:rPr>
              <a:t>batch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, ya que necesita conocer todos los datos desde el inicio y los procesa a la vez para construir los clústeres. Esto lo diferencia de los algoritmos en línea que actualizan el modelo de forma iterativa con cada nueva muestra.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38826" y="136523"/>
            <a:ext cx="2321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Aprendizaje No Supervisado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589638" y="903443"/>
            <a:ext cx="65247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accent1">
                    <a:lumMod val="50000"/>
                  </a:schemeClr>
                </a:solidFill>
              </a:rPr>
              <a:t>DBSCAN: Clasificación en ML.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DC7F0AA-6BAB-AA5B-079C-4DC81327269D}"/>
              </a:ext>
            </a:extLst>
          </p:cNvPr>
          <p:cNvSpPr txBox="1"/>
          <p:nvPr/>
        </p:nvSpPr>
        <p:spPr>
          <a:xfrm>
            <a:off x="10797066" y="59677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</p:spTree>
    <p:extLst>
      <p:ext uri="{BB962C8B-B14F-4D97-AF65-F5344CB8AC3E}">
        <p14:creationId xmlns:p14="http://schemas.microsoft.com/office/powerpoint/2010/main" val="241360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286E82-FF38-1057-622F-02244AD16F2B}"/>
              </a:ext>
            </a:extLst>
          </p:cNvPr>
          <p:cNvSpPr txBox="1"/>
          <p:nvPr/>
        </p:nvSpPr>
        <p:spPr>
          <a:xfrm>
            <a:off x="188710" y="334736"/>
            <a:ext cx="11278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Fundamentos y parámetros importantes en DBSCAN.</a:t>
            </a:r>
            <a:r>
              <a:rPr lang="es-ES" sz="2000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AC8707-08F4-B68D-2A45-F2B19BBAC274}"/>
              </a:ext>
            </a:extLst>
          </p:cNvPr>
          <p:cNvSpPr txBox="1"/>
          <p:nvPr/>
        </p:nvSpPr>
        <p:spPr>
          <a:xfrm>
            <a:off x="188710" y="1090414"/>
            <a:ext cx="53467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Densidad: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DBSCAN se define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densidad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nodo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menor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igual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que un valor dado (Epsilon).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Epsilon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(ε): 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Epsilon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especifica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máxima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entre dos puntos para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es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decir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formar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mismo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de puntos: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determina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deben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considerarlos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propio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68BE838-BD1F-00AB-4D5D-6BA11A4DE78E}"/>
              </a:ext>
            </a:extLst>
          </p:cNvPr>
          <p:cNvSpPr/>
          <p:nvPr/>
        </p:nvSpPr>
        <p:spPr>
          <a:xfrm>
            <a:off x="6110641" y="589561"/>
            <a:ext cx="5892649" cy="3420910"/>
          </a:xfrm>
          <a:prstGeom prst="roundRect">
            <a:avLst>
              <a:gd name="adj" fmla="val 67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AA17ED-018C-85AD-DC27-2D93C030C9F2}"/>
              </a:ext>
            </a:extLst>
          </p:cNvPr>
          <p:cNvSpPr/>
          <p:nvPr/>
        </p:nvSpPr>
        <p:spPr>
          <a:xfrm>
            <a:off x="6458716" y="9311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837C28-94D1-78F2-73DF-04978E25019F}"/>
              </a:ext>
            </a:extLst>
          </p:cNvPr>
          <p:cNvSpPr/>
          <p:nvPr/>
        </p:nvSpPr>
        <p:spPr>
          <a:xfrm>
            <a:off x="6611116" y="10835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2A1D642-216A-4783-F683-789A77478A4C}"/>
              </a:ext>
            </a:extLst>
          </p:cNvPr>
          <p:cNvSpPr/>
          <p:nvPr/>
        </p:nvSpPr>
        <p:spPr>
          <a:xfrm>
            <a:off x="6732004" y="9189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DF13739-C7BE-382C-E6D4-AEFCDC681D94}"/>
              </a:ext>
            </a:extLst>
          </p:cNvPr>
          <p:cNvSpPr/>
          <p:nvPr/>
        </p:nvSpPr>
        <p:spPr>
          <a:xfrm>
            <a:off x="6634458" y="15407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D3AD18-4CDE-19BF-114F-0DFEBB5538F6}"/>
              </a:ext>
            </a:extLst>
          </p:cNvPr>
          <p:cNvSpPr/>
          <p:nvPr/>
        </p:nvSpPr>
        <p:spPr>
          <a:xfrm>
            <a:off x="6804004" y="1334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E669BBD-EA14-CFEA-BC72-6C2D2A866A21}"/>
              </a:ext>
            </a:extLst>
          </p:cNvPr>
          <p:cNvSpPr/>
          <p:nvPr/>
        </p:nvSpPr>
        <p:spPr>
          <a:xfrm>
            <a:off x="7065618" y="124122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F48CE63-982C-46FB-8F94-632CDE66F39F}"/>
              </a:ext>
            </a:extLst>
          </p:cNvPr>
          <p:cNvSpPr/>
          <p:nvPr/>
        </p:nvSpPr>
        <p:spPr>
          <a:xfrm>
            <a:off x="10686839" y="1036219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A2769A3-3F84-E6AC-CB59-653F01A84A83}"/>
              </a:ext>
            </a:extLst>
          </p:cNvPr>
          <p:cNvSpPr/>
          <p:nvPr/>
        </p:nvSpPr>
        <p:spPr>
          <a:xfrm>
            <a:off x="10432839" y="139792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DFEC62D-7DD0-171A-BDE9-A25FBED09E64}"/>
              </a:ext>
            </a:extLst>
          </p:cNvPr>
          <p:cNvSpPr/>
          <p:nvPr/>
        </p:nvSpPr>
        <p:spPr>
          <a:xfrm>
            <a:off x="10242039" y="140872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21B9C26-0508-7412-9AC8-B414FEA5D0A1}"/>
              </a:ext>
            </a:extLst>
          </p:cNvPr>
          <p:cNvSpPr/>
          <p:nvPr/>
        </p:nvSpPr>
        <p:spPr>
          <a:xfrm>
            <a:off x="10288839" y="11774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BE00D75-8D96-A5BE-7334-811CB8F2C055}"/>
              </a:ext>
            </a:extLst>
          </p:cNvPr>
          <p:cNvSpPr/>
          <p:nvPr/>
        </p:nvSpPr>
        <p:spPr>
          <a:xfrm>
            <a:off x="10624541" y="1262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B592A36-9079-6DBE-EBEF-000242D378A8}"/>
              </a:ext>
            </a:extLst>
          </p:cNvPr>
          <p:cNvSpPr/>
          <p:nvPr/>
        </p:nvSpPr>
        <p:spPr>
          <a:xfrm>
            <a:off x="6378089" y="142192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B735C49-7BC0-794E-8FB9-E1EFF4EB0396}"/>
              </a:ext>
            </a:extLst>
          </p:cNvPr>
          <p:cNvSpPr/>
          <p:nvPr/>
        </p:nvSpPr>
        <p:spPr>
          <a:xfrm>
            <a:off x="8241152" y="275818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5471A5A-8A62-5A80-C571-62DB659BDF22}"/>
              </a:ext>
            </a:extLst>
          </p:cNvPr>
          <p:cNvSpPr/>
          <p:nvPr/>
        </p:nvSpPr>
        <p:spPr>
          <a:xfrm>
            <a:off x="8160980" y="3060141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A5325CF-CF6E-D2CF-C909-E2B313F0ACB4}"/>
              </a:ext>
            </a:extLst>
          </p:cNvPr>
          <p:cNvSpPr/>
          <p:nvPr/>
        </p:nvSpPr>
        <p:spPr>
          <a:xfrm>
            <a:off x="7970180" y="311473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EFF8A1D-A544-3365-F619-E2F922D796EB}"/>
              </a:ext>
            </a:extLst>
          </p:cNvPr>
          <p:cNvSpPr/>
          <p:nvPr/>
        </p:nvSpPr>
        <p:spPr>
          <a:xfrm>
            <a:off x="8016980" y="286154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D19F91A-835D-50AF-BAC8-25DCE0BB9CE9}"/>
              </a:ext>
            </a:extLst>
          </p:cNvPr>
          <p:cNvSpPr/>
          <p:nvPr/>
        </p:nvSpPr>
        <p:spPr>
          <a:xfrm>
            <a:off x="8352682" y="296873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A47B48F-8002-6895-8D7D-60E3F6A508F2}"/>
              </a:ext>
            </a:extLst>
          </p:cNvPr>
          <p:cNvSpPr/>
          <p:nvPr/>
        </p:nvSpPr>
        <p:spPr>
          <a:xfrm>
            <a:off x="8108388" y="235738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77387B6-9094-ED49-6A34-B6BBF01FB48D}"/>
              </a:ext>
            </a:extLst>
          </p:cNvPr>
          <p:cNvSpPr/>
          <p:nvPr/>
        </p:nvSpPr>
        <p:spPr>
          <a:xfrm>
            <a:off x="7753278" y="294906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B64AD09-DE99-1237-C6B4-FD592B346DEE}"/>
              </a:ext>
            </a:extLst>
          </p:cNvPr>
          <p:cNvSpPr/>
          <p:nvPr/>
        </p:nvSpPr>
        <p:spPr>
          <a:xfrm>
            <a:off x="7704913" y="247669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299F2B91-8710-3656-C140-319BCDD1A961}"/>
              </a:ext>
            </a:extLst>
          </p:cNvPr>
          <p:cNvSpPr/>
          <p:nvPr/>
        </p:nvSpPr>
        <p:spPr>
          <a:xfrm>
            <a:off x="7964388" y="2599132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6BCB5A9-DF46-1E3B-2B45-F246EEF7468C}"/>
              </a:ext>
            </a:extLst>
          </p:cNvPr>
          <p:cNvSpPr/>
          <p:nvPr/>
        </p:nvSpPr>
        <p:spPr>
          <a:xfrm>
            <a:off x="10587645" y="2375422"/>
            <a:ext cx="144000" cy="144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56011F3-6A58-5548-5EA8-8622ADD30A27}"/>
              </a:ext>
            </a:extLst>
          </p:cNvPr>
          <p:cNvSpPr/>
          <p:nvPr/>
        </p:nvSpPr>
        <p:spPr>
          <a:xfrm>
            <a:off x="10435314" y="2599132"/>
            <a:ext cx="144000" cy="144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439A494-99F6-060F-FD60-B606C8F9FA12}"/>
              </a:ext>
            </a:extLst>
          </p:cNvPr>
          <p:cNvSpPr/>
          <p:nvPr/>
        </p:nvSpPr>
        <p:spPr>
          <a:xfrm>
            <a:off x="11167882" y="3021063"/>
            <a:ext cx="144000" cy="144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3A6631C-4462-7CC9-A9A0-5002E7FB96DE}"/>
              </a:ext>
            </a:extLst>
          </p:cNvPr>
          <p:cNvSpPr txBox="1"/>
          <p:nvPr/>
        </p:nvSpPr>
        <p:spPr>
          <a:xfrm>
            <a:off x="6082343" y="4107800"/>
            <a:ext cx="6108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puntos: 3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Epsilon (ε): 2 cm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Densidad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: 5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s-ES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38F6C63E-C806-AC8F-2347-E79A3F087839}"/>
              </a:ext>
            </a:extLst>
          </p:cNvPr>
          <p:cNvSpPr/>
          <p:nvPr/>
        </p:nvSpPr>
        <p:spPr>
          <a:xfrm>
            <a:off x="7682180" y="2300232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D0EA0854-CBF5-4F65-C31B-DABF18CA4197}"/>
              </a:ext>
            </a:extLst>
          </p:cNvPr>
          <p:cNvSpPr/>
          <p:nvPr/>
        </p:nvSpPr>
        <p:spPr>
          <a:xfrm>
            <a:off x="7106908" y="4783733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724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AC8707-08F4-B68D-2A45-F2B19BBAC274}"/>
              </a:ext>
            </a:extLst>
          </p:cNvPr>
          <p:cNvSpPr txBox="1"/>
          <p:nvPr/>
        </p:nvSpPr>
        <p:spPr>
          <a:xfrm>
            <a:off x="188710" y="1090414"/>
            <a:ext cx="53467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Densidad: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DBSCAN se define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densidad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nodo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menor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igual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que un valor dado (Epsilon).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Epsilon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(ε): 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Epsilon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especifica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máxima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entre dos puntos para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es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decir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formar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mismo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de puntos: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determina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deben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considerarlos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propio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68BE838-BD1F-00AB-4D5D-6BA11A4DE78E}"/>
              </a:ext>
            </a:extLst>
          </p:cNvPr>
          <p:cNvSpPr/>
          <p:nvPr/>
        </p:nvSpPr>
        <p:spPr>
          <a:xfrm>
            <a:off x="6110641" y="589561"/>
            <a:ext cx="5892649" cy="3420910"/>
          </a:xfrm>
          <a:prstGeom prst="roundRect">
            <a:avLst>
              <a:gd name="adj" fmla="val 67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AA17ED-018C-85AD-DC27-2D93C030C9F2}"/>
              </a:ext>
            </a:extLst>
          </p:cNvPr>
          <p:cNvSpPr/>
          <p:nvPr/>
        </p:nvSpPr>
        <p:spPr>
          <a:xfrm>
            <a:off x="6458716" y="9311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837C28-94D1-78F2-73DF-04978E25019F}"/>
              </a:ext>
            </a:extLst>
          </p:cNvPr>
          <p:cNvSpPr/>
          <p:nvPr/>
        </p:nvSpPr>
        <p:spPr>
          <a:xfrm>
            <a:off x="6611116" y="10835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2A1D642-216A-4783-F683-789A77478A4C}"/>
              </a:ext>
            </a:extLst>
          </p:cNvPr>
          <p:cNvSpPr/>
          <p:nvPr/>
        </p:nvSpPr>
        <p:spPr>
          <a:xfrm>
            <a:off x="6732004" y="9189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DF13739-C7BE-382C-E6D4-AEFCDC681D94}"/>
              </a:ext>
            </a:extLst>
          </p:cNvPr>
          <p:cNvSpPr/>
          <p:nvPr/>
        </p:nvSpPr>
        <p:spPr>
          <a:xfrm>
            <a:off x="6634458" y="15407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D3AD18-4CDE-19BF-114F-0DFEBB5538F6}"/>
              </a:ext>
            </a:extLst>
          </p:cNvPr>
          <p:cNvSpPr/>
          <p:nvPr/>
        </p:nvSpPr>
        <p:spPr>
          <a:xfrm>
            <a:off x="6804004" y="1334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E669BBD-EA14-CFEA-BC72-6C2D2A866A21}"/>
              </a:ext>
            </a:extLst>
          </p:cNvPr>
          <p:cNvSpPr/>
          <p:nvPr/>
        </p:nvSpPr>
        <p:spPr>
          <a:xfrm>
            <a:off x="7065618" y="1241225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F48CE63-982C-46FB-8F94-632CDE66F39F}"/>
              </a:ext>
            </a:extLst>
          </p:cNvPr>
          <p:cNvSpPr/>
          <p:nvPr/>
        </p:nvSpPr>
        <p:spPr>
          <a:xfrm>
            <a:off x="10686839" y="1036219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A2769A3-3F84-E6AC-CB59-653F01A84A83}"/>
              </a:ext>
            </a:extLst>
          </p:cNvPr>
          <p:cNvSpPr/>
          <p:nvPr/>
        </p:nvSpPr>
        <p:spPr>
          <a:xfrm>
            <a:off x="10432839" y="139792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DFEC62D-7DD0-171A-BDE9-A25FBED09E64}"/>
              </a:ext>
            </a:extLst>
          </p:cNvPr>
          <p:cNvSpPr/>
          <p:nvPr/>
        </p:nvSpPr>
        <p:spPr>
          <a:xfrm>
            <a:off x="10242039" y="140872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21B9C26-0508-7412-9AC8-B414FEA5D0A1}"/>
              </a:ext>
            </a:extLst>
          </p:cNvPr>
          <p:cNvSpPr/>
          <p:nvPr/>
        </p:nvSpPr>
        <p:spPr>
          <a:xfrm>
            <a:off x="10288839" y="11774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BE00D75-8D96-A5BE-7334-811CB8F2C055}"/>
              </a:ext>
            </a:extLst>
          </p:cNvPr>
          <p:cNvSpPr/>
          <p:nvPr/>
        </p:nvSpPr>
        <p:spPr>
          <a:xfrm>
            <a:off x="10624541" y="1262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B592A36-9079-6DBE-EBEF-000242D378A8}"/>
              </a:ext>
            </a:extLst>
          </p:cNvPr>
          <p:cNvSpPr/>
          <p:nvPr/>
        </p:nvSpPr>
        <p:spPr>
          <a:xfrm>
            <a:off x="6378089" y="1421925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B735C49-7BC0-794E-8FB9-E1EFF4EB0396}"/>
              </a:ext>
            </a:extLst>
          </p:cNvPr>
          <p:cNvSpPr/>
          <p:nvPr/>
        </p:nvSpPr>
        <p:spPr>
          <a:xfrm>
            <a:off x="8241152" y="275818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5471A5A-8A62-5A80-C571-62DB659BDF22}"/>
              </a:ext>
            </a:extLst>
          </p:cNvPr>
          <p:cNvSpPr/>
          <p:nvPr/>
        </p:nvSpPr>
        <p:spPr>
          <a:xfrm>
            <a:off x="8160980" y="3060141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A5325CF-CF6E-D2CF-C909-E2B313F0ACB4}"/>
              </a:ext>
            </a:extLst>
          </p:cNvPr>
          <p:cNvSpPr/>
          <p:nvPr/>
        </p:nvSpPr>
        <p:spPr>
          <a:xfrm>
            <a:off x="7970180" y="311473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EFF8A1D-A544-3365-F619-E2F922D796EB}"/>
              </a:ext>
            </a:extLst>
          </p:cNvPr>
          <p:cNvSpPr/>
          <p:nvPr/>
        </p:nvSpPr>
        <p:spPr>
          <a:xfrm>
            <a:off x="8016980" y="286154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D19F91A-835D-50AF-BAC8-25DCE0BB9CE9}"/>
              </a:ext>
            </a:extLst>
          </p:cNvPr>
          <p:cNvSpPr/>
          <p:nvPr/>
        </p:nvSpPr>
        <p:spPr>
          <a:xfrm>
            <a:off x="8352682" y="296873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A47B48F-8002-6895-8D7D-60E3F6A508F2}"/>
              </a:ext>
            </a:extLst>
          </p:cNvPr>
          <p:cNvSpPr/>
          <p:nvPr/>
        </p:nvSpPr>
        <p:spPr>
          <a:xfrm>
            <a:off x="8108388" y="2357387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77387B6-9094-ED49-6A34-B6BBF01FB48D}"/>
              </a:ext>
            </a:extLst>
          </p:cNvPr>
          <p:cNvSpPr/>
          <p:nvPr/>
        </p:nvSpPr>
        <p:spPr>
          <a:xfrm>
            <a:off x="7753278" y="294906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B64AD09-DE99-1237-C6B4-FD592B346DEE}"/>
              </a:ext>
            </a:extLst>
          </p:cNvPr>
          <p:cNvSpPr/>
          <p:nvPr/>
        </p:nvSpPr>
        <p:spPr>
          <a:xfrm>
            <a:off x="7704913" y="2476696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299F2B91-8710-3656-C140-319BCDD1A961}"/>
              </a:ext>
            </a:extLst>
          </p:cNvPr>
          <p:cNvSpPr/>
          <p:nvPr/>
        </p:nvSpPr>
        <p:spPr>
          <a:xfrm>
            <a:off x="7974915" y="258388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6BCB5A9-DF46-1E3B-2B45-F246EEF7468C}"/>
              </a:ext>
            </a:extLst>
          </p:cNvPr>
          <p:cNvSpPr/>
          <p:nvPr/>
        </p:nvSpPr>
        <p:spPr>
          <a:xfrm>
            <a:off x="10587645" y="2375422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56011F3-6A58-5548-5EA8-8622ADD30A27}"/>
              </a:ext>
            </a:extLst>
          </p:cNvPr>
          <p:cNvSpPr/>
          <p:nvPr/>
        </p:nvSpPr>
        <p:spPr>
          <a:xfrm>
            <a:off x="10435314" y="2599132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439A494-99F6-060F-FD60-B606C8F9FA12}"/>
              </a:ext>
            </a:extLst>
          </p:cNvPr>
          <p:cNvSpPr/>
          <p:nvPr/>
        </p:nvSpPr>
        <p:spPr>
          <a:xfrm>
            <a:off x="11167882" y="3021063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7C40A2B-47A2-9A0F-BEA9-21534A18AA47}"/>
              </a:ext>
            </a:extLst>
          </p:cNvPr>
          <p:cNvSpPr/>
          <p:nvPr/>
        </p:nvSpPr>
        <p:spPr>
          <a:xfrm>
            <a:off x="9954039" y="1141603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D16633F-C15E-77A3-6D6D-F2FE1CAA9647}"/>
              </a:ext>
            </a:extLst>
          </p:cNvPr>
          <p:cNvSpPr txBox="1"/>
          <p:nvPr/>
        </p:nvSpPr>
        <p:spPr>
          <a:xfrm>
            <a:off x="5661334" y="4146187"/>
            <a:ext cx="61272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Punto central: 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es un punto que tiene al menos un </a:t>
            </a:r>
            <a:r>
              <a:rPr lang="es-ES" i="1" u="sng" dirty="0">
                <a:solidFill>
                  <a:schemeClr val="accent1">
                    <a:lumMod val="50000"/>
                  </a:schemeClr>
                </a:solidFill>
              </a:rPr>
              <a:t>número mínimo de puntos 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dentro de su vecindad, definida por un radio </a:t>
            </a:r>
            <a:r>
              <a:rPr lang="en-US" i="1" u="sng" dirty="0">
                <a:solidFill>
                  <a:schemeClr val="accent1">
                    <a:lumMod val="50000"/>
                  </a:schemeClr>
                </a:solidFill>
              </a:rPr>
              <a:t>epsilon (ε).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7B56402-F7BD-D47C-1AD2-9BDC882CCD2C}"/>
              </a:ext>
            </a:extLst>
          </p:cNvPr>
          <p:cNvSpPr/>
          <p:nvPr/>
        </p:nvSpPr>
        <p:spPr>
          <a:xfrm>
            <a:off x="10381340" y="981903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66A63296-854D-FCF1-466B-79F518063671}"/>
              </a:ext>
            </a:extLst>
          </p:cNvPr>
          <p:cNvSpPr/>
          <p:nvPr/>
        </p:nvSpPr>
        <p:spPr>
          <a:xfrm>
            <a:off x="7692735" y="2285544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949E50A7-2ABE-C9CB-6832-77D1697089F4}"/>
              </a:ext>
            </a:extLst>
          </p:cNvPr>
          <p:cNvSpPr/>
          <p:nvPr/>
        </p:nvSpPr>
        <p:spPr>
          <a:xfrm>
            <a:off x="7469572" y="2649517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A835BAD-45BE-AA76-250B-B92810484882}"/>
              </a:ext>
            </a:extLst>
          </p:cNvPr>
          <p:cNvSpPr/>
          <p:nvPr/>
        </p:nvSpPr>
        <p:spPr>
          <a:xfrm>
            <a:off x="10110839" y="1146957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24E09FC-843B-407B-ED23-8C09093F1357}"/>
              </a:ext>
            </a:extLst>
          </p:cNvPr>
          <p:cNvSpPr/>
          <p:nvPr/>
        </p:nvSpPr>
        <p:spPr>
          <a:xfrm>
            <a:off x="9987006" y="888565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B02E6691-7BCC-D2D2-C2BF-4049B97FDAC6}"/>
              </a:ext>
            </a:extLst>
          </p:cNvPr>
          <p:cNvSpPr/>
          <p:nvPr/>
        </p:nvSpPr>
        <p:spPr>
          <a:xfrm>
            <a:off x="7970180" y="2501544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C7DCEEF7-4193-B4EE-7D1E-B0D43BB2CA0B}"/>
              </a:ext>
            </a:extLst>
          </p:cNvPr>
          <p:cNvSpPr/>
          <p:nvPr/>
        </p:nvSpPr>
        <p:spPr>
          <a:xfrm>
            <a:off x="8094709" y="2699139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6A55883D-D5D7-0094-D235-6D064045AA71}"/>
              </a:ext>
            </a:extLst>
          </p:cNvPr>
          <p:cNvSpPr/>
          <p:nvPr/>
        </p:nvSpPr>
        <p:spPr>
          <a:xfrm>
            <a:off x="7872980" y="2768484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FAA8625D-9CD0-1CDE-615E-66395182414A}"/>
              </a:ext>
            </a:extLst>
          </p:cNvPr>
          <p:cNvSpPr/>
          <p:nvPr/>
        </p:nvSpPr>
        <p:spPr>
          <a:xfrm>
            <a:off x="7701703" y="2829229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1BB9EAF7-556A-ABBD-4370-3CFD029F46DA}"/>
              </a:ext>
            </a:extLst>
          </p:cNvPr>
          <p:cNvSpPr/>
          <p:nvPr/>
        </p:nvSpPr>
        <p:spPr>
          <a:xfrm>
            <a:off x="7734709" y="2581895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62196011-13DD-76E7-72BB-7CC1489973A3}"/>
              </a:ext>
            </a:extLst>
          </p:cNvPr>
          <p:cNvSpPr/>
          <p:nvPr/>
        </p:nvSpPr>
        <p:spPr>
          <a:xfrm>
            <a:off x="6346458" y="1252946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BA39D386-2D7F-485A-CA32-C160F5AACDE8}"/>
              </a:ext>
            </a:extLst>
          </p:cNvPr>
          <p:cNvSpPr/>
          <p:nvPr/>
        </p:nvSpPr>
        <p:spPr>
          <a:xfrm>
            <a:off x="6537667" y="1054984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D948F36A-4A7D-737C-130E-569D03B48701}"/>
              </a:ext>
            </a:extLst>
          </p:cNvPr>
          <p:cNvSpPr/>
          <p:nvPr/>
        </p:nvSpPr>
        <p:spPr>
          <a:xfrm>
            <a:off x="6329135" y="806439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D4DA0C3-81B7-30D9-67B5-4C9BA1233515}"/>
              </a:ext>
            </a:extLst>
          </p:cNvPr>
          <p:cNvSpPr/>
          <p:nvPr/>
        </p:nvSpPr>
        <p:spPr>
          <a:xfrm>
            <a:off x="6444718" y="644058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4C4A800-1FC4-BA80-0BDD-4310321460B0}"/>
              </a:ext>
            </a:extLst>
          </p:cNvPr>
          <p:cNvSpPr/>
          <p:nvPr/>
        </p:nvSpPr>
        <p:spPr>
          <a:xfrm>
            <a:off x="6171352" y="644058"/>
            <a:ext cx="720000" cy="720000"/>
          </a:xfrm>
          <a:prstGeom prst="ellips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7C0BE11-2F86-5436-0328-71B675E288F3}"/>
              </a:ext>
            </a:extLst>
          </p:cNvPr>
          <p:cNvSpPr txBox="1"/>
          <p:nvPr/>
        </p:nvSpPr>
        <p:spPr>
          <a:xfrm>
            <a:off x="6081360" y="249247"/>
            <a:ext cx="4543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puntos: 3 Epsilon (ε): 2 cm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B64F9A0-0806-9F5D-583B-18430519EA47}"/>
              </a:ext>
            </a:extLst>
          </p:cNvPr>
          <p:cNvSpPr txBox="1"/>
          <p:nvPr/>
        </p:nvSpPr>
        <p:spPr>
          <a:xfrm>
            <a:off x="188710" y="334736"/>
            <a:ext cx="11278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Fundamentos y parámetros importantes en DBSCAN.</a:t>
            </a:r>
            <a:r>
              <a:rPr lang="es-ES" sz="2000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8A5325CF-CF6E-D2CF-C909-E2B313F0ACB4}"/>
              </a:ext>
            </a:extLst>
          </p:cNvPr>
          <p:cNvSpPr/>
          <p:nvPr/>
        </p:nvSpPr>
        <p:spPr>
          <a:xfrm>
            <a:off x="5728795" y="425256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4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AC8707-08F4-B68D-2A45-F2B19BBAC274}"/>
              </a:ext>
            </a:extLst>
          </p:cNvPr>
          <p:cNvSpPr txBox="1"/>
          <p:nvPr/>
        </p:nvSpPr>
        <p:spPr>
          <a:xfrm>
            <a:off x="188710" y="1090414"/>
            <a:ext cx="53467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Densidad: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DBSCAN se define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densidad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nodo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menor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igual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que un valor dado (Epsilon).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Epsilon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(ε): 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Epsilon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especifica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máxima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entre dos puntos para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es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decir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formar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mismo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de puntos: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determina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deben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considerarlos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propio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68BE838-BD1F-00AB-4D5D-6BA11A4DE78E}"/>
              </a:ext>
            </a:extLst>
          </p:cNvPr>
          <p:cNvSpPr/>
          <p:nvPr/>
        </p:nvSpPr>
        <p:spPr>
          <a:xfrm>
            <a:off x="6110641" y="589561"/>
            <a:ext cx="5892649" cy="3420910"/>
          </a:xfrm>
          <a:prstGeom prst="roundRect">
            <a:avLst>
              <a:gd name="adj" fmla="val 67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AA17ED-018C-85AD-DC27-2D93C030C9F2}"/>
              </a:ext>
            </a:extLst>
          </p:cNvPr>
          <p:cNvSpPr/>
          <p:nvPr/>
        </p:nvSpPr>
        <p:spPr>
          <a:xfrm>
            <a:off x="6458716" y="9311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837C28-94D1-78F2-73DF-04978E25019F}"/>
              </a:ext>
            </a:extLst>
          </p:cNvPr>
          <p:cNvSpPr/>
          <p:nvPr/>
        </p:nvSpPr>
        <p:spPr>
          <a:xfrm>
            <a:off x="6611116" y="10835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2A1D642-216A-4783-F683-789A77478A4C}"/>
              </a:ext>
            </a:extLst>
          </p:cNvPr>
          <p:cNvSpPr/>
          <p:nvPr/>
        </p:nvSpPr>
        <p:spPr>
          <a:xfrm>
            <a:off x="6732004" y="9189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DF13739-C7BE-382C-E6D4-AEFCDC681D94}"/>
              </a:ext>
            </a:extLst>
          </p:cNvPr>
          <p:cNvSpPr/>
          <p:nvPr/>
        </p:nvSpPr>
        <p:spPr>
          <a:xfrm>
            <a:off x="6634458" y="15407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D3AD18-4CDE-19BF-114F-0DFEBB5538F6}"/>
              </a:ext>
            </a:extLst>
          </p:cNvPr>
          <p:cNvSpPr/>
          <p:nvPr/>
        </p:nvSpPr>
        <p:spPr>
          <a:xfrm>
            <a:off x="6804004" y="1334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E669BBD-EA14-CFEA-BC72-6C2D2A866A21}"/>
              </a:ext>
            </a:extLst>
          </p:cNvPr>
          <p:cNvSpPr/>
          <p:nvPr/>
        </p:nvSpPr>
        <p:spPr>
          <a:xfrm>
            <a:off x="7065618" y="1241225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F48CE63-982C-46FB-8F94-632CDE66F39F}"/>
              </a:ext>
            </a:extLst>
          </p:cNvPr>
          <p:cNvSpPr/>
          <p:nvPr/>
        </p:nvSpPr>
        <p:spPr>
          <a:xfrm>
            <a:off x="10686839" y="1036219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A2769A3-3F84-E6AC-CB59-653F01A84A83}"/>
              </a:ext>
            </a:extLst>
          </p:cNvPr>
          <p:cNvSpPr/>
          <p:nvPr/>
        </p:nvSpPr>
        <p:spPr>
          <a:xfrm>
            <a:off x="10432839" y="139792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DFEC62D-7DD0-171A-BDE9-A25FBED09E64}"/>
              </a:ext>
            </a:extLst>
          </p:cNvPr>
          <p:cNvSpPr/>
          <p:nvPr/>
        </p:nvSpPr>
        <p:spPr>
          <a:xfrm>
            <a:off x="10242039" y="140872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21B9C26-0508-7412-9AC8-B414FEA5D0A1}"/>
              </a:ext>
            </a:extLst>
          </p:cNvPr>
          <p:cNvSpPr/>
          <p:nvPr/>
        </p:nvSpPr>
        <p:spPr>
          <a:xfrm>
            <a:off x="10288839" y="11774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BE00D75-8D96-A5BE-7334-811CB8F2C055}"/>
              </a:ext>
            </a:extLst>
          </p:cNvPr>
          <p:cNvSpPr/>
          <p:nvPr/>
        </p:nvSpPr>
        <p:spPr>
          <a:xfrm>
            <a:off x="10624541" y="1262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B592A36-9079-6DBE-EBEF-000242D378A8}"/>
              </a:ext>
            </a:extLst>
          </p:cNvPr>
          <p:cNvSpPr/>
          <p:nvPr/>
        </p:nvSpPr>
        <p:spPr>
          <a:xfrm>
            <a:off x="6378089" y="1421925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B735C49-7BC0-794E-8FB9-E1EFF4EB0396}"/>
              </a:ext>
            </a:extLst>
          </p:cNvPr>
          <p:cNvSpPr/>
          <p:nvPr/>
        </p:nvSpPr>
        <p:spPr>
          <a:xfrm>
            <a:off x="8241152" y="275818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5471A5A-8A62-5A80-C571-62DB659BDF22}"/>
              </a:ext>
            </a:extLst>
          </p:cNvPr>
          <p:cNvSpPr/>
          <p:nvPr/>
        </p:nvSpPr>
        <p:spPr>
          <a:xfrm>
            <a:off x="8160980" y="3060141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A5325CF-CF6E-D2CF-C909-E2B313F0ACB4}"/>
              </a:ext>
            </a:extLst>
          </p:cNvPr>
          <p:cNvSpPr/>
          <p:nvPr/>
        </p:nvSpPr>
        <p:spPr>
          <a:xfrm>
            <a:off x="7970180" y="311473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EFF8A1D-A544-3365-F619-E2F922D796EB}"/>
              </a:ext>
            </a:extLst>
          </p:cNvPr>
          <p:cNvSpPr/>
          <p:nvPr/>
        </p:nvSpPr>
        <p:spPr>
          <a:xfrm>
            <a:off x="8016980" y="286154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D19F91A-835D-50AF-BAC8-25DCE0BB9CE9}"/>
              </a:ext>
            </a:extLst>
          </p:cNvPr>
          <p:cNvSpPr/>
          <p:nvPr/>
        </p:nvSpPr>
        <p:spPr>
          <a:xfrm>
            <a:off x="8352682" y="296873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A47B48F-8002-6895-8D7D-60E3F6A508F2}"/>
              </a:ext>
            </a:extLst>
          </p:cNvPr>
          <p:cNvSpPr/>
          <p:nvPr/>
        </p:nvSpPr>
        <p:spPr>
          <a:xfrm>
            <a:off x="8108388" y="2357387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77387B6-9094-ED49-6A34-B6BBF01FB48D}"/>
              </a:ext>
            </a:extLst>
          </p:cNvPr>
          <p:cNvSpPr/>
          <p:nvPr/>
        </p:nvSpPr>
        <p:spPr>
          <a:xfrm>
            <a:off x="7753278" y="294906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B64AD09-DE99-1237-C6B4-FD592B346DEE}"/>
              </a:ext>
            </a:extLst>
          </p:cNvPr>
          <p:cNvSpPr/>
          <p:nvPr/>
        </p:nvSpPr>
        <p:spPr>
          <a:xfrm>
            <a:off x="7704913" y="2476696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299F2B91-8710-3656-C140-319BCDD1A961}"/>
              </a:ext>
            </a:extLst>
          </p:cNvPr>
          <p:cNvSpPr/>
          <p:nvPr/>
        </p:nvSpPr>
        <p:spPr>
          <a:xfrm>
            <a:off x="7974915" y="258388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6BCB5A9-DF46-1E3B-2B45-F246EEF7468C}"/>
              </a:ext>
            </a:extLst>
          </p:cNvPr>
          <p:cNvSpPr/>
          <p:nvPr/>
        </p:nvSpPr>
        <p:spPr>
          <a:xfrm>
            <a:off x="10587645" y="2375422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56011F3-6A58-5548-5EA8-8622ADD30A27}"/>
              </a:ext>
            </a:extLst>
          </p:cNvPr>
          <p:cNvSpPr/>
          <p:nvPr/>
        </p:nvSpPr>
        <p:spPr>
          <a:xfrm>
            <a:off x="10435314" y="2599132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439A494-99F6-060F-FD60-B606C8F9FA12}"/>
              </a:ext>
            </a:extLst>
          </p:cNvPr>
          <p:cNvSpPr/>
          <p:nvPr/>
        </p:nvSpPr>
        <p:spPr>
          <a:xfrm>
            <a:off x="11167882" y="3021063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D16633F-C15E-77A3-6D6D-F2FE1CAA9647}"/>
              </a:ext>
            </a:extLst>
          </p:cNvPr>
          <p:cNvSpPr txBox="1"/>
          <p:nvPr/>
        </p:nvSpPr>
        <p:spPr>
          <a:xfrm>
            <a:off x="5661334" y="4146187"/>
            <a:ext cx="61272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Punto central: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es un punto que tiene al menos un 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número mínimo de puntos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dentro de su vecindad, definida por un radio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epsilon (ε).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Punto frontera: 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punto que está a distancia menor de </a:t>
            </a:r>
            <a:r>
              <a:rPr lang="es-ES" i="1" u="sng" dirty="0" err="1">
                <a:solidFill>
                  <a:schemeClr val="accent1">
                    <a:lumMod val="50000"/>
                  </a:schemeClr>
                </a:solidFill>
              </a:rPr>
              <a:t>epsilon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 de un punto central pero que no tiene al menos un </a:t>
            </a:r>
            <a:r>
              <a:rPr lang="es-ES" i="1" u="sng" dirty="0">
                <a:solidFill>
                  <a:schemeClr val="accent1">
                    <a:lumMod val="50000"/>
                  </a:schemeClr>
                </a:solidFill>
              </a:rPr>
              <a:t>número mínimo de puntos 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dentro de su vecindad</a:t>
            </a:r>
            <a:r>
              <a:rPr lang="es-ES" u="sng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 Pertenece al grupo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i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7B56402-F7BD-D47C-1AD2-9BDC882CCD2C}"/>
              </a:ext>
            </a:extLst>
          </p:cNvPr>
          <p:cNvSpPr/>
          <p:nvPr/>
        </p:nvSpPr>
        <p:spPr>
          <a:xfrm>
            <a:off x="10389313" y="750069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CADC0FA2-7926-E7AA-9C59-357532F680E4}"/>
              </a:ext>
            </a:extLst>
          </p:cNvPr>
          <p:cNvSpPr/>
          <p:nvPr/>
        </p:nvSpPr>
        <p:spPr>
          <a:xfrm>
            <a:off x="6774344" y="961428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66A63296-854D-FCF1-466B-79F518063671}"/>
              </a:ext>
            </a:extLst>
          </p:cNvPr>
          <p:cNvSpPr/>
          <p:nvPr/>
        </p:nvSpPr>
        <p:spPr>
          <a:xfrm>
            <a:off x="7824615" y="2064237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949E50A7-2ABE-C9CB-6832-77D1697089F4}"/>
              </a:ext>
            </a:extLst>
          </p:cNvPr>
          <p:cNvSpPr/>
          <p:nvPr/>
        </p:nvSpPr>
        <p:spPr>
          <a:xfrm>
            <a:off x="7416913" y="2199953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B2071CF-F781-4855-9255-839102257EA4}"/>
              </a:ext>
            </a:extLst>
          </p:cNvPr>
          <p:cNvSpPr/>
          <p:nvPr/>
        </p:nvSpPr>
        <p:spPr>
          <a:xfrm>
            <a:off x="6086205" y="1154427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819A28E-E05B-6723-0A5C-2C6A569E8968}"/>
              </a:ext>
            </a:extLst>
          </p:cNvPr>
          <p:cNvSpPr txBox="1"/>
          <p:nvPr/>
        </p:nvSpPr>
        <p:spPr>
          <a:xfrm>
            <a:off x="6081360" y="249247"/>
            <a:ext cx="4543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puntos: 3 Epsilon (ε): 2 cm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9169BAF-19C9-9B39-92D1-97DB575C99FC}"/>
              </a:ext>
            </a:extLst>
          </p:cNvPr>
          <p:cNvSpPr txBox="1"/>
          <p:nvPr/>
        </p:nvSpPr>
        <p:spPr>
          <a:xfrm>
            <a:off x="188710" y="334736"/>
            <a:ext cx="11278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Fundamentos y parámetros importantes en DBSCAN.</a:t>
            </a:r>
            <a:r>
              <a:rPr lang="es-ES" sz="2000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8A5325CF-CF6E-D2CF-C909-E2B313F0ACB4}"/>
              </a:ext>
            </a:extLst>
          </p:cNvPr>
          <p:cNvSpPr/>
          <p:nvPr/>
        </p:nvSpPr>
        <p:spPr>
          <a:xfrm>
            <a:off x="5728795" y="425256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DA47B48F-8002-6895-8D7D-60E3F6A508F2}"/>
              </a:ext>
            </a:extLst>
          </p:cNvPr>
          <p:cNvSpPr/>
          <p:nvPr/>
        </p:nvSpPr>
        <p:spPr>
          <a:xfrm>
            <a:off x="5728795" y="5350642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50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AC8707-08F4-B68D-2A45-F2B19BBAC274}"/>
              </a:ext>
            </a:extLst>
          </p:cNvPr>
          <p:cNvSpPr txBox="1"/>
          <p:nvPr/>
        </p:nvSpPr>
        <p:spPr>
          <a:xfrm>
            <a:off x="188710" y="1090414"/>
            <a:ext cx="53467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Densidad: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DBSCAN se define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densidad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nodo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menor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igual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que un valor dado (Epsilon).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Epsilon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(ε): 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Epsilon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especifica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máxima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entre dos puntos para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es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decir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formar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mismo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de puntos: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parámetro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determina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deben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considerarlos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propio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68BE838-BD1F-00AB-4D5D-6BA11A4DE78E}"/>
              </a:ext>
            </a:extLst>
          </p:cNvPr>
          <p:cNvSpPr/>
          <p:nvPr/>
        </p:nvSpPr>
        <p:spPr>
          <a:xfrm>
            <a:off x="6110641" y="589561"/>
            <a:ext cx="5892649" cy="3420910"/>
          </a:xfrm>
          <a:prstGeom prst="roundRect">
            <a:avLst>
              <a:gd name="adj" fmla="val 67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AA17ED-018C-85AD-DC27-2D93C030C9F2}"/>
              </a:ext>
            </a:extLst>
          </p:cNvPr>
          <p:cNvSpPr/>
          <p:nvPr/>
        </p:nvSpPr>
        <p:spPr>
          <a:xfrm>
            <a:off x="6458716" y="9311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837C28-94D1-78F2-73DF-04978E25019F}"/>
              </a:ext>
            </a:extLst>
          </p:cNvPr>
          <p:cNvSpPr/>
          <p:nvPr/>
        </p:nvSpPr>
        <p:spPr>
          <a:xfrm>
            <a:off x="6611116" y="10835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2A1D642-216A-4783-F683-789A77478A4C}"/>
              </a:ext>
            </a:extLst>
          </p:cNvPr>
          <p:cNvSpPr/>
          <p:nvPr/>
        </p:nvSpPr>
        <p:spPr>
          <a:xfrm>
            <a:off x="6732004" y="9189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DF13739-C7BE-382C-E6D4-AEFCDC681D94}"/>
              </a:ext>
            </a:extLst>
          </p:cNvPr>
          <p:cNvSpPr/>
          <p:nvPr/>
        </p:nvSpPr>
        <p:spPr>
          <a:xfrm>
            <a:off x="6634458" y="15407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D3AD18-4CDE-19BF-114F-0DFEBB5538F6}"/>
              </a:ext>
            </a:extLst>
          </p:cNvPr>
          <p:cNvSpPr/>
          <p:nvPr/>
        </p:nvSpPr>
        <p:spPr>
          <a:xfrm>
            <a:off x="6804004" y="1334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E669BBD-EA14-CFEA-BC72-6C2D2A866A21}"/>
              </a:ext>
            </a:extLst>
          </p:cNvPr>
          <p:cNvSpPr/>
          <p:nvPr/>
        </p:nvSpPr>
        <p:spPr>
          <a:xfrm>
            <a:off x="7065618" y="1241225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F48CE63-982C-46FB-8F94-632CDE66F39F}"/>
              </a:ext>
            </a:extLst>
          </p:cNvPr>
          <p:cNvSpPr/>
          <p:nvPr/>
        </p:nvSpPr>
        <p:spPr>
          <a:xfrm>
            <a:off x="10686839" y="1036219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A2769A3-3F84-E6AC-CB59-653F01A84A83}"/>
              </a:ext>
            </a:extLst>
          </p:cNvPr>
          <p:cNvSpPr/>
          <p:nvPr/>
        </p:nvSpPr>
        <p:spPr>
          <a:xfrm>
            <a:off x="10432839" y="139792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DFEC62D-7DD0-171A-BDE9-A25FBED09E64}"/>
              </a:ext>
            </a:extLst>
          </p:cNvPr>
          <p:cNvSpPr/>
          <p:nvPr/>
        </p:nvSpPr>
        <p:spPr>
          <a:xfrm>
            <a:off x="10242039" y="140872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21B9C26-0508-7412-9AC8-B414FEA5D0A1}"/>
              </a:ext>
            </a:extLst>
          </p:cNvPr>
          <p:cNvSpPr/>
          <p:nvPr/>
        </p:nvSpPr>
        <p:spPr>
          <a:xfrm>
            <a:off x="10288839" y="11774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BE00D75-8D96-A5BE-7334-811CB8F2C055}"/>
              </a:ext>
            </a:extLst>
          </p:cNvPr>
          <p:cNvSpPr/>
          <p:nvPr/>
        </p:nvSpPr>
        <p:spPr>
          <a:xfrm>
            <a:off x="10624541" y="126271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B592A36-9079-6DBE-EBEF-000242D378A8}"/>
              </a:ext>
            </a:extLst>
          </p:cNvPr>
          <p:cNvSpPr/>
          <p:nvPr/>
        </p:nvSpPr>
        <p:spPr>
          <a:xfrm>
            <a:off x="6378089" y="1421925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B735C49-7BC0-794E-8FB9-E1EFF4EB0396}"/>
              </a:ext>
            </a:extLst>
          </p:cNvPr>
          <p:cNvSpPr/>
          <p:nvPr/>
        </p:nvSpPr>
        <p:spPr>
          <a:xfrm>
            <a:off x="8241152" y="275818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5471A5A-8A62-5A80-C571-62DB659BDF22}"/>
              </a:ext>
            </a:extLst>
          </p:cNvPr>
          <p:cNvSpPr/>
          <p:nvPr/>
        </p:nvSpPr>
        <p:spPr>
          <a:xfrm>
            <a:off x="8160980" y="3060141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A5325CF-CF6E-D2CF-C909-E2B313F0ACB4}"/>
              </a:ext>
            </a:extLst>
          </p:cNvPr>
          <p:cNvSpPr/>
          <p:nvPr/>
        </p:nvSpPr>
        <p:spPr>
          <a:xfrm>
            <a:off x="7970180" y="311473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EFF8A1D-A544-3365-F619-E2F922D796EB}"/>
              </a:ext>
            </a:extLst>
          </p:cNvPr>
          <p:cNvSpPr/>
          <p:nvPr/>
        </p:nvSpPr>
        <p:spPr>
          <a:xfrm>
            <a:off x="8016980" y="286154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D19F91A-835D-50AF-BAC8-25DCE0BB9CE9}"/>
              </a:ext>
            </a:extLst>
          </p:cNvPr>
          <p:cNvSpPr/>
          <p:nvPr/>
        </p:nvSpPr>
        <p:spPr>
          <a:xfrm>
            <a:off x="8352682" y="296873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A47B48F-8002-6895-8D7D-60E3F6A508F2}"/>
              </a:ext>
            </a:extLst>
          </p:cNvPr>
          <p:cNvSpPr/>
          <p:nvPr/>
        </p:nvSpPr>
        <p:spPr>
          <a:xfrm>
            <a:off x="8108388" y="2357387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77387B6-9094-ED49-6A34-B6BBF01FB48D}"/>
              </a:ext>
            </a:extLst>
          </p:cNvPr>
          <p:cNvSpPr/>
          <p:nvPr/>
        </p:nvSpPr>
        <p:spPr>
          <a:xfrm>
            <a:off x="7753278" y="294906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B64AD09-DE99-1237-C6B4-FD592B346DEE}"/>
              </a:ext>
            </a:extLst>
          </p:cNvPr>
          <p:cNvSpPr/>
          <p:nvPr/>
        </p:nvSpPr>
        <p:spPr>
          <a:xfrm>
            <a:off x="7704913" y="2476696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299F2B91-8710-3656-C140-319BCDD1A961}"/>
              </a:ext>
            </a:extLst>
          </p:cNvPr>
          <p:cNvSpPr/>
          <p:nvPr/>
        </p:nvSpPr>
        <p:spPr>
          <a:xfrm>
            <a:off x="7974915" y="258388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6BCB5A9-DF46-1E3B-2B45-F246EEF7468C}"/>
              </a:ext>
            </a:extLst>
          </p:cNvPr>
          <p:cNvSpPr/>
          <p:nvPr/>
        </p:nvSpPr>
        <p:spPr>
          <a:xfrm>
            <a:off x="10587645" y="2375422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56011F3-6A58-5548-5EA8-8622ADD30A27}"/>
              </a:ext>
            </a:extLst>
          </p:cNvPr>
          <p:cNvSpPr/>
          <p:nvPr/>
        </p:nvSpPr>
        <p:spPr>
          <a:xfrm>
            <a:off x="10435314" y="2599132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439A494-99F6-060F-FD60-B606C8F9FA12}"/>
              </a:ext>
            </a:extLst>
          </p:cNvPr>
          <p:cNvSpPr/>
          <p:nvPr/>
        </p:nvSpPr>
        <p:spPr>
          <a:xfrm>
            <a:off x="11167882" y="3021063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7C40A2B-47A2-9A0F-BEA9-21534A18AA47}"/>
              </a:ext>
            </a:extLst>
          </p:cNvPr>
          <p:cNvSpPr/>
          <p:nvPr/>
        </p:nvSpPr>
        <p:spPr>
          <a:xfrm>
            <a:off x="10879882" y="2738252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D16633F-C15E-77A3-6D6D-F2FE1CAA9647}"/>
              </a:ext>
            </a:extLst>
          </p:cNvPr>
          <p:cNvSpPr txBox="1"/>
          <p:nvPr/>
        </p:nvSpPr>
        <p:spPr>
          <a:xfrm>
            <a:off x="5661334" y="4146187"/>
            <a:ext cx="61272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Punto central: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es un punto que tiene al menos un 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número mínimo de puntos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dentro de su vecindad, definida por un radio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epsilon (ε).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Punto frontera: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punto que está a distancia menor de </a:t>
            </a:r>
            <a:r>
              <a:rPr lang="es-ES" i="1" dirty="0" err="1">
                <a:solidFill>
                  <a:schemeClr val="accent1">
                    <a:lumMod val="50000"/>
                  </a:schemeClr>
                </a:solidFill>
              </a:rPr>
              <a:t>epsilon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de un punto central pero que no tiene al menos un 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número mínimo de puntos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dentro de su vecindad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. Pertenece al grupo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i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Punto atípico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punto que no pertenece a ningún grupo</a:t>
            </a:r>
            <a:endParaRPr lang="en-US" u="sng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B2071CF-F781-4855-9255-839102257EA4}"/>
              </a:ext>
            </a:extLst>
          </p:cNvPr>
          <p:cNvSpPr/>
          <p:nvPr/>
        </p:nvSpPr>
        <p:spPr>
          <a:xfrm>
            <a:off x="10177266" y="2321105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A835BAD-45BE-AA76-250B-B92810484882}"/>
              </a:ext>
            </a:extLst>
          </p:cNvPr>
          <p:cNvSpPr/>
          <p:nvPr/>
        </p:nvSpPr>
        <p:spPr>
          <a:xfrm>
            <a:off x="10310739" y="2097587"/>
            <a:ext cx="720000" cy="720000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39A1E9-2297-8A0E-2B2C-8B5C9215B617}"/>
              </a:ext>
            </a:extLst>
          </p:cNvPr>
          <p:cNvSpPr txBox="1"/>
          <p:nvPr/>
        </p:nvSpPr>
        <p:spPr>
          <a:xfrm>
            <a:off x="6081360" y="249247"/>
            <a:ext cx="4543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Número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puntos: 3 Epsilon (ε): 2 cm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F54379A-6F3A-987C-5702-A144CDF7E69D}"/>
              </a:ext>
            </a:extLst>
          </p:cNvPr>
          <p:cNvSpPr txBox="1"/>
          <p:nvPr/>
        </p:nvSpPr>
        <p:spPr>
          <a:xfrm>
            <a:off x="188710" y="334736"/>
            <a:ext cx="11278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Fundamentos y parámetros importantes en DBSCAN.</a:t>
            </a:r>
            <a:r>
              <a:rPr lang="es-ES" sz="2000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8A5325CF-CF6E-D2CF-C909-E2B313F0ACB4}"/>
              </a:ext>
            </a:extLst>
          </p:cNvPr>
          <p:cNvSpPr/>
          <p:nvPr/>
        </p:nvSpPr>
        <p:spPr>
          <a:xfrm>
            <a:off x="5728795" y="425256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DA47B48F-8002-6895-8D7D-60E3F6A508F2}"/>
              </a:ext>
            </a:extLst>
          </p:cNvPr>
          <p:cNvSpPr/>
          <p:nvPr/>
        </p:nvSpPr>
        <p:spPr>
          <a:xfrm>
            <a:off x="5728795" y="5350642"/>
            <a:ext cx="144000" cy="144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356011F3-6A58-5548-5EA8-8622ADD30A27}"/>
              </a:ext>
            </a:extLst>
          </p:cNvPr>
          <p:cNvSpPr/>
          <p:nvPr/>
        </p:nvSpPr>
        <p:spPr>
          <a:xfrm>
            <a:off x="5728795" y="6448724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54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286E82-FF38-1057-622F-02244AD16F2B}"/>
              </a:ext>
            </a:extLst>
          </p:cNvPr>
          <p:cNvSpPr txBox="1"/>
          <p:nvPr/>
        </p:nvSpPr>
        <p:spPr>
          <a:xfrm>
            <a:off x="188710" y="334736"/>
            <a:ext cx="5277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Algoritmo.</a:t>
            </a:r>
            <a:r>
              <a:rPr lang="es-ES" sz="2400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AC8707-08F4-B68D-2A45-F2B19BBAC274}"/>
              </a:ext>
            </a:extLst>
          </p:cNvPr>
          <p:cNvSpPr txBox="1"/>
          <p:nvPr/>
        </p:nvSpPr>
        <p:spPr>
          <a:xfrm>
            <a:off x="188710" y="1090414"/>
            <a:ext cx="1116509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Escoge de forma aleatoria un punto de entre el conjunto de datos.</a:t>
            </a:r>
          </a:p>
          <a:p>
            <a:pPr marL="342900" indent="-342900">
              <a:buFont typeface="+mj-lt"/>
              <a:buAutoNum type="arabicPeriod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Calcula cuantos puntos hay a distancia menor o igual que épsilon.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Si el punto tiene menos del número mínimo de puntos en su vecindario, se le etiqueta momentáneamente como atípico.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Si el punto tiene al menos el número mínimo de puntos en su vecindario, se le etiqueta como central y se repite el paso anterior para todos los puntos de su vecindario.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Si el vecino de un punto central tiene menos del número mínimo de puntos como vecinos se le etiqueta como frontera dentro del grupo.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Si tiene al menos el número mínimo de puntos como vecinos se le etiqueta como central dentro del grupo.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Una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vez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evaluados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todos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repite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proceso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desde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paso 1 con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todos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aquellos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puntos que no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hayan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sido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asignados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un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grupo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atípicos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temporales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incluidos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6422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3EF5A0B-45CA-2419-7B65-6A8233E6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E3E1D8-ECD5-C2E1-DDFD-48925AD95E0F}"/>
              </a:ext>
            </a:extLst>
          </p:cNvPr>
          <p:cNvSpPr txBox="1"/>
          <p:nvPr/>
        </p:nvSpPr>
        <p:spPr>
          <a:xfrm>
            <a:off x="368990" y="320934"/>
            <a:ext cx="983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Implementación en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SKlearn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</a:rPr>
              <a:t>https://scikit-learn.org/stable/modules/generated/sklearn.cluster.DBSCAN.html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367520B-F947-2678-6EAB-027B8A95BC94}"/>
              </a:ext>
            </a:extLst>
          </p:cNvPr>
          <p:cNvSpPr/>
          <p:nvPr/>
        </p:nvSpPr>
        <p:spPr>
          <a:xfrm>
            <a:off x="484576" y="882736"/>
            <a:ext cx="10869224" cy="1669395"/>
          </a:xfrm>
          <a:prstGeom prst="roundRect">
            <a:avLst>
              <a:gd name="adj" fmla="val 11262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sklearn.datasets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make_circles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sklearn.cluster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DBSCAN</a:t>
            </a:r>
          </a:p>
          <a:p>
            <a:endParaRPr lang="es-ES" sz="16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Generar datos</a:t>
            </a:r>
          </a:p>
          <a:p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make_circles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n_samples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=1000, noise=0.05, factor=0.6)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79BC0A-98FD-5803-815B-373D7EC354A4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6D834E5-AC04-012D-DC3C-AE5D84A9B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861" y="2879117"/>
            <a:ext cx="4734879" cy="370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6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3EF5A0B-45CA-2419-7B65-6A8233E6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E3E1D8-ECD5-C2E1-DDFD-48925AD95E0F}"/>
              </a:ext>
            </a:extLst>
          </p:cNvPr>
          <p:cNvSpPr txBox="1"/>
          <p:nvPr/>
        </p:nvSpPr>
        <p:spPr>
          <a:xfrm>
            <a:off x="368990" y="320934"/>
            <a:ext cx="983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Implementación en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SKlearn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</a:rPr>
              <a:t>https://scikit-learn.org/stable/modules/generated/sklearn.cluster.DBSCAN.html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367520B-F947-2678-6EAB-027B8A95BC94}"/>
              </a:ext>
            </a:extLst>
          </p:cNvPr>
          <p:cNvSpPr/>
          <p:nvPr/>
        </p:nvSpPr>
        <p:spPr>
          <a:xfrm>
            <a:off x="484576" y="882736"/>
            <a:ext cx="10869224" cy="2938637"/>
          </a:xfrm>
          <a:prstGeom prst="roundRect">
            <a:avLst>
              <a:gd name="adj" fmla="val 11262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sklearn.datasets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make_circles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sklearn.cluster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DBSCAN</a:t>
            </a:r>
          </a:p>
          <a:p>
            <a:endParaRPr lang="es-ES" sz="16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Generar datos</a:t>
            </a:r>
          </a:p>
          <a:p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make_circles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n_samples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=1000, noise=0.05, factor=0.6)</a:t>
            </a:r>
          </a:p>
          <a:p>
            <a:endParaRPr lang="es-ES" sz="16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Aplicar DBSCAN</a:t>
            </a:r>
          </a:p>
          <a:p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dbscan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DBSCAN(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0.05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dbscan.fit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endParaRPr lang="es-ES" sz="16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dbscan.labels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79BC0A-98FD-5803-815B-373D7EC354A4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DC7C973-B681-7288-FA42-5453F358D432}"/>
              </a:ext>
            </a:extLst>
          </p:cNvPr>
          <p:cNvSpPr/>
          <p:nvPr/>
        </p:nvSpPr>
        <p:spPr>
          <a:xfrm>
            <a:off x="484576" y="4026090"/>
            <a:ext cx="10869223" cy="12351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array([21, 0, 1, 2, 3, -1, 4, 5, 6, 7, 8, 3, 3, 9, 10, 10, 22, 6, 5, 46, 3, 6, 9, 11, 12, 5, 13, 5, 41, -1, 5, 9, 5, 4, 7, 1, 5, 12, 5, 14, -1, 19, 3, 7, 15, 11, 19, 1, -1, -1, 10, 16, 31, 17, 27, 18, 19, 10, 36, 1, 3, 5, -1, 22, 20, -1, -1, -1, 21, 7, 3, …], 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dtype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=int64)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2A9F49-92A8-D3AF-643C-3B0BEAC0AAF5}"/>
              </a:ext>
            </a:extLst>
          </p:cNvPr>
          <p:cNvSpPr txBox="1"/>
          <p:nvPr/>
        </p:nvSpPr>
        <p:spPr>
          <a:xfrm>
            <a:off x="368990" y="5664495"/>
            <a:ext cx="1150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dbscan.labels</a:t>
            </a:r>
            <a:r>
              <a:rPr lang="es-ES" sz="18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 </a:t>
            </a:r>
            <a:r>
              <a:rPr lang="es-ES" sz="1800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es un vector que contiene el índice del grupo al que pertenece cada punto.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Si el punto se considera un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outlier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 (anómalo) </a:t>
            </a:r>
            <a:r>
              <a:rPr lang="es-ES" sz="18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dbscan.labels</a:t>
            </a:r>
            <a:r>
              <a:rPr lang="es-ES" sz="18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 = -1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7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3EF5A0B-45CA-2419-7B65-6A8233E6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E3E1D8-ECD5-C2E1-DDFD-48925AD95E0F}"/>
              </a:ext>
            </a:extLst>
          </p:cNvPr>
          <p:cNvSpPr txBox="1"/>
          <p:nvPr/>
        </p:nvSpPr>
        <p:spPr>
          <a:xfrm>
            <a:off x="368990" y="320934"/>
            <a:ext cx="983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Implementación en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SKlearn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</a:rPr>
              <a:t>https://scikit-learn.org/stable/modules/generated/sklearn.cluster.DBSCAN.html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367520B-F947-2678-6EAB-027B8A95BC94}"/>
              </a:ext>
            </a:extLst>
          </p:cNvPr>
          <p:cNvSpPr/>
          <p:nvPr/>
        </p:nvSpPr>
        <p:spPr>
          <a:xfrm>
            <a:off x="484576" y="882737"/>
            <a:ext cx="10869224" cy="2338136"/>
          </a:xfrm>
          <a:prstGeom prst="roundRect">
            <a:avLst>
              <a:gd name="adj" fmla="val 11262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sklearn.datasets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make_circles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sklearn.cluster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DBSCAN</a:t>
            </a:r>
          </a:p>
          <a:p>
            <a:endParaRPr lang="es-ES" sz="16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Generar datos</a:t>
            </a:r>
          </a:p>
          <a:p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make_circles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n_samples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=1000, noise=0.05, factor=0.6)</a:t>
            </a:r>
          </a:p>
          <a:p>
            <a:endParaRPr lang="es-ES" sz="16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Aplicar DBSCAN</a:t>
            </a:r>
          </a:p>
          <a:p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dbscan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DBSCAN(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0.05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dbscan.fit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79BC0A-98FD-5803-815B-373D7EC354A4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2C6F413-C7E8-C81D-B78E-4F17E86E3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38" y="2924175"/>
            <a:ext cx="53244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50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3EF5A0B-45CA-2419-7B65-6A8233E6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E3E1D8-ECD5-C2E1-DDFD-48925AD95E0F}"/>
              </a:ext>
            </a:extLst>
          </p:cNvPr>
          <p:cNvSpPr txBox="1"/>
          <p:nvPr/>
        </p:nvSpPr>
        <p:spPr>
          <a:xfrm>
            <a:off x="368990" y="320934"/>
            <a:ext cx="4815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Escoger los parámetros del DBSCAN.</a:t>
            </a:r>
            <a:endParaRPr lang="es-E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79BC0A-98FD-5803-815B-373D7EC354A4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A484F89-F972-51DD-4DAB-976E4DA7C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282129"/>
              </p:ext>
            </p:extLst>
          </p:nvPr>
        </p:nvGraphicFramePr>
        <p:xfrm>
          <a:off x="230117" y="996073"/>
          <a:ext cx="11731766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941">
                  <a:extLst>
                    <a:ext uri="{9D8B030D-6E8A-4147-A177-3AD203B41FA5}">
                      <a16:colId xmlns:a16="http://schemas.microsoft.com/office/drawing/2014/main" val="243355112"/>
                    </a:ext>
                  </a:extLst>
                </a:gridCol>
                <a:gridCol w="2197289">
                  <a:extLst>
                    <a:ext uri="{9D8B030D-6E8A-4147-A177-3AD203B41FA5}">
                      <a16:colId xmlns:a16="http://schemas.microsoft.com/office/drawing/2014/main" val="1924255924"/>
                    </a:ext>
                  </a:extLst>
                </a:gridCol>
                <a:gridCol w="5868536">
                  <a:extLst>
                    <a:ext uri="{9D8B030D-6E8A-4147-A177-3AD203B41FA5}">
                      <a16:colId xmlns:a16="http://schemas.microsoft.com/office/drawing/2014/main" val="288574826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Epsilon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(ε): </a:t>
                      </a:r>
                      <a:r>
                        <a:rPr kumimoji="0" lang="es-E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B9BD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eps</a:t>
                      </a:r>
                      <a:endParaRPr lang="es-E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Valor muy pequeño: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No hay suficientes puntos para formar un grupo. Considerará como anómalos a la mayoría de los puntos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321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Valor muy grande: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La mayoría de los puntos se agrupará en un único grupo. No detecta datos anómalos.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19409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Número</a:t>
                      </a:r>
                      <a:r>
                        <a:rPr lang="en-US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mínimo</a:t>
                      </a:r>
                      <a:r>
                        <a:rPr lang="en-US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es-ES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min_samples</a:t>
                      </a:r>
                      <a:endParaRPr lang="es-E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Valor muy pequeño: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Generará más grupos.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3650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Valor muy grande: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La mayoría de puntos se catalogarán como anómalos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244834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1ECC8889-A99E-C42B-2219-CA0FEEBAE5D2}"/>
              </a:ext>
            </a:extLst>
          </p:cNvPr>
          <p:cNvSpPr txBox="1"/>
          <p:nvPr/>
        </p:nvSpPr>
        <p:spPr>
          <a:xfrm>
            <a:off x="285086" y="3285194"/>
            <a:ext cx="115221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No hay una forma automática de determinar el valor de </a:t>
            </a:r>
            <a:r>
              <a:rPr lang="es-ES" sz="18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min_samples.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Se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 suele escoger como el doble del número de dimensiones del espacio muestral (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  <a:hlinkClick r:id="rId2"/>
              </a:rPr>
              <a:t>Ester et al., 1996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) </a:t>
            </a:r>
          </a:p>
          <a:p>
            <a:pPr algn="l"/>
            <a:endParaRPr lang="es-ES" b="0" i="0" dirty="0">
              <a:solidFill>
                <a:schemeClr val="accent1">
                  <a:lumMod val="50000"/>
                </a:schemeClr>
              </a:solidFill>
              <a:effectLst/>
              <a:highlight>
                <a:srgbClr val="FFFFFF"/>
              </a:highlight>
              <a:latin typeface="ui-sans-serif"/>
              <a:cs typeface="Courier New" panose="02070309020205020404" pitchFamily="49" charset="0"/>
            </a:endParaRPr>
          </a:p>
          <a:p>
            <a:pPr algn="l"/>
            <a:r>
              <a:rPr lang="es-ES" b="1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ui-sans-serif"/>
                <a:cs typeface="Courier New" panose="02070309020205020404" pitchFamily="49" charset="0"/>
              </a:rPr>
              <a:t>Sugerencias:</a:t>
            </a:r>
          </a:p>
          <a:p>
            <a:pPr algn="l"/>
            <a:endParaRPr lang="es-ES" dirty="0">
              <a:solidFill>
                <a:schemeClr val="accent1">
                  <a:lumMod val="50000"/>
                </a:schemeClr>
              </a:solidFill>
              <a:highlight>
                <a:srgbClr val="FFFFFF"/>
              </a:highlight>
              <a:latin typeface="ui-sans-serif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ui-sans-serif"/>
                <a:cs typeface="Courier New" panose="02070309020205020404" pitchFamily="49" charset="0"/>
              </a:rPr>
              <a:t>Usa un </a:t>
            </a:r>
            <a:r>
              <a:rPr lang="es-ES" sz="18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ui-sans-serif"/>
                <a:cs typeface="Courier New" panose="02070309020205020404" pitchFamily="49" charset="0"/>
              </a:rPr>
              <a:t> más grande para conjuntos de datos grandes y ruidosos (con datos anómalos).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  <a:highlight>
                <a:srgbClr val="FFFFFF"/>
              </a:highlight>
              <a:latin typeface="ui-sans-serif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ui-sans-serif"/>
                <a:cs typeface="Courier New" panose="02070309020205020404" pitchFamily="49" charset="0"/>
              </a:rPr>
              <a:t>Si obtienes clústeres demasiado grandes: disminuye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eps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ui-sans-serif"/>
                <a:cs typeface="Courier New" panose="02070309020205020404" pitchFamily="49" charset="0"/>
              </a:rPr>
              <a:t>Si obtienes demasiado ruido: aumenta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eps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ui-sans-serif"/>
                <a:cs typeface="Courier New" panose="02070309020205020404" pitchFamily="49" charset="0"/>
              </a:rPr>
              <a:t>Un buen agrupamiento requiere iteraciones.</a:t>
            </a:r>
          </a:p>
        </p:txBody>
      </p:sp>
    </p:spTree>
    <p:extLst>
      <p:ext uri="{BB962C8B-B14F-4D97-AF65-F5344CB8AC3E}">
        <p14:creationId xmlns:p14="http://schemas.microsoft.com/office/powerpoint/2010/main" val="71354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3EF5A0B-45CA-2419-7B65-6A8233E6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E3E1D8-ECD5-C2E1-DDFD-48925AD95E0F}"/>
              </a:ext>
            </a:extLst>
          </p:cNvPr>
          <p:cNvSpPr txBox="1"/>
          <p:nvPr/>
        </p:nvSpPr>
        <p:spPr>
          <a:xfrm>
            <a:off x="368990" y="320934"/>
            <a:ext cx="4815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Escoger los parámetros del DBSCAN.</a:t>
            </a:r>
            <a:endParaRPr lang="es-E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79BC0A-98FD-5803-815B-373D7EC354A4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pic>
        <p:nvPicPr>
          <p:cNvPr id="9" name="Imagen 8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E42C0410-FA99-96B3-6B25-DDE9DCAC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15" y="782599"/>
            <a:ext cx="3898120" cy="2880000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47D059FE-9440-D6D4-04ED-4D48A8E32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540" y="782599"/>
            <a:ext cx="389812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CDA8162-9E7E-936D-047D-D0223DB56AE2}"/>
              </a:ext>
            </a:extLst>
          </p:cNvPr>
          <p:cNvSpPr txBox="1"/>
          <p:nvPr/>
        </p:nvSpPr>
        <p:spPr>
          <a:xfrm rot="16200000">
            <a:off x="-680067" y="1808610"/>
            <a:ext cx="3111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0.10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s-ES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1B15D4B-0A9B-C672-4E3C-043DABEE385F}"/>
              </a:ext>
            </a:extLst>
          </p:cNvPr>
          <p:cNvSpPr txBox="1"/>
          <p:nvPr/>
        </p:nvSpPr>
        <p:spPr>
          <a:xfrm rot="16200000">
            <a:off x="-468240" y="5120972"/>
            <a:ext cx="2743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0.10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s-ES" sz="14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D8B533A-15AA-7356-9011-744C6C6CF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024" y="3766461"/>
            <a:ext cx="3898111" cy="2880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D3A9426-C581-A10E-2B0D-14D611D3EDAE}"/>
              </a:ext>
            </a:extLst>
          </p:cNvPr>
          <p:cNvSpPr txBox="1"/>
          <p:nvPr/>
        </p:nvSpPr>
        <p:spPr>
          <a:xfrm rot="16200000">
            <a:off x="4805025" y="1808611"/>
            <a:ext cx="3111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0.20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s-ES" sz="1400" dirty="0"/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49E20B1E-60A1-25EF-4DBD-28A7020FE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549" y="3766461"/>
            <a:ext cx="3898111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E89412F-A02D-B63F-84FD-62A76C6F14A6}"/>
              </a:ext>
            </a:extLst>
          </p:cNvPr>
          <p:cNvSpPr txBox="1"/>
          <p:nvPr/>
        </p:nvSpPr>
        <p:spPr>
          <a:xfrm rot="16200000">
            <a:off x="4871596" y="4837148"/>
            <a:ext cx="3111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0.10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56322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3EF5A0B-45CA-2419-7B65-6A8233E6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E3E1D8-ECD5-C2E1-DDFD-48925AD95E0F}"/>
              </a:ext>
            </a:extLst>
          </p:cNvPr>
          <p:cNvSpPr txBox="1"/>
          <p:nvPr/>
        </p:nvSpPr>
        <p:spPr>
          <a:xfrm>
            <a:off x="368990" y="320934"/>
            <a:ext cx="4498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Escalado de los datos en DBSCAN.</a:t>
            </a:r>
            <a:endParaRPr lang="es-E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79BC0A-98FD-5803-815B-373D7EC354A4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18DEF3F-9CA3-90AA-104A-CA4DF3124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3" y="1713716"/>
            <a:ext cx="5202354" cy="34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83ECD67D-999C-651B-E253-88E0A2A26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312" y="543716"/>
            <a:ext cx="459588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06752567-B466-F41E-7682-C0175D0DD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312" y="3563378"/>
            <a:ext cx="459588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B8546CB-031B-E87A-2265-B467B3C4D4FC}"/>
              </a:ext>
            </a:extLst>
          </p:cNvPr>
          <p:cNvSpPr txBox="1"/>
          <p:nvPr/>
        </p:nvSpPr>
        <p:spPr>
          <a:xfrm rot="16200000">
            <a:off x="10235218" y="2991304"/>
            <a:ext cx="3654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u="sng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eps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b="1" u="sng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0.30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u="sng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b="1" u="sng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s-ES" u="sng" dirty="0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0726E2D3-00C3-7E4F-ACCA-F85AA2BCE93E}"/>
              </a:ext>
            </a:extLst>
          </p:cNvPr>
          <p:cNvSpPr/>
          <p:nvPr/>
        </p:nvSpPr>
        <p:spPr>
          <a:xfrm rot="2527794">
            <a:off x="5033720" y="4235043"/>
            <a:ext cx="2616209" cy="72955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X =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StandardScaler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().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fit_transform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(X)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6F2A52D5-2A48-AFD0-F8BB-2EAF3DFCA15F}"/>
              </a:ext>
            </a:extLst>
          </p:cNvPr>
          <p:cNvSpPr/>
          <p:nvPr/>
        </p:nvSpPr>
        <p:spPr>
          <a:xfrm rot="18989750">
            <a:off x="5033718" y="2033515"/>
            <a:ext cx="2616209" cy="72955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Sin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escalado</a:t>
            </a:r>
            <a:endParaRPr lang="fr-F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60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4286E82-FF38-1057-622F-02244AD16F2B}"/>
              </a:ext>
            </a:extLst>
          </p:cNvPr>
          <p:cNvSpPr txBox="1"/>
          <p:nvPr/>
        </p:nvSpPr>
        <p:spPr>
          <a:xfrm>
            <a:off x="278139" y="255416"/>
            <a:ext cx="1184974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Evaluación del Rendimiento:</a:t>
            </a:r>
          </a:p>
          <a:p>
            <a:endParaRPr lang="es-ES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sz="2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Método de la Silueta (</a:t>
            </a:r>
            <a:r>
              <a:rPr lang="es-ES" sz="1600" b="1" dirty="0" err="1">
                <a:solidFill>
                  <a:schemeClr val="accent1">
                    <a:lumMod val="50000"/>
                  </a:schemeClr>
                </a:solidFill>
              </a:rPr>
              <a:t>Silhouette</a:t>
            </a: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600" b="1" dirty="0" err="1">
                <a:solidFill>
                  <a:schemeClr val="accent1">
                    <a:lumMod val="50000"/>
                  </a:schemeClr>
                </a:solidFill>
              </a:rPr>
              <a:t>Method</a:t>
            </a: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):</a:t>
            </a:r>
            <a:endParaRPr lang="es-ES" sz="1600" dirty="0">
              <a:solidFill>
                <a:schemeClr val="accent1">
                  <a:lumMod val="50000"/>
                </a:schemeClr>
              </a:solidFill>
              <a:highlight>
                <a:srgbClr val="FFFFFF"/>
              </a:highlight>
            </a:endParaRPr>
          </a:p>
        </p:txBody>
      </p:sp>
      <p:sp>
        <p:nvSpPr>
          <p:cNvPr id="4" name="Marcador de número de diapositiva 1">
            <a:extLst>
              <a:ext uri="{FF2B5EF4-FFF2-40B4-BE49-F238E27FC236}">
                <a16:creationId xmlns:a16="http://schemas.microsoft.com/office/drawing/2014/main" id="{2B676A0C-B311-06E8-FDDC-70C2E1F5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4623E108-A708-FF9B-B430-8CE62B49AD72}"/>
                  </a:ext>
                </a:extLst>
              </p:cNvPr>
              <p:cNvSpPr txBox="1"/>
              <p:nvPr/>
            </p:nvSpPr>
            <p:spPr>
              <a:xfrm>
                <a:off x="4087591" y="1126937"/>
                <a:ext cx="1378711" cy="551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m:t>SSC</m:t>
                      </m:r>
                      <m:r>
                        <m:rPr>
                          <m:nor/>
                        </m:rPr>
                        <a:rPr lang="es-E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m:t> 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func>
                            <m:funcPr>
                              <m:ctrlPr>
                                <a:rPr lang="es-ES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s-ES" sz="16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600" b="0" i="0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/>
                              </m:limLow>
                            </m:fName>
                            <m:e>
                              <m:r>
                                <a:rPr lang="es-ES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ES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s-ES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4623E108-A708-FF9B-B430-8CE62B49A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591" y="1126937"/>
                <a:ext cx="1378711" cy="551561"/>
              </a:xfrm>
              <a:prstGeom prst="rect">
                <a:avLst/>
              </a:prstGeom>
              <a:blipFill>
                <a:blip r:embed="rId2"/>
                <a:stretch>
                  <a:fillRect l="-3097" t="-1111" r="-442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6CE0A46-EF33-35B5-0086-8A1AE58ECE7D}"/>
                  </a:ext>
                </a:extLst>
              </p:cNvPr>
              <p:cNvSpPr txBox="1"/>
              <p:nvPr/>
            </p:nvSpPr>
            <p:spPr>
              <a:xfrm>
                <a:off x="-329275" y="1470837"/>
                <a:ext cx="1159115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s-ES" sz="1600" i="0" dirty="0">
                  <a:solidFill>
                    <a:schemeClr val="accent1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Un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valor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cercano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indica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clusters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bien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definidos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mientras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que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valores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negativos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sugieren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que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algunos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puntos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est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ES" sz="16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1600" i="0" dirty="0">
                  <a:solidFill>
                    <a:schemeClr val="accent1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600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en</m:t>
                    </m:r>
                    <m:r>
                      <a:rPr lang="es-ES" sz="1600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600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clusters</m:t>
                    </m:r>
                    <m:r>
                      <a:rPr lang="es-ES" sz="1600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600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incorrectos</m:t>
                    </m:r>
                    <m:r>
                      <a:rPr lang="es-ES" sz="1600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s-ES" sz="16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6CE0A46-EF33-35B5-0086-8A1AE58EC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275" y="1470837"/>
                <a:ext cx="11591153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785ABD68-8926-EC3E-F8A2-34F94A1062F0}"/>
              </a:ext>
            </a:extLst>
          </p:cNvPr>
          <p:cNvSpPr txBox="1"/>
          <p:nvPr/>
        </p:nvSpPr>
        <p:spPr>
          <a:xfrm>
            <a:off x="10797066" y="59677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13" name="Rectángulo: esquinas redondeadas 9">
            <a:extLst>
              <a:ext uri="{FF2B5EF4-FFF2-40B4-BE49-F238E27FC236}">
                <a16:creationId xmlns:a16="http://schemas.microsoft.com/office/drawing/2014/main" id="{F367520B-F947-2678-6EAB-027B8A95BC94}"/>
              </a:ext>
            </a:extLst>
          </p:cNvPr>
          <p:cNvSpPr/>
          <p:nvPr/>
        </p:nvSpPr>
        <p:spPr>
          <a:xfrm>
            <a:off x="994299" y="2800614"/>
            <a:ext cx="10737479" cy="839232"/>
          </a:xfrm>
          <a:prstGeom prst="roundRect">
            <a:avLst>
              <a:gd name="adj" fmla="val 11262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2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sklearn.metrics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silhouette_samples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silhouette_score</a:t>
            </a:r>
            <a:endParaRPr lang="es-ES" sz="12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2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silhouette_avg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silhouette_score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labels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</a:p>
          <a:p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78139" y="3961774"/>
                <a:ext cx="10194842" cy="1944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b="1" dirty="0">
                    <a:solidFill>
                      <a:schemeClr val="accent1">
                        <a:lumMod val="50000"/>
                      </a:schemeClr>
                    </a:solidFill>
                  </a:rPr>
                  <a:t>Coeficiente de Davies-</a:t>
                </a:r>
                <a:r>
                  <a:rPr lang="es-ES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Bouldin</a:t>
                </a:r>
                <a:r>
                  <a:rPr lang="es-ES" b="1" dirty="0">
                    <a:solidFill>
                      <a:schemeClr val="accent1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m:t>DBI</m:t>
                    </m:r>
                    <m:r>
                      <m:rPr>
                        <m:nor/>
                      </m:rPr>
                      <a:rPr lang="es-ES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m:t> =</m:t>
                    </m:r>
                    <m:func>
                      <m:funcPr>
                        <m:ctrlPr>
                          <a:rPr lang="es-E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ES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ES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r>
                          <a:rPr lang="es-E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ES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s-ES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s-E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s-ES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es-ES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es-ES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chemeClr val="accent1">
                        <a:lumMod val="50000"/>
                      </a:schemeClr>
                    </a:solidFill>
                  </a:rPr>
                  <a:t>DBI bajo: Indica que los clústeres son compactos y están bien separados, implica una buena agrupación.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chemeClr val="accent1">
                        <a:lumMod val="50000"/>
                      </a:schemeClr>
                    </a:solidFill>
                  </a:rPr>
                  <a:t>DBI alto: Indica que algunos clústeres están cerca unos de otros o son menos compactos.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s-ES" dirty="0">
                  <a:solidFill>
                    <a:schemeClr val="accent1">
                      <a:lumMod val="50000"/>
                    </a:schemeClr>
                  </a:solidFill>
                  <a:highlight>
                    <a:srgbClr val="FFFFFF"/>
                  </a:highlight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9" y="3961774"/>
                <a:ext cx="10194842" cy="1944443"/>
              </a:xfrm>
              <a:prstGeom prst="rect">
                <a:avLst/>
              </a:prstGeom>
              <a:blipFill>
                <a:blip r:embed="rId4"/>
                <a:stretch>
                  <a:fillRect l="-5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: esquinas redondeadas 9">
            <a:extLst>
              <a:ext uri="{FF2B5EF4-FFF2-40B4-BE49-F238E27FC236}">
                <a16:creationId xmlns:a16="http://schemas.microsoft.com/office/drawing/2014/main" id="{F367520B-F947-2678-6EAB-027B8A95BC94}"/>
              </a:ext>
            </a:extLst>
          </p:cNvPr>
          <p:cNvSpPr/>
          <p:nvPr/>
        </p:nvSpPr>
        <p:spPr>
          <a:xfrm>
            <a:off x="994298" y="5808529"/>
            <a:ext cx="10737479" cy="839232"/>
          </a:xfrm>
          <a:prstGeom prst="roundRect">
            <a:avLst>
              <a:gd name="adj" fmla="val 11262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2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sklearn.metrics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davies_bouldin_score</a:t>
            </a:r>
            <a:endParaRPr lang="es-ES" sz="12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2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dbi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davies_bouldin_score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(data, </a:t>
            </a:r>
            <a:r>
              <a:rPr lang="es-ES" sz="12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labels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</a:p>
          <a:p>
            <a:r>
              <a:rPr lang="es-ES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2C9A518-973F-2B74-F718-AE75884A067D}"/>
                  </a:ext>
                </a:extLst>
              </p:cNvPr>
              <p:cNvSpPr txBox="1"/>
              <p:nvPr/>
            </p:nvSpPr>
            <p:spPr>
              <a:xfrm>
                <a:off x="5166886" y="987218"/>
                <a:ext cx="70251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160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es la distancia media de </a:t>
                </a:r>
                <a:r>
                  <a:rPr lang="es-ES" sz="1600" i="1" dirty="0">
                    <a:solidFill>
                      <a:schemeClr val="accent1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x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a los puntos correspondientes al grupo más cercano que no es el suyo.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es la distancia media de </a:t>
                </a:r>
                <a:r>
                  <a:rPr lang="es-ES" sz="1600" i="1" dirty="0">
                    <a:solidFill>
                      <a:schemeClr val="accent1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x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a los puntos de su propio grupo.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2C9A518-973F-2B74-F718-AE75884A0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886" y="987218"/>
                <a:ext cx="7025114" cy="830997"/>
              </a:xfrm>
              <a:prstGeom prst="rect">
                <a:avLst/>
              </a:prstGeom>
              <a:blipFill>
                <a:blip r:embed="rId5"/>
                <a:stretch>
                  <a:fillRect t="-3676" b="-882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B90D995-EE2A-35D0-738F-2A71662BD715}"/>
                  </a:ext>
                </a:extLst>
              </p:cNvPr>
              <p:cNvSpPr txBox="1"/>
              <p:nvPr/>
            </p:nvSpPr>
            <p:spPr>
              <a:xfrm>
                <a:off x="5020785" y="4047080"/>
                <a:ext cx="7025114" cy="604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es la distancia media de los puntos del grupo </a:t>
                </a:r>
                <a14:m>
                  <m:oMath xmlns:m="http://schemas.openxmlformats.org/officeDocument/2006/math"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a su centroide.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es la distancia entre los centroides de los grupos </a:t>
                </a:r>
                <a14:m>
                  <m:oMath xmlns:m="http://schemas.openxmlformats.org/officeDocument/2006/math">
                    <m:r>
                      <a:rPr lang="es-ES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B90D995-EE2A-35D0-738F-2A71662BD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785" y="4047080"/>
                <a:ext cx="7025114" cy="604589"/>
              </a:xfrm>
              <a:prstGeom prst="rect">
                <a:avLst/>
              </a:prstGeom>
              <a:blipFill>
                <a:blip r:embed="rId6"/>
                <a:stretch>
                  <a:fillRect t="-3030" b="-101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15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1">
            <a:extLst>
              <a:ext uri="{FF2B5EF4-FFF2-40B4-BE49-F238E27FC236}">
                <a16:creationId xmlns:a16="http://schemas.microsoft.com/office/drawing/2014/main" id="{2B676A0C-B311-06E8-FDDC-70C2E1F5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ángulo redondeado 1"/>
          <p:cNvSpPr/>
          <p:nvPr/>
        </p:nvSpPr>
        <p:spPr>
          <a:xfrm>
            <a:off x="300423" y="934279"/>
            <a:ext cx="5561289" cy="3289852"/>
          </a:xfrm>
          <a:prstGeom prst="roundRect">
            <a:avLst>
              <a:gd name="adj" fmla="val 8594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Identifica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grupos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de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cualquier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No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requiere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conocer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el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número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de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grupos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previamente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Detecta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datos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anómalos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y es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independiente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de la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métrica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elegida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No es sensible a las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condiciones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ter"/>
              </a:rPr>
              <a:t>iniciales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ter"/>
              </a:rPr>
              <a:t>.</a:t>
            </a:r>
          </a:p>
        </p:txBody>
      </p:sp>
      <p:sp>
        <p:nvSpPr>
          <p:cNvPr id="15" name="Rectángulo redondeado 14"/>
          <p:cNvSpPr/>
          <p:nvPr/>
        </p:nvSpPr>
        <p:spPr>
          <a:xfrm>
            <a:off x="6168788" y="934280"/>
            <a:ext cx="5857559" cy="5063912"/>
          </a:xfrm>
          <a:prstGeom prst="roundRect">
            <a:avLst>
              <a:gd name="adj" fmla="val 8594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0453E"/>
                </a:solidFill>
                <a:latin typeface="Inter"/>
              </a:rPr>
              <a:t>No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funciona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bien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si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los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grupos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tienen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densidades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diferentes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(HDBSCAN).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A0453E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A0453E"/>
                </a:solidFill>
                <a:latin typeface="Inter"/>
              </a:rPr>
              <a:t>Es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sensible a la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presencia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de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diferentes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escalas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en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las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dimensiones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A0453E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A0453E"/>
                </a:solidFill>
                <a:latin typeface="Inter"/>
              </a:rPr>
              <a:t>Resulta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complicado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incluir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variables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categóricas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en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el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análisis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.</a:t>
            </a:r>
          </a:p>
          <a:p>
            <a:endParaRPr lang="en-US" dirty="0">
              <a:solidFill>
                <a:srgbClr val="A0453E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A0453E"/>
                </a:solidFill>
                <a:latin typeface="Inter"/>
              </a:rPr>
              <a:t>No es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eficiente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ante un gran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número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de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dimensiones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A0453E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A0453E"/>
                </a:solidFill>
                <a:latin typeface="Inter"/>
              </a:rPr>
              <a:t>Precisa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que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los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conjuntos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estén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separados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linealmente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A0453E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A0453E"/>
                </a:solidFill>
                <a:latin typeface="Inter"/>
              </a:rPr>
              <a:t>La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elección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de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los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</a:t>
            </a:r>
            <a:r>
              <a:rPr lang="en-US" b="1" dirty="0" err="1">
                <a:solidFill>
                  <a:srgbClr val="A0453E"/>
                </a:solidFill>
                <a:latin typeface="Inter"/>
              </a:rPr>
              <a:t>parametros</a:t>
            </a:r>
            <a:r>
              <a:rPr lang="en-US" b="1" dirty="0">
                <a:solidFill>
                  <a:srgbClr val="A0453E"/>
                </a:solidFill>
                <a:latin typeface="Inter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eps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min_samples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es </a:t>
            </a:r>
            <a:r>
              <a:rPr lang="en-US" dirty="0" err="1">
                <a:solidFill>
                  <a:srgbClr val="A0453E"/>
                </a:solidFill>
                <a:latin typeface="Inter"/>
              </a:rPr>
              <a:t>compleja</a:t>
            </a:r>
            <a:r>
              <a:rPr lang="en-US" dirty="0">
                <a:solidFill>
                  <a:srgbClr val="A0453E"/>
                </a:solidFill>
                <a:latin typeface="Inter"/>
              </a:rPr>
              <a:t>.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lang="en-US" b="1" dirty="0">
              <a:solidFill>
                <a:srgbClr val="A0453E"/>
              </a:solidFill>
              <a:latin typeface="Inter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427335B-C0E1-CACF-16EA-2C39CAAD6A42}"/>
              </a:ext>
            </a:extLst>
          </p:cNvPr>
          <p:cNvSpPr txBox="1"/>
          <p:nvPr/>
        </p:nvSpPr>
        <p:spPr>
          <a:xfrm>
            <a:off x="368990" y="320934"/>
            <a:ext cx="4755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Ventajas y desventajas del DBSCAN.</a:t>
            </a:r>
            <a:endParaRPr lang="es-E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4E06D5-345C-1BAF-E92D-371D4434E0C1}"/>
              </a:ext>
            </a:extLst>
          </p:cNvPr>
          <p:cNvSpPr txBox="1"/>
          <p:nvPr/>
        </p:nvSpPr>
        <p:spPr>
          <a:xfrm>
            <a:off x="11239882" y="807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</p:spTree>
    <p:extLst>
      <p:ext uri="{BB962C8B-B14F-4D97-AF65-F5344CB8AC3E}">
        <p14:creationId xmlns:p14="http://schemas.microsoft.com/office/powerpoint/2010/main" val="338547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368990" y="415380"/>
            <a:ext cx="20938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accent1">
                    <a:lumMod val="50000"/>
                  </a:schemeClr>
                </a:solidFill>
              </a:rPr>
              <a:t>DBSCAN.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286E82-FF38-1057-622F-02244AD16F2B}"/>
              </a:ext>
            </a:extLst>
          </p:cNvPr>
          <p:cNvSpPr txBox="1"/>
          <p:nvPr/>
        </p:nvSpPr>
        <p:spPr>
          <a:xfrm>
            <a:off x="368990" y="1123266"/>
            <a:ext cx="112785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https://scikit-learn.org/stable/modules/clustering.html#dbscan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https://scikit-learn.org/stable/modules/generated/sklearn.cluster.DBSCAN.html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4"/>
              </a:rPr>
              <a:t>https://www.kaggle.com/code/ranja7/clustering-with-dbscan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5"/>
              </a:rPr>
              <a:t>https://medium.com/@satpatishrimanta/clustering-by-dbscan-density-based-spatial-clustering-of-applications-with-noise-clearly-f93c5c72f706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dirty="0">
                <a:hlinkClick r:id="rId6"/>
              </a:rPr>
              <a:t>https://www.kaggle.com/code/marcinrutecki/clustering-methods-comprehensive-study</a:t>
            </a:r>
          </a:p>
          <a:p>
            <a:r>
              <a:rPr lang="es-ES" dirty="0">
                <a:hlinkClick r:id="rId6"/>
              </a:rPr>
              <a:t>https://dashee87.github.io/data%20science/general/Clustering-with-Scikit-with-GIFs/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7"/>
              </a:rPr>
              <a:t>http://www.sthda.com/english/wiki/wiki.php?id_contents=7940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https://www.kaggle.com/code/pnarerdoan/k-means-dbscan-clustering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90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302CC60E946844A44D317C8BB05DF9" ma:contentTypeVersion="33" ma:contentTypeDescription="Crear nuevo documento." ma:contentTypeScope="" ma:versionID="6c7e834fe0d5188d98b29a4344d1f3e2">
  <xsd:schema xmlns:xsd="http://www.w3.org/2001/XMLSchema" xmlns:xs="http://www.w3.org/2001/XMLSchema" xmlns:p="http://schemas.microsoft.com/office/2006/metadata/properties" xmlns:ns2="68147b4b-69d7-4619-95cc-ccc087043548" xmlns:ns3="a938ec2a-6b57-4b72-a76f-73152430bf4a" targetNamespace="http://schemas.microsoft.com/office/2006/metadata/properties" ma:root="true" ma:fieldsID="1cf8b5368cec60b5cd6cb2330498c9d6" ns2:_="" ns3:_="">
    <xsd:import namespace="68147b4b-69d7-4619-95cc-ccc087043548"/>
    <xsd:import namespace="a938ec2a-6b57-4b72-a76f-73152430bf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47b4b-69d7-4619-95cc-ccc0870435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6b79bab5-423c-41bb-b2a6-fa644551ea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8ec2a-6b57-4b72-a76f-73152430bf4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c230d2-7967-476b-a5b7-5f7b59276066}" ma:internalName="TaxCatchAll" ma:showField="CatchAllData" ma:web="a938ec2a-6b57-4b72-a76f-73152430bf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68147b4b-69d7-4619-95cc-ccc087043548">
      <UserInfo>
        <DisplayName/>
        <AccountId xsi:nil="true"/>
        <AccountType/>
      </UserInfo>
    </Owner>
    <Is_Collaboration_Space_Locked xmlns="68147b4b-69d7-4619-95cc-ccc087043548" xsi:nil="true"/>
    <Teams_Channel_Section_Location xmlns="68147b4b-69d7-4619-95cc-ccc087043548" xsi:nil="true"/>
    <Templates xmlns="68147b4b-69d7-4619-95cc-ccc087043548" xsi:nil="true"/>
    <lcf76f155ced4ddcb4097134ff3c332f xmlns="68147b4b-69d7-4619-95cc-ccc087043548">
      <Terms xmlns="http://schemas.microsoft.com/office/infopath/2007/PartnerControls"/>
    </lcf76f155ced4ddcb4097134ff3c332f>
    <TaxCatchAll xmlns="a938ec2a-6b57-4b72-a76f-73152430bf4a" xsi:nil="true"/>
    <NotebookType xmlns="68147b4b-69d7-4619-95cc-ccc087043548" xsi:nil="true"/>
    <FolderType xmlns="68147b4b-69d7-4619-95cc-ccc087043548" xsi:nil="true"/>
    <Teachers xmlns="68147b4b-69d7-4619-95cc-ccc087043548">
      <UserInfo>
        <DisplayName/>
        <AccountId xsi:nil="true"/>
        <AccountType/>
      </UserInfo>
    </Teachers>
    <Distribution_Groups xmlns="68147b4b-69d7-4619-95cc-ccc087043548" xsi:nil="true"/>
    <LMS_Mappings xmlns="68147b4b-69d7-4619-95cc-ccc087043548" xsi:nil="true"/>
    <Invited_Teachers xmlns="68147b4b-69d7-4619-95cc-ccc087043548" xsi:nil="true"/>
    <IsNotebookLocked xmlns="68147b4b-69d7-4619-95cc-ccc087043548" xsi:nil="true"/>
    <CultureName xmlns="68147b4b-69d7-4619-95cc-ccc087043548" xsi:nil="true"/>
    <Students xmlns="68147b4b-69d7-4619-95cc-ccc087043548">
      <UserInfo>
        <DisplayName/>
        <AccountId xsi:nil="true"/>
        <AccountType/>
      </UserInfo>
    </Students>
    <Student_Groups xmlns="68147b4b-69d7-4619-95cc-ccc087043548">
      <UserInfo>
        <DisplayName/>
        <AccountId xsi:nil="true"/>
        <AccountType/>
      </UserInfo>
    </Student_Groups>
    <TeamsChannelId xmlns="68147b4b-69d7-4619-95cc-ccc087043548" xsi:nil="true"/>
    <Invited_Students xmlns="68147b4b-69d7-4619-95cc-ccc087043548" xsi:nil="true"/>
    <DefaultSectionNames xmlns="68147b4b-69d7-4619-95cc-ccc087043548" xsi:nil="true"/>
    <Self_Registration_Enabled xmlns="68147b4b-69d7-4619-95cc-ccc087043548" xsi:nil="true"/>
    <Has_Teacher_Only_SectionGroup xmlns="68147b4b-69d7-4619-95cc-ccc087043548" xsi:nil="true"/>
    <Math_Settings xmlns="68147b4b-69d7-4619-95cc-ccc087043548" xsi:nil="true"/>
    <AppVersion xmlns="68147b4b-69d7-4619-95cc-ccc087043548" xsi:nil="true"/>
  </documentManagement>
</p:properties>
</file>

<file path=customXml/itemProps1.xml><?xml version="1.0" encoding="utf-8"?>
<ds:datastoreItem xmlns:ds="http://schemas.openxmlformats.org/officeDocument/2006/customXml" ds:itemID="{AA178BF4-28B2-4544-A18D-2F8AF7C35FEF}"/>
</file>

<file path=customXml/itemProps2.xml><?xml version="1.0" encoding="utf-8"?>
<ds:datastoreItem xmlns:ds="http://schemas.openxmlformats.org/officeDocument/2006/customXml" ds:itemID="{8AB4EBA8-3AA7-4E44-A21A-7CB68CF836CB}"/>
</file>

<file path=customXml/itemProps3.xml><?xml version="1.0" encoding="utf-8"?>
<ds:datastoreItem xmlns:ds="http://schemas.openxmlformats.org/officeDocument/2006/customXml" ds:itemID="{480B9F4E-182E-446D-B310-98A06DF2B883}"/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1777</Words>
  <Application>Microsoft Office PowerPoint</Application>
  <PresentationFormat>Panorámica</PresentationFormat>
  <Paragraphs>246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Inter</vt:lpstr>
      <vt:lpstr>ui-sans-serif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uss</dc:creator>
  <cp:lastModifiedBy>Javier_PC</cp:lastModifiedBy>
  <cp:revision>353</cp:revision>
  <cp:lastPrinted>2024-05-20T14:53:26Z</cp:lastPrinted>
  <dcterms:created xsi:type="dcterms:W3CDTF">2018-11-26T16:12:09Z</dcterms:created>
  <dcterms:modified xsi:type="dcterms:W3CDTF">2026-02-26T11:07:43Z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0x010100CF302CC60E946844A44D317C8BB05DF9</vt:lpwstr>
  </property>
</Properties>
</file>