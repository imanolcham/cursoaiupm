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4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2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2.xml" ContentType="application/vnd.openxmlformats-officedocument.presentationml.notesSlide+xml"/>
  <Override PartName="/ppt/theme/theme1.xml" ContentType="application/vnd.openxmlformats-officedocument.them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4"/>
  </p:notesMasterIdLst>
  <p:handoutMasterIdLst>
    <p:handoutMasterId r:id="rId35"/>
  </p:handoutMasterIdLst>
  <p:sldIdLst>
    <p:sldId id="265" r:id="rId2"/>
    <p:sldId id="266" r:id="rId3"/>
    <p:sldId id="267" r:id="rId4"/>
    <p:sldId id="286" r:id="rId5"/>
    <p:sldId id="268" r:id="rId6"/>
    <p:sldId id="270" r:id="rId7"/>
    <p:sldId id="271" r:id="rId8"/>
    <p:sldId id="296" r:id="rId9"/>
    <p:sldId id="295" r:id="rId10"/>
    <p:sldId id="280" r:id="rId11"/>
    <p:sldId id="260" r:id="rId12"/>
    <p:sldId id="269" r:id="rId13"/>
    <p:sldId id="281" r:id="rId14"/>
    <p:sldId id="290" r:id="rId15"/>
    <p:sldId id="289" r:id="rId16"/>
    <p:sldId id="287" r:id="rId17"/>
    <p:sldId id="291" r:id="rId18"/>
    <p:sldId id="292" r:id="rId19"/>
    <p:sldId id="293" r:id="rId20"/>
    <p:sldId id="294" r:id="rId21"/>
    <p:sldId id="273" r:id="rId22"/>
    <p:sldId id="274" r:id="rId23"/>
    <p:sldId id="282" r:id="rId24"/>
    <p:sldId id="275" r:id="rId25"/>
    <p:sldId id="283" r:id="rId26"/>
    <p:sldId id="277" r:id="rId27"/>
    <p:sldId id="284" r:id="rId28"/>
    <p:sldId id="276" r:id="rId29"/>
    <p:sldId id="263" r:id="rId30"/>
    <p:sldId id="264" r:id="rId31"/>
    <p:sldId id="285" r:id="rId32"/>
    <p:sldId id="278" r:id="rId33"/>
  </p:sldIdLst>
  <p:sldSz cx="12192000" cy="6858000"/>
  <p:notesSz cx="6799263" cy="9929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453E"/>
    <a:srgbClr val="F3BFB3"/>
    <a:srgbClr val="D4D4D4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372" y="114"/>
      </p:cViewPr>
      <p:guideLst>
        <p:guide orient="horz" pos="13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347" cy="498215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1343" y="1"/>
            <a:ext cx="2946347" cy="498215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7A6179E6-35F0-4F71-96B3-CF6E453949F7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31601"/>
            <a:ext cx="2946347" cy="498214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1343" y="9431601"/>
            <a:ext cx="2946347" cy="498214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64CB6D2D-D9A9-4D56-A82A-4A572EE023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09580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347" cy="498215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3" y="1"/>
            <a:ext cx="2946347" cy="498215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A93DBFC0-00FC-4C8F-976D-30EC62A610F5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7887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78723"/>
            <a:ext cx="5439410" cy="3909864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1601"/>
            <a:ext cx="2946347" cy="498214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3" y="9431601"/>
            <a:ext cx="2946347" cy="498214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1291E284-FB0A-4E60-AB2F-C5EDB034FE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639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9851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89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3126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1644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7271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0958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1359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2459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5521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2483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436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2492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84683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740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96673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8656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5072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37231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5082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5188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9756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61126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55147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67686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79366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09316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4598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25347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02738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54350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77884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1E284-FB0A-4E60-AB2F-C5EDB034FEA6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3125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2CFDE-017E-4AD7-A9BB-7B1F29A37D24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26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1F2C-7E5A-49FE-A1F2-F40A05FDB0B5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91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871F2-06CA-41C0-9642-AE98CE2819D8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37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12E0E-DEA5-4CB4-AC89-9E0A85102633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80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C19A-912B-4F6B-86F6-DEDA20743EE6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74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66311-CFD3-4432-B35D-98BDF232EF61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53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6593B-9F2E-4895-86C9-25023821CF63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68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91AE6-93D3-4168-BBC8-6F74CA69BEA7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042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E1819-C8BA-416C-A0D6-7F83F1E7162D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16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970D-F9C1-4F49-9439-476E50F8F0A3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33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CB60-6850-4C7F-8AD0-135AE019E640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764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832A6-0A32-4744-B7B2-240034DF923D}" type="datetime1">
              <a:rPr lang="es-ES" smtClean="0">
                <a:solidFill>
                  <a:prstClr val="black">
                    <a:tint val="75000"/>
                  </a:prstClr>
                </a:solidFill>
              </a:rPr>
              <a:t>02/03/2026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>
                <a:solidFill>
                  <a:prstClr val="black">
                    <a:tint val="75000"/>
                  </a:prstClr>
                </a:solidFill>
              </a:rPr>
              <a:t>Prueba 1: Historial Académico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008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hyperlink" Target="https://medium.com/@sachinsoni600517/k-nearest-neighbours-introduction-to-machine-learning-algorithms-9dbc9d9fb3b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72170121_Exploring_Heterogeneity_with_Category_and_Cluster_Analyses_for_Mixed_Data" TargetMode="External"/><Relationship Id="rId3" Type="http://schemas.openxmlformats.org/officeDocument/2006/relationships/image" Target="../media/image18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_augmentation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_augmentation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Data_augmentation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0.png"/><Relationship Id="rId5" Type="http://schemas.openxmlformats.org/officeDocument/2006/relationships/image" Target="../media/image1500.png"/><Relationship Id="rId4" Type="http://schemas.openxmlformats.org/officeDocument/2006/relationships/image" Target="../media/image140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80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3752435" y="1574766"/>
            <a:ext cx="4966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40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40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E26D003-EF43-A775-E5C9-69C386FF41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2"/>
          <a:stretch/>
        </p:blipFill>
        <p:spPr bwMode="auto">
          <a:xfrm>
            <a:off x="0" y="2577850"/>
            <a:ext cx="4810125" cy="360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BAB2C66-7702-9F9D-E3A6-FB63B29B9727}"/>
              </a:ext>
            </a:extLst>
          </p:cNvPr>
          <p:cNvSpPr txBox="1"/>
          <p:nvPr/>
        </p:nvSpPr>
        <p:spPr>
          <a:xfrm>
            <a:off x="1324229" y="6436838"/>
            <a:ext cx="17665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 err="1"/>
              <a:t>From</a:t>
            </a:r>
            <a:r>
              <a:rPr lang="es-ES" sz="1600" dirty="0"/>
              <a:t> </a:t>
            </a:r>
            <a:r>
              <a:rPr lang="es-ES" sz="1600" dirty="0">
                <a:hlinkClick r:id="rId4"/>
              </a:rPr>
              <a:t>medium.com</a:t>
            </a:r>
            <a:endParaRPr lang="es-ES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286E82-FF38-1057-622F-02244AD16F2B}"/>
              </a:ext>
            </a:extLst>
          </p:cNvPr>
          <p:cNvSpPr txBox="1"/>
          <p:nvPr/>
        </p:nvSpPr>
        <p:spPr>
          <a:xfrm>
            <a:off x="4896196" y="3103293"/>
            <a:ext cx="7193595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El algoritmo de </a:t>
            </a:r>
            <a:r>
              <a:rPr lang="es-ES" i="1" dirty="0">
                <a:solidFill>
                  <a:schemeClr val="accent1">
                    <a:lumMod val="50000"/>
                  </a:schemeClr>
                </a:solidFill>
              </a:rPr>
              <a:t>k- vecinos próximos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(k-NN del inglés k-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 smtClean="0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) es una técnica de aprendizaje automático versátil y ampliamente utilizada. 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Clasifica puntos de datos basándose en su similitud con ejemplos etiquetados en los datos de entrenamiento. </a:t>
            </a:r>
          </a:p>
          <a:p>
            <a:pPr>
              <a:lnSpc>
                <a:spcPct val="150000"/>
              </a:lnSpc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KNN es un algoritmo simple pero poderoso con aplicaciones en diversos dominios, incluyendo el reconocimiento de imágenes, la detección de fraudes y los sistemas de recomendación.</a:t>
            </a:r>
          </a:p>
        </p:txBody>
      </p:sp>
      <p:pic>
        <p:nvPicPr>
          <p:cNvPr id="9" name="Picture 2" descr="Logo Universidad">
            <a:extLst>
              <a:ext uri="{FF2B5EF4-FFF2-40B4-BE49-F238E27FC236}">
                <a16:creationId xmlns:a16="http://schemas.microsoft.com/office/drawing/2014/main" id="{3C1518FD-9B9D-EB2F-895D-C671464FF1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51"/>
          <a:stretch/>
        </p:blipFill>
        <p:spPr bwMode="auto">
          <a:xfrm>
            <a:off x="-2869" y="67098"/>
            <a:ext cx="1416034" cy="129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D56AFBF-582A-D206-33B6-3419E2AE8A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73" t="1221" r="4089" b="-1221"/>
          <a:stretch/>
        </p:blipFill>
        <p:spPr>
          <a:xfrm>
            <a:off x="10174778" y="17581"/>
            <a:ext cx="2013142" cy="143991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6628F6E-EF28-4E8A-86FD-981EA7CE460F}"/>
              </a:ext>
            </a:extLst>
          </p:cNvPr>
          <p:cNvSpPr txBox="1"/>
          <p:nvPr/>
        </p:nvSpPr>
        <p:spPr>
          <a:xfrm>
            <a:off x="1335578" y="174449"/>
            <a:ext cx="86674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3600" dirty="0">
                <a:solidFill>
                  <a:schemeClr val="tx2"/>
                </a:solidFill>
              </a:rPr>
              <a:t>Inteligencia Artificial para la </a:t>
            </a:r>
          </a:p>
          <a:p>
            <a:pPr algn="r"/>
            <a:r>
              <a:rPr lang="es-ES" sz="3600" dirty="0">
                <a:solidFill>
                  <a:schemeClr val="tx2"/>
                </a:solidFill>
              </a:rPr>
              <a:t>Ingeniería Aeroespacial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16D3F2B-15A1-730A-0F34-02AA0F9557A4}"/>
              </a:ext>
            </a:extLst>
          </p:cNvPr>
          <p:cNvSpPr/>
          <p:nvPr/>
        </p:nvSpPr>
        <p:spPr>
          <a:xfrm>
            <a:off x="0" y="0"/>
            <a:ext cx="12192000" cy="1345223"/>
          </a:xfrm>
          <a:prstGeom prst="rect">
            <a:avLst/>
          </a:prstGeom>
          <a:solidFill>
            <a:schemeClr val="accent1">
              <a:lumMod val="40000"/>
              <a:lumOff val="6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190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lipse 32">
            <a:extLst>
              <a:ext uri="{FF2B5EF4-FFF2-40B4-BE49-F238E27FC236}">
                <a16:creationId xmlns:a16="http://schemas.microsoft.com/office/drawing/2014/main" id="{9533FF82-5C59-8083-2742-4433FE3EF335}"/>
              </a:ext>
            </a:extLst>
          </p:cNvPr>
          <p:cNvSpPr/>
          <p:nvPr/>
        </p:nvSpPr>
        <p:spPr>
          <a:xfrm>
            <a:off x="3872393" y="4813841"/>
            <a:ext cx="900000" cy="900000"/>
          </a:xfrm>
          <a:prstGeom prst="ellipse">
            <a:avLst/>
          </a:prstGeom>
          <a:solidFill>
            <a:schemeClr val="accent5">
              <a:lumMod val="40000"/>
              <a:lumOff val="60000"/>
              <a:alpha val="23000"/>
            </a:schemeClr>
          </a:solidFill>
          <a:ln w="444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3FB16DD-97A1-9BA5-8681-F103FBEEB82E}"/>
              </a:ext>
            </a:extLst>
          </p:cNvPr>
          <p:cNvSpPr txBox="1"/>
          <p:nvPr/>
        </p:nvSpPr>
        <p:spPr>
          <a:xfrm>
            <a:off x="503255" y="858873"/>
            <a:ext cx="10344492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El principio fundamental del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algoritmo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k-NN es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clasificación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un nuevo punto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espacio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muestral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partir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clase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 la que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pertenecen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k-puntos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más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cercanos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ese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espacio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muestral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algoritmo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busca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puntos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etiquetados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más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cercanos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al que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quiere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clasificar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usando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definición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  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CF056DD-322A-BF1F-CCFB-0D50BFE250B3}"/>
              </a:ext>
            </a:extLst>
          </p:cNvPr>
          <p:cNvSpPr/>
          <p:nvPr/>
        </p:nvSpPr>
        <p:spPr>
          <a:xfrm>
            <a:off x="4247103" y="5170075"/>
            <a:ext cx="216000" cy="21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000" dirty="0"/>
              <a:t>¿?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F11A1B6-8F9F-F36C-A2C5-31BA410827A3}"/>
              </a:ext>
            </a:extLst>
          </p:cNvPr>
          <p:cNvSpPr/>
          <p:nvPr/>
        </p:nvSpPr>
        <p:spPr>
          <a:xfrm>
            <a:off x="2863660" y="3526189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B96F7F4-B6F3-6CAE-274C-F89F822B576E}"/>
              </a:ext>
            </a:extLst>
          </p:cNvPr>
          <p:cNvSpPr/>
          <p:nvPr/>
        </p:nvSpPr>
        <p:spPr>
          <a:xfrm>
            <a:off x="3364714" y="3393866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0001F2B-92E6-5516-E8A8-7F246C97C595}"/>
              </a:ext>
            </a:extLst>
          </p:cNvPr>
          <p:cNvSpPr/>
          <p:nvPr/>
        </p:nvSpPr>
        <p:spPr>
          <a:xfrm>
            <a:off x="2926060" y="4170060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F0B1401-C925-F502-21AE-D63E4415A221}"/>
              </a:ext>
            </a:extLst>
          </p:cNvPr>
          <p:cNvSpPr/>
          <p:nvPr/>
        </p:nvSpPr>
        <p:spPr>
          <a:xfrm>
            <a:off x="2836060" y="2801182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029AF4B-09C1-EFD9-4BBE-69CBE4736F7F}"/>
              </a:ext>
            </a:extLst>
          </p:cNvPr>
          <p:cNvSpPr/>
          <p:nvPr/>
        </p:nvSpPr>
        <p:spPr>
          <a:xfrm>
            <a:off x="3622673" y="4972218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2CAFDA5-5A68-5C00-3685-DBDE2A466B30}"/>
              </a:ext>
            </a:extLst>
          </p:cNvPr>
          <p:cNvSpPr/>
          <p:nvPr/>
        </p:nvSpPr>
        <p:spPr>
          <a:xfrm>
            <a:off x="3840460" y="3346189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09BAC47-C928-D901-0C9B-0ACC63D09E82}"/>
              </a:ext>
            </a:extLst>
          </p:cNvPr>
          <p:cNvSpPr/>
          <p:nvPr/>
        </p:nvSpPr>
        <p:spPr>
          <a:xfrm>
            <a:off x="4311720" y="3606579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EF30DB2-1636-F8FB-22C0-258FFD048DD5}"/>
              </a:ext>
            </a:extLst>
          </p:cNvPr>
          <p:cNvSpPr/>
          <p:nvPr/>
        </p:nvSpPr>
        <p:spPr>
          <a:xfrm>
            <a:off x="3750460" y="4140061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24D8DD8-A224-7961-8ED3-4B1A68A4C059}"/>
              </a:ext>
            </a:extLst>
          </p:cNvPr>
          <p:cNvSpPr/>
          <p:nvPr/>
        </p:nvSpPr>
        <p:spPr>
          <a:xfrm>
            <a:off x="2359864" y="4723841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5FCD113-29CD-7B82-2333-608426E877BD}"/>
              </a:ext>
            </a:extLst>
          </p:cNvPr>
          <p:cNvSpPr/>
          <p:nvPr/>
        </p:nvSpPr>
        <p:spPr>
          <a:xfrm>
            <a:off x="4636771" y="4220578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A704EEA-776B-FDA1-C87A-3AFCB1FB7AA3}"/>
              </a:ext>
            </a:extLst>
          </p:cNvPr>
          <p:cNvSpPr/>
          <p:nvPr/>
        </p:nvSpPr>
        <p:spPr>
          <a:xfrm>
            <a:off x="3860860" y="4639075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56427C9-9F7B-8AE8-0F32-17833A74D888}"/>
              </a:ext>
            </a:extLst>
          </p:cNvPr>
          <p:cNvSpPr/>
          <p:nvPr/>
        </p:nvSpPr>
        <p:spPr>
          <a:xfrm>
            <a:off x="2654735" y="5234857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Triángulo isósceles 20">
            <a:extLst>
              <a:ext uri="{FF2B5EF4-FFF2-40B4-BE49-F238E27FC236}">
                <a16:creationId xmlns:a16="http://schemas.microsoft.com/office/drawing/2014/main" id="{20DFD8CA-E107-622E-4877-5EC7C63AC3D8}"/>
              </a:ext>
            </a:extLst>
          </p:cNvPr>
          <p:cNvSpPr/>
          <p:nvPr/>
        </p:nvSpPr>
        <p:spPr>
          <a:xfrm>
            <a:off x="5782075" y="4801970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Triángulo isósceles 21">
            <a:extLst>
              <a:ext uri="{FF2B5EF4-FFF2-40B4-BE49-F238E27FC236}">
                <a16:creationId xmlns:a16="http://schemas.microsoft.com/office/drawing/2014/main" id="{EC93C492-FD6E-D980-E8C2-7EEE59CDF438}"/>
              </a:ext>
            </a:extLst>
          </p:cNvPr>
          <p:cNvSpPr/>
          <p:nvPr/>
        </p:nvSpPr>
        <p:spPr>
          <a:xfrm>
            <a:off x="4047675" y="5323723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Triángulo isósceles 22">
            <a:extLst>
              <a:ext uri="{FF2B5EF4-FFF2-40B4-BE49-F238E27FC236}">
                <a16:creationId xmlns:a16="http://schemas.microsoft.com/office/drawing/2014/main" id="{A75078C0-D316-7187-3831-C286178004A2}"/>
              </a:ext>
            </a:extLst>
          </p:cNvPr>
          <p:cNvSpPr/>
          <p:nvPr/>
        </p:nvSpPr>
        <p:spPr>
          <a:xfrm>
            <a:off x="5136642" y="3573866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riángulo isósceles 23">
            <a:extLst>
              <a:ext uri="{FF2B5EF4-FFF2-40B4-BE49-F238E27FC236}">
                <a16:creationId xmlns:a16="http://schemas.microsoft.com/office/drawing/2014/main" id="{20147E5A-47CA-A81B-1EBC-D8D2518EFFF1}"/>
              </a:ext>
            </a:extLst>
          </p:cNvPr>
          <p:cNvSpPr/>
          <p:nvPr/>
        </p:nvSpPr>
        <p:spPr>
          <a:xfrm>
            <a:off x="4607268" y="4662093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Triángulo isósceles 24">
            <a:extLst>
              <a:ext uri="{FF2B5EF4-FFF2-40B4-BE49-F238E27FC236}">
                <a16:creationId xmlns:a16="http://schemas.microsoft.com/office/drawing/2014/main" id="{40453864-3EAA-D10D-1712-15F1D9B20F6F}"/>
              </a:ext>
            </a:extLst>
          </p:cNvPr>
          <p:cNvSpPr/>
          <p:nvPr/>
        </p:nvSpPr>
        <p:spPr>
          <a:xfrm>
            <a:off x="5998355" y="4141955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Triángulo isósceles 25">
            <a:extLst>
              <a:ext uri="{FF2B5EF4-FFF2-40B4-BE49-F238E27FC236}">
                <a16:creationId xmlns:a16="http://schemas.microsoft.com/office/drawing/2014/main" id="{C4E6D3FA-03DA-FA3E-E91E-15DB56B7BBC4}"/>
              </a:ext>
            </a:extLst>
          </p:cNvPr>
          <p:cNvSpPr/>
          <p:nvPr/>
        </p:nvSpPr>
        <p:spPr>
          <a:xfrm>
            <a:off x="4748027" y="5456977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Triángulo isósceles 26">
            <a:extLst>
              <a:ext uri="{FF2B5EF4-FFF2-40B4-BE49-F238E27FC236}">
                <a16:creationId xmlns:a16="http://schemas.microsoft.com/office/drawing/2014/main" id="{DB82B6B3-AD21-A79A-54E5-D255C0BBDAB8}"/>
              </a:ext>
            </a:extLst>
          </p:cNvPr>
          <p:cNvSpPr/>
          <p:nvPr/>
        </p:nvSpPr>
        <p:spPr>
          <a:xfrm>
            <a:off x="6177580" y="5080075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86DA50B6-3DD7-FB9D-8ABD-585FD0A77C11}"/>
              </a:ext>
            </a:extLst>
          </p:cNvPr>
          <p:cNvSpPr/>
          <p:nvPr/>
        </p:nvSpPr>
        <p:spPr>
          <a:xfrm>
            <a:off x="4543889" y="6114897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Triángulo isósceles 28">
            <a:extLst>
              <a:ext uri="{FF2B5EF4-FFF2-40B4-BE49-F238E27FC236}">
                <a16:creationId xmlns:a16="http://schemas.microsoft.com/office/drawing/2014/main" id="{7BF8C2E8-C93A-A647-E746-2B48150D6CF2}"/>
              </a:ext>
            </a:extLst>
          </p:cNvPr>
          <p:cNvSpPr/>
          <p:nvPr/>
        </p:nvSpPr>
        <p:spPr>
          <a:xfrm>
            <a:off x="5217675" y="5383406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Triángulo isósceles 29">
            <a:extLst>
              <a:ext uri="{FF2B5EF4-FFF2-40B4-BE49-F238E27FC236}">
                <a16:creationId xmlns:a16="http://schemas.microsoft.com/office/drawing/2014/main" id="{0E983972-9F43-E057-6927-615976573565}"/>
              </a:ext>
            </a:extLst>
          </p:cNvPr>
          <p:cNvSpPr/>
          <p:nvPr/>
        </p:nvSpPr>
        <p:spPr>
          <a:xfrm>
            <a:off x="5692075" y="5338204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Triángulo isósceles 30">
            <a:extLst>
              <a:ext uri="{FF2B5EF4-FFF2-40B4-BE49-F238E27FC236}">
                <a16:creationId xmlns:a16="http://schemas.microsoft.com/office/drawing/2014/main" id="{1407B3AC-6CA2-5EBA-8482-9BF0074709EC}"/>
              </a:ext>
            </a:extLst>
          </p:cNvPr>
          <p:cNvSpPr/>
          <p:nvPr/>
        </p:nvSpPr>
        <p:spPr>
          <a:xfrm>
            <a:off x="5945501" y="5893874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Triángulo isósceles 31">
            <a:extLst>
              <a:ext uri="{FF2B5EF4-FFF2-40B4-BE49-F238E27FC236}">
                <a16:creationId xmlns:a16="http://schemas.microsoft.com/office/drawing/2014/main" id="{2E095BFE-3F3F-CF19-E2F6-9A5DE1E577AD}"/>
              </a:ext>
            </a:extLst>
          </p:cNvPr>
          <p:cNvSpPr/>
          <p:nvPr/>
        </p:nvSpPr>
        <p:spPr>
          <a:xfrm>
            <a:off x="5421126" y="6021170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BF2B22F8-537F-7380-0E11-AFE646EDCDCE}"/>
              </a:ext>
            </a:extLst>
          </p:cNvPr>
          <p:cNvSpPr/>
          <p:nvPr/>
        </p:nvSpPr>
        <p:spPr>
          <a:xfrm>
            <a:off x="3512393" y="4453874"/>
            <a:ext cx="1620000" cy="1620000"/>
          </a:xfrm>
          <a:prstGeom prst="ellipse">
            <a:avLst/>
          </a:prstGeom>
          <a:noFill/>
          <a:ln w="444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313C6C8D-8763-69E0-C3D1-7491F379C9EA}"/>
              </a:ext>
            </a:extLst>
          </p:cNvPr>
          <p:cNvSpPr/>
          <p:nvPr/>
        </p:nvSpPr>
        <p:spPr>
          <a:xfrm>
            <a:off x="2975501" y="3910075"/>
            <a:ext cx="2700000" cy="2700000"/>
          </a:xfrm>
          <a:prstGeom prst="ellipse">
            <a:avLst/>
          </a:prstGeom>
          <a:noFill/>
          <a:ln w="444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57BDEBA-C37B-B2ED-FCCB-5E7E91FD4687}"/>
              </a:ext>
            </a:extLst>
          </p:cNvPr>
          <p:cNvSpPr txBox="1"/>
          <p:nvPr/>
        </p:nvSpPr>
        <p:spPr>
          <a:xfrm>
            <a:off x="7799794" y="3083754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1 NN: </a:t>
            </a:r>
          </a:p>
        </p:txBody>
      </p:sp>
      <p:sp>
        <p:nvSpPr>
          <p:cNvPr id="37" name="Triángulo isósceles 36">
            <a:extLst>
              <a:ext uri="{FF2B5EF4-FFF2-40B4-BE49-F238E27FC236}">
                <a16:creationId xmlns:a16="http://schemas.microsoft.com/office/drawing/2014/main" id="{278FFD88-08A1-0F5E-8B9D-E90681528828}"/>
              </a:ext>
            </a:extLst>
          </p:cNvPr>
          <p:cNvSpPr/>
          <p:nvPr/>
        </p:nvSpPr>
        <p:spPr>
          <a:xfrm>
            <a:off x="8951589" y="3166189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CDC6F1F-7542-CEFE-35C8-BE24234863FA}"/>
              </a:ext>
            </a:extLst>
          </p:cNvPr>
          <p:cNvSpPr txBox="1"/>
          <p:nvPr/>
        </p:nvSpPr>
        <p:spPr>
          <a:xfrm>
            <a:off x="7799794" y="347920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5 NN: </a:t>
            </a:r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3326058E-CEF8-3A8A-4364-415A47554EEA}"/>
              </a:ext>
            </a:extLst>
          </p:cNvPr>
          <p:cNvSpPr/>
          <p:nvPr/>
        </p:nvSpPr>
        <p:spPr>
          <a:xfrm>
            <a:off x="8937921" y="3552341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Triángulo isósceles 39">
            <a:extLst>
              <a:ext uri="{FF2B5EF4-FFF2-40B4-BE49-F238E27FC236}">
                <a16:creationId xmlns:a16="http://schemas.microsoft.com/office/drawing/2014/main" id="{9176B874-9FFA-5E5A-3075-CD53EA919DF4}"/>
              </a:ext>
            </a:extLst>
          </p:cNvPr>
          <p:cNvSpPr/>
          <p:nvPr/>
        </p:nvSpPr>
        <p:spPr>
          <a:xfrm>
            <a:off x="9164988" y="3552341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Triángulo isósceles 40">
            <a:extLst>
              <a:ext uri="{FF2B5EF4-FFF2-40B4-BE49-F238E27FC236}">
                <a16:creationId xmlns:a16="http://schemas.microsoft.com/office/drawing/2014/main" id="{59147ADA-6837-C116-7691-779D7FDE41C3}"/>
              </a:ext>
            </a:extLst>
          </p:cNvPr>
          <p:cNvSpPr/>
          <p:nvPr/>
        </p:nvSpPr>
        <p:spPr>
          <a:xfrm>
            <a:off x="9392055" y="3552341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12BA6BF-4B32-E176-7777-B66AB3867716}"/>
              </a:ext>
            </a:extLst>
          </p:cNvPr>
          <p:cNvSpPr/>
          <p:nvPr/>
        </p:nvSpPr>
        <p:spPr>
          <a:xfrm>
            <a:off x="9619122" y="3552341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498615F-FD21-217B-9707-9C61E3A16BDA}"/>
              </a:ext>
            </a:extLst>
          </p:cNvPr>
          <p:cNvSpPr/>
          <p:nvPr/>
        </p:nvSpPr>
        <p:spPr>
          <a:xfrm>
            <a:off x="9846189" y="3552341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C29CD05-7781-52A3-B902-BEB7C0DBB593}"/>
              </a:ext>
            </a:extLst>
          </p:cNvPr>
          <p:cNvSpPr txBox="1"/>
          <p:nvPr/>
        </p:nvSpPr>
        <p:spPr>
          <a:xfrm>
            <a:off x="7799794" y="3874646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9 NN: </a:t>
            </a:r>
          </a:p>
        </p:txBody>
      </p:sp>
      <p:sp>
        <p:nvSpPr>
          <p:cNvPr id="45" name="Triángulo isósceles 44">
            <a:extLst>
              <a:ext uri="{FF2B5EF4-FFF2-40B4-BE49-F238E27FC236}">
                <a16:creationId xmlns:a16="http://schemas.microsoft.com/office/drawing/2014/main" id="{1B069E4D-0344-E461-3D4C-85D360034F89}"/>
              </a:ext>
            </a:extLst>
          </p:cNvPr>
          <p:cNvSpPr/>
          <p:nvPr/>
        </p:nvSpPr>
        <p:spPr>
          <a:xfrm>
            <a:off x="8937921" y="3938493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36B95E12-FB74-F7DF-4620-D9803FBB6F49}"/>
              </a:ext>
            </a:extLst>
          </p:cNvPr>
          <p:cNvSpPr/>
          <p:nvPr/>
        </p:nvSpPr>
        <p:spPr>
          <a:xfrm>
            <a:off x="9164988" y="3938493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Triángulo isósceles 46">
            <a:extLst>
              <a:ext uri="{FF2B5EF4-FFF2-40B4-BE49-F238E27FC236}">
                <a16:creationId xmlns:a16="http://schemas.microsoft.com/office/drawing/2014/main" id="{ADDD8746-8124-6DA0-36F2-6B3B8C60C0DC}"/>
              </a:ext>
            </a:extLst>
          </p:cNvPr>
          <p:cNvSpPr/>
          <p:nvPr/>
        </p:nvSpPr>
        <p:spPr>
          <a:xfrm>
            <a:off x="9392055" y="3938493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77B51CE0-4FBD-3E4B-6BB4-DF2EEFF3F987}"/>
              </a:ext>
            </a:extLst>
          </p:cNvPr>
          <p:cNvSpPr/>
          <p:nvPr/>
        </p:nvSpPr>
        <p:spPr>
          <a:xfrm>
            <a:off x="10064337" y="3936573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58DCA9C-E232-06B3-1B87-D3F09D4E0A0F}"/>
              </a:ext>
            </a:extLst>
          </p:cNvPr>
          <p:cNvSpPr/>
          <p:nvPr/>
        </p:nvSpPr>
        <p:spPr>
          <a:xfrm>
            <a:off x="10297933" y="3936573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Triángulo isósceles 49">
            <a:extLst>
              <a:ext uri="{FF2B5EF4-FFF2-40B4-BE49-F238E27FC236}">
                <a16:creationId xmlns:a16="http://schemas.microsoft.com/office/drawing/2014/main" id="{49A9E37D-38DF-9DFA-5CCB-7EC707A5450C}"/>
              </a:ext>
            </a:extLst>
          </p:cNvPr>
          <p:cNvSpPr/>
          <p:nvPr/>
        </p:nvSpPr>
        <p:spPr>
          <a:xfrm>
            <a:off x="9619122" y="3936573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Triángulo isósceles 50">
            <a:extLst>
              <a:ext uri="{FF2B5EF4-FFF2-40B4-BE49-F238E27FC236}">
                <a16:creationId xmlns:a16="http://schemas.microsoft.com/office/drawing/2014/main" id="{94FDEAAA-9C56-902D-DBA4-8E5E2275B577}"/>
              </a:ext>
            </a:extLst>
          </p:cNvPr>
          <p:cNvSpPr/>
          <p:nvPr/>
        </p:nvSpPr>
        <p:spPr>
          <a:xfrm>
            <a:off x="9846189" y="3936573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BEAD193-8EC5-E2F9-BF83-2AF057C922E6}"/>
              </a:ext>
            </a:extLst>
          </p:cNvPr>
          <p:cNvSpPr/>
          <p:nvPr/>
        </p:nvSpPr>
        <p:spPr>
          <a:xfrm>
            <a:off x="10531529" y="3936573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2221DFF-65B8-27DC-DF48-3803CA619CFE}"/>
              </a:ext>
            </a:extLst>
          </p:cNvPr>
          <p:cNvSpPr/>
          <p:nvPr/>
        </p:nvSpPr>
        <p:spPr>
          <a:xfrm>
            <a:off x="10765125" y="3936573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Forma libre: forma 55">
            <a:extLst>
              <a:ext uri="{FF2B5EF4-FFF2-40B4-BE49-F238E27FC236}">
                <a16:creationId xmlns:a16="http://schemas.microsoft.com/office/drawing/2014/main" id="{0CC987DC-B6F8-C84E-A403-0A784B877B02}"/>
              </a:ext>
            </a:extLst>
          </p:cNvPr>
          <p:cNvSpPr/>
          <p:nvPr/>
        </p:nvSpPr>
        <p:spPr>
          <a:xfrm>
            <a:off x="4304215" y="3118574"/>
            <a:ext cx="3505200" cy="1689602"/>
          </a:xfrm>
          <a:custGeom>
            <a:avLst/>
            <a:gdLst>
              <a:gd name="connsiteX0" fmla="*/ 0 w 3505200"/>
              <a:gd name="connsiteY0" fmla="*/ 1689602 h 1689602"/>
              <a:gd name="connsiteX1" fmla="*/ 394138 w 3505200"/>
              <a:gd name="connsiteY1" fmla="*/ 507188 h 1689602"/>
              <a:gd name="connsiteX2" fmla="*/ 1361089 w 3505200"/>
              <a:gd name="connsiteY2" fmla="*/ 18457 h 1689602"/>
              <a:gd name="connsiteX3" fmla="*/ 3505200 w 3505200"/>
              <a:gd name="connsiteY3" fmla="*/ 149837 h 168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1689602">
                <a:moveTo>
                  <a:pt x="0" y="1689602"/>
                </a:moveTo>
                <a:cubicBezTo>
                  <a:pt x="83645" y="1237657"/>
                  <a:pt x="167290" y="785712"/>
                  <a:pt x="394138" y="507188"/>
                </a:cubicBezTo>
                <a:cubicBezTo>
                  <a:pt x="620986" y="228664"/>
                  <a:pt x="842579" y="78015"/>
                  <a:pt x="1361089" y="18457"/>
                </a:cubicBezTo>
                <a:cubicBezTo>
                  <a:pt x="1879599" y="-41101"/>
                  <a:pt x="2692399" y="54368"/>
                  <a:pt x="3505200" y="149837"/>
                </a:cubicBezTo>
              </a:path>
            </a:pathLst>
          </a:custGeom>
          <a:noFill/>
          <a:ln w="31750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Forma libre: forma 56">
            <a:extLst>
              <a:ext uri="{FF2B5EF4-FFF2-40B4-BE49-F238E27FC236}">
                <a16:creationId xmlns:a16="http://schemas.microsoft.com/office/drawing/2014/main" id="{7B9A28AE-A556-1F59-183F-DA15C2109AB7}"/>
              </a:ext>
            </a:extLst>
          </p:cNvPr>
          <p:cNvSpPr/>
          <p:nvPr/>
        </p:nvSpPr>
        <p:spPr>
          <a:xfrm>
            <a:off x="4724400" y="3631814"/>
            <a:ext cx="3075394" cy="929676"/>
          </a:xfrm>
          <a:custGeom>
            <a:avLst/>
            <a:gdLst>
              <a:gd name="connsiteX0" fmla="*/ 0 w 2974428"/>
              <a:gd name="connsiteY0" fmla="*/ 929676 h 929676"/>
              <a:gd name="connsiteX1" fmla="*/ 930166 w 2974428"/>
              <a:gd name="connsiteY1" fmla="*/ 130889 h 929676"/>
              <a:gd name="connsiteX2" fmla="*/ 2974428 w 2974428"/>
              <a:gd name="connsiteY2" fmla="*/ 10020 h 929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4428" h="929676">
                <a:moveTo>
                  <a:pt x="0" y="929676"/>
                </a:moveTo>
                <a:cubicBezTo>
                  <a:pt x="217214" y="606920"/>
                  <a:pt x="434428" y="284165"/>
                  <a:pt x="930166" y="130889"/>
                </a:cubicBezTo>
                <a:cubicBezTo>
                  <a:pt x="1425904" y="-22387"/>
                  <a:pt x="2200166" y="-6184"/>
                  <a:pt x="2974428" y="10020"/>
                </a:cubicBezTo>
              </a:path>
            </a:pathLst>
          </a:custGeom>
          <a:noFill/>
          <a:ln w="31750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Forma libre: forma 57">
            <a:extLst>
              <a:ext uri="{FF2B5EF4-FFF2-40B4-BE49-F238E27FC236}">
                <a16:creationId xmlns:a16="http://schemas.microsoft.com/office/drawing/2014/main" id="{828F7607-8BA3-0244-7B9D-36E5776830F2}"/>
              </a:ext>
            </a:extLst>
          </p:cNvPr>
          <p:cNvSpPr/>
          <p:nvPr/>
        </p:nvSpPr>
        <p:spPr>
          <a:xfrm>
            <a:off x="5318234" y="3968920"/>
            <a:ext cx="2491181" cy="377108"/>
          </a:xfrm>
          <a:custGeom>
            <a:avLst/>
            <a:gdLst>
              <a:gd name="connsiteX0" fmla="*/ 0 w 2433145"/>
              <a:gd name="connsiteY0" fmla="*/ 377108 h 377108"/>
              <a:gd name="connsiteX1" fmla="*/ 541283 w 2433145"/>
              <a:gd name="connsiteY1" fmla="*/ 25011 h 377108"/>
              <a:gd name="connsiteX2" fmla="*/ 2433145 w 2433145"/>
              <a:gd name="connsiteY2" fmla="*/ 56542 h 37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3145" h="377108">
                <a:moveTo>
                  <a:pt x="0" y="377108"/>
                </a:moveTo>
                <a:cubicBezTo>
                  <a:pt x="67879" y="227773"/>
                  <a:pt x="135759" y="78439"/>
                  <a:pt x="541283" y="25011"/>
                </a:cubicBezTo>
                <a:cubicBezTo>
                  <a:pt x="946807" y="-28417"/>
                  <a:pt x="1689976" y="14062"/>
                  <a:pt x="2433145" y="56542"/>
                </a:cubicBezTo>
              </a:path>
            </a:pathLst>
          </a:custGeom>
          <a:noFill/>
          <a:ln w="31750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3AEFD20-33E9-8519-D8D4-8D43A2978A4F}"/>
              </a:ext>
            </a:extLst>
          </p:cNvPr>
          <p:cNvSpPr txBox="1"/>
          <p:nvPr/>
        </p:nvSpPr>
        <p:spPr>
          <a:xfrm>
            <a:off x="7474981" y="4569534"/>
            <a:ext cx="440632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Ejemplo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con dos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clases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Etiquetas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según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valor de k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38826" y="136523"/>
            <a:ext cx="2321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smtClean="0">
                <a:solidFill>
                  <a:schemeClr val="accent1">
                    <a:lumMod val="50000"/>
                  </a:schemeClr>
                </a:solidFill>
              </a:rPr>
              <a:t>Aprendizaje Supervisado</a:t>
            </a:r>
            <a:endParaRPr lang="es-E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519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A3DE98-F8C5-7084-CA25-A84F63904E42}"/>
              </a:ext>
            </a:extLst>
          </p:cNvPr>
          <p:cNvSpPr/>
          <p:nvPr/>
        </p:nvSpPr>
        <p:spPr>
          <a:xfrm>
            <a:off x="2519982" y="3635802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917282D-64F6-B2D7-B7CC-15FB5057DAFE}"/>
              </a:ext>
            </a:extLst>
          </p:cNvPr>
          <p:cNvSpPr/>
          <p:nvPr/>
        </p:nvSpPr>
        <p:spPr>
          <a:xfrm>
            <a:off x="3658347" y="3178403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D362E27F-AE97-5552-1B56-AE9578061CF3}"/>
              </a:ext>
            </a:extLst>
          </p:cNvPr>
          <p:cNvSpPr/>
          <p:nvPr/>
        </p:nvSpPr>
        <p:spPr>
          <a:xfrm>
            <a:off x="3063432" y="3252436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AE6AEA80-FDEA-F313-23B5-A19C03FF6C7B}"/>
              </a:ext>
            </a:extLst>
          </p:cNvPr>
          <p:cNvSpPr/>
          <p:nvPr/>
        </p:nvSpPr>
        <p:spPr>
          <a:xfrm>
            <a:off x="2970328" y="3569127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11909C2-4DB8-51CC-2CB8-B75BD0FDCD6F}"/>
              </a:ext>
            </a:extLst>
          </p:cNvPr>
          <p:cNvSpPr/>
          <p:nvPr/>
        </p:nvSpPr>
        <p:spPr>
          <a:xfrm>
            <a:off x="2094020" y="4074915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BEE7ABB3-579D-F271-BCE1-03A5ED4DB0A2}"/>
              </a:ext>
            </a:extLst>
          </p:cNvPr>
          <p:cNvSpPr/>
          <p:nvPr/>
        </p:nvSpPr>
        <p:spPr>
          <a:xfrm>
            <a:off x="3087751" y="4346194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16447FA1-91D5-41D0-EA6A-2BA89C0B3730}"/>
              </a:ext>
            </a:extLst>
          </p:cNvPr>
          <p:cNvSpPr/>
          <p:nvPr/>
        </p:nvSpPr>
        <p:spPr>
          <a:xfrm>
            <a:off x="2971634" y="3976577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2" name="Triángulo isósceles 61">
            <a:extLst>
              <a:ext uri="{FF2B5EF4-FFF2-40B4-BE49-F238E27FC236}">
                <a16:creationId xmlns:a16="http://schemas.microsoft.com/office/drawing/2014/main" id="{904999D1-360C-494B-300F-ED22C7D989B8}"/>
              </a:ext>
            </a:extLst>
          </p:cNvPr>
          <p:cNvSpPr/>
          <p:nvPr/>
        </p:nvSpPr>
        <p:spPr>
          <a:xfrm>
            <a:off x="4937964" y="3768067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Triángulo isósceles 62">
            <a:extLst>
              <a:ext uri="{FF2B5EF4-FFF2-40B4-BE49-F238E27FC236}">
                <a16:creationId xmlns:a16="http://schemas.microsoft.com/office/drawing/2014/main" id="{ECBD3F28-62B6-F137-45D3-A9F1DE99FF54}"/>
              </a:ext>
            </a:extLst>
          </p:cNvPr>
          <p:cNvSpPr/>
          <p:nvPr/>
        </p:nvSpPr>
        <p:spPr>
          <a:xfrm>
            <a:off x="4169432" y="3177457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4" name="Triángulo isósceles 63">
            <a:extLst>
              <a:ext uri="{FF2B5EF4-FFF2-40B4-BE49-F238E27FC236}">
                <a16:creationId xmlns:a16="http://schemas.microsoft.com/office/drawing/2014/main" id="{237545B9-FC90-5295-5D09-E764412912D7}"/>
              </a:ext>
            </a:extLst>
          </p:cNvPr>
          <p:cNvSpPr/>
          <p:nvPr/>
        </p:nvSpPr>
        <p:spPr>
          <a:xfrm>
            <a:off x="4394131" y="4220519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5" name="Triángulo isósceles 64">
            <a:extLst>
              <a:ext uri="{FF2B5EF4-FFF2-40B4-BE49-F238E27FC236}">
                <a16:creationId xmlns:a16="http://schemas.microsoft.com/office/drawing/2014/main" id="{E70E2139-0E2E-C30E-C37E-49B0CCDA95D6}"/>
              </a:ext>
            </a:extLst>
          </p:cNvPr>
          <p:cNvSpPr/>
          <p:nvPr/>
        </p:nvSpPr>
        <p:spPr>
          <a:xfrm>
            <a:off x="3738304" y="4166411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Triángulo isósceles 65">
            <a:extLst>
              <a:ext uri="{FF2B5EF4-FFF2-40B4-BE49-F238E27FC236}">
                <a16:creationId xmlns:a16="http://schemas.microsoft.com/office/drawing/2014/main" id="{B4AA9514-920D-AAE0-67ED-54713B0E802C}"/>
              </a:ext>
            </a:extLst>
          </p:cNvPr>
          <p:cNvSpPr/>
          <p:nvPr/>
        </p:nvSpPr>
        <p:spPr>
          <a:xfrm>
            <a:off x="4064792" y="3479619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Triángulo isósceles 66">
            <a:extLst>
              <a:ext uri="{FF2B5EF4-FFF2-40B4-BE49-F238E27FC236}">
                <a16:creationId xmlns:a16="http://schemas.microsoft.com/office/drawing/2014/main" id="{B6E2C2A5-BB2B-6E9D-0B26-EB9C68A37072}"/>
              </a:ext>
            </a:extLst>
          </p:cNvPr>
          <p:cNvSpPr/>
          <p:nvPr/>
        </p:nvSpPr>
        <p:spPr>
          <a:xfrm>
            <a:off x="5890702" y="5135794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Triángulo isósceles 67">
            <a:extLst>
              <a:ext uri="{FF2B5EF4-FFF2-40B4-BE49-F238E27FC236}">
                <a16:creationId xmlns:a16="http://schemas.microsoft.com/office/drawing/2014/main" id="{06C5167E-95D5-D7B2-DF6B-53718631ADBB}"/>
              </a:ext>
            </a:extLst>
          </p:cNvPr>
          <p:cNvSpPr/>
          <p:nvPr/>
        </p:nvSpPr>
        <p:spPr>
          <a:xfrm>
            <a:off x="4986088" y="4695689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Triángulo isósceles 68">
            <a:extLst>
              <a:ext uri="{FF2B5EF4-FFF2-40B4-BE49-F238E27FC236}">
                <a16:creationId xmlns:a16="http://schemas.microsoft.com/office/drawing/2014/main" id="{6EB34075-1F71-0A08-4628-3EF5645E0390}"/>
              </a:ext>
            </a:extLst>
          </p:cNvPr>
          <p:cNvSpPr/>
          <p:nvPr/>
        </p:nvSpPr>
        <p:spPr>
          <a:xfrm>
            <a:off x="3680554" y="4978628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71BA2F8E-BE77-0E14-D54F-FD54348681EA}"/>
              </a:ext>
            </a:extLst>
          </p:cNvPr>
          <p:cNvSpPr/>
          <p:nvPr/>
        </p:nvSpPr>
        <p:spPr>
          <a:xfrm>
            <a:off x="5184745" y="4403590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Triángulo isósceles 70">
            <a:extLst>
              <a:ext uri="{FF2B5EF4-FFF2-40B4-BE49-F238E27FC236}">
                <a16:creationId xmlns:a16="http://schemas.microsoft.com/office/drawing/2014/main" id="{EB6C0A14-6BF4-CDCC-F7CA-3CFFBF4DA60E}"/>
              </a:ext>
            </a:extLst>
          </p:cNvPr>
          <p:cNvSpPr/>
          <p:nvPr/>
        </p:nvSpPr>
        <p:spPr>
          <a:xfrm>
            <a:off x="4168526" y="4945235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2" name="Triángulo isósceles 71">
            <a:extLst>
              <a:ext uri="{FF2B5EF4-FFF2-40B4-BE49-F238E27FC236}">
                <a16:creationId xmlns:a16="http://schemas.microsoft.com/office/drawing/2014/main" id="{D9E0011F-4E37-49CC-CDB4-4E77CB7DB3DA}"/>
              </a:ext>
            </a:extLst>
          </p:cNvPr>
          <p:cNvSpPr/>
          <p:nvPr/>
        </p:nvSpPr>
        <p:spPr>
          <a:xfrm>
            <a:off x="4522465" y="5122447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Triángulo isósceles 72">
            <a:extLst>
              <a:ext uri="{FF2B5EF4-FFF2-40B4-BE49-F238E27FC236}">
                <a16:creationId xmlns:a16="http://schemas.microsoft.com/office/drawing/2014/main" id="{BEFC7D1B-7CFA-355C-4717-64CBE963EF2F}"/>
              </a:ext>
            </a:extLst>
          </p:cNvPr>
          <p:cNvSpPr/>
          <p:nvPr/>
        </p:nvSpPr>
        <p:spPr>
          <a:xfrm>
            <a:off x="4767753" y="5592994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344E80C2-9FF7-34B5-03CF-0765286065F4}"/>
              </a:ext>
            </a:extLst>
          </p:cNvPr>
          <p:cNvSpPr/>
          <p:nvPr/>
        </p:nvSpPr>
        <p:spPr>
          <a:xfrm>
            <a:off x="3219020" y="4385665"/>
            <a:ext cx="900000" cy="900000"/>
          </a:xfrm>
          <a:prstGeom prst="ellipse">
            <a:avLst/>
          </a:prstGeom>
          <a:noFill/>
          <a:ln w="444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28D5EA63-40B4-5731-D74A-8625311771FA}"/>
              </a:ext>
            </a:extLst>
          </p:cNvPr>
          <p:cNvSpPr/>
          <p:nvPr/>
        </p:nvSpPr>
        <p:spPr>
          <a:xfrm>
            <a:off x="2859020" y="4025698"/>
            <a:ext cx="1620000" cy="1620000"/>
          </a:xfrm>
          <a:prstGeom prst="ellipse">
            <a:avLst/>
          </a:prstGeom>
          <a:noFill/>
          <a:ln w="444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85079665-838F-8F22-01CF-C6CD68A0211B}"/>
              </a:ext>
            </a:extLst>
          </p:cNvPr>
          <p:cNvSpPr/>
          <p:nvPr/>
        </p:nvSpPr>
        <p:spPr>
          <a:xfrm>
            <a:off x="2505054" y="3659127"/>
            <a:ext cx="2340000" cy="2340000"/>
          </a:xfrm>
          <a:prstGeom prst="ellipse">
            <a:avLst/>
          </a:prstGeom>
          <a:noFill/>
          <a:ln w="444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7" name="Cruz 76">
            <a:extLst>
              <a:ext uri="{FF2B5EF4-FFF2-40B4-BE49-F238E27FC236}">
                <a16:creationId xmlns:a16="http://schemas.microsoft.com/office/drawing/2014/main" id="{F53DCFA1-369D-15CB-7F1A-86531CAAC046}"/>
              </a:ext>
            </a:extLst>
          </p:cNvPr>
          <p:cNvSpPr/>
          <p:nvPr/>
        </p:nvSpPr>
        <p:spPr>
          <a:xfrm>
            <a:off x="2215192" y="4871817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8" name="Cruz 77">
            <a:extLst>
              <a:ext uri="{FF2B5EF4-FFF2-40B4-BE49-F238E27FC236}">
                <a16:creationId xmlns:a16="http://schemas.microsoft.com/office/drawing/2014/main" id="{AD0A2ACF-60B9-A663-C65E-CE4D32EFC06B}"/>
              </a:ext>
            </a:extLst>
          </p:cNvPr>
          <p:cNvSpPr/>
          <p:nvPr/>
        </p:nvSpPr>
        <p:spPr>
          <a:xfrm>
            <a:off x="1882948" y="5915665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Cruz 78">
            <a:extLst>
              <a:ext uri="{FF2B5EF4-FFF2-40B4-BE49-F238E27FC236}">
                <a16:creationId xmlns:a16="http://schemas.microsoft.com/office/drawing/2014/main" id="{2EF56272-BD23-9B5A-7F9F-339E9861FEDA}"/>
              </a:ext>
            </a:extLst>
          </p:cNvPr>
          <p:cNvSpPr/>
          <p:nvPr/>
        </p:nvSpPr>
        <p:spPr>
          <a:xfrm>
            <a:off x="2401797" y="5776132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Cruz 79">
            <a:extLst>
              <a:ext uri="{FF2B5EF4-FFF2-40B4-BE49-F238E27FC236}">
                <a16:creationId xmlns:a16="http://schemas.microsoft.com/office/drawing/2014/main" id="{1CA8BA68-EF26-C46F-EAF2-796F6DD23618}"/>
              </a:ext>
            </a:extLst>
          </p:cNvPr>
          <p:cNvSpPr/>
          <p:nvPr/>
        </p:nvSpPr>
        <p:spPr>
          <a:xfrm>
            <a:off x="2120287" y="6272076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Cruz 80">
            <a:extLst>
              <a:ext uri="{FF2B5EF4-FFF2-40B4-BE49-F238E27FC236}">
                <a16:creationId xmlns:a16="http://schemas.microsoft.com/office/drawing/2014/main" id="{A2F26CF6-324F-ACB3-C29A-074F994B7A19}"/>
              </a:ext>
            </a:extLst>
          </p:cNvPr>
          <p:cNvSpPr/>
          <p:nvPr/>
        </p:nvSpPr>
        <p:spPr>
          <a:xfrm>
            <a:off x="2845210" y="5465698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2" name="Cruz 81">
            <a:extLst>
              <a:ext uri="{FF2B5EF4-FFF2-40B4-BE49-F238E27FC236}">
                <a16:creationId xmlns:a16="http://schemas.microsoft.com/office/drawing/2014/main" id="{5CEDA5DD-9F4D-83CE-7299-BEC193D057ED}"/>
              </a:ext>
            </a:extLst>
          </p:cNvPr>
          <p:cNvSpPr/>
          <p:nvPr/>
        </p:nvSpPr>
        <p:spPr>
          <a:xfrm>
            <a:off x="1806205" y="4739127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Cruz 82">
            <a:extLst>
              <a:ext uri="{FF2B5EF4-FFF2-40B4-BE49-F238E27FC236}">
                <a16:creationId xmlns:a16="http://schemas.microsoft.com/office/drawing/2014/main" id="{D26B0661-3077-A29C-7E55-58506670665B}"/>
              </a:ext>
            </a:extLst>
          </p:cNvPr>
          <p:cNvSpPr/>
          <p:nvPr/>
        </p:nvSpPr>
        <p:spPr>
          <a:xfrm>
            <a:off x="2577487" y="6628749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4" name="Cruz 83">
            <a:extLst>
              <a:ext uri="{FF2B5EF4-FFF2-40B4-BE49-F238E27FC236}">
                <a16:creationId xmlns:a16="http://schemas.microsoft.com/office/drawing/2014/main" id="{60642B7B-E0C8-8328-79E4-9FED7D38EC54}"/>
              </a:ext>
            </a:extLst>
          </p:cNvPr>
          <p:cNvSpPr/>
          <p:nvPr/>
        </p:nvSpPr>
        <p:spPr>
          <a:xfrm>
            <a:off x="3038729" y="6119851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5" name="Cruz 84">
            <a:extLst>
              <a:ext uri="{FF2B5EF4-FFF2-40B4-BE49-F238E27FC236}">
                <a16:creationId xmlns:a16="http://schemas.microsoft.com/office/drawing/2014/main" id="{4194AF83-3143-4EBD-6881-5359DE80C26D}"/>
              </a:ext>
            </a:extLst>
          </p:cNvPr>
          <p:cNvSpPr/>
          <p:nvPr/>
        </p:nvSpPr>
        <p:spPr>
          <a:xfrm>
            <a:off x="2207408" y="5206540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6" name="Cruz 85">
            <a:extLst>
              <a:ext uri="{FF2B5EF4-FFF2-40B4-BE49-F238E27FC236}">
                <a16:creationId xmlns:a16="http://schemas.microsoft.com/office/drawing/2014/main" id="{7553A846-5488-2B2F-232E-3764A8160555}"/>
              </a:ext>
            </a:extLst>
          </p:cNvPr>
          <p:cNvSpPr/>
          <p:nvPr/>
        </p:nvSpPr>
        <p:spPr>
          <a:xfrm>
            <a:off x="2639878" y="6112604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7" name="Cruz 86">
            <a:extLst>
              <a:ext uri="{FF2B5EF4-FFF2-40B4-BE49-F238E27FC236}">
                <a16:creationId xmlns:a16="http://schemas.microsoft.com/office/drawing/2014/main" id="{109EFAA2-6668-1282-201F-245D0781FBA6}"/>
              </a:ext>
            </a:extLst>
          </p:cNvPr>
          <p:cNvSpPr/>
          <p:nvPr/>
        </p:nvSpPr>
        <p:spPr>
          <a:xfrm>
            <a:off x="3928076" y="5352214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1EE35C41-1A94-DD02-346D-35DBF791D91F}"/>
              </a:ext>
            </a:extLst>
          </p:cNvPr>
          <p:cNvSpPr/>
          <p:nvPr/>
        </p:nvSpPr>
        <p:spPr>
          <a:xfrm>
            <a:off x="3187087" y="2936450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C6DF94FD-1D53-4EDD-91B9-1EC684827E6A}"/>
              </a:ext>
            </a:extLst>
          </p:cNvPr>
          <p:cNvSpPr/>
          <p:nvPr/>
        </p:nvSpPr>
        <p:spPr>
          <a:xfrm>
            <a:off x="2237426" y="3123457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528E3887-3D87-1EAB-6C73-8B6CD65D5A9E}"/>
              </a:ext>
            </a:extLst>
          </p:cNvPr>
          <p:cNvSpPr/>
          <p:nvPr/>
        </p:nvSpPr>
        <p:spPr>
          <a:xfrm>
            <a:off x="2562376" y="2601578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02C409F8-5D1F-5964-2698-39658FB35B95}"/>
              </a:ext>
            </a:extLst>
          </p:cNvPr>
          <p:cNvSpPr/>
          <p:nvPr/>
        </p:nvSpPr>
        <p:spPr>
          <a:xfrm>
            <a:off x="2291426" y="4457590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2E36152C-99CA-54C3-2E7D-3C8C8BBBC20C}"/>
              </a:ext>
            </a:extLst>
          </p:cNvPr>
          <p:cNvSpPr txBox="1"/>
          <p:nvPr/>
        </p:nvSpPr>
        <p:spPr>
          <a:xfrm>
            <a:off x="7262452" y="267502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1 NN: </a:t>
            </a:r>
          </a:p>
        </p:txBody>
      </p:sp>
      <p:sp>
        <p:nvSpPr>
          <p:cNvPr id="93" name="Triángulo isósceles 92">
            <a:extLst>
              <a:ext uri="{FF2B5EF4-FFF2-40B4-BE49-F238E27FC236}">
                <a16:creationId xmlns:a16="http://schemas.microsoft.com/office/drawing/2014/main" id="{F258050C-12B2-D895-3459-BAB62F893AE7}"/>
              </a:ext>
            </a:extLst>
          </p:cNvPr>
          <p:cNvSpPr/>
          <p:nvPr/>
        </p:nvSpPr>
        <p:spPr>
          <a:xfrm>
            <a:off x="8414247" y="2757455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47348BE5-B3E9-4909-40C9-9A8EB8BDE72C}"/>
              </a:ext>
            </a:extLst>
          </p:cNvPr>
          <p:cNvSpPr txBox="1"/>
          <p:nvPr/>
        </p:nvSpPr>
        <p:spPr>
          <a:xfrm>
            <a:off x="7262452" y="3170837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5 NN: </a:t>
            </a:r>
          </a:p>
        </p:txBody>
      </p:sp>
      <p:sp>
        <p:nvSpPr>
          <p:cNvPr id="95" name="Triángulo isósceles 94">
            <a:extLst>
              <a:ext uri="{FF2B5EF4-FFF2-40B4-BE49-F238E27FC236}">
                <a16:creationId xmlns:a16="http://schemas.microsoft.com/office/drawing/2014/main" id="{752DAF97-994B-B8CA-4DC8-50417E0CEBC8}"/>
              </a:ext>
            </a:extLst>
          </p:cNvPr>
          <p:cNvSpPr/>
          <p:nvPr/>
        </p:nvSpPr>
        <p:spPr>
          <a:xfrm>
            <a:off x="8400579" y="3243978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Triángulo isósceles 95">
            <a:extLst>
              <a:ext uri="{FF2B5EF4-FFF2-40B4-BE49-F238E27FC236}">
                <a16:creationId xmlns:a16="http://schemas.microsoft.com/office/drawing/2014/main" id="{D2688CA0-514A-E3DF-031F-C2AED31A95E2}"/>
              </a:ext>
            </a:extLst>
          </p:cNvPr>
          <p:cNvSpPr/>
          <p:nvPr/>
        </p:nvSpPr>
        <p:spPr>
          <a:xfrm>
            <a:off x="8627646" y="3243978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Triángulo isósceles 96">
            <a:extLst>
              <a:ext uri="{FF2B5EF4-FFF2-40B4-BE49-F238E27FC236}">
                <a16:creationId xmlns:a16="http://schemas.microsoft.com/office/drawing/2014/main" id="{8CD6F40C-B65A-B8E2-03E6-B6BAC40DC209}"/>
              </a:ext>
            </a:extLst>
          </p:cNvPr>
          <p:cNvSpPr/>
          <p:nvPr/>
        </p:nvSpPr>
        <p:spPr>
          <a:xfrm>
            <a:off x="8854713" y="3243978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336A2ACE-4D7F-4518-C5E4-1DAD67E31DF3}"/>
              </a:ext>
            </a:extLst>
          </p:cNvPr>
          <p:cNvSpPr/>
          <p:nvPr/>
        </p:nvSpPr>
        <p:spPr>
          <a:xfrm>
            <a:off x="9081780" y="3243978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A38BF95F-80FF-49A8-B7B5-9BEEB1174281}"/>
              </a:ext>
            </a:extLst>
          </p:cNvPr>
          <p:cNvSpPr txBox="1"/>
          <p:nvPr/>
        </p:nvSpPr>
        <p:spPr>
          <a:xfrm>
            <a:off x="7240429" y="3659127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9 NN: </a:t>
            </a:r>
          </a:p>
        </p:txBody>
      </p:sp>
      <p:sp>
        <p:nvSpPr>
          <p:cNvPr id="100" name="Triángulo isósceles 99">
            <a:extLst>
              <a:ext uri="{FF2B5EF4-FFF2-40B4-BE49-F238E27FC236}">
                <a16:creationId xmlns:a16="http://schemas.microsoft.com/office/drawing/2014/main" id="{550F283B-299A-0288-DB9B-6BC73E8697C9}"/>
              </a:ext>
            </a:extLst>
          </p:cNvPr>
          <p:cNvSpPr/>
          <p:nvPr/>
        </p:nvSpPr>
        <p:spPr>
          <a:xfrm>
            <a:off x="8378556" y="3722974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1" name="Triángulo isósceles 100">
            <a:extLst>
              <a:ext uri="{FF2B5EF4-FFF2-40B4-BE49-F238E27FC236}">
                <a16:creationId xmlns:a16="http://schemas.microsoft.com/office/drawing/2014/main" id="{3DDF250D-0DA9-E288-3FF6-648B4C0F490B}"/>
              </a:ext>
            </a:extLst>
          </p:cNvPr>
          <p:cNvSpPr/>
          <p:nvPr/>
        </p:nvSpPr>
        <p:spPr>
          <a:xfrm>
            <a:off x="8605623" y="3722974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2" name="Triángulo isósceles 101">
            <a:extLst>
              <a:ext uri="{FF2B5EF4-FFF2-40B4-BE49-F238E27FC236}">
                <a16:creationId xmlns:a16="http://schemas.microsoft.com/office/drawing/2014/main" id="{0EABCE48-3AC1-92F4-910E-CAB5AB658355}"/>
              </a:ext>
            </a:extLst>
          </p:cNvPr>
          <p:cNvSpPr/>
          <p:nvPr/>
        </p:nvSpPr>
        <p:spPr>
          <a:xfrm>
            <a:off x="8832690" y="3722974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7135A94E-FDAE-3CC3-9419-F0C257DCCF57}"/>
              </a:ext>
            </a:extLst>
          </p:cNvPr>
          <p:cNvSpPr/>
          <p:nvPr/>
        </p:nvSpPr>
        <p:spPr>
          <a:xfrm>
            <a:off x="9504972" y="3721054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8EFC5136-991A-9ACF-2747-D3547B7EADCF}"/>
              </a:ext>
            </a:extLst>
          </p:cNvPr>
          <p:cNvSpPr/>
          <p:nvPr/>
        </p:nvSpPr>
        <p:spPr>
          <a:xfrm>
            <a:off x="9738568" y="3721054"/>
            <a:ext cx="180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5" name="Triángulo isósceles 104">
            <a:extLst>
              <a:ext uri="{FF2B5EF4-FFF2-40B4-BE49-F238E27FC236}">
                <a16:creationId xmlns:a16="http://schemas.microsoft.com/office/drawing/2014/main" id="{C37DE89D-564F-092D-EEFE-62EFFD27F32A}"/>
              </a:ext>
            </a:extLst>
          </p:cNvPr>
          <p:cNvSpPr/>
          <p:nvPr/>
        </p:nvSpPr>
        <p:spPr>
          <a:xfrm>
            <a:off x="9059757" y="3721054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6" name="Triángulo isósceles 105">
            <a:extLst>
              <a:ext uri="{FF2B5EF4-FFF2-40B4-BE49-F238E27FC236}">
                <a16:creationId xmlns:a16="http://schemas.microsoft.com/office/drawing/2014/main" id="{A9543DDD-96AC-BB7E-A5BD-E92CE2AA82C7}"/>
              </a:ext>
            </a:extLst>
          </p:cNvPr>
          <p:cNvSpPr/>
          <p:nvPr/>
        </p:nvSpPr>
        <p:spPr>
          <a:xfrm>
            <a:off x="9286824" y="3721054"/>
            <a:ext cx="180000" cy="180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7" name="Cruz 106">
            <a:extLst>
              <a:ext uri="{FF2B5EF4-FFF2-40B4-BE49-F238E27FC236}">
                <a16:creationId xmlns:a16="http://schemas.microsoft.com/office/drawing/2014/main" id="{E936CF7F-70E5-5974-5235-F88888C758C3}"/>
              </a:ext>
            </a:extLst>
          </p:cNvPr>
          <p:cNvSpPr/>
          <p:nvPr/>
        </p:nvSpPr>
        <p:spPr>
          <a:xfrm>
            <a:off x="9308847" y="3243978"/>
            <a:ext cx="180000" cy="180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8" name="Cruz 107">
            <a:extLst>
              <a:ext uri="{FF2B5EF4-FFF2-40B4-BE49-F238E27FC236}">
                <a16:creationId xmlns:a16="http://schemas.microsoft.com/office/drawing/2014/main" id="{668D18AB-79E4-5444-6873-80537382F4DD}"/>
              </a:ext>
            </a:extLst>
          </p:cNvPr>
          <p:cNvSpPr/>
          <p:nvPr/>
        </p:nvSpPr>
        <p:spPr>
          <a:xfrm>
            <a:off x="9956790" y="3720446"/>
            <a:ext cx="180000" cy="180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9" name="Cruz 108">
            <a:extLst>
              <a:ext uri="{FF2B5EF4-FFF2-40B4-BE49-F238E27FC236}">
                <a16:creationId xmlns:a16="http://schemas.microsoft.com/office/drawing/2014/main" id="{1B1CC90A-8B3C-5D61-F2B5-1FCA7103A5CE}"/>
              </a:ext>
            </a:extLst>
          </p:cNvPr>
          <p:cNvSpPr/>
          <p:nvPr/>
        </p:nvSpPr>
        <p:spPr>
          <a:xfrm>
            <a:off x="10190386" y="3720446"/>
            <a:ext cx="180000" cy="180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0" name="Forma libre: forma 109">
            <a:extLst>
              <a:ext uri="{FF2B5EF4-FFF2-40B4-BE49-F238E27FC236}">
                <a16:creationId xmlns:a16="http://schemas.microsoft.com/office/drawing/2014/main" id="{89589304-5362-8D01-CC08-8CE2E97DC25D}"/>
              </a:ext>
            </a:extLst>
          </p:cNvPr>
          <p:cNvSpPr/>
          <p:nvPr/>
        </p:nvSpPr>
        <p:spPr>
          <a:xfrm>
            <a:off x="3621371" y="2703009"/>
            <a:ext cx="3623698" cy="1689602"/>
          </a:xfrm>
          <a:custGeom>
            <a:avLst/>
            <a:gdLst>
              <a:gd name="connsiteX0" fmla="*/ 0 w 3505200"/>
              <a:gd name="connsiteY0" fmla="*/ 1689602 h 1689602"/>
              <a:gd name="connsiteX1" fmla="*/ 394138 w 3505200"/>
              <a:gd name="connsiteY1" fmla="*/ 507188 h 1689602"/>
              <a:gd name="connsiteX2" fmla="*/ 1361089 w 3505200"/>
              <a:gd name="connsiteY2" fmla="*/ 18457 h 1689602"/>
              <a:gd name="connsiteX3" fmla="*/ 3505200 w 3505200"/>
              <a:gd name="connsiteY3" fmla="*/ 149837 h 168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1689602">
                <a:moveTo>
                  <a:pt x="0" y="1689602"/>
                </a:moveTo>
                <a:cubicBezTo>
                  <a:pt x="83645" y="1237657"/>
                  <a:pt x="167290" y="785712"/>
                  <a:pt x="394138" y="507188"/>
                </a:cubicBezTo>
                <a:cubicBezTo>
                  <a:pt x="620986" y="228664"/>
                  <a:pt x="842579" y="78015"/>
                  <a:pt x="1361089" y="18457"/>
                </a:cubicBezTo>
                <a:cubicBezTo>
                  <a:pt x="1879599" y="-41101"/>
                  <a:pt x="2692399" y="54368"/>
                  <a:pt x="3505200" y="149837"/>
                </a:cubicBezTo>
              </a:path>
            </a:pathLst>
          </a:custGeom>
          <a:noFill/>
          <a:ln w="31750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Forma libre: forma 110">
            <a:extLst>
              <a:ext uri="{FF2B5EF4-FFF2-40B4-BE49-F238E27FC236}">
                <a16:creationId xmlns:a16="http://schemas.microsoft.com/office/drawing/2014/main" id="{03D6427E-7873-0334-E4A2-0521E96A8B0F}"/>
              </a:ext>
            </a:extLst>
          </p:cNvPr>
          <p:cNvSpPr/>
          <p:nvPr/>
        </p:nvSpPr>
        <p:spPr>
          <a:xfrm>
            <a:off x="4164821" y="3330066"/>
            <a:ext cx="3075394" cy="848961"/>
          </a:xfrm>
          <a:custGeom>
            <a:avLst/>
            <a:gdLst>
              <a:gd name="connsiteX0" fmla="*/ 0 w 2974428"/>
              <a:gd name="connsiteY0" fmla="*/ 929676 h 929676"/>
              <a:gd name="connsiteX1" fmla="*/ 930166 w 2974428"/>
              <a:gd name="connsiteY1" fmla="*/ 130889 h 929676"/>
              <a:gd name="connsiteX2" fmla="*/ 2974428 w 2974428"/>
              <a:gd name="connsiteY2" fmla="*/ 10020 h 929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4428" h="929676">
                <a:moveTo>
                  <a:pt x="0" y="929676"/>
                </a:moveTo>
                <a:cubicBezTo>
                  <a:pt x="217214" y="606920"/>
                  <a:pt x="434428" y="284165"/>
                  <a:pt x="930166" y="130889"/>
                </a:cubicBezTo>
                <a:cubicBezTo>
                  <a:pt x="1425904" y="-22387"/>
                  <a:pt x="2200166" y="-6184"/>
                  <a:pt x="2974428" y="10020"/>
                </a:cubicBezTo>
              </a:path>
            </a:pathLst>
          </a:custGeom>
          <a:noFill/>
          <a:ln w="31750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Forma libre: forma 112">
            <a:extLst>
              <a:ext uri="{FF2B5EF4-FFF2-40B4-BE49-F238E27FC236}">
                <a16:creationId xmlns:a16="http://schemas.microsoft.com/office/drawing/2014/main" id="{66369D08-63AA-64EB-5937-A7126B004E28}"/>
              </a:ext>
            </a:extLst>
          </p:cNvPr>
          <p:cNvSpPr/>
          <p:nvPr/>
        </p:nvSpPr>
        <p:spPr>
          <a:xfrm>
            <a:off x="4719144" y="3862552"/>
            <a:ext cx="2504807" cy="436179"/>
          </a:xfrm>
          <a:custGeom>
            <a:avLst/>
            <a:gdLst>
              <a:gd name="connsiteX0" fmla="*/ 0 w 2438400"/>
              <a:gd name="connsiteY0" fmla="*/ 436179 h 436179"/>
              <a:gd name="connsiteX1" fmla="*/ 709448 w 2438400"/>
              <a:gd name="connsiteY1" fmla="*/ 94593 h 436179"/>
              <a:gd name="connsiteX2" fmla="*/ 2438400 w 2438400"/>
              <a:gd name="connsiteY2" fmla="*/ 0 h 436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0" h="436179">
                <a:moveTo>
                  <a:pt x="0" y="436179"/>
                </a:moveTo>
                <a:cubicBezTo>
                  <a:pt x="151524" y="301734"/>
                  <a:pt x="303048" y="167289"/>
                  <a:pt x="709448" y="94593"/>
                </a:cubicBezTo>
                <a:cubicBezTo>
                  <a:pt x="1115848" y="21897"/>
                  <a:pt x="1777124" y="10948"/>
                  <a:pt x="2438400" y="0"/>
                </a:cubicBezTo>
              </a:path>
            </a:pathLst>
          </a:custGeom>
          <a:noFill/>
          <a:ln w="31750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4" name="Elipse 113">
            <a:extLst>
              <a:ext uri="{FF2B5EF4-FFF2-40B4-BE49-F238E27FC236}">
                <a16:creationId xmlns:a16="http://schemas.microsoft.com/office/drawing/2014/main" id="{CDF606DB-7602-D19D-4F72-94496F5FF667}"/>
              </a:ext>
            </a:extLst>
          </p:cNvPr>
          <p:cNvSpPr/>
          <p:nvPr/>
        </p:nvSpPr>
        <p:spPr>
          <a:xfrm>
            <a:off x="3561020" y="4726874"/>
            <a:ext cx="216000" cy="21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000" dirty="0"/>
              <a:t>¿?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D760CCE4-B0CF-7506-A663-19756450808A}"/>
              </a:ext>
            </a:extLst>
          </p:cNvPr>
          <p:cNvSpPr txBox="1"/>
          <p:nvPr/>
        </p:nvSpPr>
        <p:spPr>
          <a:xfrm>
            <a:off x="503255" y="858873"/>
            <a:ext cx="10344492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El principio fundamental del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algoritmo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k-NN es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clasificación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un nuevo punto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espacio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muestral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partir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clase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 la que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pertenecen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k-puntos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más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cercanos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ese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espacio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muestral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algoritmo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busca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puntos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etiquetados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más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cercanos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al que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quiere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clasificar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usando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definición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  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4793BA78-EA07-C24B-4311-43DB7D2DCF7B}"/>
              </a:ext>
            </a:extLst>
          </p:cNvPr>
          <p:cNvSpPr txBox="1"/>
          <p:nvPr/>
        </p:nvSpPr>
        <p:spPr>
          <a:xfrm>
            <a:off x="7058620" y="4604370"/>
            <a:ext cx="440632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Ejemplo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con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tres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clases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Etiquetas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según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valor de k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38826" y="136523"/>
            <a:ext cx="2321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smtClean="0">
                <a:solidFill>
                  <a:schemeClr val="accent1">
                    <a:lumMod val="50000"/>
                  </a:schemeClr>
                </a:solidFill>
              </a:rPr>
              <a:t>Aprendizaje Supervisado</a:t>
            </a:r>
            <a:endParaRPr lang="es-E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125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7A0595-F997-C90C-2B48-DD52AEEF89B2}"/>
              </a:ext>
            </a:extLst>
          </p:cNvPr>
          <p:cNvSpPr txBox="1"/>
          <p:nvPr/>
        </p:nvSpPr>
        <p:spPr>
          <a:xfrm>
            <a:off x="5471480" y="2241592"/>
            <a:ext cx="64736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KNN es un algoritmo </a:t>
            </a: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supervisado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porque requiere etiquetas en los datos de entrenamiento.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KNN es </a:t>
            </a:r>
            <a:r>
              <a:rPr lang="es-ES" b="1" i="1" dirty="0" err="1">
                <a:solidFill>
                  <a:schemeClr val="accent1">
                    <a:lumMod val="50000"/>
                  </a:schemeClr>
                </a:solidFill>
              </a:rPr>
              <a:t>instance-based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(basado en instancias) ya que no genera un modelo explícito, sino que toma decisiones basadas en las instancias almacenadas.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KNN es un algoritmo de </a:t>
            </a:r>
            <a:r>
              <a:rPr lang="es-ES" b="1" i="1" dirty="0" err="1">
                <a:solidFill>
                  <a:schemeClr val="accent1">
                    <a:lumMod val="50000"/>
                  </a:schemeClr>
                </a:solidFill>
              </a:rPr>
              <a:t>batch</a:t>
            </a:r>
            <a:r>
              <a:rPr lang="es-ES" b="1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b="1" i="1" dirty="0" err="1">
                <a:solidFill>
                  <a:schemeClr val="accent1">
                    <a:lumMod val="50000"/>
                  </a:schemeClr>
                </a:solidFill>
              </a:rPr>
              <a:t>learning</a:t>
            </a:r>
            <a:r>
              <a:rPr lang="es-ES" b="1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en su implementación tradicional, ya que utiliza el conjunto completo de datos y no es naturalmente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adaptable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para un flujo continuo de datos.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E26D003-EF43-A775-E5C9-69C386FF41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2"/>
          <a:stretch/>
        </p:blipFill>
        <p:spPr bwMode="auto">
          <a:xfrm>
            <a:off x="133004" y="1912832"/>
            <a:ext cx="4810125" cy="360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38826" y="136523"/>
            <a:ext cx="2321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smtClean="0">
                <a:solidFill>
                  <a:schemeClr val="accent1">
                    <a:lumMod val="50000"/>
                  </a:schemeClr>
                </a:solidFill>
              </a:rPr>
              <a:t>Aprendizaje Supervisado</a:t>
            </a:r>
            <a:endParaRPr lang="es-E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1589638" y="903443"/>
            <a:ext cx="5865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 smtClean="0">
                <a:solidFill>
                  <a:schemeClr val="accent1">
                    <a:lumMod val="50000"/>
                  </a:schemeClr>
                </a:solidFill>
              </a:rPr>
              <a:t>K-NN: Clasificación en ML. </a:t>
            </a:r>
            <a:endParaRPr lang="es-E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310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9108141" y="136523"/>
            <a:ext cx="2988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7A0595-F997-C90C-2B48-DD52AEEF89B2}"/>
              </a:ext>
            </a:extLst>
          </p:cNvPr>
          <p:cNvSpPr txBox="1"/>
          <p:nvPr/>
        </p:nvSpPr>
        <p:spPr>
          <a:xfrm>
            <a:off x="1797255" y="1119374"/>
            <a:ext cx="647364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Distancias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usadas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Reglas de decisión en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Preparación de los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k-NN para Regresión.</a:t>
            </a:r>
            <a:endParaRPr lang="es-ES" sz="28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Criterio para elegir k en un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Ventajas e inconvenientes del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Implementación del algoritmo.</a:t>
            </a:r>
          </a:p>
        </p:txBody>
      </p:sp>
    </p:spTree>
    <p:extLst>
      <p:ext uri="{BB962C8B-B14F-4D97-AF65-F5344CB8AC3E}">
        <p14:creationId xmlns:p14="http://schemas.microsoft.com/office/powerpoint/2010/main" val="234544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993CC0-FDBD-26F4-7B73-31310041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CCB76EE-BD02-08A9-B7A2-FEEA70E20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25237"/>
              </p:ext>
            </p:extLst>
          </p:nvPr>
        </p:nvGraphicFramePr>
        <p:xfrm>
          <a:off x="641250" y="2403595"/>
          <a:ext cx="3780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68392104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4988852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936641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705567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635121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050107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981105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091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2482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41502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9291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36879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6393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35058"/>
                  </a:ext>
                </a:extLst>
              </a:tr>
            </a:tbl>
          </a:graphicData>
        </a:graphic>
      </p:graphicFrame>
      <p:sp>
        <p:nvSpPr>
          <p:cNvPr id="3" name="Elipse 2">
            <a:extLst>
              <a:ext uri="{FF2B5EF4-FFF2-40B4-BE49-F238E27FC236}">
                <a16:creationId xmlns:a16="http://schemas.microsoft.com/office/drawing/2014/main" id="{345EB28E-055F-1A94-7057-BB31B9DF10A8}"/>
              </a:ext>
            </a:extLst>
          </p:cNvPr>
          <p:cNvSpPr/>
          <p:nvPr/>
        </p:nvSpPr>
        <p:spPr>
          <a:xfrm>
            <a:off x="2712355" y="2849724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49B4412-D111-123E-7757-C2457DCA4E3F}"/>
              </a:ext>
            </a:extLst>
          </p:cNvPr>
          <p:cNvSpPr/>
          <p:nvPr/>
        </p:nvSpPr>
        <p:spPr>
          <a:xfrm>
            <a:off x="1632564" y="501314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2F763A1-6496-9870-815D-3EA116EC8378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812564" y="5103141"/>
            <a:ext cx="989791" cy="14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440E745-BA65-B3F4-D234-F2EEE1A580DA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2802355" y="3029724"/>
            <a:ext cx="0" cy="20734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9CF1160E-8101-CEDF-108B-56984D2D8453}"/>
              </a:ext>
            </a:extLst>
          </p:cNvPr>
          <p:cNvCxnSpPr>
            <a:cxnSpLocks/>
            <a:stCxn id="5" idx="7"/>
            <a:endCxn id="3" idx="3"/>
          </p:cNvCxnSpPr>
          <p:nvPr/>
        </p:nvCxnSpPr>
        <p:spPr>
          <a:xfrm flipV="1">
            <a:off x="1786204" y="3003364"/>
            <a:ext cx="952511" cy="203613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51988E61-B38C-9F1D-C1DF-93D2CC4354C6}"/>
              </a:ext>
            </a:extLst>
          </p:cNvPr>
          <p:cNvCxnSpPr>
            <a:cxnSpLocks/>
          </p:cNvCxnSpPr>
          <p:nvPr/>
        </p:nvCxnSpPr>
        <p:spPr>
          <a:xfrm>
            <a:off x="1722564" y="2939724"/>
            <a:ext cx="0" cy="207341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B1F6F80-6697-7E80-3294-3C2500D04C53}"/>
              </a:ext>
            </a:extLst>
          </p:cNvPr>
          <p:cNvSpPr/>
          <p:nvPr/>
        </p:nvSpPr>
        <p:spPr>
          <a:xfrm>
            <a:off x="83668" y="1534367"/>
            <a:ext cx="5599773" cy="5057679"/>
          </a:xfrm>
          <a:prstGeom prst="roundRect">
            <a:avLst>
              <a:gd name="adj" fmla="val 8159"/>
            </a:avLst>
          </a:prstGeom>
          <a:solidFill>
            <a:schemeClr val="accent1">
              <a:lumMod val="20000"/>
              <a:lumOff val="80000"/>
              <a:alpha val="27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Medidas basadas en la distancia de Minkowski.</a:t>
            </a: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9D2582A-D2E4-3516-065E-6E7F8D860C4E}"/>
              </a:ext>
            </a:extLst>
          </p:cNvPr>
          <p:cNvSpPr txBox="1"/>
          <p:nvPr/>
        </p:nvSpPr>
        <p:spPr>
          <a:xfrm>
            <a:off x="6508559" y="2045389"/>
            <a:ext cx="2981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Distancia de Minkowski: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06D23282-9B61-A93A-83E0-6B6582669452}"/>
                  </a:ext>
                </a:extLst>
              </p:cNvPr>
              <p:cNvSpPr txBox="1"/>
              <p:nvPr/>
            </p:nvSpPr>
            <p:spPr>
              <a:xfrm>
                <a:off x="8776680" y="1716527"/>
                <a:ext cx="3309257" cy="1049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s-ES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ES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06D23282-9B61-A93A-83E0-6B6582669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680" y="1716527"/>
                <a:ext cx="3309257" cy="10499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2191238D-294E-5602-FEE7-4D1F3666F543}"/>
                  </a:ext>
                </a:extLst>
              </p:cNvPr>
              <p:cNvSpPr txBox="1"/>
              <p:nvPr/>
            </p:nvSpPr>
            <p:spPr>
              <a:xfrm>
                <a:off x="6874405" y="3095292"/>
                <a:ext cx="35559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Clr>
                    <a:srgbClr val="FF0000"/>
                  </a:buClr>
                  <a:buSzPct val="15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" sz="2000" dirty="0">
                    <a:solidFill>
                      <a:schemeClr val="accent1">
                        <a:lumMod val="50000"/>
                      </a:schemeClr>
                    </a:solidFill>
                  </a:rPr>
                  <a:t> Manhattan o </a:t>
                </a:r>
                <a:r>
                  <a:rPr lang="es-ES" sz="2000" dirty="0" err="1">
                    <a:solidFill>
                      <a:schemeClr val="accent1">
                        <a:lumMod val="50000"/>
                      </a:schemeClr>
                    </a:solidFill>
                  </a:rPr>
                  <a:t>cityblock</a:t>
                </a:r>
                <a:r>
                  <a:rPr lang="es-ES" sz="2000" dirty="0">
                    <a:solidFill>
                      <a:schemeClr val="accent1">
                        <a:lumMod val="50000"/>
                      </a:schemeClr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2191238D-294E-5602-FEE7-4D1F3666F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405" y="3095292"/>
                <a:ext cx="3555973" cy="400110"/>
              </a:xfrm>
              <a:prstGeom prst="rect">
                <a:avLst/>
              </a:prstGeom>
              <a:blipFill>
                <a:blip r:embed="rId4"/>
                <a:stretch>
                  <a:fillRect l="-3602" t="-44615" r="-1029" b="-4615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1AAB7927-443D-21DC-E041-9D036C8F1D42}"/>
                  </a:ext>
                </a:extLst>
              </p:cNvPr>
              <p:cNvSpPr txBox="1"/>
              <p:nvPr/>
            </p:nvSpPr>
            <p:spPr>
              <a:xfrm>
                <a:off x="9490144" y="2871064"/>
                <a:ext cx="2981585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ES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1AAB7927-443D-21DC-E041-9D036C8F1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0144" y="2871064"/>
                <a:ext cx="2981585" cy="8485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19B053D4-3375-F0DD-2C39-45FB6FDF1C2A}"/>
                  </a:ext>
                </a:extLst>
              </p:cNvPr>
              <p:cNvSpPr txBox="1"/>
              <p:nvPr/>
            </p:nvSpPr>
            <p:spPr>
              <a:xfrm>
                <a:off x="6874405" y="4234355"/>
                <a:ext cx="20967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Clr>
                    <a:schemeClr val="accent6">
                      <a:lumMod val="50000"/>
                    </a:schemeClr>
                  </a:buClr>
                  <a:buSzPct val="15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s-ES" sz="2000" dirty="0">
                    <a:solidFill>
                      <a:schemeClr val="accent1">
                        <a:lumMod val="50000"/>
                      </a:schemeClr>
                    </a:solidFill>
                  </a:rPr>
                  <a:t> Euclídea:</a:t>
                </a: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19B053D4-3375-F0DD-2C39-45FB6FDF1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405" y="4234355"/>
                <a:ext cx="2096792" cy="400110"/>
              </a:xfrm>
              <a:prstGeom prst="rect">
                <a:avLst/>
              </a:prstGeom>
              <a:blipFill>
                <a:blip r:embed="rId6"/>
                <a:stretch>
                  <a:fillRect l="-6105" t="-44615" r="-2326" b="-4615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612F6246-1A93-9119-54C3-5EC38151D204}"/>
                  </a:ext>
                </a:extLst>
              </p:cNvPr>
              <p:cNvSpPr txBox="1"/>
              <p:nvPr/>
            </p:nvSpPr>
            <p:spPr>
              <a:xfrm>
                <a:off x="8305939" y="3839654"/>
                <a:ext cx="3309257" cy="1049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s-ES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s-ES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ES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ES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612F6246-1A93-9119-54C3-5EC38151D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939" y="3839654"/>
                <a:ext cx="3309257" cy="10499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0926E651-60B1-17DE-19CC-6EF86E56B084}"/>
                  </a:ext>
                </a:extLst>
              </p:cNvPr>
              <p:cNvSpPr txBox="1"/>
              <p:nvPr/>
            </p:nvSpPr>
            <p:spPr>
              <a:xfrm>
                <a:off x="6874405" y="5497536"/>
                <a:ext cx="25022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Clr>
                    <a:srgbClr val="00B0F0"/>
                  </a:buClr>
                  <a:buSzPct val="15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s-ES" sz="20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es-ES" sz="2000" dirty="0" err="1">
                    <a:solidFill>
                      <a:schemeClr val="accent1">
                        <a:lumMod val="50000"/>
                      </a:schemeClr>
                    </a:solidFill>
                  </a:rPr>
                  <a:t>Chebyshev</a:t>
                </a:r>
                <a:r>
                  <a:rPr lang="es-ES" sz="2000" dirty="0">
                    <a:solidFill>
                      <a:schemeClr val="accent1">
                        <a:lumMod val="50000"/>
                      </a:schemeClr>
                    </a:solidFill>
                  </a:rPr>
                  <a:t>: </a:t>
                </a:r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0926E651-60B1-17DE-19CC-6EF86E56B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405" y="5497536"/>
                <a:ext cx="2502223" cy="400110"/>
              </a:xfrm>
              <a:prstGeom prst="rect">
                <a:avLst/>
              </a:prstGeom>
              <a:blipFill>
                <a:blip r:embed="rId8"/>
                <a:stretch>
                  <a:fillRect l="-5122" t="-44615" r="-1463" b="-4615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986BE904-10D4-79DE-5671-C4073CE30708}"/>
                  </a:ext>
                </a:extLst>
              </p:cNvPr>
              <p:cNvSpPr txBox="1"/>
              <p:nvPr/>
            </p:nvSpPr>
            <p:spPr>
              <a:xfrm>
                <a:off x="8937523" y="5523508"/>
                <a:ext cx="2224758" cy="475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ES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ES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=1,..,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986BE904-10D4-79DE-5671-C4073CE30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523" y="5523508"/>
                <a:ext cx="2224758" cy="4759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CuadroTexto 70">
            <a:extLst>
              <a:ext uri="{FF2B5EF4-FFF2-40B4-BE49-F238E27FC236}">
                <a16:creationId xmlns:a16="http://schemas.microsoft.com/office/drawing/2014/main" id="{2525C135-FFAA-3955-635B-8B2E62C31418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AA69C2FE-00FE-9248-3638-7DF725C5E5A6}"/>
              </a:ext>
            </a:extLst>
          </p:cNvPr>
          <p:cNvSpPr txBox="1"/>
          <p:nvPr/>
        </p:nvSpPr>
        <p:spPr>
          <a:xfrm>
            <a:off x="409402" y="82680"/>
            <a:ext cx="418460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Distancias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usadas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ML.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821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1B98491-730C-7FCF-3EBA-929EDCC26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01336"/>
              </p:ext>
            </p:extLst>
          </p:nvPr>
        </p:nvGraphicFramePr>
        <p:xfrm>
          <a:off x="974315" y="1510819"/>
          <a:ext cx="3309257" cy="3298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751">
                  <a:extLst>
                    <a:ext uri="{9D8B030D-6E8A-4147-A177-3AD203B41FA5}">
                      <a16:colId xmlns:a16="http://schemas.microsoft.com/office/drawing/2014/main" val="3683921040"/>
                    </a:ext>
                  </a:extLst>
                </a:gridCol>
                <a:gridCol w="472751">
                  <a:extLst>
                    <a:ext uri="{9D8B030D-6E8A-4147-A177-3AD203B41FA5}">
                      <a16:colId xmlns:a16="http://schemas.microsoft.com/office/drawing/2014/main" val="1049888524"/>
                    </a:ext>
                  </a:extLst>
                </a:gridCol>
                <a:gridCol w="472751">
                  <a:extLst>
                    <a:ext uri="{9D8B030D-6E8A-4147-A177-3AD203B41FA5}">
                      <a16:colId xmlns:a16="http://schemas.microsoft.com/office/drawing/2014/main" val="2993664143"/>
                    </a:ext>
                  </a:extLst>
                </a:gridCol>
                <a:gridCol w="472751">
                  <a:extLst>
                    <a:ext uri="{9D8B030D-6E8A-4147-A177-3AD203B41FA5}">
                      <a16:colId xmlns:a16="http://schemas.microsoft.com/office/drawing/2014/main" val="3507055678"/>
                    </a:ext>
                  </a:extLst>
                </a:gridCol>
                <a:gridCol w="472751">
                  <a:extLst>
                    <a:ext uri="{9D8B030D-6E8A-4147-A177-3AD203B41FA5}">
                      <a16:colId xmlns:a16="http://schemas.microsoft.com/office/drawing/2014/main" val="2163512156"/>
                    </a:ext>
                  </a:extLst>
                </a:gridCol>
                <a:gridCol w="472751">
                  <a:extLst>
                    <a:ext uri="{9D8B030D-6E8A-4147-A177-3AD203B41FA5}">
                      <a16:colId xmlns:a16="http://schemas.microsoft.com/office/drawing/2014/main" val="60501077"/>
                    </a:ext>
                  </a:extLst>
                </a:gridCol>
                <a:gridCol w="472751">
                  <a:extLst>
                    <a:ext uri="{9D8B030D-6E8A-4147-A177-3AD203B41FA5}">
                      <a16:colId xmlns:a16="http://schemas.microsoft.com/office/drawing/2014/main" val="219811053"/>
                    </a:ext>
                  </a:extLst>
                </a:gridCol>
              </a:tblGrid>
              <a:tr h="47121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091745"/>
                  </a:ext>
                </a:extLst>
              </a:tr>
              <a:tr h="471214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248245"/>
                  </a:ext>
                </a:extLst>
              </a:tr>
              <a:tr h="471214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415021"/>
                  </a:ext>
                </a:extLst>
              </a:tr>
              <a:tr h="471214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92919"/>
                  </a:ext>
                </a:extLst>
              </a:tr>
              <a:tr h="471214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368796"/>
                  </a:ext>
                </a:extLst>
              </a:tr>
              <a:tr h="471214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639303"/>
                  </a:ext>
                </a:extLst>
              </a:tr>
              <a:tr h="471214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35058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B4877E86-7957-3594-ABDB-0786FBE5AD65}"/>
              </a:ext>
            </a:extLst>
          </p:cNvPr>
          <p:cNvSpPr txBox="1"/>
          <p:nvPr/>
        </p:nvSpPr>
        <p:spPr>
          <a:xfrm>
            <a:off x="413886" y="4985207"/>
            <a:ext cx="24720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Distancia coseno: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B7FCA23-2090-710C-A30F-A335CB74C277}"/>
                  </a:ext>
                </a:extLst>
              </p:cNvPr>
              <p:cNvSpPr txBox="1"/>
              <p:nvPr/>
            </p:nvSpPr>
            <p:spPr>
              <a:xfrm>
                <a:off x="1981146" y="4795228"/>
                <a:ext cx="2981585" cy="902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  <m:r>
                            <a:rPr lang="es-ES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B7FCA23-2090-710C-A30F-A335CB74C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146" y="4795228"/>
                <a:ext cx="2981585" cy="902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ipse 10">
            <a:extLst>
              <a:ext uri="{FF2B5EF4-FFF2-40B4-BE49-F238E27FC236}">
                <a16:creationId xmlns:a16="http://schemas.microsoft.com/office/drawing/2014/main" id="{197E3E8B-52DB-026B-83B7-B4CAADDD9EAE}"/>
              </a:ext>
            </a:extLst>
          </p:cNvPr>
          <p:cNvSpPr/>
          <p:nvPr/>
        </p:nvSpPr>
        <p:spPr>
          <a:xfrm>
            <a:off x="3258716" y="1927124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7D16D1A-8F94-283F-3FAC-FABE2AC3F3A3}"/>
              </a:ext>
            </a:extLst>
          </p:cNvPr>
          <p:cNvSpPr/>
          <p:nvPr/>
        </p:nvSpPr>
        <p:spPr>
          <a:xfrm>
            <a:off x="2349551" y="2389498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E2D42B7-E8EC-3C3A-59EE-D8F849789443}"/>
              </a:ext>
            </a:extLst>
          </p:cNvPr>
          <p:cNvCxnSpPr/>
          <p:nvPr/>
        </p:nvCxnSpPr>
        <p:spPr>
          <a:xfrm flipV="1">
            <a:off x="1420900" y="3763012"/>
            <a:ext cx="0" cy="57600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CAD8AE9F-9615-68C8-319A-849A481B15E6}"/>
              </a:ext>
            </a:extLst>
          </p:cNvPr>
          <p:cNvCxnSpPr>
            <a:cxnSpLocks/>
          </p:cNvCxnSpPr>
          <p:nvPr/>
        </p:nvCxnSpPr>
        <p:spPr>
          <a:xfrm>
            <a:off x="1420900" y="4339012"/>
            <a:ext cx="54221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02225C3-F848-ACED-6C0B-1DE0D44E2C39}"/>
              </a:ext>
            </a:extLst>
          </p:cNvPr>
          <p:cNvCxnSpPr>
            <a:cxnSpLocks/>
          </p:cNvCxnSpPr>
          <p:nvPr/>
        </p:nvCxnSpPr>
        <p:spPr>
          <a:xfrm flipV="1">
            <a:off x="1420899" y="2465971"/>
            <a:ext cx="969765" cy="187304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5BAEF69-6C7A-83C9-828D-805C8E72FFFD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1441377" y="2019308"/>
            <a:ext cx="1833155" cy="2319704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8A5F2EA-E54B-5F8D-8975-E47A8F5AE4BB}"/>
              </a:ext>
            </a:extLst>
          </p:cNvPr>
          <p:cNvSpPr txBox="1"/>
          <p:nvPr/>
        </p:nvSpPr>
        <p:spPr>
          <a:xfrm>
            <a:off x="503791" y="5784152"/>
            <a:ext cx="55085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Mide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coseno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del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ángulo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entre dos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vectores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no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nulos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. La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entre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los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vectores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indica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proximidad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la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orientación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los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mismos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1FD24D6-AF41-FBA1-62ED-E4F03BF6A041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847F904-0710-886C-B460-6F4E2E252DBA}"/>
              </a:ext>
            </a:extLst>
          </p:cNvPr>
          <p:cNvSpPr txBox="1"/>
          <p:nvPr/>
        </p:nvSpPr>
        <p:spPr>
          <a:xfrm>
            <a:off x="6096000" y="1391806"/>
            <a:ext cx="56694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Distancia de </a:t>
            </a:r>
            <a:r>
              <a:rPr lang="es-ES" sz="2000" dirty="0" err="1">
                <a:solidFill>
                  <a:schemeClr val="accent1">
                    <a:lumMod val="50000"/>
                  </a:schemeClr>
                </a:solidFill>
              </a:rPr>
              <a:t>Hamming</a:t>
            </a:r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: número de posiciones en las que dos elementos (cadenas de texto, vectores, etc.) difieren 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78ECDC5-277A-0448-D6F7-7E561D6D5E7D}"/>
              </a:ext>
            </a:extLst>
          </p:cNvPr>
          <p:cNvSpPr txBox="1"/>
          <p:nvPr/>
        </p:nvSpPr>
        <p:spPr>
          <a:xfrm>
            <a:off x="6454500" y="2479850"/>
            <a:ext cx="2252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[1,</a:t>
            </a:r>
            <a:r>
              <a:rPr lang="es-E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,4,5,</a:t>
            </a:r>
            <a:r>
              <a:rPr lang="es-E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= [1,</a:t>
            </a:r>
            <a:r>
              <a:rPr lang="es-E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,4,5,</a:t>
            </a:r>
            <a:r>
              <a:rPr lang="es-E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27546F1-2DD2-A31F-2995-345458793BB4}"/>
                  </a:ext>
                </a:extLst>
              </p:cNvPr>
              <p:cNvSpPr txBox="1"/>
              <p:nvPr/>
            </p:nvSpPr>
            <p:spPr>
              <a:xfrm>
                <a:off x="8302793" y="2618349"/>
                <a:ext cx="2981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s-E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27546F1-2DD2-A31F-2995-345458793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793" y="2618349"/>
                <a:ext cx="298158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uadroTexto 24">
            <a:extLst>
              <a:ext uri="{FF2B5EF4-FFF2-40B4-BE49-F238E27FC236}">
                <a16:creationId xmlns:a16="http://schemas.microsoft.com/office/drawing/2014/main" id="{09DAF6FC-40E2-4146-A3C2-8C277686E591}"/>
              </a:ext>
            </a:extLst>
          </p:cNvPr>
          <p:cNvSpPr txBox="1"/>
          <p:nvPr/>
        </p:nvSpPr>
        <p:spPr>
          <a:xfrm>
            <a:off x="6454500" y="3365896"/>
            <a:ext cx="1563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s-E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s-E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ota</a:t>
            </a: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= </a:t>
            </a:r>
            <a:r>
              <a:rPr lang="es-E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s-E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042F5769-562B-302A-5B1C-D9BD8B5E1FEE}"/>
                  </a:ext>
                </a:extLst>
              </p:cNvPr>
              <p:cNvSpPr txBox="1"/>
              <p:nvPr/>
            </p:nvSpPr>
            <p:spPr>
              <a:xfrm>
                <a:off x="8302793" y="3504395"/>
                <a:ext cx="29815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s-E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042F5769-562B-302A-5B1C-D9BD8B5E1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793" y="3504395"/>
                <a:ext cx="298158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uadroTexto 26">
            <a:extLst>
              <a:ext uri="{FF2B5EF4-FFF2-40B4-BE49-F238E27FC236}">
                <a16:creationId xmlns:a16="http://schemas.microsoft.com/office/drawing/2014/main" id="{36CD1DFC-357F-EDA1-4CB2-8BB5A2BC901F}"/>
              </a:ext>
            </a:extLst>
          </p:cNvPr>
          <p:cNvSpPr txBox="1"/>
          <p:nvPr/>
        </p:nvSpPr>
        <p:spPr>
          <a:xfrm>
            <a:off x="6096000" y="4339012"/>
            <a:ext cx="56694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Distancia de </a:t>
            </a:r>
            <a:r>
              <a:rPr lang="es-ES" sz="2000" dirty="0" err="1">
                <a:solidFill>
                  <a:schemeClr val="accent1">
                    <a:lumMod val="50000"/>
                  </a:schemeClr>
                </a:solidFill>
              </a:rPr>
              <a:t>Levenshtein</a:t>
            </a:r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: Modificación de la distancia de </a:t>
            </a:r>
            <a:r>
              <a:rPr lang="es-ES" sz="2000" dirty="0" err="1">
                <a:solidFill>
                  <a:schemeClr val="accent1">
                    <a:lumMod val="50000"/>
                  </a:schemeClr>
                </a:solidFill>
              </a:rPr>
              <a:t>Hamming</a:t>
            </a:r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 más adecuada a las cadenas de texto ya que contempla la posibilidad de que las cadenas tengan diferente número de caracteres. 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9DCF0EE-C8EA-2DA2-77FB-7FEDCE7831CB}"/>
              </a:ext>
            </a:extLst>
          </p:cNvPr>
          <p:cNvSpPr txBox="1"/>
          <p:nvPr/>
        </p:nvSpPr>
        <p:spPr>
          <a:xfrm>
            <a:off x="409402" y="82680"/>
            <a:ext cx="65759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Distancias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usadas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ML.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(no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Minkowski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504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B4877E86-7957-3594-ABDB-0786FBE5AD65}"/>
              </a:ext>
            </a:extLst>
          </p:cNvPr>
          <p:cNvSpPr txBox="1"/>
          <p:nvPr/>
        </p:nvSpPr>
        <p:spPr>
          <a:xfrm>
            <a:off x="322446" y="1191035"/>
            <a:ext cx="3331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Distancia </a:t>
            </a:r>
            <a:r>
              <a:rPr lang="es-ES" sz="2000" dirty="0" smtClean="0">
                <a:solidFill>
                  <a:schemeClr val="accent1">
                    <a:lumMod val="50000"/>
                  </a:schemeClr>
                </a:solidFill>
              </a:rPr>
              <a:t>de </a:t>
            </a:r>
            <a:r>
              <a:rPr lang="es-ES" sz="2000" dirty="0" err="1" smtClean="0">
                <a:solidFill>
                  <a:schemeClr val="accent1">
                    <a:lumMod val="50000"/>
                  </a:schemeClr>
                </a:solidFill>
              </a:rPr>
              <a:t>Mahalabonis</a:t>
            </a:r>
            <a:r>
              <a:rPr lang="es-ES" sz="2000" dirty="0" smtClean="0">
                <a:solidFill>
                  <a:schemeClr val="accent1">
                    <a:lumMod val="50000"/>
                  </a:schemeClr>
                </a:solidFill>
              </a:rPr>
              <a:t>:  </a:t>
            </a:r>
            <a:endParaRPr lang="es-E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8A5F2EA-E54B-5F8D-8975-E47A8F5AE4BB}"/>
              </a:ext>
            </a:extLst>
          </p:cNvPr>
          <p:cNvSpPr txBox="1"/>
          <p:nvPr/>
        </p:nvSpPr>
        <p:spPr>
          <a:xfrm>
            <a:off x="213584" y="1868860"/>
            <a:ext cx="54332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 smtClean="0">
                <a:solidFill>
                  <a:schemeClr val="accent1">
                    <a:lumMod val="50000"/>
                  </a:schemeClr>
                </a:solidFill>
              </a:rPr>
              <a:t>La 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distancia de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</a:rPr>
              <a:t>Mahalanobis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 mide la distancia entre un punto y una distribución teniendo en cuenta</a:t>
            </a:r>
            <a:r>
              <a:rPr lang="es-ES" sz="1600" dirty="0" smtClean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accent1">
                    <a:lumMod val="50000"/>
                  </a:schemeClr>
                </a:solidFill>
              </a:rPr>
              <a:t>La 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escala de cada </a:t>
            </a:r>
            <a:r>
              <a:rPr lang="es-ES" sz="1600" dirty="0" smtClean="0">
                <a:solidFill>
                  <a:schemeClr val="accent1">
                    <a:lumMod val="50000"/>
                  </a:schemeClr>
                </a:solidFill>
              </a:rPr>
              <a:t>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accent1">
                    <a:lumMod val="50000"/>
                  </a:schemeClr>
                </a:solidFill>
              </a:rPr>
              <a:t>La 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correlación entre variables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1FD24D6-AF41-FBA1-62ED-E4F03BF6A041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A847F904-0710-886C-B460-6F4E2E252DBA}"/>
                  </a:ext>
                </a:extLst>
              </p:cNvPr>
              <p:cNvSpPr txBox="1"/>
              <p:nvPr/>
            </p:nvSpPr>
            <p:spPr>
              <a:xfrm>
                <a:off x="5810955" y="982506"/>
                <a:ext cx="6381045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tx1"/>
                  </a:buClr>
                  <a:buSzPct val="150000"/>
                </a:pPr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Supongamos una población con </a:t>
                </a:r>
                <a:r>
                  <a:rPr lang="es-ES" sz="1600" dirty="0" err="1">
                    <a:solidFill>
                      <a:schemeClr val="accent1">
                        <a:lumMod val="50000"/>
                      </a:schemeClr>
                    </a:solidFill>
                  </a:rPr>
                  <a:t>normopeso</a:t>
                </a:r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 IMC = </a:t>
                </a:r>
                <a:r>
                  <a:rPr lang="es-ES" sz="16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24: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sz="1600" b="0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peso</m:t>
                    </m:r>
                    <m:r>
                      <m:rPr>
                        <m:nor/>
                      </m:rPr>
                      <a:rPr lang="es-ES" sz="1600" b="0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24 </m:t>
                    </m:r>
                    <m:sSup>
                      <m:sSupPr>
                        <m:ctrlP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s-ES" sz="1600" b="0" i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altura</m:t>
                            </m:r>
                          </m:e>
                        </m:d>
                      </m:e>
                      <m:sup>
                        <m: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" sz="1600" dirty="0" smtClean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buClr>
                    <a:schemeClr val="tx1"/>
                  </a:buClr>
                  <a:buSzPct val="150000"/>
                </a:pPr>
                <a:endParaRPr lang="es-ES" sz="1600" dirty="0" smtClean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buClr>
                    <a:schemeClr val="tx1"/>
                  </a:buClr>
                  <a:buSzPct val="150000"/>
                </a:pPr>
                <a:r>
                  <a:rPr lang="es-ES" sz="16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Aproximando </a:t>
                </a:r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linealmente alrededor de alturas medias (≈175 cm), esto genera una correlación alta positiva entre altura y peso</a:t>
                </a:r>
                <a:r>
                  <a:rPr lang="es-ES" sz="16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.</a:t>
                </a:r>
              </a:p>
              <a:p>
                <a:pPr>
                  <a:buClr>
                    <a:schemeClr val="tx1"/>
                  </a:buClr>
                  <a:buSzPct val="150000"/>
                </a:pPr>
                <a:endParaRPr lang="es-ES" sz="16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buClr>
                    <a:schemeClr val="tx1"/>
                  </a:buClr>
                  <a:buSzPct val="150000"/>
                </a:pPr>
                <a:r>
                  <a:rPr lang="es-ES" sz="16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A partir </a:t>
                </a:r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de esa población estimamos:</a:t>
                </a:r>
              </a:p>
              <a:p>
                <a:pPr>
                  <a:buClr>
                    <a:schemeClr val="tx1"/>
                  </a:buClr>
                  <a:buSzPct val="150000"/>
                </a:pPr>
                <a:endParaRPr lang="es-ES" sz="16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buClr>
                    <a:schemeClr val="tx1"/>
                  </a:buClr>
                  <a:buSzPct val="150000"/>
                </a:pPr>
                <a:endParaRPr lang="es-ES" sz="16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A847F904-0710-886C-B460-6F4E2E252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955" y="982506"/>
                <a:ext cx="6381045" cy="2062103"/>
              </a:xfrm>
              <a:prstGeom prst="rect">
                <a:avLst/>
              </a:prstGeom>
              <a:blipFill>
                <a:blip r:embed="rId3"/>
                <a:stretch>
                  <a:fillRect l="-478" t="-88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uadroTexto 27">
            <a:extLst>
              <a:ext uri="{FF2B5EF4-FFF2-40B4-BE49-F238E27FC236}">
                <a16:creationId xmlns:a16="http://schemas.microsoft.com/office/drawing/2014/main" id="{99DCF0EE-C8EA-2DA2-77FB-7FEDCE7831CB}"/>
              </a:ext>
            </a:extLst>
          </p:cNvPr>
          <p:cNvSpPr txBox="1"/>
          <p:nvPr/>
        </p:nvSpPr>
        <p:spPr>
          <a:xfrm>
            <a:off x="409402" y="82680"/>
            <a:ext cx="65759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Distancias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usadas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ML.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(no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Minkowski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215978" y="3223793"/>
                <a:ext cx="5594977" cy="26584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" sz="16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La distancia de </a:t>
                </a:r>
                <a:r>
                  <a:rPr lang="es-ES" sz="1600" dirty="0" err="1">
                    <a:solidFill>
                      <a:schemeClr val="accent1">
                        <a:lumMod val="50000"/>
                      </a:schemeClr>
                    </a:solidFill>
                  </a:rPr>
                  <a:t>Mahalanobis</a:t>
                </a:r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 de 𝑥 a la distribución es</a:t>
                </a:r>
                <a:r>
                  <a:rPr lang="es-ES" sz="16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:</a:t>
                </a:r>
              </a:p>
              <a:p>
                <a:endParaRPr lang="es-ES" sz="1600" dirty="0" smtClean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s-ES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160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60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sz="16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60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ES" sz="160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60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160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ES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60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𝛴</m:t>
                              </m:r>
                            </m:e>
                            <m:sup>
                              <m:r>
                                <a:rPr lang="es-ES" sz="160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s-ES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160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60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s-ES" sz="1600" dirty="0" smtClean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es-ES" sz="16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r>
                  <a:rPr lang="es-ES" sz="16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Más </a:t>
                </a:r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generalmente, la distancia entre dos puntos 𝑥 e 𝑦 es</a:t>
                </a:r>
                <a:r>
                  <a:rPr lang="es-ES" sz="16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:</a:t>
                </a:r>
              </a:p>
              <a:p>
                <a:endParaRPr lang="es-ES" sz="1600" dirty="0" smtClean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s-ES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160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s-ES" sz="1600" b="0" i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sz="16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60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ES" sz="160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1600" b="0" i="0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160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ES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60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𝛴</m:t>
                              </m:r>
                            </m:e>
                            <m:sup>
                              <m:r>
                                <a:rPr lang="es-ES" sz="160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s-ES" sz="16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160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s-ES" sz="16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es-ES" sz="1600" dirty="0" smtClean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r>
                  <a:rPr lang="es-ES" sz="16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​</a:t>
                </a:r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donde </a:t>
                </a:r>
                <a14:m>
                  <m:oMath xmlns:m="http://schemas.openxmlformats.org/officeDocument/2006/math">
                    <m:r>
                      <a:rPr lang="es-ES" sz="16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l-GR" sz="16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es la covarianza estimada de la población (o del conjunto de datos).</a:t>
                </a: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78" y="3223793"/>
                <a:ext cx="5594977" cy="2658420"/>
              </a:xfrm>
              <a:prstGeom prst="rect">
                <a:avLst/>
              </a:prstGeom>
              <a:blipFill>
                <a:blip r:embed="rId4"/>
                <a:stretch>
                  <a:fillRect l="-545" t="-1147" b="-206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5"/>
          <a:srcRect l="11120" r="48886"/>
          <a:stretch/>
        </p:blipFill>
        <p:spPr>
          <a:xfrm>
            <a:off x="6870887" y="3425026"/>
            <a:ext cx="745917" cy="2965204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5"/>
          <a:srcRect l="59264" r="-1"/>
          <a:stretch/>
        </p:blipFill>
        <p:spPr>
          <a:xfrm>
            <a:off x="5749795" y="3088197"/>
            <a:ext cx="934311" cy="32710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9018444" y="2130342"/>
                <a:ext cx="1911997" cy="5542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𝛴</m:t>
                      </m:r>
                      <m:r>
                        <a:rPr lang="es-ES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ES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  <m:e>
                                <m:r>
                                  <a:rPr lang="es-ES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e>
                              <m:e>
                                <m:r>
                                  <a:rPr lang="es-ES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444" y="2130342"/>
                <a:ext cx="1911997" cy="5542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/>
          <p:cNvSpPr/>
          <p:nvPr/>
        </p:nvSpPr>
        <p:spPr>
          <a:xfrm>
            <a:off x="5587078" y="2664121"/>
            <a:ext cx="12314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dirty="0" smtClean="0">
                <a:solidFill>
                  <a:schemeClr val="accent1">
                    <a:lumMod val="50000"/>
                  </a:schemeClr>
                </a:solidFill>
              </a:rPr>
              <a:t>A</a:t>
            </a:r>
          </a:p>
          <a:p>
            <a:pPr algn="ctr"/>
            <a:r>
              <a:rPr lang="es-ES" sz="1400" dirty="0" smtClean="0">
                <a:solidFill>
                  <a:schemeClr val="accent1">
                    <a:lumMod val="50000"/>
                  </a:schemeClr>
                </a:solidFill>
              </a:rPr>
              <a:t>190 cm, 86 kg </a:t>
            </a:r>
            <a:endParaRPr lang="es-ES" sz="1400" dirty="0"/>
          </a:p>
        </p:txBody>
      </p:sp>
      <p:sp>
        <p:nvSpPr>
          <p:cNvPr id="15" name="Rectángulo 14"/>
          <p:cNvSpPr/>
          <p:nvPr/>
        </p:nvSpPr>
        <p:spPr>
          <a:xfrm>
            <a:off x="6628131" y="3187341"/>
            <a:ext cx="12314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dirty="0" smtClean="0">
                <a:solidFill>
                  <a:schemeClr val="accent1">
                    <a:lumMod val="50000"/>
                  </a:schemeClr>
                </a:solidFill>
              </a:rPr>
              <a:t>B</a:t>
            </a:r>
          </a:p>
          <a:p>
            <a:pPr algn="ctr"/>
            <a:r>
              <a:rPr lang="es-ES" sz="1400" dirty="0" smtClean="0">
                <a:solidFill>
                  <a:schemeClr val="accent1">
                    <a:lumMod val="50000"/>
                  </a:schemeClr>
                </a:solidFill>
              </a:rPr>
              <a:t>165 cm, 65 kg </a:t>
            </a:r>
            <a:endParaRPr lang="es-ES" sz="14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7"/>
          <a:srcRect l="36151" t="7131" r="36384" b="8664"/>
          <a:stretch/>
        </p:blipFill>
        <p:spPr>
          <a:xfrm>
            <a:off x="7803584" y="3322324"/>
            <a:ext cx="1120866" cy="3067905"/>
          </a:xfrm>
          <a:prstGeom prst="rect">
            <a:avLst/>
          </a:prstGeom>
        </p:spPr>
      </p:pic>
      <p:sp>
        <p:nvSpPr>
          <p:cNvPr id="18" name="Rectángulo 17"/>
          <p:cNvSpPr/>
          <p:nvPr/>
        </p:nvSpPr>
        <p:spPr>
          <a:xfrm>
            <a:off x="7693023" y="2927035"/>
            <a:ext cx="12314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dirty="0" smtClean="0">
                <a:solidFill>
                  <a:schemeClr val="accent1">
                    <a:lumMod val="50000"/>
                  </a:schemeClr>
                </a:solidFill>
              </a:rPr>
              <a:t>C</a:t>
            </a:r>
          </a:p>
          <a:p>
            <a:pPr algn="ctr"/>
            <a:r>
              <a:rPr lang="es-ES" sz="1400" dirty="0" smtClean="0">
                <a:solidFill>
                  <a:schemeClr val="accent1">
                    <a:lumMod val="50000"/>
                  </a:schemeClr>
                </a:solidFill>
              </a:rPr>
              <a:t>170 cm, 85 kg </a:t>
            </a:r>
            <a:endParaRPr lang="es-E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a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7504564"/>
                  </p:ext>
                </p:extLst>
              </p:nvPr>
            </p:nvGraphicFramePr>
            <p:xfrm>
              <a:off x="8993043" y="2824220"/>
              <a:ext cx="3173556" cy="34575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73556">
                      <a:extLst>
                        <a:ext uri="{9D8B030D-6E8A-4147-A177-3AD203B41FA5}">
                          <a16:colId xmlns:a16="http://schemas.microsoft.com/office/drawing/2014/main" val="2212345267"/>
                        </a:ext>
                      </a:extLst>
                    </a:gridCol>
                  </a:tblGrid>
                  <a:tr h="13500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kern="1200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Distancia </a:t>
                          </a:r>
                          <a:r>
                            <a:rPr lang="es-ES" sz="1600" kern="1200" dirty="0" err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Euclídea</a:t>
                          </a:r>
                          <a:endParaRPr lang="es-ES" sz="1600" kern="1200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s-ES" sz="900" kern="1200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s-ES" sz="1400" i="1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" sz="1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s-ES" sz="1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ES" sz="1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d>
                                <m:r>
                                  <a:rPr lang="es-ES" sz="14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≈32.65</m:t>
                                </m:r>
                              </m:oMath>
                            </m:oMathPara>
                          </a14:m>
                          <a:endParaRPr lang="es-ES" sz="1400" dirty="0" smtClean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s-ES" sz="1400" i="1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" sz="1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s-ES" sz="1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ES" sz="1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</m:d>
                                <m:r>
                                  <a:rPr lang="es-ES" sz="14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≈20.02</m:t>
                                </m:r>
                              </m:oMath>
                            </m:oMathPara>
                          </a14:m>
                          <a:endParaRPr lang="es-ES" sz="1400" dirty="0" smtClean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" sz="900" dirty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algn="l"/>
                          <a:r>
                            <a:rPr lang="es-ES" sz="1200" b="0" kern="1200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 está más próximo a C que a B </a:t>
                          </a:r>
                          <a:endParaRPr lang="es-ES" sz="1200" b="0" kern="120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7114388"/>
                      </a:ext>
                    </a:extLst>
                  </a:tr>
                  <a:tr h="21074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b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</a:rPr>
                            <a:t>Distancia de </a:t>
                          </a:r>
                          <a:r>
                            <a:rPr lang="es-ES" sz="1600" b="1" dirty="0" err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</a:rPr>
                            <a:t>Mahalabonis</a:t>
                          </a:r>
                          <a:endParaRPr lang="es-ES" sz="1600" b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endParaRPr lang="es-ES" sz="800" b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𝑀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ES" sz="1400" b="0" i="1" kern="120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  <m: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s-ES" sz="1400" b="0" i="1" kern="120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≈2.42</m:t>
                                </m:r>
                              </m:oMath>
                            </m:oMathPara>
                          </a14:m>
                          <a:endParaRPr lang="es-ES" sz="1400" b="0" i="1" kern="1200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𝑀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ES" sz="1400" b="0" i="1" kern="120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  <m: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lang="es-ES" sz="1400" b="0" i="1" kern="120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s-ES" sz="1400" b="0" i="1" kern="120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≈4.38</m:t>
                                </m:r>
                              </m:oMath>
                            </m:oMathPara>
                          </a14:m>
                          <a:endParaRPr lang="es-ES" sz="1600" b="0" dirty="0" smtClean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algn="ctr"/>
                          <a:endParaRPr lang="es-ES" sz="1600" b="0" dirty="0" smtClean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algn="l"/>
                          <a:r>
                            <a:rPr lang="es-ES" sz="1200" b="0" dirty="0" err="1" smtClean="0">
                              <a:solidFill>
                                <a:schemeClr val="tx2"/>
                              </a:solidFill>
                            </a:rPr>
                            <a:t>Mahalanobis</a:t>
                          </a:r>
                          <a:r>
                            <a:rPr lang="es-ES" sz="1200" b="0" dirty="0" smtClean="0">
                              <a:solidFill>
                                <a:schemeClr val="tx2"/>
                              </a:solidFill>
                            </a:rPr>
                            <a:t> considera que:</a:t>
                          </a:r>
                        </a:p>
                        <a:p>
                          <a:pPr marL="171450" indent="-171450" algn="l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" sz="1200" b="0" dirty="0" smtClean="0">
                              <a:solidFill>
                                <a:schemeClr val="tx2"/>
                              </a:solidFill>
                            </a:rPr>
                            <a:t>(190,86) y (165,65) siguen aproximadamente la relación IMC constante.</a:t>
                          </a:r>
                        </a:p>
                        <a:p>
                          <a:pPr marL="171450" indent="-171450" algn="l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" sz="1200" b="0" dirty="0" smtClean="0">
                              <a:solidFill>
                                <a:schemeClr val="tx2"/>
                              </a:solidFill>
                            </a:rPr>
                            <a:t>(170,85) rompe la estructura altura–peso (IMC muy alto).Por tanto es más “anómalo”.</a:t>
                          </a:r>
                          <a:endParaRPr lang="es-ES" sz="12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lnL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23360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a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7504564"/>
                  </p:ext>
                </p:extLst>
              </p:nvPr>
            </p:nvGraphicFramePr>
            <p:xfrm>
              <a:off x="8993043" y="2824220"/>
              <a:ext cx="3173556" cy="34575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73556">
                      <a:extLst>
                        <a:ext uri="{9D8B030D-6E8A-4147-A177-3AD203B41FA5}">
                          <a16:colId xmlns:a16="http://schemas.microsoft.com/office/drawing/2014/main" val="2212345267"/>
                        </a:ext>
                      </a:extLst>
                    </a:gridCol>
                  </a:tblGrid>
                  <a:tr h="1350097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92" t="-1351" r="-384" b="-1567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7114388"/>
                      </a:ext>
                    </a:extLst>
                  </a:tr>
                  <a:tr h="2107469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92" t="-65029" r="-384" b="-5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23360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478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3" y="1644168"/>
            <a:ext cx="4356816" cy="2843319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F45C38A-0D5F-BE6C-DDDD-01A317499614}"/>
              </a:ext>
            </a:extLst>
          </p:cNvPr>
          <p:cNvSpPr/>
          <p:nvPr/>
        </p:nvSpPr>
        <p:spPr>
          <a:xfrm>
            <a:off x="4214553" y="623455"/>
            <a:ext cx="7882019" cy="6232738"/>
          </a:xfrm>
          <a:prstGeom prst="roundRect">
            <a:avLst>
              <a:gd name="adj" fmla="val 3645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Similitud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de Jaccard: Mide la proporción de elementos que son comunes a dos conjuntos en relación con el total de elementos que aparecen en al menos uno de ellos.</a:t>
            </a: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Ejemplo: Si miramos los ingredientes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podemos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determinar que las galletas están más cerca del bizcocho que del tomate frito.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Medidas híbridas de distancia.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s-ES" dirty="0" err="1" smtClean="0">
                <a:solidFill>
                  <a:schemeClr val="accent1">
                    <a:lumMod val="50000"/>
                  </a:schemeClr>
                </a:solidFill>
              </a:rPr>
              <a:t>Gower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): Calcula una distancia ponderada en cada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variable,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y luego las combina en una distancia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general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endParaRPr lang="es-ES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uméricas: Se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usa una distancia Euclidiana normalizada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 diferencia entre los valores se divide por el rango de la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variable.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Variables categóricas: Se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asigna una distancia de 0 si los valores son iguales y 1 si son diferentes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D141B78-7FDC-F1AB-42E5-5DFC2A3BA4DD}"/>
                  </a:ext>
                </a:extLst>
              </p:cNvPr>
              <p:cNvSpPr txBox="1"/>
              <p:nvPr/>
            </p:nvSpPr>
            <p:spPr>
              <a:xfrm>
                <a:off x="6664769" y="1903309"/>
                <a:ext cx="2981585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s-E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∩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s-E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∪</m:t>
                              </m:r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D141B78-7FDC-F1AB-42E5-5DFC2A3B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769" y="1903309"/>
                <a:ext cx="2981585" cy="669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FCC9286-DA1B-053B-68A3-A50013787456}"/>
                  </a:ext>
                </a:extLst>
              </p:cNvPr>
              <p:cNvSpPr txBox="1"/>
              <p:nvPr/>
            </p:nvSpPr>
            <p:spPr>
              <a:xfrm>
                <a:off x="7903736" y="5738195"/>
                <a:ext cx="2981585" cy="1117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=0,1 </m:t>
                              </m:r>
                              <m:r>
                                <m:rPr>
                                  <m:nor/>
                                </m:rPr>
                                <a:rPr lang="es-ES" b="0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ES" b="0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categ</m:t>
                              </m:r>
                              <m:r>
                                <m:rPr>
                                  <m:nor/>
                                </m:rPr>
                                <a:rPr lang="es-ES" b="0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m:rPr>
                                  <m:nor/>
                                </m:rPr>
                                <a:rPr lang="es-ES" b="0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rica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s-ES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s-ES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FCC9286-DA1B-053B-68A3-A50013787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736" y="5738195"/>
                <a:ext cx="2981585" cy="1117998"/>
              </a:xfrm>
              <a:prstGeom prst="rect">
                <a:avLst/>
              </a:prstGeom>
              <a:blipFill>
                <a:blip r:embed="rId5"/>
                <a:stretch>
                  <a:fillRect r="-777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8188C07-0032-5928-0F33-97193C4A3275}"/>
                  </a:ext>
                </a:extLst>
              </p:cNvPr>
              <p:cNvSpPr txBox="1"/>
              <p:nvPr/>
            </p:nvSpPr>
            <p:spPr>
              <a:xfrm>
                <a:off x="4632481" y="5872911"/>
                <a:ext cx="3183493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𝐺𝑜𝑤𝑒𝑟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s-E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8188C07-0032-5928-0F33-97193C4A3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481" y="5872911"/>
                <a:ext cx="3183493" cy="8485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10254737" y="6142344"/>
                <a:ext cx="1885716" cy="5791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con</m:t>
                      </m:r>
                      <m:r>
                        <m:rPr>
                          <m:nor/>
                        </m:rPr>
                        <a:rPr lang="es-ES" sz="16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ES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es-ES" sz="16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el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rango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la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varible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num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rica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4737" y="6142344"/>
                <a:ext cx="1885716" cy="5791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99DCF0EE-C8EA-2DA2-77FB-7FEDCE7831CB}"/>
              </a:ext>
            </a:extLst>
          </p:cNvPr>
          <p:cNvSpPr txBox="1"/>
          <p:nvPr/>
        </p:nvSpPr>
        <p:spPr>
          <a:xfrm>
            <a:off x="409402" y="82680"/>
            <a:ext cx="76297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 smtClean="0">
                <a:solidFill>
                  <a:schemeClr val="accent1">
                    <a:lumMod val="50000"/>
                  </a:schemeClr>
                </a:solidFill>
              </a:rPr>
              <a:t>Métricas</a:t>
            </a: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usadas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ML. (</a:t>
            </a:r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>Variables </a:t>
            </a:r>
            <a:r>
              <a:rPr lang="en-US" sz="2000" b="1" dirty="0" err="1" smtClean="0">
                <a:solidFill>
                  <a:schemeClr val="accent1">
                    <a:lumMod val="50000"/>
                  </a:schemeClr>
                </a:solidFill>
              </a:rPr>
              <a:t>categóricas</a:t>
            </a:r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> o </a:t>
            </a:r>
            <a:r>
              <a:rPr lang="en-US" sz="2000" b="1" dirty="0" err="1" smtClean="0">
                <a:solidFill>
                  <a:schemeClr val="accent1">
                    <a:lumMod val="50000"/>
                  </a:schemeClr>
                </a:solidFill>
              </a:rPr>
              <a:t>híbridas</a:t>
            </a: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12124" y="4580249"/>
            <a:ext cx="415854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g_d0_f2"/>
              </a:rPr>
              <a:t>Representation of the Gower distance. The Gower distance between two patients at </a:t>
            </a:r>
            <a:r>
              <a:rPr lang="en-US" sz="1000" dirty="0" smtClean="0">
                <a:latin typeface="g_d0_f2"/>
              </a:rPr>
              <a:t>the same </a:t>
            </a:r>
            <a:r>
              <a:rPr lang="en-US" sz="1000" dirty="0">
                <a:latin typeface="g_d0_f2"/>
              </a:rPr>
              <a:t>time point gives a scalar; that between all patients gives a dissimilarity matrix.</a:t>
            </a:r>
            <a:r>
              <a:rPr lang="en-US" sz="1000" dirty="0"/>
              <a:t> </a:t>
            </a:r>
            <a:br>
              <a:rPr lang="en-US" sz="1000" dirty="0"/>
            </a:br>
            <a:r>
              <a:rPr lang="en-US" sz="1000" i="1" dirty="0"/>
              <a:t>(PDF) Exploring Heterogeneity with Category and Cluster Analyses for Mixed Data</a:t>
            </a:r>
            <a:r>
              <a:rPr lang="en-US" sz="1000" dirty="0"/>
              <a:t>. Available from: </a:t>
            </a:r>
            <a:r>
              <a:rPr lang="en-US" sz="1000" dirty="0">
                <a:hlinkClick r:id="rId8"/>
              </a:rPr>
              <a:t>https://www.researchgate.net/publication/372170121_Exploring_Heterogeneity_with_Category_and_Cluster_Analyses_for_Mixed_Data</a:t>
            </a:r>
            <a:r>
              <a:rPr lang="en-US" sz="1000" dirty="0"/>
              <a:t> </a:t>
            </a:r>
            <a:endParaRPr lang="es-ES" sz="1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FD24D6-AF41-FBA1-62ED-E4F03BF6A041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556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9108141" y="136523"/>
            <a:ext cx="2988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7A0595-F997-C90C-2B48-DD52AEEF89B2}"/>
              </a:ext>
            </a:extLst>
          </p:cNvPr>
          <p:cNvSpPr txBox="1"/>
          <p:nvPr/>
        </p:nvSpPr>
        <p:spPr>
          <a:xfrm>
            <a:off x="1797255" y="1119374"/>
            <a:ext cx="647364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Distancias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usadas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en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Reglas de decisión en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Preparación de los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k-NN para Regresión.</a:t>
            </a:r>
            <a:endParaRPr lang="es-ES" sz="2800" b="1" u="sng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Criterio para elegir k en un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Ventajas e inconvenientes del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Implementación del algoritmo.</a:t>
            </a:r>
          </a:p>
        </p:txBody>
      </p:sp>
    </p:spTree>
    <p:extLst>
      <p:ext uri="{BB962C8B-B14F-4D97-AF65-F5344CB8AC3E}">
        <p14:creationId xmlns:p14="http://schemas.microsoft.com/office/powerpoint/2010/main" val="3124981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B1F6F80-6697-7E80-3294-3C2500D04C53}"/>
              </a:ext>
            </a:extLst>
          </p:cNvPr>
          <p:cNvSpPr/>
          <p:nvPr/>
        </p:nvSpPr>
        <p:spPr>
          <a:xfrm>
            <a:off x="5366592" y="1259451"/>
            <a:ext cx="6472352" cy="146971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Voto de la Mayoría.</a:t>
            </a: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 regla más habitual en los algoritmos k-NN consiste en asignar al punto la clase mayoritaria entre los k vecinos más próximos.</a:t>
            </a: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5B6D0CBA-94A7-522E-E76B-766AD1949CB7}"/>
              </a:ext>
            </a:extLst>
          </p:cNvPr>
          <p:cNvSpPr/>
          <p:nvPr/>
        </p:nvSpPr>
        <p:spPr>
          <a:xfrm>
            <a:off x="2307435" y="3865526"/>
            <a:ext cx="216000" cy="21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000" dirty="0"/>
              <a:t>¿?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993CC0-FDBD-26F4-7B73-31310041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C38E4A2-AFC2-361D-D0A5-68CAE41C115F}"/>
              </a:ext>
            </a:extLst>
          </p:cNvPr>
          <p:cNvSpPr/>
          <p:nvPr/>
        </p:nvSpPr>
        <p:spPr>
          <a:xfrm>
            <a:off x="1299146" y="3017613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C4BA023-5872-052A-0787-1F5B0928EE94}"/>
              </a:ext>
            </a:extLst>
          </p:cNvPr>
          <p:cNvSpPr/>
          <p:nvPr/>
        </p:nvSpPr>
        <p:spPr>
          <a:xfrm>
            <a:off x="2402527" y="2319949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4B07D62-0A05-4807-E660-1780ACCC736D}"/>
              </a:ext>
            </a:extLst>
          </p:cNvPr>
          <p:cNvSpPr/>
          <p:nvPr/>
        </p:nvSpPr>
        <p:spPr>
          <a:xfrm>
            <a:off x="1807612" y="2393982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E2DA17C-DE4C-6374-4509-A678B4BE8E39}"/>
              </a:ext>
            </a:extLst>
          </p:cNvPr>
          <p:cNvSpPr/>
          <p:nvPr/>
        </p:nvSpPr>
        <p:spPr>
          <a:xfrm>
            <a:off x="1554131" y="3340591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599BB14-F55A-6451-AA34-2C6B663B8C50}"/>
              </a:ext>
            </a:extLst>
          </p:cNvPr>
          <p:cNvSpPr/>
          <p:nvPr/>
        </p:nvSpPr>
        <p:spPr>
          <a:xfrm>
            <a:off x="838200" y="3216461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630D9D3-C9DB-3F29-B9E7-C46F6AF70C17}"/>
              </a:ext>
            </a:extLst>
          </p:cNvPr>
          <p:cNvSpPr/>
          <p:nvPr/>
        </p:nvSpPr>
        <p:spPr>
          <a:xfrm>
            <a:off x="2003498" y="3649058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519BB8E-3EC9-FF35-AD96-A8F17895C2F4}"/>
              </a:ext>
            </a:extLst>
          </p:cNvPr>
          <p:cNvSpPr/>
          <p:nvPr/>
        </p:nvSpPr>
        <p:spPr>
          <a:xfrm>
            <a:off x="2039267" y="3122458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Triángulo isósceles 19">
            <a:extLst>
              <a:ext uri="{FF2B5EF4-FFF2-40B4-BE49-F238E27FC236}">
                <a16:creationId xmlns:a16="http://schemas.microsoft.com/office/drawing/2014/main" id="{9B715538-DFCE-627A-EFD3-B1FD3CE85500}"/>
              </a:ext>
            </a:extLst>
          </p:cNvPr>
          <p:cNvSpPr/>
          <p:nvPr/>
        </p:nvSpPr>
        <p:spPr>
          <a:xfrm>
            <a:off x="3682144" y="2909613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Triángulo isósceles 20">
            <a:extLst>
              <a:ext uri="{FF2B5EF4-FFF2-40B4-BE49-F238E27FC236}">
                <a16:creationId xmlns:a16="http://schemas.microsoft.com/office/drawing/2014/main" id="{8AA53474-B5D6-CE7D-4C53-308F60920A84}"/>
              </a:ext>
            </a:extLst>
          </p:cNvPr>
          <p:cNvSpPr/>
          <p:nvPr/>
        </p:nvSpPr>
        <p:spPr>
          <a:xfrm>
            <a:off x="2913612" y="2319003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Triángulo isósceles 21">
            <a:extLst>
              <a:ext uri="{FF2B5EF4-FFF2-40B4-BE49-F238E27FC236}">
                <a16:creationId xmlns:a16="http://schemas.microsoft.com/office/drawing/2014/main" id="{AD49A8E3-A6B6-56D2-1CF2-8182F76A1484}"/>
              </a:ext>
            </a:extLst>
          </p:cNvPr>
          <p:cNvSpPr/>
          <p:nvPr/>
        </p:nvSpPr>
        <p:spPr>
          <a:xfrm>
            <a:off x="2560527" y="3723433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Triángulo isósceles 22">
            <a:extLst>
              <a:ext uri="{FF2B5EF4-FFF2-40B4-BE49-F238E27FC236}">
                <a16:creationId xmlns:a16="http://schemas.microsoft.com/office/drawing/2014/main" id="{F8FE962A-B75D-3D5E-FB79-9A44D8C7BE6C}"/>
              </a:ext>
            </a:extLst>
          </p:cNvPr>
          <p:cNvSpPr/>
          <p:nvPr/>
        </p:nvSpPr>
        <p:spPr>
          <a:xfrm>
            <a:off x="2482484" y="3307957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riángulo isósceles 23">
            <a:extLst>
              <a:ext uri="{FF2B5EF4-FFF2-40B4-BE49-F238E27FC236}">
                <a16:creationId xmlns:a16="http://schemas.microsoft.com/office/drawing/2014/main" id="{4B0FCFF5-A5F4-D7D3-F2CB-202A0D803CC1}"/>
              </a:ext>
            </a:extLst>
          </p:cNvPr>
          <p:cNvSpPr/>
          <p:nvPr/>
        </p:nvSpPr>
        <p:spPr>
          <a:xfrm>
            <a:off x="2808972" y="2621165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Triángulo isósceles 24">
            <a:extLst>
              <a:ext uri="{FF2B5EF4-FFF2-40B4-BE49-F238E27FC236}">
                <a16:creationId xmlns:a16="http://schemas.microsoft.com/office/drawing/2014/main" id="{3E47CCAC-F042-37F3-C3CF-EF1D338292F7}"/>
              </a:ext>
            </a:extLst>
          </p:cNvPr>
          <p:cNvSpPr/>
          <p:nvPr/>
        </p:nvSpPr>
        <p:spPr>
          <a:xfrm>
            <a:off x="4634882" y="4277340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Triángulo isósceles 25">
            <a:extLst>
              <a:ext uri="{FF2B5EF4-FFF2-40B4-BE49-F238E27FC236}">
                <a16:creationId xmlns:a16="http://schemas.microsoft.com/office/drawing/2014/main" id="{B1265794-D40E-7516-5ED2-BD3712A4078F}"/>
              </a:ext>
            </a:extLst>
          </p:cNvPr>
          <p:cNvSpPr/>
          <p:nvPr/>
        </p:nvSpPr>
        <p:spPr>
          <a:xfrm>
            <a:off x="3730268" y="3837235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Triángulo isósceles 26">
            <a:extLst>
              <a:ext uri="{FF2B5EF4-FFF2-40B4-BE49-F238E27FC236}">
                <a16:creationId xmlns:a16="http://schemas.microsoft.com/office/drawing/2014/main" id="{2AB8B16D-77F2-B795-71B8-19B710487B17}"/>
              </a:ext>
            </a:extLst>
          </p:cNvPr>
          <p:cNvSpPr/>
          <p:nvPr/>
        </p:nvSpPr>
        <p:spPr>
          <a:xfrm>
            <a:off x="2424734" y="4120174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3931B357-78FE-3E3D-9A8F-E19DEEF4FB8F}"/>
              </a:ext>
            </a:extLst>
          </p:cNvPr>
          <p:cNvSpPr/>
          <p:nvPr/>
        </p:nvSpPr>
        <p:spPr>
          <a:xfrm>
            <a:off x="3928925" y="3545136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Triángulo isósceles 28">
            <a:extLst>
              <a:ext uri="{FF2B5EF4-FFF2-40B4-BE49-F238E27FC236}">
                <a16:creationId xmlns:a16="http://schemas.microsoft.com/office/drawing/2014/main" id="{986CDADC-2651-E053-549F-B633C0FEB976}"/>
              </a:ext>
            </a:extLst>
          </p:cNvPr>
          <p:cNvSpPr/>
          <p:nvPr/>
        </p:nvSpPr>
        <p:spPr>
          <a:xfrm>
            <a:off x="2912706" y="4086781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Triángulo isósceles 29">
            <a:extLst>
              <a:ext uri="{FF2B5EF4-FFF2-40B4-BE49-F238E27FC236}">
                <a16:creationId xmlns:a16="http://schemas.microsoft.com/office/drawing/2014/main" id="{FEA30922-F22F-4924-2D26-92A5D4400A97}"/>
              </a:ext>
            </a:extLst>
          </p:cNvPr>
          <p:cNvSpPr/>
          <p:nvPr/>
        </p:nvSpPr>
        <p:spPr>
          <a:xfrm>
            <a:off x="3045212" y="4235398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Triángulo isósceles 30">
            <a:extLst>
              <a:ext uri="{FF2B5EF4-FFF2-40B4-BE49-F238E27FC236}">
                <a16:creationId xmlns:a16="http://schemas.microsoft.com/office/drawing/2014/main" id="{ADA31875-1774-E0BB-B9F0-8DC98C5ED154}"/>
              </a:ext>
            </a:extLst>
          </p:cNvPr>
          <p:cNvSpPr/>
          <p:nvPr/>
        </p:nvSpPr>
        <p:spPr>
          <a:xfrm>
            <a:off x="3511933" y="4734540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0243F11E-0000-F4BC-E421-F1244A80CC8C}"/>
              </a:ext>
            </a:extLst>
          </p:cNvPr>
          <p:cNvSpPr/>
          <p:nvPr/>
        </p:nvSpPr>
        <p:spPr>
          <a:xfrm>
            <a:off x="1931267" y="2077996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8C57FAC-BC09-3A46-0223-D29D05F65536}"/>
              </a:ext>
            </a:extLst>
          </p:cNvPr>
          <p:cNvSpPr/>
          <p:nvPr/>
        </p:nvSpPr>
        <p:spPr>
          <a:xfrm>
            <a:off x="981606" y="2265003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2B365FC7-D0C5-2F88-1E28-1F19EE826B40}"/>
              </a:ext>
            </a:extLst>
          </p:cNvPr>
          <p:cNvSpPr/>
          <p:nvPr/>
        </p:nvSpPr>
        <p:spPr>
          <a:xfrm>
            <a:off x="1306556" y="1743124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4D032AE3-EB42-F001-4943-3FE1FF075BDB}"/>
              </a:ext>
            </a:extLst>
          </p:cNvPr>
          <p:cNvSpPr/>
          <p:nvPr/>
        </p:nvSpPr>
        <p:spPr>
          <a:xfrm>
            <a:off x="1035606" y="3599136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0295159-45EC-5AA8-273B-60DD4AFFF866}"/>
              </a:ext>
            </a:extLst>
          </p:cNvPr>
          <p:cNvSpPr/>
          <p:nvPr/>
        </p:nvSpPr>
        <p:spPr>
          <a:xfrm>
            <a:off x="1325086" y="5093211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8A85BB7-C19B-FC9A-632B-46D02E599A51}"/>
              </a:ext>
            </a:extLst>
          </p:cNvPr>
          <p:cNvSpPr/>
          <p:nvPr/>
        </p:nvSpPr>
        <p:spPr>
          <a:xfrm>
            <a:off x="1889964" y="4619484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FA4D243-C2B4-DBA1-EB1E-6813629D5F5C}"/>
              </a:ext>
            </a:extLst>
          </p:cNvPr>
          <p:cNvSpPr/>
          <p:nvPr/>
        </p:nvSpPr>
        <p:spPr>
          <a:xfrm>
            <a:off x="1775432" y="5026536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760F40-B035-1C39-2041-DAA7C1860091}"/>
              </a:ext>
            </a:extLst>
          </p:cNvPr>
          <p:cNvSpPr/>
          <p:nvPr/>
        </p:nvSpPr>
        <p:spPr>
          <a:xfrm>
            <a:off x="2912706" y="3182518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3BC20B6-B97A-DE50-81CC-4E6C90B0E469}"/>
              </a:ext>
            </a:extLst>
          </p:cNvPr>
          <p:cNvSpPr/>
          <p:nvPr/>
        </p:nvSpPr>
        <p:spPr>
          <a:xfrm>
            <a:off x="1042530" y="4580866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7D9D6C-0F15-580B-FF99-93077E547EB8}"/>
              </a:ext>
            </a:extLst>
          </p:cNvPr>
          <p:cNvSpPr/>
          <p:nvPr/>
        </p:nvSpPr>
        <p:spPr>
          <a:xfrm>
            <a:off x="1695853" y="4012174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Cruz 37">
            <a:extLst>
              <a:ext uri="{FF2B5EF4-FFF2-40B4-BE49-F238E27FC236}">
                <a16:creationId xmlns:a16="http://schemas.microsoft.com/office/drawing/2014/main" id="{A55C3319-3854-20C0-CB99-F288DB696D52}"/>
              </a:ext>
            </a:extLst>
          </p:cNvPr>
          <p:cNvSpPr/>
          <p:nvPr/>
        </p:nvSpPr>
        <p:spPr>
          <a:xfrm>
            <a:off x="2804607" y="4536677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Cruz 39">
            <a:extLst>
              <a:ext uri="{FF2B5EF4-FFF2-40B4-BE49-F238E27FC236}">
                <a16:creationId xmlns:a16="http://schemas.microsoft.com/office/drawing/2014/main" id="{A6AB53F1-7123-31B2-E94E-6AEF94E75AE5}"/>
              </a:ext>
            </a:extLst>
          </p:cNvPr>
          <p:cNvSpPr/>
          <p:nvPr/>
        </p:nvSpPr>
        <p:spPr>
          <a:xfrm>
            <a:off x="2472363" y="5580525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Cruz 40">
            <a:extLst>
              <a:ext uri="{FF2B5EF4-FFF2-40B4-BE49-F238E27FC236}">
                <a16:creationId xmlns:a16="http://schemas.microsoft.com/office/drawing/2014/main" id="{7C6984A5-038A-793E-D436-347C0D664505}"/>
              </a:ext>
            </a:extLst>
          </p:cNvPr>
          <p:cNvSpPr/>
          <p:nvPr/>
        </p:nvSpPr>
        <p:spPr>
          <a:xfrm>
            <a:off x="2991212" y="5440992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Cruz 41">
            <a:extLst>
              <a:ext uri="{FF2B5EF4-FFF2-40B4-BE49-F238E27FC236}">
                <a16:creationId xmlns:a16="http://schemas.microsoft.com/office/drawing/2014/main" id="{9072F85F-29EA-6493-FC42-128A604B5D68}"/>
              </a:ext>
            </a:extLst>
          </p:cNvPr>
          <p:cNvSpPr/>
          <p:nvPr/>
        </p:nvSpPr>
        <p:spPr>
          <a:xfrm>
            <a:off x="2709702" y="5936936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Cruz 43">
            <a:extLst>
              <a:ext uri="{FF2B5EF4-FFF2-40B4-BE49-F238E27FC236}">
                <a16:creationId xmlns:a16="http://schemas.microsoft.com/office/drawing/2014/main" id="{590965E0-6BC3-07FA-3A6C-9FADEA13C02F}"/>
              </a:ext>
            </a:extLst>
          </p:cNvPr>
          <p:cNvSpPr/>
          <p:nvPr/>
        </p:nvSpPr>
        <p:spPr>
          <a:xfrm>
            <a:off x="3434625" y="5130558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Cruz 44">
            <a:extLst>
              <a:ext uri="{FF2B5EF4-FFF2-40B4-BE49-F238E27FC236}">
                <a16:creationId xmlns:a16="http://schemas.microsoft.com/office/drawing/2014/main" id="{00ECF037-41B0-F56A-CE03-78EC47D03588}"/>
              </a:ext>
            </a:extLst>
          </p:cNvPr>
          <p:cNvSpPr/>
          <p:nvPr/>
        </p:nvSpPr>
        <p:spPr>
          <a:xfrm>
            <a:off x="2395620" y="4403987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Cruz 57">
            <a:extLst>
              <a:ext uri="{FF2B5EF4-FFF2-40B4-BE49-F238E27FC236}">
                <a16:creationId xmlns:a16="http://schemas.microsoft.com/office/drawing/2014/main" id="{70FFE07D-1ED3-6730-ED41-02AC6FD12CB7}"/>
              </a:ext>
            </a:extLst>
          </p:cNvPr>
          <p:cNvSpPr/>
          <p:nvPr/>
        </p:nvSpPr>
        <p:spPr>
          <a:xfrm>
            <a:off x="3166902" y="6293609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Cruz 66">
            <a:extLst>
              <a:ext uri="{FF2B5EF4-FFF2-40B4-BE49-F238E27FC236}">
                <a16:creationId xmlns:a16="http://schemas.microsoft.com/office/drawing/2014/main" id="{751103E3-8FCD-315F-4DD2-B88982A69097}"/>
              </a:ext>
            </a:extLst>
          </p:cNvPr>
          <p:cNvSpPr/>
          <p:nvPr/>
        </p:nvSpPr>
        <p:spPr>
          <a:xfrm>
            <a:off x="3628144" y="5784711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Cruz 67">
            <a:extLst>
              <a:ext uri="{FF2B5EF4-FFF2-40B4-BE49-F238E27FC236}">
                <a16:creationId xmlns:a16="http://schemas.microsoft.com/office/drawing/2014/main" id="{1C3FB57A-71BB-82E5-E829-63E55952209B}"/>
              </a:ext>
            </a:extLst>
          </p:cNvPr>
          <p:cNvSpPr/>
          <p:nvPr/>
        </p:nvSpPr>
        <p:spPr>
          <a:xfrm>
            <a:off x="2796823" y="4871400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2" name="Cruz 71">
            <a:extLst>
              <a:ext uri="{FF2B5EF4-FFF2-40B4-BE49-F238E27FC236}">
                <a16:creationId xmlns:a16="http://schemas.microsoft.com/office/drawing/2014/main" id="{B23131E1-0251-F255-1D75-9B75063DB42A}"/>
              </a:ext>
            </a:extLst>
          </p:cNvPr>
          <p:cNvSpPr/>
          <p:nvPr/>
        </p:nvSpPr>
        <p:spPr>
          <a:xfrm>
            <a:off x="2503620" y="4755515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Cruz 72">
            <a:extLst>
              <a:ext uri="{FF2B5EF4-FFF2-40B4-BE49-F238E27FC236}">
                <a16:creationId xmlns:a16="http://schemas.microsoft.com/office/drawing/2014/main" id="{DB6DB558-C0D0-5B60-34A1-1468998AA351}"/>
              </a:ext>
            </a:extLst>
          </p:cNvPr>
          <p:cNvSpPr/>
          <p:nvPr/>
        </p:nvSpPr>
        <p:spPr>
          <a:xfrm>
            <a:off x="4517491" y="5017074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7AB2F3D6-7105-E48B-44BA-CE7A6C0FAFC9}"/>
              </a:ext>
            </a:extLst>
          </p:cNvPr>
          <p:cNvSpPr/>
          <p:nvPr/>
        </p:nvSpPr>
        <p:spPr>
          <a:xfrm>
            <a:off x="1249234" y="2800673"/>
            <a:ext cx="2340000" cy="2340000"/>
          </a:xfrm>
          <a:prstGeom prst="ellipse">
            <a:avLst/>
          </a:prstGeom>
          <a:noFill/>
          <a:ln w="444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8F8476AE-F6FC-314D-AB9D-3C44927A3D7C}"/>
              </a:ext>
            </a:extLst>
          </p:cNvPr>
          <p:cNvSpPr/>
          <p:nvPr/>
        </p:nvSpPr>
        <p:spPr>
          <a:xfrm>
            <a:off x="5366592" y="2819683"/>
            <a:ext cx="6472352" cy="167446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Voto ponderado por distancia.</a:t>
            </a: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Una alternativa pasa por ponderar cada voto según la inversa de la distancia al punto a clasificar. Así los puntos más próximos entre los k tienen más importancia.</a:t>
            </a: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0CF50360-B9DE-BDE9-195A-8568BC658DE3}"/>
              </a:ext>
            </a:extLst>
          </p:cNvPr>
          <p:cNvSpPr/>
          <p:nvPr/>
        </p:nvSpPr>
        <p:spPr>
          <a:xfrm>
            <a:off x="5374424" y="4575061"/>
            <a:ext cx="6472352" cy="171854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Voto </a:t>
            </a:r>
            <a:r>
              <a:rPr lang="es-ES" sz="2000" b="1" dirty="0" smtClean="0">
                <a:solidFill>
                  <a:schemeClr val="accent1">
                    <a:lumMod val="50000"/>
                  </a:schemeClr>
                </a:solidFill>
              </a:rPr>
              <a:t>ponderado </a:t>
            </a:r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por </a:t>
            </a:r>
            <a:r>
              <a:rPr lang="es-ES" sz="2000" b="1" dirty="0" smtClean="0">
                <a:solidFill>
                  <a:schemeClr val="accent1">
                    <a:lumMod val="50000"/>
                  </a:schemeClr>
                </a:solidFill>
              </a:rPr>
              <a:t>probabilidad de clase.</a:t>
            </a:r>
            <a:endParaRPr lang="es-E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Si una clase está sobrerrepresentada, podemos ajustar los votos de los vecinos de esa clase para no favorecerla injustamente solo porque tiene más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elementos.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5CAA747F-0F03-4E53-DD40-94DB509C8EEF}"/>
              </a:ext>
            </a:extLst>
          </p:cNvPr>
          <p:cNvSpPr/>
          <p:nvPr/>
        </p:nvSpPr>
        <p:spPr>
          <a:xfrm>
            <a:off x="9502280" y="2373217"/>
            <a:ext cx="216000" cy="21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000" dirty="0"/>
              <a:t>¿?</a:t>
            </a:r>
          </a:p>
        </p:txBody>
      </p:sp>
      <p:sp>
        <p:nvSpPr>
          <p:cNvPr id="39" name="Flecha: a la derecha 38">
            <a:extLst>
              <a:ext uri="{FF2B5EF4-FFF2-40B4-BE49-F238E27FC236}">
                <a16:creationId xmlns:a16="http://schemas.microsoft.com/office/drawing/2014/main" id="{6A90F83D-A7FB-3536-BCA0-B33167712C43}"/>
              </a:ext>
            </a:extLst>
          </p:cNvPr>
          <p:cNvSpPr/>
          <p:nvPr/>
        </p:nvSpPr>
        <p:spPr>
          <a:xfrm>
            <a:off x="9858708" y="2427003"/>
            <a:ext cx="231228" cy="1070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6619CF35-AA2D-2503-C5CE-3590EAD05B67}"/>
              </a:ext>
            </a:extLst>
          </p:cNvPr>
          <p:cNvSpPr/>
          <p:nvPr/>
        </p:nvSpPr>
        <p:spPr>
          <a:xfrm>
            <a:off x="10230364" y="2424975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EBEDCC0-7067-BD3F-3900-9965D9CF89BC}"/>
              </a:ext>
            </a:extLst>
          </p:cNvPr>
          <p:cNvSpPr/>
          <p:nvPr/>
        </p:nvSpPr>
        <p:spPr>
          <a:xfrm>
            <a:off x="6176632" y="2424975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DE0CDA2-0394-0E74-D2B0-0F252F93EF4A}"/>
              </a:ext>
            </a:extLst>
          </p:cNvPr>
          <p:cNvSpPr txBox="1"/>
          <p:nvPr/>
        </p:nvSpPr>
        <p:spPr>
          <a:xfrm>
            <a:off x="6318132" y="230969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49" name="Triángulo isósceles 48">
            <a:extLst>
              <a:ext uri="{FF2B5EF4-FFF2-40B4-BE49-F238E27FC236}">
                <a16:creationId xmlns:a16="http://schemas.microsoft.com/office/drawing/2014/main" id="{49CD9C92-27F4-D70D-A7DC-70C346A8DB5B}"/>
              </a:ext>
            </a:extLst>
          </p:cNvPr>
          <p:cNvSpPr/>
          <p:nvPr/>
        </p:nvSpPr>
        <p:spPr>
          <a:xfrm>
            <a:off x="6779850" y="2424975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CD5B57B-B0EE-D0E2-5537-A57E552DEED6}"/>
              </a:ext>
            </a:extLst>
          </p:cNvPr>
          <p:cNvSpPr txBox="1"/>
          <p:nvPr/>
        </p:nvSpPr>
        <p:spPr>
          <a:xfrm>
            <a:off x="6911671" y="230969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51" name="Cruz 50">
            <a:extLst>
              <a:ext uri="{FF2B5EF4-FFF2-40B4-BE49-F238E27FC236}">
                <a16:creationId xmlns:a16="http://schemas.microsoft.com/office/drawing/2014/main" id="{26D5D47C-6F7D-B746-E877-898DA0B719E8}"/>
              </a:ext>
            </a:extLst>
          </p:cNvPr>
          <p:cNvSpPr/>
          <p:nvPr/>
        </p:nvSpPr>
        <p:spPr>
          <a:xfrm>
            <a:off x="7427498" y="2424975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301ED21-AE22-155A-B28E-ED471D733194}"/>
              </a:ext>
            </a:extLst>
          </p:cNvPr>
          <p:cNvSpPr txBox="1"/>
          <p:nvPr/>
        </p:nvSpPr>
        <p:spPr>
          <a:xfrm>
            <a:off x="7568186" y="230969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D63FB0EA-D12B-45D8-E05D-436D8BFF7804}"/>
              </a:ext>
            </a:extLst>
          </p:cNvPr>
          <p:cNvSpPr/>
          <p:nvPr/>
        </p:nvSpPr>
        <p:spPr>
          <a:xfrm>
            <a:off x="9523302" y="4117431"/>
            <a:ext cx="216000" cy="21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000" dirty="0"/>
              <a:t>¿?</a:t>
            </a:r>
          </a:p>
        </p:txBody>
      </p:sp>
      <p:sp>
        <p:nvSpPr>
          <p:cNvPr id="54" name="Flecha: a la derecha 53">
            <a:extLst>
              <a:ext uri="{FF2B5EF4-FFF2-40B4-BE49-F238E27FC236}">
                <a16:creationId xmlns:a16="http://schemas.microsoft.com/office/drawing/2014/main" id="{F26A9A9C-3048-9BEE-D5DB-522D7FA02575}"/>
              </a:ext>
            </a:extLst>
          </p:cNvPr>
          <p:cNvSpPr/>
          <p:nvPr/>
        </p:nvSpPr>
        <p:spPr>
          <a:xfrm>
            <a:off x="9879730" y="4171217"/>
            <a:ext cx="231228" cy="1070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5EBE1076-C2CE-123E-ECB0-A6CC931806B0}"/>
              </a:ext>
            </a:extLst>
          </p:cNvPr>
          <p:cNvSpPr/>
          <p:nvPr/>
        </p:nvSpPr>
        <p:spPr>
          <a:xfrm>
            <a:off x="6218674" y="4169189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A3171B0-441E-52CC-F0EB-F5936E2293EB}"/>
              </a:ext>
            </a:extLst>
          </p:cNvPr>
          <p:cNvSpPr txBox="1"/>
          <p:nvPr/>
        </p:nvSpPr>
        <p:spPr>
          <a:xfrm>
            <a:off x="6360174" y="405391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69" name="Triángulo isósceles 68">
            <a:extLst>
              <a:ext uri="{FF2B5EF4-FFF2-40B4-BE49-F238E27FC236}">
                <a16:creationId xmlns:a16="http://schemas.microsoft.com/office/drawing/2014/main" id="{EFB494EC-3A53-08D1-AE0D-487EBEC5A716}"/>
              </a:ext>
            </a:extLst>
          </p:cNvPr>
          <p:cNvSpPr/>
          <p:nvPr/>
        </p:nvSpPr>
        <p:spPr>
          <a:xfrm>
            <a:off x="6821892" y="4169189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6F1DBD4A-8E73-C370-4ED6-D074900F685F}"/>
              </a:ext>
            </a:extLst>
          </p:cNvPr>
          <p:cNvSpPr txBox="1"/>
          <p:nvPr/>
        </p:nvSpPr>
        <p:spPr>
          <a:xfrm>
            <a:off x="6953713" y="405391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83" name="Cruz 82">
            <a:extLst>
              <a:ext uri="{FF2B5EF4-FFF2-40B4-BE49-F238E27FC236}">
                <a16:creationId xmlns:a16="http://schemas.microsoft.com/office/drawing/2014/main" id="{799EFA30-E650-DFD5-98BF-713BAC309A22}"/>
              </a:ext>
            </a:extLst>
          </p:cNvPr>
          <p:cNvSpPr/>
          <p:nvPr/>
        </p:nvSpPr>
        <p:spPr>
          <a:xfrm>
            <a:off x="7469540" y="4169189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DCE4F800-A7B2-6C98-DE64-2D7C64FDF519}"/>
              </a:ext>
            </a:extLst>
          </p:cNvPr>
          <p:cNvSpPr txBox="1"/>
          <p:nvPr/>
        </p:nvSpPr>
        <p:spPr>
          <a:xfrm>
            <a:off x="7610228" y="405391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5" name="Triángulo isósceles 84">
            <a:extLst>
              <a:ext uri="{FF2B5EF4-FFF2-40B4-BE49-F238E27FC236}">
                <a16:creationId xmlns:a16="http://schemas.microsoft.com/office/drawing/2014/main" id="{C6309F01-66ED-9A3B-8B1F-A3BDC19EE03B}"/>
              </a:ext>
            </a:extLst>
          </p:cNvPr>
          <p:cNvSpPr/>
          <p:nvPr/>
        </p:nvSpPr>
        <p:spPr>
          <a:xfrm>
            <a:off x="10230364" y="4163438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BDC656E7-77AE-F7D9-3E92-6CBA961E74F3}"/>
              </a:ext>
            </a:extLst>
          </p:cNvPr>
          <p:cNvSpPr/>
          <p:nvPr/>
        </p:nvSpPr>
        <p:spPr>
          <a:xfrm>
            <a:off x="6219621" y="5899988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C07B7AA5-9026-C536-283F-F5C809B1B27F}"/>
                  </a:ext>
                </a:extLst>
              </p:cNvPr>
              <p:cNvSpPr txBox="1"/>
              <p:nvPr/>
            </p:nvSpPr>
            <p:spPr>
              <a:xfrm>
                <a:off x="5896094" y="5798624"/>
                <a:ext cx="41302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es-ES" sz="1600" b="0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s-ES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s-ES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es-ES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s-ES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s-ES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es-ES" sz="16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s-E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C07B7AA5-9026-C536-283F-F5C809B1B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094" y="5798624"/>
                <a:ext cx="4130298" cy="338554"/>
              </a:xfrm>
              <a:prstGeom prst="rect">
                <a:avLst/>
              </a:prstGeom>
              <a:blipFill>
                <a:blip r:embed="rId3"/>
                <a:stretch>
                  <a:fillRect t="-101786" r="-5162" b="-16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riángulo isósceles 87">
            <a:extLst>
              <a:ext uri="{FF2B5EF4-FFF2-40B4-BE49-F238E27FC236}">
                <a16:creationId xmlns:a16="http://schemas.microsoft.com/office/drawing/2014/main" id="{7B1AD994-2C86-B89C-4645-D0DEA5138882}"/>
              </a:ext>
            </a:extLst>
          </p:cNvPr>
          <p:cNvSpPr/>
          <p:nvPr/>
        </p:nvSpPr>
        <p:spPr>
          <a:xfrm>
            <a:off x="7590177" y="5882936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1" name="Cruz 90">
            <a:extLst>
              <a:ext uri="{FF2B5EF4-FFF2-40B4-BE49-F238E27FC236}">
                <a16:creationId xmlns:a16="http://schemas.microsoft.com/office/drawing/2014/main" id="{5D0D0A3B-3D35-AA64-5507-8474AC06E3FF}"/>
              </a:ext>
            </a:extLst>
          </p:cNvPr>
          <p:cNvSpPr/>
          <p:nvPr/>
        </p:nvSpPr>
        <p:spPr>
          <a:xfrm>
            <a:off x="8878296" y="5902500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9D8D4E05-0D83-5774-BF96-CE699BDCEB32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B6AC0582-9E0F-1424-1856-3B961BF359B3}"/>
              </a:ext>
            </a:extLst>
          </p:cNvPr>
          <p:cNvSpPr txBox="1"/>
          <p:nvPr/>
        </p:nvSpPr>
        <p:spPr>
          <a:xfrm>
            <a:off x="409402" y="82680"/>
            <a:ext cx="4586064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Reglas de decisión en k-NN.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D63FB0EA-D12B-45D8-E05D-436D8BFF7804}"/>
              </a:ext>
            </a:extLst>
          </p:cNvPr>
          <p:cNvSpPr/>
          <p:nvPr/>
        </p:nvSpPr>
        <p:spPr>
          <a:xfrm>
            <a:off x="10285950" y="5829150"/>
            <a:ext cx="216000" cy="21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000" dirty="0"/>
              <a:t>¿?</a:t>
            </a:r>
          </a:p>
        </p:txBody>
      </p:sp>
      <p:sp>
        <p:nvSpPr>
          <p:cNvPr id="75" name="Flecha: a la derecha 53">
            <a:extLst>
              <a:ext uri="{FF2B5EF4-FFF2-40B4-BE49-F238E27FC236}">
                <a16:creationId xmlns:a16="http://schemas.microsoft.com/office/drawing/2014/main" id="{F26A9A9C-3048-9BEE-D5DB-522D7FA02575}"/>
              </a:ext>
            </a:extLst>
          </p:cNvPr>
          <p:cNvSpPr/>
          <p:nvPr/>
        </p:nvSpPr>
        <p:spPr>
          <a:xfrm>
            <a:off x="10642378" y="5882936"/>
            <a:ext cx="231228" cy="1070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8" name="Triángulo isósceles 77">
            <a:extLst>
              <a:ext uri="{FF2B5EF4-FFF2-40B4-BE49-F238E27FC236}">
                <a16:creationId xmlns:a16="http://schemas.microsoft.com/office/drawing/2014/main" id="{C6309F01-66ED-9A3B-8B1F-A3BDC19EE03B}"/>
              </a:ext>
            </a:extLst>
          </p:cNvPr>
          <p:cNvSpPr/>
          <p:nvPr/>
        </p:nvSpPr>
        <p:spPr>
          <a:xfrm>
            <a:off x="10993012" y="5875157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063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993CC0-FDBD-26F4-7B73-31310041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CD0F828-D647-D3C2-B83B-EF08CFF93E6B}"/>
              </a:ext>
            </a:extLst>
          </p:cNvPr>
          <p:cNvSpPr/>
          <p:nvPr/>
        </p:nvSpPr>
        <p:spPr>
          <a:xfrm>
            <a:off x="2323200" y="388344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C38E4A2-AFC2-361D-D0A5-68CAE41C115F}"/>
              </a:ext>
            </a:extLst>
          </p:cNvPr>
          <p:cNvSpPr/>
          <p:nvPr/>
        </p:nvSpPr>
        <p:spPr>
          <a:xfrm>
            <a:off x="1299146" y="3017613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C4BA023-5872-052A-0787-1F5B0928EE94}"/>
              </a:ext>
            </a:extLst>
          </p:cNvPr>
          <p:cNvSpPr/>
          <p:nvPr/>
        </p:nvSpPr>
        <p:spPr>
          <a:xfrm>
            <a:off x="2402527" y="2319949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4B07D62-0A05-4807-E660-1780ACCC736D}"/>
              </a:ext>
            </a:extLst>
          </p:cNvPr>
          <p:cNvSpPr/>
          <p:nvPr/>
        </p:nvSpPr>
        <p:spPr>
          <a:xfrm>
            <a:off x="1807612" y="2393982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E2DA17C-DE4C-6374-4509-A678B4BE8E39}"/>
              </a:ext>
            </a:extLst>
          </p:cNvPr>
          <p:cNvSpPr/>
          <p:nvPr/>
        </p:nvSpPr>
        <p:spPr>
          <a:xfrm>
            <a:off x="1714508" y="2710673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599BB14-F55A-6451-AA34-2C6B663B8C50}"/>
              </a:ext>
            </a:extLst>
          </p:cNvPr>
          <p:cNvSpPr/>
          <p:nvPr/>
        </p:nvSpPr>
        <p:spPr>
          <a:xfrm>
            <a:off x="838200" y="3216461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630D9D3-C9DB-3F29-B9E7-C46F6AF70C17}"/>
              </a:ext>
            </a:extLst>
          </p:cNvPr>
          <p:cNvSpPr/>
          <p:nvPr/>
        </p:nvSpPr>
        <p:spPr>
          <a:xfrm>
            <a:off x="2091703" y="3775445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519BB8E-3EC9-FF35-AD96-A8F17895C2F4}"/>
              </a:ext>
            </a:extLst>
          </p:cNvPr>
          <p:cNvSpPr/>
          <p:nvPr/>
        </p:nvSpPr>
        <p:spPr>
          <a:xfrm>
            <a:off x="2039267" y="3122458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Triángulo isósceles 19">
            <a:extLst>
              <a:ext uri="{FF2B5EF4-FFF2-40B4-BE49-F238E27FC236}">
                <a16:creationId xmlns:a16="http://schemas.microsoft.com/office/drawing/2014/main" id="{9B715538-DFCE-627A-EFD3-B1FD3CE85500}"/>
              </a:ext>
            </a:extLst>
          </p:cNvPr>
          <p:cNvSpPr/>
          <p:nvPr/>
        </p:nvSpPr>
        <p:spPr>
          <a:xfrm>
            <a:off x="3682144" y="2909613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Triángulo isósceles 20">
            <a:extLst>
              <a:ext uri="{FF2B5EF4-FFF2-40B4-BE49-F238E27FC236}">
                <a16:creationId xmlns:a16="http://schemas.microsoft.com/office/drawing/2014/main" id="{8AA53474-B5D6-CE7D-4C53-308F60920A84}"/>
              </a:ext>
            </a:extLst>
          </p:cNvPr>
          <p:cNvSpPr/>
          <p:nvPr/>
        </p:nvSpPr>
        <p:spPr>
          <a:xfrm>
            <a:off x="2913612" y="2319003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Triángulo isósceles 21">
            <a:extLst>
              <a:ext uri="{FF2B5EF4-FFF2-40B4-BE49-F238E27FC236}">
                <a16:creationId xmlns:a16="http://schemas.microsoft.com/office/drawing/2014/main" id="{AD49A8E3-A6B6-56D2-1CF2-8182F76A1484}"/>
              </a:ext>
            </a:extLst>
          </p:cNvPr>
          <p:cNvSpPr/>
          <p:nvPr/>
        </p:nvSpPr>
        <p:spPr>
          <a:xfrm>
            <a:off x="2889941" y="3450007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Triángulo isósceles 22">
            <a:extLst>
              <a:ext uri="{FF2B5EF4-FFF2-40B4-BE49-F238E27FC236}">
                <a16:creationId xmlns:a16="http://schemas.microsoft.com/office/drawing/2014/main" id="{F8FE962A-B75D-3D5E-FB79-9A44D8C7BE6C}"/>
              </a:ext>
            </a:extLst>
          </p:cNvPr>
          <p:cNvSpPr/>
          <p:nvPr/>
        </p:nvSpPr>
        <p:spPr>
          <a:xfrm>
            <a:off x="2482484" y="3307957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riángulo isósceles 23">
            <a:extLst>
              <a:ext uri="{FF2B5EF4-FFF2-40B4-BE49-F238E27FC236}">
                <a16:creationId xmlns:a16="http://schemas.microsoft.com/office/drawing/2014/main" id="{4B0FCFF5-A5F4-D7D3-F2CB-202A0D803CC1}"/>
              </a:ext>
            </a:extLst>
          </p:cNvPr>
          <p:cNvSpPr/>
          <p:nvPr/>
        </p:nvSpPr>
        <p:spPr>
          <a:xfrm>
            <a:off x="2808972" y="2621165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Triángulo isósceles 24">
            <a:extLst>
              <a:ext uri="{FF2B5EF4-FFF2-40B4-BE49-F238E27FC236}">
                <a16:creationId xmlns:a16="http://schemas.microsoft.com/office/drawing/2014/main" id="{3E47CCAC-F042-37F3-C3CF-EF1D338292F7}"/>
              </a:ext>
            </a:extLst>
          </p:cNvPr>
          <p:cNvSpPr/>
          <p:nvPr/>
        </p:nvSpPr>
        <p:spPr>
          <a:xfrm>
            <a:off x="4634882" y="4277340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Triángulo isósceles 25">
            <a:extLst>
              <a:ext uri="{FF2B5EF4-FFF2-40B4-BE49-F238E27FC236}">
                <a16:creationId xmlns:a16="http://schemas.microsoft.com/office/drawing/2014/main" id="{B1265794-D40E-7516-5ED2-BD3712A4078F}"/>
              </a:ext>
            </a:extLst>
          </p:cNvPr>
          <p:cNvSpPr/>
          <p:nvPr/>
        </p:nvSpPr>
        <p:spPr>
          <a:xfrm>
            <a:off x="3730268" y="3837235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Triángulo isósceles 26">
            <a:extLst>
              <a:ext uri="{FF2B5EF4-FFF2-40B4-BE49-F238E27FC236}">
                <a16:creationId xmlns:a16="http://schemas.microsoft.com/office/drawing/2014/main" id="{2AB8B16D-77F2-B795-71B8-19B710487B17}"/>
              </a:ext>
            </a:extLst>
          </p:cNvPr>
          <p:cNvSpPr/>
          <p:nvPr/>
        </p:nvSpPr>
        <p:spPr>
          <a:xfrm>
            <a:off x="2424734" y="4120174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3931B357-78FE-3E3D-9A8F-E19DEEF4FB8F}"/>
              </a:ext>
            </a:extLst>
          </p:cNvPr>
          <p:cNvSpPr/>
          <p:nvPr/>
        </p:nvSpPr>
        <p:spPr>
          <a:xfrm>
            <a:off x="3928925" y="3545136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Triángulo isósceles 28">
            <a:extLst>
              <a:ext uri="{FF2B5EF4-FFF2-40B4-BE49-F238E27FC236}">
                <a16:creationId xmlns:a16="http://schemas.microsoft.com/office/drawing/2014/main" id="{986CDADC-2651-E053-549F-B633C0FEB976}"/>
              </a:ext>
            </a:extLst>
          </p:cNvPr>
          <p:cNvSpPr/>
          <p:nvPr/>
        </p:nvSpPr>
        <p:spPr>
          <a:xfrm>
            <a:off x="2912706" y="4086781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Triángulo isósceles 29">
            <a:extLst>
              <a:ext uri="{FF2B5EF4-FFF2-40B4-BE49-F238E27FC236}">
                <a16:creationId xmlns:a16="http://schemas.microsoft.com/office/drawing/2014/main" id="{FEA30922-F22F-4924-2D26-92A5D4400A97}"/>
              </a:ext>
            </a:extLst>
          </p:cNvPr>
          <p:cNvSpPr/>
          <p:nvPr/>
        </p:nvSpPr>
        <p:spPr>
          <a:xfrm>
            <a:off x="3045212" y="4235398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Triángulo isósceles 30">
            <a:extLst>
              <a:ext uri="{FF2B5EF4-FFF2-40B4-BE49-F238E27FC236}">
                <a16:creationId xmlns:a16="http://schemas.microsoft.com/office/drawing/2014/main" id="{ADA31875-1774-E0BB-B9F0-8DC98C5ED154}"/>
              </a:ext>
            </a:extLst>
          </p:cNvPr>
          <p:cNvSpPr/>
          <p:nvPr/>
        </p:nvSpPr>
        <p:spPr>
          <a:xfrm>
            <a:off x="3511933" y="4734540"/>
            <a:ext cx="108000" cy="108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F71DE843-D58F-8472-9903-CF089813D76E}"/>
              </a:ext>
            </a:extLst>
          </p:cNvPr>
          <p:cNvSpPr txBox="1"/>
          <p:nvPr/>
        </p:nvSpPr>
        <p:spPr>
          <a:xfrm>
            <a:off x="6515801" y="4585471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13 NN: </a:t>
            </a:r>
          </a:p>
        </p:txBody>
      </p:sp>
      <p:sp>
        <p:nvSpPr>
          <p:cNvPr id="60" name="Triángulo isósceles 59">
            <a:extLst>
              <a:ext uri="{FF2B5EF4-FFF2-40B4-BE49-F238E27FC236}">
                <a16:creationId xmlns:a16="http://schemas.microsoft.com/office/drawing/2014/main" id="{E8254E38-A0E5-7B02-0F18-AA16DBFC855E}"/>
              </a:ext>
            </a:extLst>
          </p:cNvPr>
          <p:cNvSpPr/>
          <p:nvPr/>
        </p:nvSpPr>
        <p:spPr>
          <a:xfrm>
            <a:off x="7590903" y="4690128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Triángulo isósceles 60">
            <a:extLst>
              <a:ext uri="{FF2B5EF4-FFF2-40B4-BE49-F238E27FC236}">
                <a16:creationId xmlns:a16="http://schemas.microsoft.com/office/drawing/2014/main" id="{388ED6BC-BBFF-13A4-5DB2-2884B1AA7CB0}"/>
              </a:ext>
            </a:extLst>
          </p:cNvPr>
          <p:cNvSpPr/>
          <p:nvPr/>
        </p:nvSpPr>
        <p:spPr>
          <a:xfrm>
            <a:off x="7778119" y="4690128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2" name="Triángulo isósceles 61">
            <a:extLst>
              <a:ext uri="{FF2B5EF4-FFF2-40B4-BE49-F238E27FC236}">
                <a16:creationId xmlns:a16="http://schemas.microsoft.com/office/drawing/2014/main" id="{05C83F16-FA83-BF55-C34A-CAD6DC43BBB9}"/>
              </a:ext>
            </a:extLst>
          </p:cNvPr>
          <p:cNvSpPr/>
          <p:nvPr/>
        </p:nvSpPr>
        <p:spPr>
          <a:xfrm>
            <a:off x="7964545" y="4685709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5B91B362-4903-0532-6D38-EB136F823220}"/>
              </a:ext>
            </a:extLst>
          </p:cNvPr>
          <p:cNvSpPr/>
          <p:nvPr/>
        </p:nvSpPr>
        <p:spPr>
          <a:xfrm>
            <a:off x="8903704" y="4682854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1769C9A5-66C5-749B-410E-D50C611BBE84}"/>
              </a:ext>
            </a:extLst>
          </p:cNvPr>
          <p:cNvSpPr/>
          <p:nvPr/>
        </p:nvSpPr>
        <p:spPr>
          <a:xfrm>
            <a:off x="9087752" y="4685217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Triángulo isósceles 64">
            <a:extLst>
              <a:ext uri="{FF2B5EF4-FFF2-40B4-BE49-F238E27FC236}">
                <a16:creationId xmlns:a16="http://schemas.microsoft.com/office/drawing/2014/main" id="{C12A9171-EECC-B292-6014-62E90D7A13E5}"/>
              </a:ext>
            </a:extLst>
          </p:cNvPr>
          <p:cNvSpPr/>
          <p:nvPr/>
        </p:nvSpPr>
        <p:spPr>
          <a:xfrm>
            <a:off x="8152474" y="4690128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Triángulo isósceles 65">
            <a:extLst>
              <a:ext uri="{FF2B5EF4-FFF2-40B4-BE49-F238E27FC236}">
                <a16:creationId xmlns:a16="http://schemas.microsoft.com/office/drawing/2014/main" id="{3D4AF148-F620-EFB1-5ADD-B55E70EC8F8A}"/>
              </a:ext>
            </a:extLst>
          </p:cNvPr>
          <p:cNvSpPr/>
          <p:nvPr/>
        </p:nvSpPr>
        <p:spPr>
          <a:xfrm>
            <a:off x="8346014" y="4683620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Cruz 69">
            <a:extLst>
              <a:ext uri="{FF2B5EF4-FFF2-40B4-BE49-F238E27FC236}">
                <a16:creationId xmlns:a16="http://schemas.microsoft.com/office/drawing/2014/main" id="{F01C7B55-B144-B1F2-1ADB-A27B10EF02E4}"/>
              </a:ext>
            </a:extLst>
          </p:cNvPr>
          <p:cNvSpPr/>
          <p:nvPr/>
        </p:nvSpPr>
        <p:spPr>
          <a:xfrm>
            <a:off x="9450682" y="4682490"/>
            <a:ext cx="144000" cy="144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Cruz 70">
            <a:extLst>
              <a:ext uri="{FF2B5EF4-FFF2-40B4-BE49-F238E27FC236}">
                <a16:creationId xmlns:a16="http://schemas.microsoft.com/office/drawing/2014/main" id="{BBABF5A7-0EC1-F304-4DE2-1C592077FBEB}"/>
              </a:ext>
            </a:extLst>
          </p:cNvPr>
          <p:cNvSpPr/>
          <p:nvPr/>
        </p:nvSpPr>
        <p:spPr>
          <a:xfrm>
            <a:off x="9623765" y="4682490"/>
            <a:ext cx="144000" cy="144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0243F11E-0000-F4BC-E421-F1244A80CC8C}"/>
              </a:ext>
            </a:extLst>
          </p:cNvPr>
          <p:cNvSpPr/>
          <p:nvPr/>
        </p:nvSpPr>
        <p:spPr>
          <a:xfrm>
            <a:off x="1931267" y="2077996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8C57FAC-BC09-3A46-0223-D29D05F65536}"/>
              </a:ext>
            </a:extLst>
          </p:cNvPr>
          <p:cNvSpPr/>
          <p:nvPr/>
        </p:nvSpPr>
        <p:spPr>
          <a:xfrm>
            <a:off x="981606" y="2265003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2B365FC7-D0C5-2F88-1E28-1F19EE826B40}"/>
              </a:ext>
            </a:extLst>
          </p:cNvPr>
          <p:cNvSpPr/>
          <p:nvPr/>
        </p:nvSpPr>
        <p:spPr>
          <a:xfrm>
            <a:off x="1306556" y="1743124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4D032AE3-EB42-F001-4943-3FE1FF075BDB}"/>
              </a:ext>
            </a:extLst>
          </p:cNvPr>
          <p:cNvSpPr/>
          <p:nvPr/>
        </p:nvSpPr>
        <p:spPr>
          <a:xfrm>
            <a:off x="1035606" y="3599136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0295159-45EC-5AA8-273B-60DD4AFFF866}"/>
              </a:ext>
            </a:extLst>
          </p:cNvPr>
          <p:cNvSpPr/>
          <p:nvPr/>
        </p:nvSpPr>
        <p:spPr>
          <a:xfrm>
            <a:off x="1325086" y="5093211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8A85BB7-C19B-FC9A-632B-46D02E599A51}"/>
              </a:ext>
            </a:extLst>
          </p:cNvPr>
          <p:cNvSpPr/>
          <p:nvPr/>
        </p:nvSpPr>
        <p:spPr>
          <a:xfrm>
            <a:off x="1868536" y="4709845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FA4D243-C2B4-DBA1-EB1E-6813629D5F5C}"/>
              </a:ext>
            </a:extLst>
          </p:cNvPr>
          <p:cNvSpPr/>
          <p:nvPr/>
        </p:nvSpPr>
        <p:spPr>
          <a:xfrm>
            <a:off x="1775432" y="5026536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760F40-B035-1C39-2041-DAA7C1860091}"/>
              </a:ext>
            </a:extLst>
          </p:cNvPr>
          <p:cNvSpPr/>
          <p:nvPr/>
        </p:nvSpPr>
        <p:spPr>
          <a:xfrm>
            <a:off x="1985267" y="4277340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3BC20B6-B97A-DE50-81CC-4E6C90B0E469}"/>
              </a:ext>
            </a:extLst>
          </p:cNvPr>
          <p:cNvSpPr/>
          <p:nvPr/>
        </p:nvSpPr>
        <p:spPr>
          <a:xfrm>
            <a:off x="1042530" y="4580866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7D9D6C-0F15-580B-FF99-93077E547EB8}"/>
              </a:ext>
            </a:extLst>
          </p:cNvPr>
          <p:cNvSpPr/>
          <p:nvPr/>
        </p:nvSpPr>
        <p:spPr>
          <a:xfrm>
            <a:off x="1643929" y="3916673"/>
            <a:ext cx="108000" cy="10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Cruz 37">
            <a:extLst>
              <a:ext uri="{FF2B5EF4-FFF2-40B4-BE49-F238E27FC236}">
                <a16:creationId xmlns:a16="http://schemas.microsoft.com/office/drawing/2014/main" id="{A55C3319-3854-20C0-CB99-F288DB696D52}"/>
              </a:ext>
            </a:extLst>
          </p:cNvPr>
          <p:cNvSpPr/>
          <p:nvPr/>
        </p:nvSpPr>
        <p:spPr>
          <a:xfrm>
            <a:off x="2804607" y="4536677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Cruz 39">
            <a:extLst>
              <a:ext uri="{FF2B5EF4-FFF2-40B4-BE49-F238E27FC236}">
                <a16:creationId xmlns:a16="http://schemas.microsoft.com/office/drawing/2014/main" id="{A6AB53F1-7123-31B2-E94E-6AEF94E75AE5}"/>
              </a:ext>
            </a:extLst>
          </p:cNvPr>
          <p:cNvSpPr/>
          <p:nvPr/>
        </p:nvSpPr>
        <p:spPr>
          <a:xfrm>
            <a:off x="2472363" y="5580525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Cruz 40">
            <a:extLst>
              <a:ext uri="{FF2B5EF4-FFF2-40B4-BE49-F238E27FC236}">
                <a16:creationId xmlns:a16="http://schemas.microsoft.com/office/drawing/2014/main" id="{7C6984A5-038A-793E-D436-347C0D664505}"/>
              </a:ext>
            </a:extLst>
          </p:cNvPr>
          <p:cNvSpPr/>
          <p:nvPr/>
        </p:nvSpPr>
        <p:spPr>
          <a:xfrm>
            <a:off x="2991212" y="5440992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Cruz 41">
            <a:extLst>
              <a:ext uri="{FF2B5EF4-FFF2-40B4-BE49-F238E27FC236}">
                <a16:creationId xmlns:a16="http://schemas.microsoft.com/office/drawing/2014/main" id="{9072F85F-29EA-6493-FC42-128A604B5D68}"/>
              </a:ext>
            </a:extLst>
          </p:cNvPr>
          <p:cNvSpPr/>
          <p:nvPr/>
        </p:nvSpPr>
        <p:spPr>
          <a:xfrm>
            <a:off x="2709702" y="5936936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Cruz 43">
            <a:extLst>
              <a:ext uri="{FF2B5EF4-FFF2-40B4-BE49-F238E27FC236}">
                <a16:creationId xmlns:a16="http://schemas.microsoft.com/office/drawing/2014/main" id="{590965E0-6BC3-07FA-3A6C-9FADEA13C02F}"/>
              </a:ext>
            </a:extLst>
          </p:cNvPr>
          <p:cNvSpPr/>
          <p:nvPr/>
        </p:nvSpPr>
        <p:spPr>
          <a:xfrm>
            <a:off x="3434625" y="5130558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Cruz 44">
            <a:extLst>
              <a:ext uri="{FF2B5EF4-FFF2-40B4-BE49-F238E27FC236}">
                <a16:creationId xmlns:a16="http://schemas.microsoft.com/office/drawing/2014/main" id="{00ECF037-41B0-F56A-CE03-78EC47D03588}"/>
              </a:ext>
            </a:extLst>
          </p:cNvPr>
          <p:cNvSpPr/>
          <p:nvPr/>
        </p:nvSpPr>
        <p:spPr>
          <a:xfrm>
            <a:off x="2395620" y="4403987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Cruz 57">
            <a:extLst>
              <a:ext uri="{FF2B5EF4-FFF2-40B4-BE49-F238E27FC236}">
                <a16:creationId xmlns:a16="http://schemas.microsoft.com/office/drawing/2014/main" id="{70FFE07D-1ED3-6730-ED41-02AC6FD12CB7}"/>
              </a:ext>
            </a:extLst>
          </p:cNvPr>
          <p:cNvSpPr/>
          <p:nvPr/>
        </p:nvSpPr>
        <p:spPr>
          <a:xfrm>
            <a:off x="3166902" y="6293609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Cruz 66">
            <a:extLst>
              <a:ext uri="{FF2B5EF4-FFF2-40B4-BE49-F238E27FC236}">
                <a16:creationId xmlns:a16="http://schemas.microsoft.com/office/drawing/2014/main" id="{751103E3-8FCD-315F-4DD2-B88982A69097}"/>
              </a:ext>
            </a:extLst>
          </p:cNvPr>
          <p:cNvSpPr/>
          <p:nvPr/>
        </p:nvSpPr>
        <p:spPr>
          <a:xfrm>
            <a:off x="3628144" y="5784711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Cruz 67">
            <a:extLst>
              <a:ext uri="{FF2B5EF4-FFF2-40B4-BE49-F238E27FC236}">
                <a16:creationId xmlns:a16="http://schemas.microsoft.com/office/drawing/2014/main" id="{1C3FB57A-71BB-82E5-E829-63E55952209B}"/>
              </a:ext>
            </a:extLst>
          </p:cNvPr>
          <p:cNvSpPr/>
          <p:nvPr/>
        </p:nvSpPr>
        <p:spPr>
          <a:xfrm>
            <a:off x="2796823" y="4871400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2" name="Cruz 71">
            <a:extLst>
              <a:ext uri="{FF2B5EF4-FFF2-40B4-BE49-F238E27FC236}">
                <a16:creationId xmlns:a16="http://schemas.microsoft.com/office/drawing/2014/main" id="{B23131E1-0251-F255-1D75-9B75063DB42A}"/>
              </a:ext>
            </a:extLst>
          </p:cNvPr>
          <p:cNvSpPr/>
          <p:nvPr/>
        </p:nvSpPr>
        <p:spPr>
          <a:xfrm>
            <a:off x="3229293" y="5777464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Cruz 72">
            <a:extLst>
              <a:ext uri="{FF2B5EF4-FFF2-40B4-BE49-F238E27FC236}">
                <a16:creationId xmlns:a16="http://schemas.microsoft.com/office/drawing/2014/main" id="{DB6DB558-C0D0-5B60-34A1-1468998AA351}"/>
              </a:ext>
            </a:extLst>
          </p:cNvPr>
          <p:cNvSpPr/>
          <p:nvPr/>
        </p:nvSpPr>
        <p:spPr>
          <a:xfrm>
            <a:off x="4517491" y="5017074"/>
            <a:ext cx="108000" cy="108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768C46BA-33A5-3CAE-786E-0D626E40EC9F}"/>
              </a:ext>
            </a:extLst>
          </p:cNvPr>
          <p:cNvSpPr/>
          <p:nvPr/>
        </p:nvSpPr>
        <p:spPr>
          <a:xfrm>
            <a:off x="8719656" y="4682854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3A1AEB34-724F-65C9-183E-812B85814462}"/>
              </a:ext>
            </a:extLst>
          </p:cNvPr>
          <p:cNvSpPr/>
          <p:nvPr/>
        </p:nvSpPr>
        <p:spPr>
          <a:xfrm>
            <a:off x="8533230" y="4685217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F753C01B-CED0-1FC9-5B74-83721DB8CE7B}"/>
              </a:ext>
            </a:extLst>
          </p:cNvPr>
          <p:cNvSpPr/>
          <p:nvPr/>
        </p:nvSpPr>
        <p:spPr>
          <a:xfrm>
            <a:off x="9271800" y="4682490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1" name="Cruz 80">
            <a:extLst>
              <a:ext uri="{FF2B5EF4-FFF2-40B4-BE49-F238E27FC236}">
                <a16:creationId xmlns:a16="http://schemas.microsoft.com/office/drawing/2014/main" id="{83A05585-43D4-F575-AF65-DF78B57B075D}"/>
              </a:ext>
            </a:extLst>
          </p:cNvPr>
          <p:cNvSpPr/>
          <p:nvPr/>
        </p:nvSpPr>
        <p:spPr>
          <a:xfrm>
            <a:off x="9789977" y="4682490"/>
            <a:ext cx="144000" cy="144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7AB2F3D6-7105-E48B-44BA-CE7A6C0FAFC9}"/>
              </a:ext>
            </a:extLst>
          </p:cNvPr>
          <p:cNvSpPr/>
          <p:nvPr/>
        </p:nvSpPr>
        <p:spPr>
          <a:xfrm>
            <a:off x="1249234" y="2800673"/>
            <a:ext cx="2340000" cy="2340000"/>
          </a:xfrm>
          <a:prstGeom prst="ellipse">
            <a:avLst/>
          </a:prstGeom>
          <a:noFill/>
          <a:ln w="444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BA94D390-F62A-65E1-CFA4-72EEC197B29F}"/>
              </a:ext>
            </a:extLst>
          </p:cNvPr>
          <p:cNvSpPr/>
          <p:nvPr/>
        </p:nvSpPr>
        <p:spPr>
          <a:xfrm>
            <a:off x="1428337" y="2985998"/>
            <a:ext cx="1980000" cy="1980000"/>
          </a:xfrm>
          <a:prstGeom prst="ellipse">
            <a:avLst/>
          </a:prstGeom>
          <a:noFill/>
          <a:ln w="444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4CF58620-F957-D663-D042-83117F994433}"/>
              </a:ext>
            </a:extLst>
          </p:cNvPr>
          <p:cNvSpPr/>
          <p:nvPr/>
        </p:nvSpPr>
        <p:spPr>
          <a:xfrm>
            <a:off x="1529871" y="3089312"/>
            <a:ext cx="1764000" cy="1764000"/>
          </a:xfrm>
          <a:prstGeom prst="ellipse">
            <a:avLst/>
          </a:prstGeom>
          <a:noFill/>
          <a:ln w="444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BF545F7C-DD6E-43E4-EC3A-44948B352F33}"/>
              </a:ext>
            </a:extLst>
          </p:cNvPr>
          <p:cNvSpPr txBox="1"/>
          <p:nvPr/>
        </p:nvSpPr>
        <p:spPr>
          <a:xfrm>
            <a:off x="6515801" y="5009525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12 NN: </a:t>
            </a:r>
          </a:p>
        </p:txBody>
      </p:sp>
      <p:sp>
        <p:nvSpPr>
          <p:cNvPr id="98" name="Triángulo isósceles 97">
            <a:extLst>
              <a:ext uri="{FF2B5EF4-FFF2-40B4-BE49-F238E27FC236}">
                <a16:creationId xmlns:a16="http://schemas.microsoft.com/office/drawing/2014/main" id="{17952B57-6308-7D35-C7A7-EC82FB8977F3}"/>
              </a:ext>
            </a:extLst>
          </p:cNvPr>
          <p:cNvSpPr/>
          <p:nvPr/>
        </p:nvSpPr>
        <p:spPr>
          <a:xfrm>
            <a:off x="7590903" y="5114182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" name="Triángulo isósceles 98">
            <a:extLst>
              <a:ext uri="{FF2B5EF4-FFF2-40B4-BE49-F238E27FC236}">
                <a16:creationId xmlns:a16="http://schemas.microsoft.com/office/drawing/2014/main" id="{9B337348-EA1B-274A-F531-9C0352637D73}"/>
              </a:ext>
            </a:extLst>
          </p:cNvPr>
          <p:cNvSpPr/>
          <p:nvPr/>
        </p:nvSpPr>
        <p:spPr>
          <a:xfrm>
            <a:off x="7778119" y="5114182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0" name="Triángulo isósceles 99">
            <a:extLst>
              <a:ext uri="{FF2B5EF4-FFF2-40B4-BE49-F238E27FC236}">
                <a16:creationId xmlns:a16="http://schemas.microsoft.com/office/drawing/2014/main" id="{EE1D0CF5-D273-AF12-1EDA-F7F3AA1F2E7D}"/>
              </a:ext>
            </a:extLst>
          </p:cNvPr>
          <p:cNvSpPr/>
          <p:nvPr/>
        </p:nvSpPr>
        <p:spPr>
          <a:xfrm>
            <a:off x="7964545" y="5109763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82818C74-BE69-95E4-08DC-35FF7F6D2C1B}"/>
              </a:ext>
            </a:extLst>
          </p:cNvPr>
          <p:cNvSpPr/>
          <p:nvPr/>
        </p:nvSpPr>
        <p:spPr>
          <a:xfrm>
            <a:off x="8903704" y="5106908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EDA6E73F-A37D-CC43-B015-92271840E28E}"/>
              </a:ext>
            </a:extLst>
          </p:cNvPr>
          <p:cNvSpPr/>
          <p:nvPr/>
        </p:nvSpPr>
        <p:spPr>
          <a:xfrm>
            <a:off x="9087752" y="5109271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3" name="Triángulo isósceles 102">
            <a:extLst>
              <a:ext uri="{FF2B5EF4-FFF2-40B4-BE49-F238E27FC236}">
                <a16:creationId xmlns:a16="http://schemas.microsoft.com/office/drawing/2014/main" id="{10533FFA-424D-8893-03BF-FDB80DF8D589}"/>
              </a:ext>
            </a:extLst>
          </p:cNvPr>
          <p:cNvSpPr/>
          <p:nvPr/>
        </p:nvSpPr>
        <p:spPr>
          <a:xfrm>
            <a:off x="8152474" y="5114182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" name="Triángulo isósceles 103">
            <a:extLst>
              <a:ext uri="{FF2B5EF4-FFF2-40B4-BE49-F238E27FC236}">
                <a16:creationId xmlns:a16="http://schemas.microsoft.com/office/drawing/2014/main" id="{6B2BA899-D8B3-03BF-6523-31A38A7C3393}"/>
              </a:ext>
            </a:extLst>
          </p:cNvPr>
          <p:cNvSpPr/>
          <p:nvPr/>
        </p:nvSpPr>
        <p:spPr>
          <a:xfrm>
            <a:off x="8346014" y="5107674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5" name="Cruz 104">
            <a:extLst>
              <a:ext uri="{FF2B5EF4-FFF2-40B4-BE49-F238E27FC236}">
                <a16:creationId xmlns:a16="http://schemas.microsoft.com/office/drawing/2014/main" id="{B23B73A9-295C-8411-B44A-43E4BCDBCF8B}"/>
              </a:ext>
            </a:extLst>
          </p:cNvPr>
          <p:cNvSpPr/>
          <p:nvPr/>
        </p:nvSpPr>
        <p:spPr>
          <a:xfrm>
            <a:off x="9450682" y="5106544"/>
            <a:ext cx="144000" cy="144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6" name="Cruz 105">
            <a:extLst>
              <a:ext uri="{FF2B5EF4-FFF2-40B4-BE49-F238E27FC236}">
                <a16:creationId xmlns:a16="http://schemas.microsoft.com/office/drawing/2014/main" id="{AC0A888C-3641-0660-2521-1F493637C962}"/>
              </a:ext>
            </a:extLst>
          </p:cNvPr>
          <p:cNvSpPr/>
          <p:nvPr/>
        </p:nvSpPr>
        <p:spPr>
          <a:xfrm>
            <a:off x="9623765" y="5106544"/>
            <a:ext cx="144000" cy="144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825C1D55-3BA3-8BB2-ACAA-83077E2416B1}"/>
              </a:ext>
            </a:extLst>
          </p:cNvPr>
          <p:cNvSpPr/>
          <p:nvPr/>
        </p:nvSpPr>
        <p:spPr>
          <a:xfrm>
            <a:off x="8719656" y="5106908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AEAD0CC6-8C85-B036-2A15-C4393494D056}"/>
              </a:ext>
            </a:extLst>
          </p:cNvPr>
          <p:cNvSpPr/>
          <p:nvPr/>
        </p:nvSpPr>
        <p:spPr>
          <a:xfrm>
            <a:off x="8533230" y="5109271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49CB5873-62B6-0C54-B508-3498FC75EB78}"/>
              </a:ext>
            </a:extLst>
          </p:cNvPr>
          <p:cNvSpPr/>
          <p:nvPr/>
        </p:nvSpPr>
        <p:spPr>
          <a:xfrm>
            <a:off x="9271800" y="5106544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3D10CECF-376F-8AC9-1718-94B870B1BD63}"/>
              </a:ext>
            </a:extLst>
          </p:cNvPr>
          <p:cNvSpPr txBox="1"/>
          <p:nvPr/>
        </p:nvSpPr>
        <p:spPr>
          <a:xfrm>
            <a:off x="6515801" y="5415379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11 NN: </a:t>
            </a:r>
          </a:p>
        </p:txBody>
      </p:sp>
      <p:sp>
        <p:nvSpPr>
          <p:cNvPr id="112" name="Triángulo isósceles 111">
            <a:extLst>
              <a:ext uri="{FF2B5EF4-FFF2-40B4-BE49-F238E27FC236}">
                <a16:creationId xmlns:a16="http://schemas.microsoft.com/office/drawing/2014/main" id="{78FE3E1F-A6E4-3B07-7100-0E41ADC3B41A}"/>
              </a:ext>
            </a:extLst>
          </p:cNvPr>
          <p:cNvSpPr/>
          <p:nvPr/>
        </p:nvSpPr>
        <p:spPr>
          <a:xfrm>
            <a:off x="7590903" y="5520036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Triángulo isósceles 112">
            <a:extLst>
              <a:ext uri="{FF2B5EF4-FFF2-40B4-BE49-F238E27FC236}">
                <a16:creationId xmlns:a16="http://schemas.microsoft.com/office/drawing/2014/main" id="{A7498855-72F3-7B2E-FB00-5BF09507A24E}"/>
              </a:ext>
            </a:extLst>
          </p:cNvPr>
          <p:cNvSpPr/>
          <p:nvPr/>
        </p:nvSpPr>
        <p:spPr>
          <a:xfrm>
            <a:off x="7778119" y="5520036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4" name="Triángulo isósceles 113">
            <a:extLst>
              <a:ext uri="{FF2B5EF4-FFF2-40B4-BE49-F238E27FC236}">
                <a16:creationId xmlns:a16="http://schemas.microsoft.com/office/drawing/2014/main" id="{F986BBAD-25A3-6EE9-2635-6AF50FD5AC7C}"/>
              </a:ext>
            </a:extLst>
          </p:cNvPr>
          <p:cNvSpPr/>
          <p:nvPr/>
        </p:nvSpPr>
        <p:spPr>
          <a:xfrm>
            <a:off x="7964545" y="5515617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889874BB-6E75-A487-4BCD-F53BD2D0E273}"/>
              </a:ext>
            </a:extLst>
          </p:cNvPr>
          <p:cNvSpPr/>
          <p:nvPr/>
        </p:nvSpPr>
        <p:spPr>
          <a:xfrm>
            <a:off x="8903704" y="5512762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A9554844-67BC-020E-A7B7-BC9A149D4E2F}"/>
              </a:ext>
            </a:extLst>
          </p:cNvPr>
          <p:cNvSpPr/>
          <p:nvPr/>
        </p:nvSpPr>
        <p:spPr>
          <a:xfrm>
            <a:off x="9087752" y="5515125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7" name="Triángulo isósceles 116">
            <a:extLst>
              <a:ext uri="{FF2B5EF4-FFF2-40B4-BE49-F238E27FC236}">
                <a16:creationId xmlns:a16="http://schemas.microsoft.com/office/drawing/2014/main" id="{5F830884-5AF2-6967-A570-A64736DC6980}"/>
              </a:ext>
            </a:extLst>
          </p:cNvPr>
          <p:cNvSpPr/>
          <p:nvPr/>
        </p:nvSpPr>
        <p:spPr>
          <a:xfrm>
            <a:off x="8152474" y="5520036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" name="Triángulo isósceles 117">
            <a:extLst>
              <a:ext uri="{FF2B5EF4-FFF2-40B4-BE49-F238E27FC236}">
                <a16:creationId xmlns:a16="http://schemas.microsoft.com/office/drawing/2014/main" id="{BAC2322D-927C-43BD-201D-B090BCC5A751}"/>
              </a:ext>
            </a:extLst>
          </p:cNvPr>
          <p:cNvSpPr/>
          <p:nvPr/>
        </p:nvSpPr>
        <p:spPr>
          <a:xfrm>
            <a:off x="8346014" y="5513528"/>
            <a:ext cx="144000" cy="14400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9" name="Cruz 118">
            <a:extLst>
              <a:ext uri="{FF2B5EF4-FFF2-40B4-BE49-F238E27FC236}">
                <a16:creationId xmlns:a16="http://schemas.microsoft.com/office/drawing/2014/main" id="{AEDA46EA-6E98-BD6F-D176-3DF300475E29}"/>
              </a:ext>
            </a:extLst>
          </p:cNvPr>
          <p:cNvSpPr/>
          <p:nvPr/>
        </p:nvSpPr>
        <p:spPr>
          <a:xfrm>
            <a:off x="9450682" y="5512398"/>
            <a:ext cx="144000" cy="144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0" name="Cruz 119">
            <a:extLst>
              <a:ext uri="{FF2B5EF4-FFF2-40B4-BE49-F238E27FC236}">
                <a16:creationId xmlns:a16="http://schemas.microsoft.com/office/drawing/2014/main" id="{541A73C5-E6A8-2A89-CD0A-A48827925835}"/>
              </a:ext>
            </a:extLst>
          </p:cNvPr>
          <p:cNvSpPr/>
          <p:nvPr/>
        </p:nvSpPr>
        <p:spPr>
          <a:xfrm>
            <a:off x="9271800" y="5512398"/>
            <a:ext cx="144000" cy="144000"/>
          </a:xfrm>
          <a:prstGeom prst="plus">
            <a:avLst>
              <a:gd name="adj" fmla="val 35732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A7DA110D-C514-9477-5B66-F38E974B569A}"/>
              </a:ext>
            </a:extLst>
          </p:cNvPr>
          <p:cNvSpPr/>
          <p:nvPr/>
        </p:nvSpPr>
        <p:spPr>
          <a:xfrm>
            <a:off x="8719656" y="5512762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C7EFFF34-DBA4-F961-2115-05C0A7DCE414}"/>
              </a:ext>
            </a:extLst>
          </p:cNvPr>
          <p:cNvSpPr/>
          <p:nvPr/>
        </p:nvSpPr>
        <p:spPr>
          <a:xfrm>
            <a:off x="8533230" y="5515125"/>
            <a:ext cx="144000" cy="14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7DCAAFED-CCC3-BD47-53B7-2D6AD0A68593}"/>
              </a:ext>
            </a:extLst>
          </p:cNvPr>
          <p:cNvSpPr txBox="1"/>
          <p:nvPr/>
        </p:nvSpPr>
        <p:spPr>
          <a:xfrm>
            <a:off x="5004456" y="1611982"/>
            <a:ext cx="7187544" cy="2506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¿Qué hacer en caso de empate?</a:t>
            </a:r>
          </a:p>
          <a:p>
            <a:endParaRPr lang="es-E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Escoger uno de los ganadores al azar.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Cambiar la regla de decisión o emplear modelos híbridos.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Reducir el número de vecinos hasta que tengamos un ganador único.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C1BA300-ADE4-499D-7FA8-468842EE9281}"/>
              </a:ext>
            </a:extLst>
          </p:cNvPr>
          <p:cNvSpPr txBox="1"/>
          <p:nvPr/>
        </p:nvSpPr>
        <p:spPr>
          <a:xfrm>
            <a:off x="409402" y="82680"/>
            <a:ext cx="4586064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Reglas de decisión en k-NN.</a:t>
            </a:r>
          </a:p>
        </p:txBody>
      </p:sp>
    </p:spTree>
    <p:extLst>
      <p:ext uri="{BB962C8B-B14F-4D97-AF65-F5344CB8AC3E}">
        <p14:creationId xmlns:p14="http://schemas.microsoft.com/office/powerpoint/2010/main" val="7991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9108141" y="136523"/>
            <a:ext cx="2988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7A0595-F997-C90C-2B48-DD52AEEF89B2}"/>
              </a:ext>
            </a:extLst>
          </p:cNvPr>
          <p:cNvSpPr txBox="1"/>
          <p:nvPr/>
        </p:nvSpPr>
        <p:spPr>
          <a:xfrm>
            <a:off x="1797255" y="1119374"/>
            <a:ext cx="647364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Distancias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usadas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en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Reglas de decisión en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Preparación de los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k-NN para Regresión.</a:t>
            </a:r>
            <a:endParaRPr lang="es-ES" sz="2800" b="1" u="sng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Criterio para elegir k en un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Ventajas e inconvenientes del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Implementación del algoritmo.</a:t>
            </a:r>
          </a:p>
        </p:txBody>
      </p:sp>
    </p:spTree>
    <p:extLst>
      <p:ext uri="{BB962C8B-B14F-4D97-AF65-F5344CB8AC3E}">
        <p14:creationId xmlns:p14="http://schemas.microsoft.com/office/powerpoint/2010/main" val="109959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F713746-F399-6AF9-6686-D8B71F952654}"/>
              </a:ext>
            </a:extLst>
          </p:cNvPr>
          <p:cNvSpPr/>
          <p:nvPr/>
        </p:nvSpPr>
        <p:spPr>
          <a:xfrm>
            <a:off x="322452" y="1247515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Elección de las categorías (</a:t>
            </a:r>
            <a:r>
              <a:rPr lang="es-ES" sz="2000" b="1" dirty="0" err="1">
                <a:solidFill>
                  <a:schemeClr val="accent1">
                    <a:lumMod val="50000"/>
                  </a:schemeClr>
                </a:solidFill>
              </a:rPr>
              <a:t>features</a:t>
            </a:r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) a incluir en el algoritmo.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BC0FD9AC-1177-4660-5D40-9387632F6541}"/>
              </a:ext>
            </a:extLst>
          </p:cNvPr>
          <p:cNvSpPr/>
          <p:nvPr/>
        </p:nvSpPr>
        <p:spPr>
          <a:xfrm>
            <a:off x="3998269" y="1613664"/>
            <a:ext cx="901757" cy="39444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F45C38A-0D5F-BE6C-DDDD-01A317499614}"/>
              </a:ext>
            </a:extLst>
          </p:cNvPr>
          <p:cNvSpPr/>
          <p:nvPr/>
        </p:nvSpPr>
        <p:spPr>
          <a:xfrm>
            <a:off x="5070770" y="1242942"/>
            <a:ext cx="6941936" cy="1244691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k-NN es un algoritmo computacionalmente costoso. En cada elección tenemos que evaluar todo el conjunto de datos para determinar los k vecinos más próximos. Además, una dimensión elevada conlleva el problema de la “maldición” de la dimensionalidad que veremos luego. 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30DE42D-6BB1-F348-7232-438F2E9152C0}"/>
              </a:ext>
            </a:extLst>
          </p:cNvPr>
          <p:cNvSpPr/>
          <p:nvPr/>
        </p:nvSpPr>
        <p:spPr>
          <a:xfrm>
            <a:off x="322452" y="3134460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Normalización de las categorías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E545298-ADFD-7CE0-AA86-D3BCB35DE315}"/>
              </a:ext>
            </a:extLst>
          </p:cNvPr>
          <p:cNvSpPr/>
          <p:nvPr/>
        </p:nvSpPr>
        <p:spPr>
          <a:xfrm>
            <a:off x="322452" y="5024257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Ajuste de clases no balanceadas y manejo de datos </a:t>
            </a:r>
            <a:r>
              <a:rPr lang="es-ES" sz="2000" b="1" dirty="0" err="1">
                <a:solidFill>
                  <a:schemeClr val="accent1">
                    <a:lumMod val="50000"/>
                  </a:schemeClr>
                </a:solidFill>
              </a:rPr>
              <a:t>pérdidos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Flecha: hacia abajo 45">
            <a:extLst>
              <a:ext uri="{FF2B5EF4-FFF2-40B4-BE49-F238E27FC236}">
                <a16:creationId xmlns:a16="http://schemas.microsoft.com/office/drawing/2014/main" id="{1C0B7ACF-9FDF-1D0B-334D-8A1171C83FAF}"/>
              </a:ext>
            </a:extLst>
          </p:cNvPr>
          <p:cNvSpPr/>
          <p:nvPr/>
        </p:nvSpPr>
        <p:spPr>
          <a:xfrm>
            <a:off x="1825673" y="2581813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Flecha: hacia abajo 46">
            <a:extLst>
              <a:ext uri="{FF2B5EF4-FFF2-40B4-BE49-F238E27FC236}">
                <a16:creationId xmlns:a16="http://schemas.microsoft.com/office/drawing/2014/main" id="{9A3FA7DB-448C-CFA4-3CE8-564829EE36AB}"/>
              </a:ext>
            </a:extLst>
          </p:cNvPr>
          <p:cNvSpPr/>
          <p:nvPr/>
        </p:nvSpPr>
        <p:spPr>
          <a:xfrm>
            <a:off x="1822551" y="4471610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A63537C-5E17-7F77-9D55-CACB8DC2011D}"/>
              </a:ext>
            </a:extLst>
          </p:cNvPr>
          <p:cNvSpPr txBox="1"/>
          <p:nvPr/>
        </p:nvSpPr>
        <p:spPr>
          <a:xfrm>
            <a:off x="409402" y="82680"/>
            <a:ext cx="4223079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Preparación de los datos.</a:t>
            </a:r>
          </a:p>
        </p:txBody>
      </p:sp>
    </p:spTree>
    <p:extLst>
      <p:ext uri="{BB962C8B-B14F-4D97-AF65-F5344CB8AC3E}">
        <p14:creationId xmlns:p14="http://schemas.microsoft.com/office/powerpoint/2010/main" val="86488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F713746-F399-6AF9-6686-D8B71F952654}"/>
              </a:ext>
            </a:extLst>
          </p:cNvPr>
          <p:cNvSpPr/>
          <p:nvPr/>
        </p:nvSpPr>
        <p:spPr>
          <a:xfrm>
            <a:off x="322452" y="1247515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Elección de las categorías (</a:t>
            </a:r>
            <a:r>
              <a:rPr lang="es-ES" sz="2000" b="1" dirty="0" err="1">
                <a:solidFill>
                  <a:schemeClr val="accent1">
                    <a:lumMod val="50000"/>
                  </a:schemeClr>
                </a:solidFill>
              </a:rPr>
              <a:t>features</a:t>
            </a:r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) a incluir en el algoritmo.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BC0FD9AC-1177-4660-5D40-9387632F6541}"/>
              </a:ext>
            </a:extLst>
          </p:cNvPr>
          <p:cNvSpPr/>
          <p:nvPr/>
        </p:nvSpPr>
        <p:spPr>
          <a:xfrm>
            <a:off x="3998269" y="1613664"/>
            <a:ext cx="901757" cy="39444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F45C38A-0D5F-BE6C-DDDD-01A317499614}"/>
              </a:ext>
            </a:extLst>
          </p:cNvPr>
          <p:cNvSpPr/>
          <p:nvPr/>
        </p:nvSpPr>
        <p:spPr>
          <a:xfrm>
            <a:off x="5070770" y="1242942"/>
            <a:ext cx="6941936" cy="1244691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k-NN es un algoritmo computacionalmente costoso. En cada elección tenemos que evaluar todo el conjunto de datos para determinar los k vecinos más próximos. Además, una dimensión elevada conlleva el problema de la “maldición” de la dimensionalidad que veremos luego. 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30DE42D-6BB1-F348-7232-438F2E9152C0}"/>
              </a:ext>
            </a:extLst>
          </p:cNvPr>
          <p:cNvSpPr/>
          <p:nvPr/>
        </p:nvSpPr>
        <p:spPr>
          <a:xfrm>
            <a:off x="322452" y="3134460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Normalización de las categorías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134D61C5-5CC7-3F52-4638-44BE6AF3C115}"/>
              </a:ext>
            </a:extLst>
          </p:cNvPr>
          <p:cNvSpPr/>
          <p:nvPr/>
        </p:nvSpPr>
        <p:spPr>
          <a:xfrm>
            <a:off x="3998269" y="3409576"/>
            <a:ext cx="901757" cy="39444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48EBBAF9-DD12-7904-BF27-EE125AA8CE6C}"/>
              </a:ext>
            </a:extLst>
          </p:cNvPr>
          <p:cNvSpPr/>
          <p:nvPr/>
        </p:nvSpPr>
        <p:spPr>
          <a:xfrm>
            <a:off x="5070770" y="2945574"/>
            <a:ext cx="6941936" cy="1337972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Las distancias basadas en la de Minkowski, son sensibles a la escala de las características. Si una característica tiene un rango de valores mucho mayor que otra, dominará el cálculo de la distancia y puede conducir a resultados inexactos. La normalización asegura que todas las características tengan una escala similar, lo que permite que todas las características contribuyan de manera equitativa.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E545298-ADFD-7CE0-AA86-D3BCB35DE315}"/>
              </a:ext>
            </a:extLst>
          </p:cNvPr>
          <p:cNvSpPr/>
          <p:nvPr/>
        </p:nvSpPr>
        <p:spPr>
          <a:xfrm>
            <a:off x="322452" y="5024257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Ajuste de clases no balanceadas y manejo de datos </a:t>
            </a:r>
            <a:r>
              <a:rPr lang="es-ES" sz="2000" b="1" dirty="0" err="1">
                <a:solidFill>
                  <a:schemeClr val="accent1">
                    <a:lumMod val="50000"/>
                  </a:schemeClr>
                </a:solidFill>
              </a:rPr>
              <a:t>pérdidos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Flecha: hacia abajo 45">
            <a:extLst>
              <a:ext uri="{FF2B5EF4-FFF2-40B4-BE49-F238E27FC236}">
                <a16:creationId xmlns:a16="http://schemas.microsoft.com/office/drawing/2014/main" id="{1C0B7ACF-9FDF-1D0B-334D-8A1171C83FAF}"/>
              </a:ext>
            </a:extLst>
          </p:cNvPr>
          <p:cNvSpPr/>
          <p:nvPr/>
        </p:nvSpPr>
        <p:spPr>
          <a:xfrm>
            <a:off x="1825673" y="2581813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Flecha: hacia abajo 46">
            <a:extLst>
              <a:ext uri="{FF2B5EF4-FFF2-40B4-BE49-F238E27FC236}">
                <a16:creationId xmlns:a16="http://schemas.microsoft.com/office/drawing/2014/main" id="{9A3FA7DB-448C-CFA4-3CE8-564829EE36AB}"/>
              </a:ext>
            </a:extLst>
          </p:cNvPr>
          <p:cNvSpPr/>
          <p:nvPr/>
        </p:nvSpPr>
        <p:spPr>
          <a:xfrm>
            <a:off x="1822551" y="4471610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A63537C-5E17-7F77-9D55-CACB8DC2011D}"/>
              </a:ext>
            </a:extLst>
          </p:cNvPr>
          <p:cNvSpPr txBox="1"/>
          <p:nvPr/>
        </p:nvSpPr>
        <p:spPr>
          <a:xfrm>
            <a:off x="409402" y="82680"/>
            <a:ext cx="4223079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Preparación de los datos.</a:t>
            </a:r>
          </a:p>
        </p:txBody>
      </p:sp>
    </p:spTree>
    <p:extLst>
      <p:ext uri="{BB962C8B-B14F-4D97-AF65-F5344CB8AC3E}">
        <p14:creationId xmlns:p14="http://schemas.microsoft.com/office/powerpoint/2010/main" val="225966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BC0FD9AC-1177-4660-5D40-9387632F6541}"/>
              </a:ext>
            </a:extLst>
          </p:cNvPr>
          <p:cNvSpPr/>
          <p:nvPr/>
        </p:nvSpPr>
        <p:spPr>
          <a:xfrm>
            <a:off x="3998269" y="1613664"/>
            <a:ext cx="901757" cy="39444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A63537C-5E17-7F77-9D55-CACB8DC2011D}"/>
              </a:ext>
            </a:extLst>
          </p:cNvPr>
          <p:cNvSpPr txBox="1"/>
          <p:nvPr/>
        </p:nvSpPr>
        <p:spPr>
          <a:xfrm>
            <a:off x="409402" y="82680"/>
            <a:ext cx="4223079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Preparación de los datos.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665" y="2665009"/>
            <a:ext cx="7288041" cy="399583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3435160" y="2811907"/>
            <a:ext cx="13670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Regiones pintadas según la clase de los 5 vecinos más cercanos</a:t>
            </a:r>
          </a:p>
        </p:txBody>
      </p:sp>
      <p:sp>
        <p:nvSpPr>
          <p:cNvPr id="17" name="Rectángulo: esquinas redondeadas 31">
            <a:extLst>
              <a:ext uri="{FF2B5EF4-FFF2-40B4-BE49-F238E27FC236}">
                <a16:creationId xmlns:a16="http://schemas.microsoft.com/office/drawing/2014/main" id="{A30DE42D-6BB1-F348-7232-438F2E9152C0}"/>
              </a:ext>
            </a:extLst>
          </p:cNvPr>
          <p:cNvSpPr/>
          <p:nvPr/>
        </p:nvSpPr>
        <p:spPr>
          <a:xfrm>
            <a:off x="471863" y="1188658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Normalización de las categorías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Rectángulo: esquinas redondeadas 34">
            <a:extLst>
              <a:ext uri="{FF2B5EF4-FFF2-40B4-BE49-F238E27FC236}">
                <a16:creationId xmlns:a16="http://schemas.microsoft.com/office/drawing/2014/main" id="{48EBBAF9-DD12-7904-BF27-EE125AA8CE6C}"/>
              </a:ext>
            </a:extLst>
          </p:cNvPr>
          <p:cNvSpPr/>
          <p:nvPr/>
        </p:nvSpPr>
        <p:spPr>
          <a:xfrm>
            <a:off x="5070770" y="1026243"/>
            <a:ext cx="6941936" cy="1337972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Las distancias basadas en la de Minkowski, son sensibles a la escala de las características. Si una característica tiene un rango de valores mucho mayor que otra, dominará el cálculo de la distancia y puede conducir a resultados inexactos. La normalización asegura que todas las características tengan una escala similar, lo que permite que todas las características contribuyan de manera equitativa.</a:t>
            </a:r>
          </a:p>
        </p:txBody>
      </p:sp>
    </p:spTree>
    <p:extLst>
      <p:ext uri="{BB962C8B-B14F-4D97-AF65-F5344CB8AC3E}">
        <p14:creationId xmlns:p14="http://schemas.microsoft.com/office/powerpoint/2010/main" val="97401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BC0FD9AC-1177-4660-5D40-9387632F6541}"/>
              </a:ext>
            </a:extLst>
          </p:cNvPr>
          <p:cNvSpPr/>
          <p:nvPr/>
        </p:nvSpPr>
        <p:spPr>
          <a:xfrm>
            <a:off x="3998269" y="1613664"/>
            <a:ext cx="901757" cy="39444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A63537C-5E17-7F77-9D55-CACB8DC2011D}"/>
              </a:ext>
            </a:extLst>
          </p:cNvPr>
          <p:cNvSpPr txBox="1"/>
          <p:nvPr/>
        </p:nvSpPr>
        <p:spPr>
          <a:xfrm>
            <a:off x="409402" y="82680"/>
            <a:ext cx="4223079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Preparación de los datos.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4762248" y="3223348"/>
            <a:ext cx="13670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Regiones pintadas según la clase de los 5 vecinos más cercanos</a:t>
            </a:r>
          </a:p>
        </p:txBody>
      </p:sp>
      <p:sp>
        <p:nvSpPr>
          <p:cNvPr id="17" name="Rectángulo: esquinas redondeadas 31">
            <a:extLst>
              <a:ext uri="{FF2B5EF4-FFF2-40B4-BE49-F238E27FC236}">
                <a16:creationId xmlns:a16="http://schemas.microsoft.com/office/drawing/2014/main" id="{A30DE42D-6BB1-F348-7232-438F2E9152C0}"/>
              </a:ext>
            </a:extLst>
          </p:cNvPr>
          <p:cNvSpPr/>
          <p:nvPr/>
        </p:nvSpPr>
        <p:spPr>
          <a:xfrm>
            <a:off x="471863" y="1188658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Normalización de las categorías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Rectángulo: esquinas redondeadas 34">
            <a:extLst>
              <a:ext uri="{FF2B5EF4-FFF2-40B4-BE49-F238E27FC236}">
                <a16:creationId xmlns:a16="http://schemas.microsoft.com/office/drawing/2014/main" id="{48EBBAF9-DD12-7904-BF27-EE125AA8CE6C}"/>
              </a:ext>
            </a:extLst>
          </p:cNvPr>
          <p:cNvSpPr/>
          <p:nvPr/>
        </p:nvSpPr>
        <p:spPr>
          <a:xfrm>
            <a:off x="5070770" y="1026243"/>
            <a:ext cx="6941936" cy="1337972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Las distancias basadas en la de Minkowski, son sensibles a la escala de las características. Si una característica tiene un rango de valores mucho mayor que otra, dominará el cálculo de la distancia y puede conducir a resultados inexactos. La normalización asegura que todas las características tengan una escala similar, lo que permite que todas las características contribuyan de manera equitativa.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85" y="2487633"/>
            <a:ext cx="5026580" cy="426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8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F713746-F399-6AF9-6686-D8B71F952654}"/>
              </a:ext>
            </a:extLst>
          </p:cNvPr>
          <p:cNvSpPr/>
          <p:nvPr/>
        </p:nvSpPr>
        <p:spPr>
          <a:xfrm>
            <a:off x="322452" y="1247515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Elección de las categorías (</a:t>
            </a:r>
            <a:r>
              <a:rPr lang="es-ES" sz="2000" b="1" dirty="0" err="1">
                <a:solidFill>
                  <a:schemeClr val="accent1">
                    <a:lumMod val="50000"/>
                  </a:schemeClr>
                </a:solidFill>
              </a:rPr>
              <a:t>features</a:t>
            </a:r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) a incluir en el algoritmo.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30DE42D-6BB1-F348-7232-438F2E9152C0}"/>
              </a:ext>
            </a:extLst>
          </p:cNvPr>
          <p:cNvSpPr/>
          <p:nvPr/>
        </p:nvSpPr>
        <p:spPr>
          <a:xfrm>
            <a:off x="322452" y="3134460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Normalización de las categorías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E545298-ADFD-7CE0-AA86-D3BCB35DE315}"/>
              </a:ext>
            </a:extLst>
          </p:cNvPr>
          <p:cNvSpPr/>
          <p:nvPr/>
        </p:nvSpPr>
        <p:spPr>
          <a:xfrm>
            <a:off x="322452" y="5024257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Ajuste de clases no balanceadas y manejo de datos </a:t>
            </a:r>
            <a:r>
              <a:rPr lang="es-ES" sz="2000" b="1" dirty="0" err="1">
                <a:solidFill>
                  <a:schemeClr val="accent1">
                    <a:lumMod val="50000"/>
                  </a:schemeClr>
                </a:solidFill>
              </a:rPr>
              <a:t>pérdidos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995E8A00-7E0A-8C30-378B-C7227935DE7E}"/>
              </a:ext>
            </a:extLst>
          </p:cNvPr>
          <p:cNvSpPr/>
          <p:nvPr/>
        </p:nvSpPr>
        <p:spPr>
          <a:xfrm>
            <a:off x="3998269" y="5390406"/>
            <a:ext cx="901757" cy="39444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583DEDE9-61DA-EA22-E128-1A7E2132346B}"/>
              </a:ext>
            </a:extLst>
          </p:cNvPr>
          <p:cNvSpPr/>
          <p:nvPr/>
        </p:nvSpPr>
        <p:spPr>
          <a:xfrm>
            <a:off x="5070770" y="5019684"/>
            <a:ext cx="6941936" cy="1244691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El algoritmo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kNN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es sensible a conjuntos de datos donde una clase es predominante ya que tenderá a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sobre-representarla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en las respuestas.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  <a:hlinkClick r:id="rId3"/>
              </a:rPr>
              <a:t>Crear datos artificiales de las clases menos representadas.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Dar pesos mayores a las minorías. </a:t>
            </a: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 presencia de valores anómalos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o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 falta de valores en algunas categorías para ciertos datos puede aliviarse usando definiciones de distancia especificas (Manhattan, Coseno) </a:t>
            </a:r>
          </a:p>
        </p:txBody>
      </p:sp>
      <p:sp>
        <p:nvSpPr>
          <p:cNvPr id="46" name="Flecha: hacia abajo 45">
            <a:extLst>
              <a:ext uri="{FF2B5EF4-FFF2-40B4-BE49-F238E27FC236}">
                <a16:creationId xmlns:a16="http://schemas.microsoft.com/office/drawing/2014/main" id="{1C0B7ACF-9FDF-1D0B-334D-8A1171C83FAF}"/>
              </a:ext>
            </a:extLst>
          </p:cNvPr>
          <p:cNvSpPr/>
          <p:nvPr/>
        </p:nvSpPr>
        <p:spPr>
          <a:xfrm>
            <a:off x="1825673" y="2581813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Flecha: hacia abajo 46">
            <a:extLst>
              <a:ext uri="{FF2B5EF4-FFF2-40B4-BE49-F238E27FC236}">
                <a16:creationId xmlns:a16="http://schemas.microsoft.com/office/drawing/2014/main" id="{9A3FA7DB-448C-CFA4-3CE8-564829EE36AB}"/>
              </a:ext>
            </a:extLst>
          </p:cNvPr>
          <p:cNvSpPr/>
          <p:nvPr/>
        </p:nvSpPr>
        <p:spPr>
          <a:xfrm>
            <a:off x="1822551" y="4471610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A63537C-5E17-7F77-9D55-CACB8DC2011D}"/>
              </a:ext>
            </a:extLst>
          </p:cNvPr>
          <p:cNvSpPr txBox="1"/>
          <p:nvPr/>
        </p:nvSpPr>
        <p:spPr>
          <a:xfrm>
            <a:off x="409402" y="82680"/>
            <a:ext cx="4223079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Preparación de los datos.</a:t>
            </a:r>
          </a:p>
        </p:txBody>
      </p:sp>
    </p:spTree>
    <p:extLst>
      <p:ext uri="{BB962C8B-B14F-4D97-AF65-F5344CB8AC3E}">
        <p14:creationId xmlns:p14="http://schemas.microsoft.com/office/powerpoint/2010/main" val="266617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F713746-F399-6AF9-6686-D8B71F952654}"/>
              </a:ext>
            </a:extLst>
          </p:cNvPr>
          <p:cNvSpPr/>
          <p:nvPr/>
        </p:nvSpPr>
        <p:spPr>
          <a:xfrm>
            <a:off x="322452" y="1247515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Elección de las categorías (</a:t>
            </a:r>
            <a:r>
              <a:rPr lang="es-ES" sz="2000" b="1" dirty="0" err="1">
                <a:solidFill>
                  <a:schemeClr val="accent1">
                    <a:lumMod val="50000"/>
                  </a:schemeClr>
                </a:solidFill>
              </a:rPr>
              <a:t>features</a:t>
            </a:r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) a incluir en el algoritmo.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30DE42D-6BB1-F348-7232-438F2E9152C0}"/>
              </a:ext>
            </a:extLst>
          </p:cNvPr>
          <p:cNvSpPr/>
          <p:nvPr/>
        </p:nvSpPr>
        <p:spPr>
          <a:xfrm>
            <a:off x="322452" y="3134460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Normalización de las categorías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E545298-ADFD-7CE0-AA86-D3BCB35DE315}"/>
              </a:ext>
            </a:extLst>
          </p:cNvPr>
          <p:cNvSpPr/>
          <p:nvPr/>
        </p:nvSpPr>
        <p:spPr>
          <a:xfrm>
            <a:off x="322452" y="5024257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Ajuste de clases no balanceadas y manejo de datos </a:t>
            </a:r>
            <a:r>
              <a:rPr lang="es-ES" sz="2000" b="1" dirty="0" err="1">
                <a:solidFill>
                  <a:schemeClr val="accent1">
                    <a:lumMod val="50000"/>
                  </a:schemeClr>
                </a:solidFill>
              </a:rPr>
              <a:t>pérdidos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995E8A00-7E0A-8C30-378B-C7227935DE7E}"/>
              </a:ext>
            </a:extLst>
          </p:cNvPr>
          <p:cNvSpPr/>
          <p:nvPr/>
        </p:nvSpPr>
        <p:spPr>
          <a:xfrm>
            <a:off x="3998269" y="5390406"/>
            <a:ext cx="901757" cy="39444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583DEDE9-61DA-EA22-E128-1A7E2132346B}"/>
              </a:ext>
            </a:extLst>
          </p:cNvPr>
          <p:cNvSpPr/>
          <p:nvPr/>
        </p:nvSpPr>
        <p:spPr>
          <a:xfrm>
            <a:off x="5070770" y="5019684"/>
            <a:ext cx="6941936" cy="1244691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El algoritmo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kNN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es sensible a conjuntos de datos donde una clase es predominante ya que tenderá a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sobre-representarla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en las respuestas.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  <a:hlinkClick r:id="rId3"/>
              </a:rPr>
              <a:t>Crear datos artificiales de las clases menos representadas.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Dar pesos mayores a las minorías. </a:t>
            </a: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 presencia de valores anómalos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o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 falta de valores en algunas categorías para ciertos datos puede aliviarse usando definiciones de distancia especificas (Manhattan, Coseno) </a:t>
            </a:r>
          </a:p>
        </p:txBody>
      </p:sp>
      <p:sp>
        <p:nvSpPr>
          <p:cNvPr id="46" name="Flecha: hacia abajo 45">
            <a:extLst>
              <a:ext uri="{FF2B5EF4-FFF2-40B4-BE49-F238E27FC236}">
                <a16:creationId xmlns:a16="http://schemas.microsoft.com/office/drawing/2014/main" id="{1C0B7ACF-9FDF-1D0B-334D-8A1171C83FAF}"/>
              </a:ext>
            </a:extLst>
          </p:cNvPr>
          <p:cNvSpPr/>
          <p:nvPr/>
        </p:nvSpPr>
        <p:spPr>
          <a:xfrm>
            <a:off x="1825673" y="2581813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Flecha: hacia abajo 46">
            <a:extLst>
              <a:ext uri="{FF2B5EF4-FFF2-40B4-BE49-F238E27FC236}">
                <a16:creationId xmlns:a16="http://schemas.microsoft.com/office/drawing/2014/main" id="{9A3FA7DB-448C-CFA4-3CE8-564829EE36AB}"/>
              </a:ext>
            </a:extLst>
          </p:cNvPr>
          <p:cNvSpPr/>
          <p:nvPr/>
        </p:nvSpPr>
        <p:spPr>
          <a:xfrm>
            <a:off x="1822551" y="4471610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A63537C-5E17-7F77-9D55-CACB8DC2011D}"/>
              </a:ext>
            </a:extLst>
          </p:cNvPr>
          <p:cNvSpPr txBox="1"/>
          <p:nvPr/>
        </p:nvSpPr>
        <p:spPr>
          <a:xfrm>
            <a:off x="409402" y="82680"/>
            <a:ext cx="4223079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Preparación de los datos.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176" y="979667"/>
            <a:ext cx="4844565" cy="366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481" y="998843"/>
            <a:ext cx="4813218" cy="377356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F713746-F399-6AF9-6686-D8B71F952654}"/>
              </a:ext>
            </a:extLst>
          </p:cNvPr>
          <p:cNvSpPr/>
          <p:nvPr/>
        </p:nvSpPr>
        <p:spPr>
          <a:xfrm>
            <a:off x="322452" y="1247515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Elección de las categorías (</a:t>
            </a:r>
            <a:r>
              <a:rPr lang="es-ES" sz="2000" b="1" dirty="0" err="1">
                <a:solidFill>
                  <a:schemeClr val="accent1">
                    <a:lumMod val="50000"/>
                  </a:schemeClr>
                </a:solidFill>
              </a:rPr>
              <a:t>features</a:t>
            </a:r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) a incluir en el algoritmo.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30DE42D-6BB1-F348-7232-438F2E9152C0}"/>
              </a:ext>
            </a:extLst>
          </p:cNvPr>
          <p:cNvSpPr/>
          <p:nvPr/>
        </p:nvSpPr>
        <p:spPr>
          <a:xfrm>
            <a:off x="322452" y="3134460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Normalización de las categorías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E545298-ADFD-7CE0-AA86-D3BCB35DE315}"/>
              </a:ext>
            </a:extLst>
          </p:cNvPr>
          <p:cNvSpPr/>
          <p:nvPr/>
        </p:nvSpPr>
        <p:spPr>
          <a:xfrm>
            <a:off x="322452" y="5024257"/>
            <a:ext cx="3305266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Ajuste de clases no balanceadas y manejo de datos </a:t>
            </a:r>
            <a:r>
              <a:rPr lang="es-ES" sz="2000" b="1" dirty="0" err="1">
                <a:solidFill>
                  <a:schemeClr val="accent1">
                    <a:lumMod val="50000"/>
                  </a:schemeClr>
                </a:solidFill>
              </a:rPr>
              <a:t>pérdidos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995E8A00-7E0A-8C30-378B-C7227935DE7E}"/>
              </a:ext>
            </a:extLst>
          </p:cNvPr>
          <p:cNvSpPr/>
          <p:nvPr/>
        </p:nvSpPr>
        <p:spPr>
          <a:xfrm>
            <a:off x="3998269" y="5390406"/>
            <a:ext cx="901757" cy="39444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583DEDE9-61DA-EA22-E128-1A7E2132346B}"/>
              </a:ext>
            </a:extLst>
          </p:cNvPr>
          <p:cNvSpPr/>
          <p:nvPr/>
        </p:nvSpPr>
        <p:spPr>
          <a:xfrm>
            <a:off x="5070770" y="5019684"/>
            <a:ext cx="6941936" cy="1244691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El algoritmo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kNN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es sensible a conjuntos de datos donde una clase es predominante ya que tenderá a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sobre-representarla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en las respuestas.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  <a:hlinkClick r:id="rId4"/>
              </a:rPr>
              <a:t>Crear datos artificiales de las clases menos representadas.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Dar pesos mayores a las minorías. </a:t>
            </a:r>
          </a:p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 presencia de valores anómalos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o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 falta de valores en algunas categorías para ciertos datos puede aliviarse usando definiciones de distancia especificas (Manhattan, Coseno) </a:t>
            </a:r>
          </a:p>
        </p:txBody>
      </p:sp>
      <p:sp>
        <p:nvSpPr>
          <p:cNvPr id="46" name="Flecha: hacia abajo 45">
            <a:extLst>
              <a:ext uri="{FF2B5EF4-FFF2-40B4-BE49-F238E27FC236}">
                <a16:creationId xmlns:a16="http://schemas.microsoft.com/office/drawing/2014/main" id="{1C0B7ACF-9FDF-1D0B-334D-8A1171C83FAF}"/>
              </a:ext>
            </a:extLst>
          </p:cNvPr>
          <p:cNvSpPr/>
          <p:nvPr/>
        </p:nvSpPr>
        <p:spPr>
          <a:xfrm>
            <a:off x="1825673" y="2581813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Flecha: hacia abajo 46">
            <a:extLst>
              <a:ext uri="{FF2B5EF4-FFF2-40B4-BE49-F238E27FC236}">
                <a16:creationId xmlns:a16="http://schemas.microsoft.com/office/drawing/2014/main" id="{9A3FA7DB-448C-CFA4-3CE8-564829EE36AB}"/>
              </a:ext>
            </a:extLst>
          </p:cNvPr>
          <p:cNvSpPr/>
          <p:nvPr/>
        </p:nvSpPr>
        <p:spPr>
          <a:xfrm>
            <a:off x="1822551" y="4471610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A63537C-5E17-7F77-9D55-CACB8DC2011D}"/>
              </a:ext>
            </a:extLst>
          </p:cNvPr>
          <p:cNvSpPr txBox="1"/>
          <p:nvPr/>
        </p:nvSpPr>
        <p:spPr>
          <a:xfrm>
            <a:off x="409402" y="82680"/>
            <a:ext cx="4223079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Preparación de los datos.</a:t>
            </a:r>
          </a:p>
        </p:txBody>
      </p:sp>
      <p:sp>
        <p:nvSpPr>
          <p:cNvPr id="6" name="Rectángulo 5"/>
          <p:cNvSpPr/>
          <p:nvPr/>
        </p:nvSpPr>
        <p:spPr>
          <a:xfrm>
            <a:off x="5455496" y="776012"/>
            <a:ext cx="35276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SMOTE (Synthetic Minority Over-sampling Technique)</a:t>
            </a:r>
            <a:endParaRPr lang="es-ES" sz="1200" dirty="0"/>
          </a:p>
        </p:txBody>
      </p:sp>
      <p:sp>
        <p:nvSpPr>
          <p:cNvPr id="7" name="Rectángulo 6"/>
          <p:cNvSpPr/>
          <p:nvPr/>
        </p:nvSpPr>
        <p:spPr>
          <a:xfrm>
            <a:off x="9149294" y="776139"/>
            <a:ext cx="300595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! </a:t>
            </a:r>
            <a:r>
              <a:rPr lang="es-E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pip</a:t>
            </a:r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install</a:t>
            </a:r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imblearn</a:t>
            </a:r>
            <a:endParaRPr lang="es-ES" sz="10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imblearn.over_sampling</a:t>
            </a:r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s-ES" sz="1000" dirty="0">
                <a:solidFill>
                  <a:srgbClr val="000000"/>
                </a:solidFill>
                <a:latin typeface="Consolas" panose="020B0609020204030204" pitchFamily="49" charset="0"/>
              </a:rPr>
              <a:t> SMOTE</a:t>
            </a:r>
          </a:p>
          <a:p>
            <a:endParaRPr lang="es-E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41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F45C38A-0D5F-BE6C-DDDD-01A317499614}"/>
              </a:ext>
            </a:extLst>
          </p:cNvPr>
          <p:cNvSpPr/>
          <p:nvPr/>
        </p:nvSpPr>
        <p:spPr>
          <a:xfrm>
            <a:off x="4214553" y="1577788"/>
            <a:ext cx="7798152" cy="4380526"/>
          </a:xfrm>
          <a:prstGeom prst="round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Codificación de variables categóricas:</a:t>
            </a:r>
          </a:p>
          <a:p>
            <a:endParaRPr lang="es-E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u="sng" dirty="0" err="1">
                <a:solidFill>
                  <a:schemeClr val="accent1">
                    <a:lumMod val="50000"/>
                  </a:schemeClr>
                </a:solidFill>
              </a:rPr>
              <a:t>One-hot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u="sng" dirty="0" err="1">
                <a:solidFill>
                  <a:schemeClr val="accent1">
                    <a:lumMod val="50000"/>
                  </a:schemeClr>
                </a:solidFill>
              </a:rPr>
              <a:t>encoder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: Este método crea una nueva característica binaria para cada categoría. Si un punto de datos pertenece a una categoría particular, el valor de la característica correspondiente se establece en 1 y todos los demás se establecen en 0. Esto aumenta la dimensionalidad de los datos, pero permite que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kNN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compare eficazmente las categorías en función de la presencia o ausencia.</a:t>
            </a: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u="sng" dirty="0" err="1">
                <a:solidFill>
                  <a:schemeClr val="accent1">
                    <a:lumMod val="50000"/>
                  </a:schemeClr>
                </a:solidFill>
              </a:rPr>
              <a:t>Label</a:t>
            </a:r>
            <a:r>
              <a:rPr lang="es-ES" u="sn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u="sng" dirty="0" err="1">
                <a:solidFill>
                  <a:schemeClr val="accent1">
                    <a:lumMod val="50000"/>
                  </a:schemeClr>
                </a:solidFill>
              </a:rPr>
              <a:t>encoder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: Este método asigna un valor entero único a cada categoría. Aunque es más simple que la codificación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one-hot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, puede engañar a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kNN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si el orden de las categorías tiene algún significado inherente (por ejemplo, asignar "1" a "bajo" y "2" a "alto" en una calificación de calidad).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A30DE42D-6BB1-F348-7232-438F2E9152C0}"/>
              </a:ext>
            </a:extLst>
          </p:cNvPr>
          <p:cNvSpPr/>
          <p:nvPr/>
        </p:nvSpPr>
        <p:spPr>
          <a:xfrm>
            <a:off x="322452" y="1903309"/>
            <a:ext cx="2653504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Manejo de variables no numéricas (categóricas)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134D61C5-5CC7-3F52-4638-44BE6AF3C115}"/>
              </a:ext>
            </a:extLst>
          </p:cNvPr>
          <p:cNvSpPr/>
          <p:nvPr/>
        </p:nvSpPr>
        <p:spPr>
          <a:xfrm>
            <a:off x="3225034" y="2328430"/>
            <a:ext cx="901757" cy="39444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Flecha: hacia abajo 45">
            <a:extLst>
              <a:ext uri="{FF2B5EF4-FFF2-40B4-BE49-F238E27FC236}">
                <a16:creationId xmlns:a16="http://schemas.microsoft.com/office/drawing/2014/main" id="{1C0B7ACF-9FDF-1D0B-334D-8A1171C83FAF}"/>
              </a:ext>
            </a:extLst>
          </p:cNvPr>
          <p:cNvSpPr/>
          <p:nvPr/>
        </p:nvSpPr>
        <p:spPr>
          <a:xfrm>
            <a:off x="1825673" y="1350662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962A60D-233F-9F98-9787-4AED66A7D21B}"/>
              </a:ext>
            </a:extLst>
          </p:cNvPr>
          <p:cNvSpPr txBox="1"/>
          <p:nvPr/>
        </p:nvSpPr>
        <p:spPr>
          <a:xfrm>
            <a:off x="409402" y="82680"/>
            <a:ext cx="4223079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Preparación de los datos.</a:t>
            </a:r>
          </a:p>
        </p:txBody>
      </p:sp>
    </p:spTree>
    <p:extLst>
      <p:ext uri="{BB962C8B-B14F-4D97-AF65-F5344CB8AC3E}">
        <p14:creationId xmlns:p14="http://schemas.microsoft.com/office/powerpoint/2010/main" val="45075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F45C38A-0D5F-BE6C-DDDD-01A317499614}"/>
              </a:ext>
            </a:extLst>
          </p:cNvPr>
          <p:cNvSpPr/>
          <p:nvPr/>
        </p:nvSpPr>
        <p:spPr>
          <a:xfrm>
            <a:off x="4214553" y="623455"/>
            <a:ext cx="7882019" cy="6232738"/>
          </a:xfrm>
          <a:prstGeom prst="roundRect">
            <a:avLst>
              <a:gd name="adj" fmla="val 3645"/>
            </a:avLst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Uso de definiciones de distancia específicas:</a:t>
            </a:r>
          </a:p>
          <a:p>
            <a:endParaRPr lang="es-E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Hamming-Levenshtein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(ya vistas)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Similitud de Jaccard: Mide la proporción de elementos que son comunes a dos conjuntos en relación con el total de elementos que aparecen en al menos uno de ellos.</a:t>
            </a: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Ejemplo: Si miramos los ingredientes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podemos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determinar que las galletas están más cerca del bizcocho que del tomate frito.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Medidas híbridas de distancia.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s-ES" dirty="0" err="1" smtClean="0">
                <a:solidFill>
                  <a:schemeClr val="accent1">
                    <a:lumMod val="50000"/>
                  </a:schemeClr>
                </a:solidFill>
              </a:rPr>
              <a:t>Gower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): Calcula una distancia ponderada en cada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variable,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y luego las combina en una distancia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general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endParaRPr lang="es-ES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uméricas: Se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usa una distancia Euclidiana normalizada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 diferencia entre los valores se divide por el rango de la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variable.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Variables categóricas: Se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asigna una distancia de 0 si los valores son iguales y 1 si son diferentes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Flecha: hacia abajo 45">
            <a:extLst>
              <a:ext uri="{FF2B5EF4-FFF2-40B4-BE49-F238E27FC236}">
                <a16:creationId xmlns:a16="http://schemas.microsoft.com/office/drawing/2014/main" id="{1C0B7ACF-9FDF-1D0B-334D-8A1171C83FAF}"/>
              </a:ext>
            </a:extLst>
          </p:cNvPr>
          <p:cNvSpPr/>
          <p:nvPr/>
        </p:nvSpPr>
        <p:spPr>
          <a:xfrm>
            <a:off x="1825673" y="1350662"/>
            <a:ext cx="298823" cy="4601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D141B78-7FDC-F1AB-42E5-5DFC2A3BA4DD}"/>
                  </a:ext>
                </a:extLst>
              </p:cNvPr>
              <p:cNvSpPr txBox="1"/>
              <p:nvPr/>
            </p:nvSpPr>
            <p:spPr>
              <a:xfrm>
                <a:off x="6586374" y="2444373"/>
                <a:ext cx="2981585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s-E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∩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s-E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∪</m:t>
                              </m:r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D141B78-7FDC-F1AB-42E5-5DFC2A3B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374" y="2444373"/>
                <a:ext cx="2981585" cy="669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FCC9286-DA1B-053B-68A3-A50013787456}"/>
                  </a:ext>
                </a:extLst>
              </p:cNvPr>
              <p:cNvSpPr txBox="1"/>
              <p:nvPr/>
            </p:nvSpPr>
            <p:spPr>
              <a:xfrm>
                <a:off x="7903736" y="5738195"/>
                <a:ext cx="2981585" cy="1117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=0,1 </m:t>
                              </m:r>
                              <m:r>
                                <m:rPr>
                                  <m:nor/>
                                </m:rPr>
                                <a:rPr lang="es-ES" b="0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ES" b="0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categ</m:t>
                              </m:r>
                              <m:r>
                                <m:rPr>
                                  <m:nor/>
                                </m:rPr>
                                <a:rPr lang="es-ES" b="0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m:rPr>
                                  <m:nor/>
                                </m:rPr>
                                <a:rPr lang="es-ES" b="0" i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rica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s-ES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s-ES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FCC9286-DA1B-053B-68A3-A50013787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736" y="5738195"/>
                <a:ext cx="2981585" cy="1117998"/>
              </a:xfrm>
              <a:prstGeom prst="rect">
                <a:avLst/>
              </a:prstGeom>
              <a:blipFill>
                <a:blip r:embed="rId4"/>
                <a:stretch>
                  <a:fillRect r="-777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8188C07-0032-5928-0F33-97193C4A3275}"/>
                  </a:ext>
                </a:extLst>
              </p:cNvPr>
              <p:cNvSpPr txBox="1"/>
              <p:nvPr/>
            </p:nvSpPr>
            <p:spPr>
              <a:xfrm>
                <a:off x="4632481" y="5872911"/>
                <a:ext cx="3183493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𝐺𝑜𝑤𝑒𝑟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s-E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8188C07-0032-5928-0F33-97193C4A3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481" y="5872911"/>
                <a:ext cx="3183493" cy="8485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35F36697-CD34-88BD-3406-6B910AF02C6E}"/>
              </a:ext>
            </a:extLst>
          </p:cNvPr>
          <p:cNvSpPr txBox="1"/>
          <p:nvPr/>
        </p:nvSpPr>
        <p:spPr>
          <a:xfrm>
            <a:off x="409402" y="82680"/>
            <a:ext cx="4223079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Preparación de los datos.</a:t>
            </a:r>
          </a:p>
        </p:txBody>
      </p:sp>
      <p:sp>
        <p:nvSpPr>
          <p:cNvPr id="12" name="Rectángulo: esquinas redondeadas 31">
            <a:extLst>
              <a:ext uri="{FF2B5EF4-FFF2-40B4-BE49-F238E27FC236}">
                <a16:creationId xmlns:a16="http://schemas.microsoft.com/office/drawing/2014/main" id="{A30DE42D-6BB1-F348-7232-438F2E9152C0}"/>
              </a:ext>
            </a:extLst>
          </p:cNvPr>
          <p:cNvSpPr/>
          <p:nvPr/>
        </p:nvSpPr>
        <p:spPr>
          <a:xfrm>
            <a:off x="322452" y="1903309"/>
            <a:ext cx="2653504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Manejo de variables no numéricas (categóricas)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Flecha: a la derecha 32">
            <a:extLst>
              <a:ext uri="{FF2B5EF4-FFF2-40B4-BE49-F238E27FC236}">
                <a16:creationId xmlns:a16="http://schemas.microsoft.com/office/drawing/2014/main" id="{134D61C5-5CC7-3F52-4638-44BE6AF3C115}"/>
              </a:ext>
            </a:extLst>
          </p:cNvPr>
          <p:cNvSpPr/>
          <p:nvPr/>
        </p:nvSpPr>
        <p:spPr>
          <a:xfrm>
            <a:off x="3225034" y="2328430"/>
            <a:ext cx="901757" cy="39444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10254737" y="6142344"/>
                <a:ext cx="1885716" cy="5791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con</m:t>
                      </m:r>
                      <m:r>
                        <m:rPr>
                          <m:nor/>
                        </m:rPr>
                        <a:rPr lang="es-ES" sz="16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ES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16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es-ES" sz="16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el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rango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la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varible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num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m:rPr>
                          <m:nor/>
                        </m:rPr>
                        <a:rPr lang="es-ES" sz="1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rica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4737" y="6142344"/>
                <a:ext cx="1885716" cy="5791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Proyecto Jupyter - Wikipedia, la enciclopedia libr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89" y="5807091"/>
            <a:ext cx="366024" cy="42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1102213" y="5896123"/>
            <a:ext cx="10502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000" b="1" dirty="0" smtClean="0">
                <a:solidFill>
                  <a:schemeClr val="accent1">
                    <a:lumMod val="50000"/>
                  </a:schemeClr>
                </a:solidFill>
              </a:rPr>
              <a:t>KNN </a:t>
            </a:r>
            <a:r>
              <a:rPr lang="es-ES" sz="1000" b="1" dirty="0" err="1" smtClean="0">
                <a:solidFill>
                  <a:schemeClr val="accent1">
                    <a:lumMod val="50000"/>
                  </a:schemeClr>
                </a:solidFill>
              </a:rPr>
              <a:t>clase.ipynb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35222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9108141" y="136523"/>
            <a:ext cx="2988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7A0595-F997-C90C-2B48-DD52AEEF89B2}"/>
              </a:ext>
            </a:extLst>
          </p:cNvPr>
          <p:cNvSpPr txBox="1"/>
          <p:nvPr/>
        </p:nvSpPr>
        <p:spPr>
          <a:xfrm>
            <a:off x="1797255" y="1119374"/>
            <a:ext cx="647364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Distancias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usadas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en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Reglas de decisión en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Preparación de los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k-NN para Regresión.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Criterio para elegir k en un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Ventajas e inconvenientes del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Implementación del algoritmo.</a:t>
            </a:r>
          </a:p>
        </p:txBody>
      </p:sp>
    </p:spTree>
    <p:extLst>
      <p:ext uri="{BB962C8B-B14F-4D97-AF65-F5344CB8AC3E}">
        <p14:creationId xmlns:p14="http://schemas.microsoft.com/office/powerpoint/2010/main" val="3029844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0B6C1CAB-032E-3F17-B473-5D784F216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694" y="3187475"/>
            <a:ext cx="4799921" cy="362271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61089E-DF32-DC9B-0F8D-19CB7E31B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254" y="502812"/>
            <a:ext cx="3106318" cy="2340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D141B78-7FDC-F1AB-42E5-5DFC2A3BA4DD}"/>
                  </a:ext>
                </a:extLst>
              </p:cNvPr>
              <p:cNvSpPr txBox="1"/>
              <p:nvPr/>
            </p:nvSpPr>
            <p:spPr>
              <a:xfrm>
                <a:off x="1034844" y="4932527"/>
                <a:ext cx="2981585" cy="1376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s-E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s-ES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ES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ES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s-ES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ES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ES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s-ES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D141B78-7FDC-F1AB-42E5-5DFC2A3B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844" y="4932527"/>
                <a:ext cx="2981585" cy="13768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FC7A8AAC-33E7-8FEC-EB28-42C7899A2FFA}"/>
              </a:ext>
            </a:extLst>
          </p:cNvPr>
          <p:cNvSpPr txBox="1"/>
          <p:nvPr/>
        </p:nvSpPr>
        <p:spPr>
          <a:xfrm>
            <a:off x="418353" y="1323387"/>
            <a:ext cx="43508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método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k-NN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puede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usarse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también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para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hacer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regresión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donde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objetivo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es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predecir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el valor que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toma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variable continua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lugar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simplemente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clasificarla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entre un conjunto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discreto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etiquetas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El valor que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asignaremos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predicción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al nuevo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dato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calcula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como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la media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ponderada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El peso que se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asocia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cada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vecino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es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inversa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la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distancia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C5DC134-760F-95FD-65D9-AA5151346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1905" y="502812"/>
            <a:ext cx="3223280" cy="2340000"/>
          </a:xfrm>
          <a:prstGeom prst="rect">
            <a:avLst/>
          </a:prstGeom>
        </p:spPr>
      </p:pic>
      <p:sp>
        <p:nvSpPr>
          <p:cNvPr id="15" name="Elipse 14">
            <a:extLst>
              <a:ext uri="{FF2B5EF4-FFF2-40B4-BE49-F238E27FC236}">
                <a16:creationId xmlns:a16="http://schemas.microsoft.com/office/drawing/2014/main" id="{83BE1151-C15B-27ED-20CC-D990C2BADE3C}"/>
              </a:ext>
            </a:extLst>
          </p:cNvPr>
          <p:cNvSpPr/>
          <p:nvPr/>
        </p:nvSpPr>
        <p:spPr>
          <a:xfrm>
            <a:off x="6696120" y="4500527"/>
            <a:ext cx="576000" cy="57600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92BCF7E-5762-1FE1-9FE9-A0CF0117D933}"/>
              </a:ext>
            </a:extLst>
          </p:cNvPr>
          <p:cNvSpPr/>
          <p:nvPr/>
        </p:nvSpPr>
        <p:spPr>
          <a:xfrm>
            <a:off x="7160788" y="3893999"/>
            <a:ext cx="432000" cy="43200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852B73E-9780-6763-0C13-7BD028A00E5A}"/>
              </a:ext>
            </a:extLst>
          </p:cNvPr>
          <p:cNvSpPr/>
          <p:nvPr/>
        </p:nvSpPr>
        <p:spPr>
          <a:xfrm>
            <a:off x="7601969" y="3524064"/>
            <a:ext cx="504000" cy="50400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0FCEAAE8-77C2-897A-1BF3-E3CF56529233}"/>
              </a:ext>
            </a:extLst>
          </p:cNvPr>
          <p:cNvSpPr/>
          <p:nvPr/>
        </p:nvSpPr>
        <p:spPr>
          <a:xfrm>
            <a:off x="8047558" y="3628589"/>
            <a:ext cx="576000" cy="57600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DCFFD76-B25B-0840-9C05-135F5DDC6CA3}"/>
              </a:ext>
            </a:extLst>
          </p:cNvPr>
          <p:cNvSpPr/>
          <p:nvPr/>
        </p:nvSpPr>
        <p:spPr>
          <a:xfrm>
            <a:off x="8538650" y="4247255"/>
            <a:ext cx="540000" cy="54000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9E61118-CF86-2E4A-FAC4-17F2F44DF905}"/>
              </a:ext>
            </a:extLst>
          </p:cNvPr>
          <p:cNvSpPr/>
          <p:nvPr/>
        </p:nvSpPr>
        <p:spPr>
          <a:xfrm>
            <a:off x="9019045" y="4984231"/>
            <a:ext cx="504000" cy="50400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D00CF88-B307-CCBC-E0E9-4B22B5EBCC93}"/>
              </a:ext>
            </a:extLst>
          </p:cNvPr>
          <p:cNvSpPr/>
          <p:nvPr/>
        </p:nvSpPr>
        <p:spPr>
          <a:xfrm>
            <a:off x="9501589" y="5731930"/>
            <a:ext cx="504000" cy="50400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2BDEB5B-B057-47E9-1699-64EE59211824}"/>
              </a:ext>
            </a:extLst>
          </p:cNvPr>
          <p:cNvSpPr/>
          <p:nvPr/>
        </p:nvSpPr>
        <p:spPr>
          <a:xfrm>
            <a:off x="10107167" y="6013735"/>
            <a:ext cx="252000" cy="25200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B05678D-BE4E-FF96-4C45-B1ADF60936B4}"/>
              </a:ext>
            </a:extLst>
          </p:cNvPr>
          <p:cNvSpPr/>
          <p:nvPr/>
        </p:nvSpPr>
        <p:spPr>
          <a:xfrm>
            <a:off x="10415541" y="5309949"/>
            <a:ext cx="576000" cy="57600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D1C88DB7-C1FF-1912-E0FB-D9DB387F9E3F}"/>
              </a:ext>
            </a:extLst>
          </p:cNvPr>
          <p:cNvSpPr/>
          <p:nvPr/>
        </p:nvSpPr>
        <p:spPr>
          <a:xfrm>
            <a:off x="10839315" y="4769158"/>
            <a:ext cx="684000" cy="684000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B17E267-BD20-676F-CE63-0226941A9707}"/>
              </a:ext>
            </a:extLst>
          </p:cNvPr>
          <p:cNvSpPr txBox="1"/>
          <p:nvPr/>
        </p:nvSpPr>
        <p:spPr>
          <a:xfrm>
            <a:off x="9636744" y="3905705"/>
            <a:ext cx="1224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5-NN</a:t>
            </a:r>
            <a:endParaRPr lang="es-ES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715BA36-2289-BD82-D845-76D51568DF4F}"/>
              </a:ext>
            </a:extLst>
          </p:cNvPr>
          <p:cNvSpPr txBox="1"/>
          <p:nvPr/>
        </p:nvSpPr>
        <p:spPr>
          <a:xfrm>
            <a:off x="409402" y="82680"/>
            <a:ext cx="3628366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k-NN para Regresión.</a:t>
            </a:r>
          </a:p>
        </p:txBody>
      </p:sp>
    </p:spTree>
    <p:extLst>
      <p:ext uri="{BB962C8B-B14F-4D97-AF65-F5344CB8AC3E}">
        <p14:creationId xmlns:p14="http://schemas.microsoft.com/office/powerpoint/2010/main" val="21533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9108141" y="136523"/>
            <a:ext cx="2988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7A0595-F997-C90C-2B48-DD52AEEF89B2}"/>
              </a:ext>
            </a:extLst>
          </p:cNvPr>
          <p:cNvSpPr txBox="1"/>
          <p:nvPr/>
        </p:nvSpPr>
        <p:spPr>
          <a:xfrm>
            <a:off x="1797255" y="1119374"/>
            <a:ext cx="647364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Distancias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usadas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en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Reglas de decisión en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Preparación de los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k-NN para Regresión.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Criterio para elegir k en un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Ventajas e inconvenientes del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Implementación del algoritmo.</a:t>
            </a:r>
          </a:p>
        </p:txBody>
      </p:sp>
    </p:spTree>
    <p:extLst>
      <p:ext uri="{BB962C8B-B14F-4D97-AF65-F5344CB8AC3E}">
        <p14:creationId xmlns:p14="http://schemas.microsoft.com/office/powerpoint/2010/main" val="3709342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8EDE65E3-BD98-90CB-2971-86BA28C5A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961" y="972778"/>
            <a:ext cx="3505320" cy="254335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9495EB4-B7BC-4A37-EF7F-AFD448AECCA5}"/>
              </a:ext>
            </a:extLst>
          </p:cNvPr>
          <p:cNvSpPr/>
          <p:nvPr/>
        </p:nvSpPr>
        <p:spPr>
          <a:xfrm>
            <a:off x="332710" y="2393845"/>
            <a:ext cx="2103724" cy="67185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Pocos vecinos. 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K pequeño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9C45861-F828-3314-5647-12C0A592B24A}"/>
              </a:ext>
            </a:extLst>
          </p:cNvPr>
          <p:cNvSpPr/>
          <p:nvPr/>
        </p:nvSpPr>
        <p:spPr>
          <a:xfrm>
            <a:off x="3226946" y="1553087"/>
            <a:ext cx="2577036" cy="1095304"/>
          </a:xfrm>
          <a:prstGeom prst="round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Sensible a </a:t>
            </a:r>
            <a:r>
              <a:rPr lang="es-ES" sz="1600" b="1" dirty="0" err="1" smtClean="0">
                <a:solidFill>
                  <a:schemeClr val="accent1">
                    <a:lumMod val="50000"/>
                  </a:schemeClr>
                </a:solidFill>
              </a:rPr>
              <a:t>outliers</a:t>
            </a:r>
            <a:endParaRPr lang="es-E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smtClean="0">
                <a:solidFill>
                  <a:schemeClr val="accent1">
                    <a:lumMod val="50000"/>
                  </a:schemeClr>
                </a:solidFill>
              </a:rPr>
              <a:t>Aumenta la varianza</a:t>
            </a:r>
          </a:p>
          <a:p>
            <a:pPr algn="ctr"/>
            <a:r>
              <a:rPr lang="es-ES" sz="16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600" b="1" dirty="0" err="1" smtClean="0">
                <a:solidFill>
                  <a:schemeClr val="accent1">
                    <a:lumMod val="50000"/>
                  </a:schemeClr>
                </a:solidFill>
              </a:rPr>
              <a:t>overfitting</a:t>
            </a:r>
            <a:endParaRPr lang="es-E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0FF40231-3003-6E1C-14C0-F25801CB870B}"/>
              </a:ext>
            </a:extLst>
          </p:cNvPr>
          <p:cNvSpPr/>
          <p:nvPr/>
        </p:nvSpPr>
        <p:spPr>
          <a:xfrm rot="19384667">
            <a:off x="2476433" y="2117820"/>
            <a:ext cx="720181" cy="21633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56A62BC3-AFB5-18E1-7F0C-D0DBF71DD0BE}"/>
              </a:ext>
            </a:extLst>
          </p:cNvPr>
          <p:cNvSpPr/>
          <p:nvPr/>
        </p:nvSpPr>
        <p:spPr>
          <a:xfrm rot="1884049">
            <a:off x="2476038" y="3150586"/>
            <a:ext cx="720181" cy="219627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12EF08FB-7F4B-E40B-CD0B-D2272C831B1F}"/>
              </a:ext>
            </a:extLst>
          </p:cNvPr>
          <p:cNvSpPr/>
          <p:nvPr/>
        </p:nvSpPr>
        <p:spPr>
          <a:xfrm>
            <a:off x="332710" y="4655041"/>
            <a:ext cx="2103724" cy="67185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Muchos vecinos. 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</a:rPr>
              <a:t>K grande.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66B4049-67A2-06DE-42D1-473802279316}"/>
              </a:ext>
            </a:extLst>
          </p:cNvPr>
          <p:cNvSpPr/>
          <p:nvPr/>
        </p:nvSpPr>
        <p:spPr>
          <a:xfrm>
            <a:off x="3226946" y="5450186"/>
            <a:ext cx="2576709" cy="814812"/>
          </a:xfrm>
          <a:prstGeom prst="roundRec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smtClean="0">
                <a:solidFill>
                  <a:schemeClr val="accent1">
                    <a:lumMod val="50000"/>
                  </a:schemeClr>
                </a:solidFill>
              </a:rPr>
              <a:t>Suaviza las fronteras de decisión</a:t>
            </a:r>
            <a:endParaRPr lang="es-E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Reduce </a:t>
            </a:r>
            <a:r>
              <a:rPr lang="es-ES" sz="1600" b="1" dirty="0" smtClean="0">
                <a:solidFill>
                  <a:schemeClr val="accent1">
                    <a:lumMod val="50000"/>
                  </a:schemeClr>
                </a:solidFill>
              </a:rPr>
              <a:t>la varianza</a:t>
            </a:r>
            <a:endParaRPr lang="es-E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D13D80C-8B25-CFE1-13A4-740B3E3FA280}"/>
              </a:ext>
            </a:extLst>
          </p:cNvPr>
          <p:cNvSpPr/>
          <p:nvPr/>
        </p:nvSpPr>
        <p:spPr>
          <a:xfrm rot="1884049">
            <a:off x="2438969" y="5375109"/>
            <a:ext cx="720181" cy="219627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145980B4-BFF6-0107-FC8F-A02BDAE9E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1" y="5832325"/>
            <a:ext cx="2849389" cy="9541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La experiencia dice que la elección de k no debe sobrepasar el valor de la raíz cuadrada del </a:t>
            </a:r>
            <a:r>
              <a:rPr lang="es-ES" altLang="es-ES" sz="14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número de datos de entrenamiento.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E78A508-D33E-43AA-B656-C9828D86F41A}"/>
              </a:ext>
            </a:extLst>
          </p:cNvPr>
          <p:cNvSpPr txBox="1"/>
          <p:nvPr/>
        </p:nvSpPr>
        <p:spPr>
          <a:xfrm>
            <a:off x="9350477" y="1165967"/>
            <a:ext cx="280981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K-NN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iris dataset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usando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solo la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longitud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y ancho de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los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sépalos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menos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explicativas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150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muestras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70%-30% train-test.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796E243-9553-313C-1D56-B092E7F0DF6A}"/>
              </a:ext>
            </a:extLst>
          </p:cNvPr>
          <p:cNvSpPr txBox="1"/>
          <p:nvPr/>
        </p:nvSpPr>
        <p:spPr>
          <a:xfrm>
            <a:off x="5973811" y="3516129"/>
            <a:ext cx="5899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Regla de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decisión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Voto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mayoritario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con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reducción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vecinos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caso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empate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Explica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el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comportamiento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par-impar)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7878D6D-23AF-0850-A379-AF429B571091}"/>
              </a:ext>
            </a:extLst>
          </p:cNvPr>
          <p:cNvSpPr txBox="1"/>
          <p:nvPr/>
        </p:nvSpPr>
        <p:spPr>
          <a:xfrm>
            <a:off x="5973811" y="511143"/>
            <a:ext cx="2302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Regla del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codo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k=11</a:t>
            </a:r>
          </a:p>
        </p:txBody>
      </p: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68BE24AC-5F97-CD0B-F919-A06D60E9739D}"/>
              </a:ext>
            </a:extLst>
          </p:cNvPr>
          <p:cNvSpPr/>
          <p:nvPr/>
        </p:nvSpPr>
        <p:spPr>
          <a:xfrm>
            <a:off x="6573364" y="1080720"/>
            <a:ext cx="2570636" cy="2040039"/>
          </a:xfrm>
          <a:custGeom>
            <a:avLst/>
            <a:gdLst>
              <a:gd name="connsiteX0" fmla="*/ 0 w 2996872"/>
              <a:gd name="connsiteY0" fmla="*/ 2348280 h 2348280"/>
              <a:gd name="connsiteX1" fmla="*/ 772815 w 2996872"/>
              <a:gd name="connsiteY1" fmla="*/ 672863 h 2348280"/>
              <a:gd name="connsiteX2" fmla="*/ 1356851 w 2996872"/>
              <a:gd name="connsiteY2" fmla="*/ 88827 h 2348280"/>
              <a:gd name="connsiteX3" fmla="*/ 2996872 w 2996872"/>
              <a:gd name="connsiteY3" fmla="*/ 12135 h 234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6872" h="2348280">
                <a:moveTo>
                  <a:pt x="0" y="2348280"/>
                </a:moveTo>
                <a:cubicBezTo>
                  <a:pt x="273336" y="1698859"/>
                  <a:pt x="546673" y="1049438"/>
                  <a:pt x="772815" y="672863"/>
                </a:cubicBezTo>
                <a:cubicBezTo>
                  <a:pt x="998957" y="296288"/>
                  <a:pt x="986175" y="198948"/>
                  <a:pt x="1356851" y="88827"/>
                </a:cubicBezTo>
                <a:cubicBezTo>
                  <a:pt x="1727527" y="-21294"/>
                  <a:pt x="2362199" y="-4580"/>
                  <a:pt x="2996872" y="12135"/>
                </a:cubicBezTo>
              </a:path>
            </a:pathLst>
          </a:custGeom>
          <a:noFill/>
          <a:ln w="92075">
            <a:solidFill>
              <a:schemeClr val="accent2">
                <a:lumMod val="7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57B1238B-2043-4C84-83E7-F0151540B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2156" y="4245161"/>
            <a:ext cx="3572023" cy="2585143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C6F82A8D-F9A2-7BC8-F7E0-F9B98F3C03C4}"/>
              </a:ext>
            </a:extLst>
          </p:cNvPr>
          <p:cNvSpPr txBox="1"/>
          <p:nvPr/>
        </p:nvSpPr>
        <p:spPr>
          <a:xfrm>
            <a:off x="5973811" y="4274375"/>
            <a:ext cx="2690333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k-NN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iris dataset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completo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150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muestras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50%-50% train-test.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El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modelo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tiene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sesgo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alto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sobre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el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entrenamiento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sz="1600" dirty="0" err="1" smtClean="0">
                <a:solidFill>
                  <a:schemeClr val="accent1">
                    <a:lumMod val="50000"/>
                  </a:schemeClr>
                </a:solidFill>
              </a:rPr>
              <a:t>underfitting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).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4CF48F2F-2A1A-D765-F85B-BD3D68A10D95}"/>
              </a:ext>
            </a:extLst>
          </p:cNvPr>
          <p:cNvSpPr/>
          <p:nvPr/>
        </p:nvSpPr>
        <p:spPr>
          <a:xfrm>
            <a:off x="9214792" y="4293171"/>
            <a:ext cx="2489528" cy="2084032"/>
          </a:xfrm>
          <a:custGeom>
            <a:avLst/>
            <a:gdLst>
              <a:gd name="connsiteX0" fmla="*/ 0 w 2489528"/>
              <a:gd name="connsiteY0" fmla="*/ 36955 h 2084032"/>
              <a:gd name="connsiteX1" fmla="*/ 755118 w 2489528"/>
              <a:gd name="connsiteY1" fmla="*/ 31056 h 2084032"/>
              <a:gd name="connsiteX2" fmla="*/ 1286060 w 2489528"/>
              <a:gd name="connsiteY2" fmla="*/ 373219 h 2084032"/>
              <a:gd name="connsiteX3" fmla="*/ 1781605 w 2489528"/>
              <a:gd name="connsiteY3" fmla="*/ 992651 h 2084032"/>
              <a:gd name="connsiteX4" fmla="*/ 2489528 w 2489528"/>
              <a:gd name="connsiteY4" fmla="*/ 2084032 h 208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89528" h="2084032">
                <a:moveTo>
                  <a:pt x="0" y="36955"/>
                </a:moveTo>
                <a:cubicBezTo>
                  <a:pt x="270387" y="5983"/>
                  <a:pt x="540775" y="-24988"/>
                  <a:pt x="755118" y="31056"/>
                </a:cubicBezTo>
                <a:cubicBezTo>
                  <a:pt x="969461" y="87100"/>
                  <a:pt x="1114979" y="212953"/>
                  <a:pt x="1286060" y="373219"/>
                </a:cubicBezTo>
                <a:cubicBezTo>
                  <a:pt x="1457141" y="533485"/>
                  <a:pt x="1581027" y="707516"/>
                  <a:pt x="1781605" y="992651"/>
                </a:cubicBezTo>
                <a:cubicBezTo>
                  <a:pt x="1982183" y="1277786"/>
                  <a:pt x="2235855" y="1680909"/>
                  <a:pt x="2489528" y="2084032"/>
                </a:cubicBezTo>
              </a:path>
            </a:pathLst>
          </a:custGeom>
          <a:noFill/>
          <a:ln w="101600">
            <a:solidFill>
              <a:schemeClr val="accent2">
                <a:lumMod val="7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ED2BF56-B376-FDB3-28A6-BE9C3E86C84F}"/>
              </a:ext>
            </a:extLst>
          </p:cNvPr>
          <p:cNvSpPr txBox="1"/>
          <p:nvPr/>
        </p:nvSpPr>
        <p:spPr>
          <a:xfrm>
            <a:off x="6068613" y="6417100"/>
            <a:ext cx="2302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Regla del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codo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k=5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93BE6A57-096B-B26E-9030-BF287335B815}"/>
              </a:ext>
            </a:extLst>
          </p:cNvPr>
          <p:cNvSpPr/>
          <p:nvPr/>
        </p:nvSpPr>
        <p:spPr>
          <a:xfrm>
            <a:off x="3187409" y="3817054"/>
            <a:ext cx="2576709" cy="134373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smtClean="0">
                <a:solidFill>
                  <a:schemeClr val="accent1">
                    <a:lumMod val="50000"/>
                  </a:schemeClr>
                </a:solidFill>
              </a:rPr>
              <a:t>Aumenta </a:t>
            </a:r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el </a:t>
            </a:r>
            <a:r>
              <a:rPr lang="es-ES" sz="1600" b="1" dirty="0" smtClean="0">
                <a:solidFill>
                  <a:schemeClr val="accent1">
                    <a:lumMod val="50000"/>
                  </a:schemeClr>
                </a:solidFill>
              </a:rPr>
              <a:t>sesgo</a:t>
            </a:r>
          </a:p>
          <a:p>
            <a:pPr algn="ctr"/>
            <a:r>
              <a:rPr lang="es-ES" sz="1600" b="1" dirty="0" err="1" smtClean="0">
                <a:solidFill>
                  <a:schemeClr val="accent1">
                    <a:lumMod val="50000"/>
                  </a:schemeClr>
                </a:solidFill>
              </a:rPr>
              <a:t>underfitting</a:t>
            </a:r>
            <a:endParaRPr lang="es-E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Coste </a:t>
            </a:r>
            <a:r>
              <a:rPr lang="es-ES" sz="1600" b="1" dirty="0" smtClean="0">
                <a:solidFill>
                  <a:schemeClr val="accent1">
                    <a:lumMod val="50000"/>
                  </a:schemeClr>
                </a:solidFill>
              </a:rPr>
              <a:t>Computacional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Aumenta la influencia de la clase mayoritaria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2404E1EE-259C-E832-9547-C82443D8184F}"/>
              </a:ext>
            </a:extLst>
          </p:cNvPr>
          <p:cNvSpPr/>
          <p:nvPr/>
        </p:nvSpPr>
        <p:spPr>
          <a:xfrm>
            <a:off x="3187408" y="2901078"/>
            <a:ext cx="2584050" cy="806775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Reduce el sesgo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1">
                    <a:lumMod val="50000"/>
                  </a:schemeClr>
                </a:solidFill>
              </a:rPr>
              <a:t>Coste </a:t>
            </a:r>
            <a:r>
              <a:rPr lang="es-ES" sz="1600" b="1" dirty="0" smtClean="0">
                <a:solidFill>
                  <a:schemeClr val="accent1">
                    <a:lumMod val="50000"/>
                  </a:schemeClr>
                </a:solidFill>
              </a:rPr>
              <a:t>Computacional</a:t>
            </a:r>
            <a:endParaRPr lang="es-E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0B5B7B9-65E3-EE3B-77D5-FA9F400182AE}"/>
              </a:ext>
            </a:extLst>
          </p:cNvPr>
          <p:cNvSpPr txBox="1"/>
          <p:nvPr/>
        </p:nvSpPr>
        <p:spPr>
          <a:xfrm>
            <a:off x="409402" y="82680"/>
            <a:ext cx="5372561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Criterio para elegir k en un k-NN.</a:t>
            </a:r>
          </a:p>
        </p:txBody>
      </p:sp>
      <p:sp>
        <p:nvSpPr>
          <p:cNvPr id="30" name="Flecha: a la derecha 8">
            <a:extLst>
              <a:ext uri="{FF2B5EF4-FFF2-40B4-BE49-F238E27FC236}">
                <a16:creationId xmlns:a16="http://schemas.microsoft.com/office/drawing/2014/main" id="{0FF40231-3003-6E1C-14C0-F25801CB870B}"/>
              </a:ext>
            </a:extLst>
          </p:cNvPr>
          <p:cNvSpPr/>
          <p:nvPr/>
        </p:nvSpPr>
        <p:spPr>
          <a:xfrm rot="19384667">
            <a:off x="2450681" y="4413469"/>
            <a:ext cx="720181" cy="21633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3247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9108141" y="136523"/>
            <a:ext cx="2988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7A0595-F997-C90C-2B48-DD52AEEF89B2}"/>
              </a:ext>
            </a:extLst>
          </p:cNvPr>
          <p:cNvSpPr txBox="1"/>
          <p:nvPr/>
        </p:nvSpPr>
        <p:spPr>
          <a:xfrm>
            <a:off x="1797255" y="1119374"/>
            <a:ext cx="647364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Distancias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usadas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en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Reglas de decisión en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Preparación de los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k-NN para Regresión.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Criterio para elegir k en un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Ventajas e inconvenientes del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Implementación del algoritmo.</a:t>
            </a:r>
          </a:p>
        </p:txBody>
      </p:sp>
    </p:spTree>
    <p:extLst>
      <p:ext uri="{BB962C8B-B14F-4D97-AF65-F5344CB8AC3E}">
        <p14:creationId xmlns:p14="http://schemas.microsoft.com/office/powerpoint/2010/main" val="1765922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FB8844-F954-DDD2-1640-21E1E1397E45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B43B7A5-1ECB-879E-32D0-EF52E8D612A4}"/>
              </a:ext>
            </a:extLst>
          </p:cNvPr>
          <p:cNvSpPr/>
          <p:nvPr/>
        </p:nvSpPr>
        <p:spPr>
          <a:xfrm>
            <a:off x="334706" y="1963008"/>
            <a:ext cx="5564649" cy="3097160"/>
          </a:xfrm>
          <a:prstGeom prst="roundRect">
            <a:avLst>
              <a:gd name="adj" fmla="val 9238"/>
            </a:avLst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Algoritmo sencillo de entender y de implementar.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Coste bajo de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entrenamiento. 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Funciona para clasificación binaria y múltiple sin incrementar su complejidad (logística).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Clasificación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y Regresión.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No requiere afinar 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parámetros (solo k-) </a:t>
            </a: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02BADE9-3A88-9BD7-B938-AAE7D41FCF88}"/>
              </a:ext>
            </a:extLst>
          </p:cNvPr>
          <p:cNvSpPr/>
          <p:nvPr/>
        </p:nvSpPr>
        <p:spPr>
          <a:xfrm>
            <a:off x="6250774" y="1963009"/>
            <a:ext cx="5845797" cy="4785850"/>
          </a:xfrm>
          <a:prstGeom prst="roundRect">
            <a:avLst>
              <a:gd name="adj" fmla="val 9238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Alto coste computacional en la fase de predicción (cada predicción requiere de todo el conjunto de entrenamiento).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Sensible a clases no equilibradas en número de muestras.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Sensible a los datos de entrada.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Normalización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Definición de distancia datos categóricos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La precisión se “degrada” y el coste aumenta al incrementar la dimensión.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Reducir dimensionalidad.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DDE4A3C-2D0F-A4A8-8573-7A297C162B10}"/>
              </a:ext>
            </a:extLst>
          </p:cNvPr>
          <p:cNvSpPr txBox="1"/>
          <p:nvPr/>
        </p:nvSpPr>
        <p:spPr>
          <a:xfrm>
            <a:off x="2418735" y="1262462"/>
            <a:ext cx="12053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>
                <a:solidFill>
                  <a:schemeClr val="accent6">
                    <a:lumMod val="50000"/>
                  </a:schemeClr>
                </a:solidFill>
              </a:rPr>
              <a:t>Pros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A607836-79D2-9E0E-1B38-185026D81FD5}"/>
              </a:ext>
            </a:extLst>
          </p:cNvPr>
          <p:cNvSpPr txBox="1"/>
          <p:nvPr/>
        </p:nvSpPr>
        <p:spPr>
          <a:xfrm>
            <a:off x="8387899" y="1262462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 err="1">
                <a:solidFill>
                  <a:srgbClr val="C00000"/>
                </a:solidFill>
              </a:rPr>
              <a:t>Cons</a:t>
            </a:r>
            <a:endParaRPr lang="es-ES" sz="4400" b="1" dirty="0">
              <a:solidFill>
                <a:srgbClr val="C0000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F6797D9-DCB6-3106-D033-5221A728D3EB}"/>
              </a:ext>
            </a:extLst>
          </p:cNvPr>
          <p:cNvSpPr txBox="1"/>
          <p:nvPr/>
        </p:nvSpPr>
        <p:spPr>
          <a:xfrm>
            <a:off x="409402" y="82680"/>
            <a:ext cx="5905976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Ventajas e inconvenientes del k-NN. </a:t>
            </a:r>
            <a:endParaRPr lang="es-E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903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993CC0-FDBD-26F4-7B73-31310041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DB6A46D6-236C-64A1-113D-C1D6F4DC1D58}"/>
                  </a:ext>
                </a:extLst>
              </p:cNvPr>
              <p:cNvSpPr txBox="1"/>
              <p:nvPr/>
            </p:nvSpPr>
            <p:spPr>
              <a:xfrm>
                <a:off x="664924" y="953454"/>
                <a:ext cx="11428754" cy="1047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20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Tomamos 10 puntos distribuidos de forma aleatoria en el intervalo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s-E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  <m:r>
                          <a:rPr lang="es-ES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s-ES" sz="2000" dirty="0">
                    <a:solidFill>
                      <a:schemeClr val="accent1">
                        <a:lumMod val="50000"/>
                      </a:schemeClr>
                    </a:solidFill>
                  </a:rPr>
                  <a:t> siendo </a:t>
                </a:r>
                <a14:m>
                  <m:oMath xmlns:m="http://schemas.openxmlformats.org/officeDocument/2006/math">
                    <m:r>
                      <a:rPr lang="es-ES" sz="20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" sz="2000" dirty="0">
                    <a:solidFill>
                      <a:schemeClr val="accent1">
                        <a:lumMod val="50000"/>
                      </a:schemeClr>
                    </a:solidFill>
                  </a:rPr>
                  <a:t> la dimensión. Medimos la distancia de cada punto con el resto y hallamos la media y el valor mínimo.  Veamos qué ocurre en </a:t>
                </a:r>
                <a14:m>
                  <m:oMath xmlns:m="http://schemas.openxmlformats.org/officeDocument/2006/math">
                    <m:r>
                      <a:rPr lang="es-ES" sz="200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ES" sz="2000" dirty="0">
                    <a:solidFill>
                      <a:schemeClr val="accent1">
                        <a:lumMod val="50000"/>
                      </a:schemeClr>
                    </a:solidFill>
                  </a:rPr>
                  <a:t> y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" sz="20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DB6A46D6-236C-64A1-113D-C1D6F4DC1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24" y="953454"/>
                <a:ext cx="11428754" cy="1047916"/>
              </a:xfrm>
              <a:prstGeom prst="rect">
                <a:avLst/>
              </a:prstGeom>
              <a:blipFill>
                <a:blip r:embed="rId3"/>
                <a:stretch>
                  <a:fillRect l="-480" t="-2326" b="-697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1">
            <a:extLst>
              <a:ext uri="{FF2B5EF4-FFF2-40B4-BE49-F238E27FC236}">
                <a16:creationId xmlns:a16="http://schemas.microsoft.com/office/drawing/2014/main" id="{55E351BB-9801-5C81-9B45-E34E62C10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008" y="2223596"/>
            <a:ext cx="4075471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cs typeface="Courier New" panose="02070309020205020404" pitchFamily="49" charset="0"/>
              </a:rPr>
              <a:t>Distancia mínima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kumimoji="0" lang="es-ES" altLang="es-ES" sz="16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0.21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 dirty="0">
                <a:solidFill>
                  <a:schemeClr val="accent5">
                    <a:lumMod val="50000"/>
                  </a:schemeClr>
                </a:solidFill>
                <a:cs typeface="Courier New" panose="02070309020205020404" pitchFamily="49" charset="0"/>
              </a:rPr>
              <a:t>Distancia mínima media</a:t>
            </a:r>
            <a:r>
              <a:rPr lang="es-ES" altLang="es-ES" sz="16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0.312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</a:rPr>
              <a:t> 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890E0E7-C2E6-C1C8-01F6-2E8C9A5B03E0}"/>
              </a:ext>
            </a:extLst>
          </p:cNvPr>
          <p:cNvGrpSpPr/>
          <p:nvPr/>
        </p:nvGrpSpPr>
        <p:grpSpPr>
          <a:xfrm>
            <a:off x="974557" y="2203288"/>
            <a:ext cx="5617889" cy="531900"/>
            <a:chOff x="664924" y="1835523"/>
            <a:chExt cx="6123849" cy="531900"/>
          </a:xfrm>
        </p:grpSpPr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A763BED8-8DDB-0D71-FD41-1F7716A17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5040" y="1835523"/>
              <a:ext cx="5743617" cy="476253"/>
            </a:xfrm>
            <a:prstGeom prst="rect">
              <a:avLst/>
            </a:prstGeom>
          </p:spPr>
        </p:pic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9554BD0B-AE02-9DC6-30C4-2CDCCBB8DEE0}"/>
                </a:ext>
              </a:extLst>
            </p:cNvPr>
            <p:cNvCxnSpPr/>
            <p:nvPr/>
          </p:nvCxnSpPr>
          <p:spPr>
            <a:xfrm>
              <a:off x="1079526" y="2295423"/>
              <a:ext cx="656303" cy="0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104412CB-A6B8-B241-5DC8-62EE178A6727}"/>
                </a:ext>
              </a:extLst>
            </p:cNvPr>
            <p:cNvCxnSpPr/>
            <p:nvPr/>
          </p:nvCxnSpPr>
          <p:spPr>
            <a:xfrm>
              <a:off x="2352803" y="2295423"/>
              <a:ext cx="360000" cy="0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C5F06E4B-666D-69CF-B613-E866E0DD8E7F}"/>
                </a:ext>
              </a:extLst>
            </p:cNvPr>
            <p:cNvCxnSpPr/>
            <p:nvPr/>
          </p:nvCxnSpPr>
          <p:spPr>
            <a:xfrm>
              <a:off x="2723053" y="2367423"/>
              <a:ext cx="252000" cy="0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F09AB836-A200-C4F1-C756-76D7ECFC0A61}"/>
                </a:ext>
              </a:extLst>
            </p:cNvPr>
            <p:cNvCxnSpPr/>
            <p:nvPr/>
          </p:nvCxnSpPr>
          <p:spPr>
            <a:xfrm>
              <a:off x="3834098" y="2295423"/>
              <a:ext cx="396000" cy="0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AB7D313D-4B66-6EF0-FD4A-772253E7C12D}"/>
                </a:ext>
              </a:extLst>
            </p:cNvPr>
            <p:cNvCxnSpPr/>
            <p:nvPr/>
          </p:nvCxnSpPr>
          <p:spPr>
            <a:xfrm>
              <a:off x="4230098" y="2367423"/>
              <a:ext cx="468000" cy="0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48F44F87-0D3F-EB68-79E4-5ACCC57B91A4}"/>
                </a:ext>
              </a:extLst>
            </p:cNvPr>
            <p:cNvCxnSpPr/>
            <p:nvPr/>
          </p:nvCxnSpPr>
          <p:spPr>
            <a:xfrm>
              <a:off x="6294620" y="2295423"/>
              <a:ext cx="144000" cy="0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68113798-E7A0-F1E6-EBD6-98EB9614E0BD}"/>
                </a:ext>
              </a:extLst>
            </p:cNvPr>
            <p:cNvCxnSpPr>
              <a:stCxn id="53" idx="1"/>
              <a:endCxn id="53" idx="3"/>
            </p:cNvCxnSpPr>
            <p:nvPr/>
          </p:nvCxnSpPr>
          <p:spPr>
            <a:xfrm>
              <a:off x="855040" y="2073650"/>
              <a:ext cx="574361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F323B464-1602-B388-0EF1-1C167B3C98B6}"/>
                </a:ext>
              </a:extLst>
            </p:cNvPr>
            <p:cNvSpPr txBox="1"/>
            <p:nvPr/>
          </p:nvSpPr>
          <p:spPr>
            <a:xfrm>
              <a:off x="664924" y="2042871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dirty="0"/>
                <a:t>0.0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21A5EBE4-31CF-3FC0-AB29-1268869517E4}"/>
                </a:ext>
              </a:extLst>
            </p:cNvPr>
            <p:cNvSpPr txBox="1"/>
            <p:nvPr/>
          </p:nvSpPr>
          <p:spPr>
            <a:xfrm>
              <a:off x="6408541" y="2042871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dirty="0"/>
                <a:t>1.0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11827A1-2867-DB9A-2ADE-4E6D0E16CF00}"/>
              </a:ext>
            </a:extLst>
          </p:cNvPr>
          <p:cNvGrpSpPr/>
          <p:nvPr/>
        </p:nvGrpSpPr>
        <p:grpSpPr>
          <a:xfrm>
            <a:off x="906435" y="3120761"/>
            <a:ext cx="4812710" cy="3515174"/>
            <a:chOff x="874268" y="2700279"/>
            <a:chExt cx="5475648" cy="4106737"/>
          </a:xfrm>
        </p:grpSpPr>
        <p:pic>
          <p:nvPicPr>
            <p:cNvPr id="63" name="Imagen 62">
              <a:extLst>
                <a:ext uri="{FF2B5EF4-FFF2-40B4-BE49-F238E27FC236}">
                  <a16:creationId xmlns:a16="http://schemas.microsoft.com/office/drawing/2014/main" id="{8661F28F-A32E-E69B-A520-104EFCE1C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4268" y="2700279"/>
              <a:ext cx="5475648" cy="4106737"/>
            </a:xfrm>
            <a:prstGeom prst="rect">
              <a:avLst/>
            </a:prstGeom>
          </p:spPr>
        </p:pic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47B7B03C-F14E-648A-2F84-C9EE2FF71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9326" y="5290457"/>
              <a:ext cx="197070" cy="63208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F5269DF7-F0F0-1FA5-9FA0-E8D243593B3E}"/>
                </a:ext>
              </a:extLst>
            </p:cNvPr>
            <p:cNvCxnSpPr>
              <a:cxnSpLocks/>
            </p:cNvCxnSpPr>
            <p:nvPr/>
          </p:nvCxnSpPr>
          <p:spPr>
            <a:xfrm>
              <a:off x="3597020" y="4993599"/>
              <a:ext cx="201257" cy="123524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1B9108EA-96B1-BC75-421F-5F7F74286E8D}"/>
                </a:ext>
              </a:extLst>
            </p:cNvPr>
            <p:cNvCxnSpPr>
              <a:cxnSpLocks/>
            </p:cNvCxnSpPr>
            <p:nvPr/>
          </p:nvCxnSpPr>
          <p:spPr>
            <a:xfrm>
              <a:off x="3612092" y="4226574"/>
              <a:ext cx="110822" cy="619244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999F1B5D-20AE-AC21-6F53-BBA6D830156B}"/>
                </a:ext>
              </a:extLst>
            </p:cNvPr>
            <p:cNvCxnSpPr>
              <a:cxnSpLocks/>
            </p:cNvCxnSpPr>
            <p:nvPr/>
          </p:nvCxnSpPr>
          <p:spPr>
            <a:xfrm>
              <a:off x="2938870" y="3597248"/>
              <a:ext cx="658150" cy="495429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08C606AF-94FE-05B6-4D39-6AE81A4E080E}"/>
                </a:ext>
              </a:extLst>
            </p:cNvPr>
            <p:cNvCxnSpPr>
              <a:cxnSpLocks/>
            </p:cNvCxnSpPr>
            <p:nvPr/>
          </p:nvCxnSpPr>
          <p:spPr>
            <a:xfrm>
              <a:off x="4347861" y="3060290"/>
              <a:ext cx="1614343" cy="368710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81E63608-3D76-CEE7-2EA8-54E8361F74BF}"/>
                </a:ext>
              </a:extLst>
            </p:cNvPr>
            <p:cNvCxnSpPr>
              <a:cxnSpLocks/>
            </p:cNvCxnSpPr>
            <p:nvPr/>
          </p:nvCxnSpPr>
          <p:spPr>
            <a:xfrm>
              <a:off x="1564859" y="5454444"/>
              <a:ext cx="807172" cy="828369"/>
            </a:xfrm>
            <a:prstGeom prst="line">
              <a:avLst/>
            </a:prstGeom>
            <a:ln w="15875"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ectangle 1">
            <a:extLst>
              <a:ext uri="{FF2B5EF4-FFF2-40B4-BE49-F238E27FC236}">
                <a16:creationId xmlns:a16="http://schemas.microsoft.com/office/drawing/2014/main" id="{0A5006C5-9463-E371-2394-4F4CF3C2F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007" y="3298893"/>
            <a:ext cx="4075471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cs typeface="Courier New" panose="02070309020205020404" pitchFamily="49" charset="0"/>
              </a:rPr>
              <a:t>Distancia mínima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kumimoji="0" lang="es-ES" altLang="es-ES" sz="16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0.409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 dirty="0">
                <a:solidFill>
                  <a:schemeClr val="accent5">
                    <a:lumMod val="50000"/>
                  </a:schemeClr>
                </a:solidFill>
                <a:cs typeface="Courier New" panose="02070309020205020404" pitchFamily="49" charset="0"/>
              </a:rPr>
              <a:t>Distancia mínima media</a:t>
            </a:r>
            <a:r>
              <a:rPr lang="es-ES" altLang="es-ES" sz="16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0.3106</a:t>
            </a:r>
            <a:r>
              <a:rPr kumimoji="0" lang="es-ES" altLang="es-E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</a:rPr>
              <a:t> 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DBA9F0A-85D3-8E72-AD66-05D4C671E3EE}"/>
              </a:ext>
            </a:extLst>
          </p:cNvPr>
          <p:cNvSpPr txBox="1"/>
          <p:nvPr/>
        </p:nvSpPr>
        <p:spPr>
          <a:xfrm>
            <a:off x="409402" y="82680"/>
            <a:ext cx="10201704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accent1">
                    <a:lumMod val="50000"/>
                  </a:schemeClr>
                </a:solidFill>
              </a:rPr>
              <a:t>Ventajas e </a:t>
            </a: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inconvenientes</a:t>
            </a:r>
            <a:r>
              <a:rPr lang="es-ES" sz="2800" dirty="0">
                <a:solidFill>
                  <a:schemeClr val="accent1">
                    <a:lumMod val="50000"/>
                  </a:schemeClr>
                </a:solidFill>
              </a:rPr>
              <a:t> del k-NN. </a:t>
            </a:r>
            <a:r>
              <a:rPr lang="es-ES" sz="2400" dirty="0">
                <a:solidFill>
                  <a:schemeClr val="accent1">
                    <a:lumMod val="50000"/>
                  </a:schemeClr>
                </a:solidFill>
              </a:rPr>
              <a:t>La maldición de la dimensionalidad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F0E760D-D48D-90EF-D517-DD57EF0B5E0C}"/>
                  </a:ext>
                </a:extLst>
              </p:cNvPr>
              <p:cNvSpPr txBox="1"/>
              <p:nvPr/>
            </p:nvSpPr>
            <p:spPr>
              <a:xfrm>
                <a:off x="6778357" y="4276003"/>
                <a:ext cx="4188543" cy="2068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¿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Qué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ocurrirá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 con 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esas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medidas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conforme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aumentamos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 la 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dimensión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?</a:t>
                </a:r>
              </a:p>
              <a:p>
                <a:endParaRPr lang="en-US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Vamos a usar 100 puntos 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en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lugar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 de 10 y 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variar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 la 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dimensión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 del </a:t>
                </a:r>
                <a:r>
                  <a:rPr lang="en-US" dirty="0" err="1">
                    <a:solidFill>
                      <a:schemeClr val="accent1">
                        <a:lumMod val="50000"/>
                      </a:schemeClr>
                    </a:solidFill>
                  </a:rPr>
                  <a:t>espacio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accent1">
                        <a:lumMod val="50000"/>
                      </a:schemeClr>
                    </a:solidFill>
                  </a:rPr>
                  <a:t>paramétrico</a:t>
                </a:r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[0,1</m:t>
                        </m:r>
                        <m:r>
                          <a:rPr lang="es-E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E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s-E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  con </a:t>
                </a:r>
                <a14:m>
                  <m:oMath xmlns:m="http://schemas.openxmlformats.org/officeDocument/2006/math">
                    <m:r>
                      <a:rPr lang="es-ES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ES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entre 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1 y </a:t>
                </a:r>
                <a:r>
                  <a:rPr lang="en-US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500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F0E760D-D48D-90EF-D517-DD57EF0B5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357" y="4276003"/>
                <a:ext cx="4188543" cy="2068002"/>
              </a:xfrm>
              <a:prstGeom prst="rect">
                <a:avLst/>
              </a:prstGeom>
              <a:blipFill>
                <a:blip r:embed="rId6"/>
                <a:stretch>
                  <a:fillRect l="-1310" t="-147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CA3A03CE-C00F-EC81-32A1-5A34C076D733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4471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993CC0-FDBD-26F4-7B73-31310041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4AA055A-B59C-9897-F395-D86FE659FE1D}"/>
              </a:ext>
            </a:extLst>
          </p:cNvPr>
          <p:cNvSpPr txBox="1"/>
          <p:nvPr/>
        </p:nvSpPr>
        <p:spPr>
          <a:xfrm>
            <a:off x="7095227" y="1957270"/>
            <a:ext cx="50967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Mayor dispersión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: Los puntos de datos se dispersan, haciendo que el algoritmo tenga menos vecinos cercanos para realizar predicciones precisas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. (Los puntos están más lejos entre sí)</a:t>
            </a: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smtClean="0">
                <a:solidFill>
                  <a:schemeClr val="accent1">
                    <a:lumMod val="50000"/>
                  </a:schemeClr>
                </a:solidFill>
              </a:rPr>
              <a:t>Concentración </a:t>
            </a: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de valores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: Las distancias entre puntos se vuelven similares, dificultando la distinción entre vecinos cercanos y lejanos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. (la distancia entre puntos es similar, menos dispersión)</a:t>
            </a: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smtClean="0">
                <a:solidFill>
                  <a:schemeClr val="accent1">
                    <a:lumMod val="50000"/>
                  </a:schemeClr>
                </a:solidFill>
              </a:rPr>
              <a:t>Complejidad </a:t>
            </a: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computacional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: Aumenta el costo de calcular distancias, lo que lleva a tiempos de computación más largos</a:t>
            </a:r>
            <a:r>
              <a:rPr lang="es-ES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endParaRPr lang="es-E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3B8749-C1AC-F0CD-5EEF-DBF33B3E4260}"/>
              </a:ext>
            </a:extLst>
          </p:cNvPr>
          <p:cNvSpPr txBox="1"/>
          <p:nvPr/>
        </p:nvSpPr>
        <p:spPr>
          <a:xfrm>
            <a:off x="427101" y="976874"/>
            <a:ext cx="11572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La "maldición de la dimensionalidad" puede afectar la precisión, eficiencia y generalización del algoritmo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kNN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en espacios de alta dimensión.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74029F8-3D25-8361-F529-8B5B141325A6}"/>
              </a:ext>
            </a:extLst>
          </p:cNvPr>
          <p:cNvSpPr txBox="1"/>
          <p:nvPr/>
        </p:nvSpPr>
        <p:spPr>
          <a:xfrm>
            <a:off x="427100" y="94478"/>
            <a:ext cx="10201704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accent1">
                    <a:lumMod val="50000"/>
                  </a:schemeClr>
                </a:solidFill>
              </a:rPr>
              <a:t>Ventajas e </a:t>
            </a: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inconvenientes</a:t>
            </a:r>
            <a:r>
              <a:rPr lang="es-ES" sz="2800" dirty="0">
                <a:solidFill>
                  <a:schemeClr val="accent1">
                    <a:lumMod val="50000"/>
                  </a:schemeClr>
                </a:solidFill>
              </a:rPr>
              <a:t> del k-NN. </a:t>
            </a:r>
            <a:r>
              <a:rPr lang="es-ES" sz="2400" dirty="0">
                <a:solidFill>
                  <a:schemeClr val="accent1">
                    <a:lumMod val="50000"/>
                  </a:schemeClr>
                </a:solidFill>
              </a:rPr>
              <a:t>La maldición de la dimensionalidad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69B5BE4-EB46-DF24-76A1-024445AB221E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4197"/>
            <a:ext cx="6969175" cy="479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92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D721802-0BDA-872F-633E-9FFD00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21C4E8-F774-C602-C20C-95042CFF3868}"/>
              </a:ext>
            </a:extLst>
          </p:cNvPr>
          <p:cNvSpPr txBox="1"/>
          <p:nvPr/>
        </p:nvSpPr>
        <p:spPr>
          <a:xfrm>
            <a:off x="9108141" y="136523"/>
            <a:ext cx="2988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7A0595-F997-C90C-2B48-DD52AEEF89B2}"/>
              </a:ext>
            </a:extLst>
          </p:cNvPr>
          <p:cNvSpPr txBox="1"/>
          <p:nvPr/>
        </p:nvSpPr>
        <p:spPr>
          <a:xfrm>
            <a:off x="1797255" y="1119374"/>
            <a:ext cx="647364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Distancias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usadas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en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Reglas de decisión en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Preparación de los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k-NN para Regresión.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Criterio para elegir k en un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Ventajas e inconvenientes del k-NN.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Implementación del algoritmo.</a:t>
            </a:r>
          </a:p>
        </p:txBody>
      </p:sp>
    </p:spTree>
    <p:extLst>
      <p:ext uri="{BB962C8B-B14F-4D97-AF65-F5344CB8AC3E}">
        <p14:creationId xmlns:p14="http://schemas.microsoft.com/office/powerpoint/2010/main" val="1967567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993CC0-FDBD-26F4-7B73-31310041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FCC0-1602-4E53-A4A9-B84AD752D31B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74029F8-3D25-8361-F529-8B5B141325A6}"/>
              </a:ext>
            </a:extLst>
          </p:cNvPr>
          <p:cNvSpPr txBox="1"/>
          <p:nvPr/>
        </p:nvSpPr>
        <p:spPr>
          <a:xfrm>
            <a:off x="427100" y="94478"/>
            <a:ext cx="5079467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accent1">
                    <a:lumMod val="50000"/>
                  </a:schemeClr>
                </a:solidFill>
              </a:rPr>
              <a:t>Implementación del algoritmo.</a:t>
            </a:r>
            <a:endParaRPr lang="es-E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69B5BE4-EB46-DF24-76A1-024445AB221E}"/>
              </a:ext>
            </a:extLst>
          </p:cNvPr>
          <p:cNvSpPr txBox="1"/>
          <p:nvPr/>
        </p:nvSpPr>
        <p:spPr>
          <a:xfrm>
            <a:off x="10447158" y="136523"/>
            <a:ext cx="1649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K-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Nearest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</a:rPr>
              <a:t>Neighbours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60EBAA1-473D-1E2C-0C8A-2FD8853A9F24}"/>
              </a:ext>
            </a:extLst>
          </p:cNvPr>
          <p:cNvSpPr/>
          <p:nvPr/>
        </p:nvSpPr>
        <p:spPr>
          <a:xfrm>
            <a:off x="599722" y="1223289"/>
            <a:ext cx="4343938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Elección variables de entrada.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Limpieza de 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Normalización.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3C497F2-BC04-94F2-4016-595E69315D09}"/>
              </a:ext>
            </a:extLst>
          </p:cNvPr>
          <p:cNvSpPr/>
          <p:nvPr/>
        </p:nvSpPr>
        <p:spPr>
          <a:xfrm>
            <a:off x="599719" y="2937368"/>
            <a:ext cx="4343941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Elección de 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Identificar k-vecinos según la distancia.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Predicción según la regla de decisión.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9C6D49F-0A05-1A55-E7F4-EBC7E81C4F47}"/>
              </a:ext>
            </a:extLst>
          </p:cNvPr>
          <p:cNvSpPr/>
          <p:nvPr/>
        </p:nvSpPr>
        <p:spPr>
          <a:xfrm>
            <a:off x="599719" y="4651447"/>
            <a:ext cx="4343941" cy="12446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19050"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Medir precisión.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Matriz de confusión.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Precision-Recall-F1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8DAB3E76-2913-749F-A403-5A7E4377EB43}"/>
              </a:ext>
            </a:extLst>
          </p:cNvPr>
          <p:cNvSpPr/>
          <p:nvPr/>
        </p:nvSpPr>
        <p:spPr>
          <a:xfrm>
            <a:off x="5014452" y="3306041"/>
            <a:ext cx="436552" cy="2536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0AC8D60-3098-2FF9-F488-B1A322ACAFD5}"/>
              </a:ext>
            </a:extLst>
          </p:cNvPr>
          <p:cNvSpPr txBox="1"/>
          <p:nvPr/>
        </p:nvSpPr>
        <p:spPr>
          <a:xfrm>
            <a:off x="5705179" y="1574824"/>
            <a:ext cx="64868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predict_knn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(k,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y_train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x_point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k_nearest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k_closest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(k,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x_point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majority_vote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y_train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k_nearest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endParaRPr 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k_closest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k,X,point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euclidean_distance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x,point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X])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np.argsort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distances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)[:k]</a:t>
            </a:r>
          </a:p>
          <a:p>
            <a:endParaRPr lang="es-E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majority_vote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Y_k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endParaRPr 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Y_k_copy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Y_k.copy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y_labels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y_counts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np.unique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Y_k_copy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return_counts</a:t>
            </a:r>
            <a:r>
              <a:rPr lang="es-E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max_votes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np.max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y_counts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num_max_votes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np.sum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y_counts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max_votes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num_max_votes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y_labels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np.argmax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y_counts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Y_k_copy.pop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E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majority_vote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Y_k_copy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A4E2ED6-F5CD-8EFB-281E-DA1D797F1F0B}"/>
              </a:ext>
            </a:extLst>
          </p:cNvPr>
          <p:cNvSpPr/>
          <p:nvPr/>
        </p:nvSpPr>
        <p:spPr>
          <a:xfrm>
            <a:off x="5705179" y="1356852"/>
            <a:ext cx="6187920" cy="4855169"/>
          </a:xfrm>
          <a:prstGeom prst="roundRect">
            <a:avLst>
              <a:gd name="adj" fmla="val 597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6D8A1ED-4BA7-7956-4C08-7566AA34D1DA}"/>
              </a:ext>
            </a:extLst>
          </p:cNvPr>
          <p:cNvSpPr txBox="1"/>
          <p:nvPr/>
        </p:nvSpPr>
        <p:spPr>
          <a:xfrm>
            <a:off x="1498436" y="909615"/>
            <a:ext cx="2707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Preparación datos entrada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92131C0-B0E9-1EC2-9A54-9645B71419AD}"/>
              </a:ext>
            </a:extLst>
          </p:cNvPr>
          <p:cNvSpPr txBox="1"/>
          <p:nvPr/>
        </p:nvSpPr>
        <p:spPr>
          <a:xfrm>
            <a:off x="1498436" y="2643042"/>
            <a:ext cx="171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Predicción k-NN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4232AFB-9E24-65CE-5A1E-FFFC3C8F15B3}"/>
              </a:ext>
            </a:extLst>
          </p:cNvPr>
          <p:cNvSpPr txBox="1"/>
          <p:nvPr/>
        </p:nvSpPr>
        <p:spPr>
          <a:xfrm>
            <a:off x="1498435" y="4359755"/>
            <a:ext cx="2300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Validación del modelo</a:t>
            </a: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C4504A00-12DA-FC19-7B0A-2D816DE499D4}"/>
              </a:ext>
            </a:extLst>
          </p:cNvPr>
          <p:cNvCxnSpPr>
            <a:stCxn id="11" idx="1"/>
            <a:endCxn id="9" idx="1"/>
          </p:cNvCxnSpPr>
          <p:nvPr/>
        </p:nvCxnSpPr>
        <p:spPr>
          <a:xfrm rot="10800000">
            <a:off x="599719" y="3559715"/>
            <a:ext cx="12700" cy="1714079"/>
          </a:xfrm>
          <a:prstGeom prst="bentConnector3">
            <a:avLst>
              <a:gd name="adj1" fmla="val 1800000"/>
            </a:avLst>
          </a:prstGeom>
          <a:ln w="476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A3D44E8-89E9-6E51-B2F6-427F91B2FC42}"/>
              </a:ext>
            </a:extLst>
          </p:cNvPr>
          <p:cNvSpPr txBox="1"/>
          <p:nvPr/>
        </p:nvSpPr>
        <p:spPr>
          <a:xfrm rot="16200000">
            <a:off x="-303575" y="4186275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Cambio</a:t>
            </a:r>
            <a:r>
              <a:rPr lang="es-ES" dirty="0"/>
              <a:t> </a:t>
            </a:r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1987973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302CC60E946844A44D317C8BB05DF9" ma:contentTypeVersion="33" ma:contentTypeDescription="Crear nuevo documento." ma:contentTypeScope="" ma:versionID="6c7e834fe0d5188d98b29a4344d1f3e2">
  <xsd:schema xmlns:xsd="http://www.w3.org/2001/XMLSchema" xmlns:xs="http://www.w3.org/2001/XMLSchema" xmlns:p="http://schemas.microsoft.com/office/2006/metadata/properties" xmlns:ns2="68147b4b-69d7-4619-95cc-ccc087043548" xmlns:ns3="a938ec2a-6b57-4b72-a76f-73152430bf4a" targetNamespace="http://schemas.microsoft.com/office/2006/metadata/properties" ma:root="true" ma:fieldsID="1cf8b5368cec60b5cd6cb2330498c9d6" ns2:_="" ns3:_="">
    <xsd:import namespace="68147b4b-69d7-4619-95cc-ccc087043548"/>
    <xsd:import namespace="a938ec2a-6b57-4b72-a76f-73152430bf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47b4b-69d7-4619-95cc-ccc0870435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6b79bab5-423c-41bb-b2a6-fa644551ea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9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0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1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38ec2a-6b57-4b72-a76f-73152430bf4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bc230d2-7967-476b-a5b7-5f7b59276066}" ma:internalName="TaxCatchAll" ma:showField="CatchAllData" ma:web="a938ec2a-6b57-4b72-a76f-73152430bf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wner xmlns="68147b4b-69d7-4619-95cc-ccc087043548">
      <UserInfo>
        <DisplayName/>
        <AccountId xsi:nil="true"/>
        <AccountType/>
      </UserInfo>
    </Owner>
    <Is_Collaboration_Space_Locked xmlns="68147b4b-69d7-4619-95cc-ccc087043548" xsi:nil="true"/>
    <Teams_Channel_Section_Location xmlns="68147b4b-69d7-4619-95cc-ccc087043548" xsi:nil="true"/>
    <Templates xmlns="68147b4b-69d7-4619-95cc-ccc087043548" xsi:nil="true"/>
    <lcf76f155ced4ddcb4097134ff3c332f xmlns="68147b4b-69d7-4619-95cc-ccc087043548">
      <Terms xmlns="http://schemas.microsoft.com/office/infopath/2007/PartnerControls"/>
    </lcf76f155ced4ddcb4097134ff3c332f>
    <TaxCatchAll xmlns="a938ec2a-6b57-4b72-a76f-73152430bf4a" xsi:nil="true"/>
    <NotebookType xmlns="68147b4b-69d7-4619-95cc-ccc087043548" xsi:nil="true"/>
    <FolderType xmlns="68147b4b-69d7-4619-95cc-ccc087043548" xsi:nil="true"/>
    <Teachers xmlns="68147b4b-69d7-4619-95cc-ccc087043548">
      <UserInfo>
        <DisplayName/>
        <AccountId xsi:nil="true"/>
        <AccountType/>
      </UserInfo>
    </Teachers>
    <Distribution_Groups xmlns="68147b4b-69d7-4619-95cc-ccc087043548" xsi:nil="true"/>
    <LMS_Mappings xmlns="68147b4b-69d7-4619-95cc-ccc087043548" xsi:nil="true"/>
    <Invited_Teachers xmlns="68147b4b-69d7-4619-95cc-ccc087043548" xsi:nil="true"/>
    <IsNotebookLocked xmlns="68147b4b-69d7-4619-95cc-ccc087043548" xsi:nil="true"/>
    <CultureName xmlns="68147b4b-69d7-4619-95cc-ccc087043548" xsi:nil="true"/>
    <Students xmlns="68147b4b-69d7-4619-95cc-ccc087043548">
      <UserInfo>
        <DisplayName/>
        <AccountId xsi:nil="true"/>
        <AccountType/>
      </UserInfo>
    </Students>
    <Student_Groups xmlns="68147b4b-69d7-4619-95cc-ccc087043548">
      <UserInfo>
        <DisplayName/>
        <AccountId xsi:nil="true"/>
        <AccountType/>
      </UserInfo>
    </Student_Groups>
    <TeamsChannelId xmlns="68147b4b-69d7-4619-95cc-ccc087043548" xsi:nil="true"/>
    <Invited_Students xmlns="68147b4b-69d7-4619-95cc-ccc087043548" xsi:nil="true"/>
    <DefaultSectionNames xmlns="68147b4b-69d7-4619-95cc-ccc087043548" xsi:nil="true"/>
    <Self_Registration_Enabled xmlns="68147b4b-69d7-4619-95cc-ccc087043548" xsi:nil="true"/>
    <Has_Teacher_Only_SectionGroup xmlns="68147b4b-69d7-4619-95cc-ccc087043548" xsi:nil="true"/>
    <Math_Settings xmlns="68147b4b-69d7-4619-95cc-ccc087043548" xsi:nil="true"/>
    <AppVersion xmlns="68147b4b-69d7-4619-95cc-ccc087043548" xsi:nil="true"/>
  </documentManagement>
</p:properties>
</file>

<file path=customXml/itemProps1.xml><?xml version="1.0" encoding="utf-8"?>
<ds:datastoreItem xmlns:ds="http://schemas.openxmlformats.org/officeDocument/2006/customXml" ds:itemID="{3FC34E68-FFF7-41B7-9E90-C04CFB253032}"/>
</file>

<file path=customXml/itemProps2.xml><?xml version="1.0" encoding="utf-8"?>
<ds:datastoreItem xmlns:ds="http://schemas.openxmlformats.org/officeDocument/2006/customXml" ds:itemID="{9E3716D3-6A4F-41F4-9224-B9E0EF253160}"/>
</file>

<file path=customXml/itemProps3.xml><?xml version="1.0" encoding="utf-8"?>
<ds:datastoreItem xmlns:ds="http://schemas.openxmlformats.org/officeDocument/2006/customXml" ds:itemID="{DE0B5DCF-23CA-47AD-981E-4AD84DEDEBA0}"/>
</file>

<file path=docProps/app.xml><?xml version="1.0" encoding="utf-8"?>
<Properties xmlns="http://schemas.openxmlformats.org/officeDocument/2006/extended-properties" xmlns:vt="http://schemas.openxmlformats.org/officeDocument/2006/docPropsVTypes">
  <TotalTime>4683</TotalTime>
  <Words>2931</Words>
  <Application>Microsoft Office PowerPoint</Application>
  <PresentationFormat>Panorámica</PresentationFormat>
  <Paragraphs>438</Paragraphs>
  <Slides>32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Consolas</vt:lpstr>
      <vt:lpstr>Courier New</vt:lpstr>
      <vt:lpstr>g_d0_f2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uss</dc:creator>
  <cp:lastModifiedBy>Javier_PC</cp:lastModifiedBy>
  <cp:revision>290</cp:revision>
  <cp:lastPrinted>2025-02-19T09:51:17Z</cp:lastPrinted>
  <dcterms:created xsi:type="dcterms:W3CDTF">2018-11-26T16:12:09Z</dcterms:created>
  <dcterms:modified xsi:type="dcterms:W3CDTF">2026-03-02T09:52:36Z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0x010100CF302CC60E946844A44D317C8BB05DF9</vt:lpwstr>
  </property>
</Properties>
</file>