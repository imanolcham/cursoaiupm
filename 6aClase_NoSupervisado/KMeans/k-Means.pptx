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4.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slides/slide18.xml" ContentType="application/vnd.openxmlformats-officedocument.presentationml.slide+xml"/>
  <Override PartName="/ppt/slides/slide12.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handoutMasterIdLst>
    <p:handoutMasterId r:id="rId32"/>
  </p:handoutMasterIdLst>
  <p:sldIdLst>
    <p:sldId id="294" r:id="rId2"/>
    <p:sldId id="295" r:id="rId3"/>
    <p:sldId id="296" r:id="rId4"/>
    <p:sldId id="267" r:id="rId5"/>
    <p:sldId id="268" r:id="rId6"/>
    <p:sldId id="272" r:id="rId7"/>
    <p:sldId id="270" r:id="rId8"/>
    <p:sldId id="303" r:id="rId9"/>
    <p:sldId id="273" r:id="rId10"/>
    <p:sldId id="304" r:id="rId11"/>
    <p:sldId id="269" r:id="rId12"/>
    <p:sldId id="274" r:id="rId13"/>
    <p:sldId id="271" r:id="rId14"/>
    <p:sldId id="275" r:id="rId15"/>
    <p:sldId id="297" r:id="rId16"/>
    <p:sldId id="276" r:id="rId17"/>
    <p:sldId id="288" r:id="rId18"/>
    <p:sldId id="298" r:id="rId19"/>
    <p:sldId id="299" r:id="rId20"/>
    <p:sldId id="300" r:id="rId21"/>
    <p:sldId id="290" r:id="rId22"/>
    <p:sldId id="301" r:id="rId23"/>
    <p:sldId id="286" r:id="rId24"/>
    <p:sldId id="287" r:id="rId25"/>
    <p:sldId id="305" r:id="rId26"/>
    <p:sldId id="292" r:id="rId27"/>
    <p:sldId id="302" r:id="rId28"/>
    <p:sldId id="293" r:id="rId29"/>
    <p:sldId id="265" r:id="rId30"/>
  </p:sldIdLst>
  <p:sldSz cx="12192000" cy="6858000"/>
  <p:notesSz cx="6792913" cy="992505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1293F6E3-07D9-4453-BD5B-66E585CADE65}">
          <p14:sldIdLst/>
        </p14:section>
        <p14:section name="Sección sin título" id="{52992FE5-E3ED-442C-96E2-59E0829CB5C8}">
          <p14:sldIdLst>
            <p14:sldId id="294"/>
            <p14:sldId id="295"/>
            <p14:sldId id="296"/>
            <p14:sldId id="267"/>
            <p14:sldId id="268"/>
            <p14:sldId id="272"/>
            <p14:sldId id="270"/>
            <p14:sldId id="303"/>
            <p14:sldId id="273"/>
            <p14:sldId id="304"/>
            <p14:sldId id="269"/>
            <p14:sldId id="274"/>
            <p14:sldId id="271"/>
            <p14:sldId id="275"/>
            <p14:sldId id="297"/>
            <p14:sldId id="276"/>
            <p14:sldId id="288"/>
            <p14:sldId id="298"/>
            <p14:sldId id="299"/>
            <p14:sldId id="300"/>
            <p14:sldId id="290"/>
            <p14:sldId id="301"/>
            <p14:sldId id="286"/>
            <p14:sldId id="287"/>
            <p14:sldId id="305"/>
            <p14:sldId id="292"/>
            <p14:sldId id="302"/>
            <p14:sldId id="293"/>
            <p14:sldId id="265"/>
          </p14:sldIdLst>
        </p14:section>
      </p14:sectionLst>
    </p:ext>
    <p:ext uri="{EFAFB233-063F-42B5-8137-9DF3F51BA10A}">
      <p15:sldGuideLst xmlns:p15="http://schemas.microsoft.com/office/powerpoint/2012/main">
        <p15:guide id="1" orient="horz" pos="138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453E"/>
    <a:srgbClr val="F3BFB3"/>
    <a:srgbClr val="D4D4D4"/>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32" autoAdjust="0"/>
    <p:restoredTop sz="94660"/>
  </p:normalViewPr>
  <p:slideViewPr>
    <p:cSldViewPr snapToGrid="0" showGuides="1">
      <p:cViewPr varScale="1">
        <p:scale>
          <a:sx n="115" d="100"/>
          <a:sy n="115" d="100"/>
        </p:scale>
        <p:origin x="516" y="114"/>
      </p:cViewPr>
      <p:guideLst>
        <p:guide orient="horz" pos="138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1" y="1"/>
            <a:ext cx="2943595" cy="497976"/>
          </a:xfrm>
          <a:prstGeom prst="rect">
            <a:avLst/>
          </a:prstGeom>
        </p:spPr>
        <p:txBody>
          <a:bodyPr vert="horz" lIns="91376" tIns="45688" rIns="91376" bIns="45688" rtlCol="0"/>
          <a:lstStyle>
            <a:lvl1pPr algn="l">
              <a:defRPr sz="1200"/>
            </a:lvl1pPr>
          </a:lstStyle>
          <a:p>
            <a:endParaRPr lang="es-ES"/>
          </a:p>
        </p:txBody>
      </p:sp>
      <p:sp>
        <p:nvSpPr>
          <p:cNvPr id="3" name="Marcador de fecha 2"/>
          <p:cNvSpPr>
            <a:spLocks noGrp="1"/>
          </p:cNvSpPr>
          <p:nvPr>
            <p:ph type="dt" sz="quarter" idx="1"/>
          </p:nvPr>
        </p:nvSpPr>
        <p:spPr>
          <a:xfrm>
            <a:off x="3847746" y="1"/>
            <a:ext cx="2943595" cy="497976"/>
          </a:xfrm>
          <a:prstGeom prst="rect">
            <a:avLst/>
          </a:prstGeom>
        </p:spPr>
        <p:txBody>
          <a:bodyPr vert="horz" lIns="91376" tIns="45688" rIns="91376" bIns="45688" rtlCol="0"/>
          <a:lstStyle>
            <a:lvl1pPr algn="r">
              <a:defRPr sz="1200"/>
            </a:lvl1pPr>
          </a:lstStyle>
          <a:p>
            <a:fld id="{7A6179E6-35F0-4F71-96B3-CF6E453949F7}" type="datetimeFigureOut">
              <a:rPr lang="es-ES" smtClean="0"/>
              <a:t>25/02/2026</a:t>
            </a:fld>
            <a:endParaRPr lang="es-ES"/>
          </a:p>
        </p:txBody>
      </p:sp>
      <p:sp>
        <p:nvSpPr>
          <p:cNvPr id="4" name="Marcador de pie de página 3"/>
          <p:cNvSpPr>
            <a:spLocks noGrp="1"/>
          </p:cNvSpPr>
          <p:nvPr>
            <p:ph type="ftr" sz="quarter" idx="2"/>
          </p:nvPr>
        </p:nvSpPr>
        <p:spPr>
          <a:xfrm>
            <a:off x="1" y="9427076"/>
            <a:ext cx="2943595" cy="497975"/>
          </a:xfrm>
          <a:prstGeom prst="rect">
            <a:avLst/>
          </a:prstGeom>
        </p:spPr>
        <p:txBody>
          <a:bodyPr vert="horz" lIns="91376" tIns="45688" rIns="91376" bIns="45688"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47746" y="9427076"/>
            <a:ext cx="2943595" cy="497975"/>
          </a:xfrm>
          <a:prstGeom prst="rect">
            <a:avLst/>
          </a:prstGeom>
        </p:spPr>
        <p:txBody>
          <a:bodyPr vert="horz" lIns="91376" tIns="45688" rIns="91376" bIns="45688" rtlCol="0" anchor="b"/>
          <a:lstStyle>
            <a:lvl1pPr algn="r">
              <a:defRPr sz="1200"/>
            </a:lvl1pPr>
          </a:lstStyle>
          <a:p>
            <a:fld id="{64CB6D2D-D9A9-4D56-A82A-4A572EE023C6}" type="slidenum">
              <a:rPr lang="es-ES" smtClean="0"/>
              <a:t>‹Nº›</a:t>
            </a:fld>
            <a:endParaRPr lang="es-ES"/>
          </a:p>
        </p:txBody>
      </p:sp>
    </p:spTree>
    <p:extLst>
      <p:ext uri="{BB962C8B-B14F-4D97-AF65-F5344CB8AC3E}">
        <p14:creationId xmlns:p14="http://schemas.microsoft.com/office/powerpoint/2010/main" val="4809580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3595" cy="497976"/>
          </a:xfrm>
          <a:prstGeom prst="rect">
            <a:avLst/>
          </a:prstGeom>
        </p:spPr>
        <p:txBody>
          <a:bodyPr vert="horz" lIns="91376" tIns="45688" rIns="91376" bIns="45688" rtlCol="0"/>
          <a:lstStyle>
            <a:lvl1pPr algn="l">
              <a:defRPr sz="1200"/>
            </a:lvl1pPr>
          </a:lstStyle>
          <a:p>
            <a:endParaRPr lang="es-ES"/>
          </a:p>
        </p:txBody>
      </p:sp>
      <p:sp>
        <p:nvSpPr>
          <p:cNvPr id="3" name="Date Placeholder 2"/>
          <p:cNvSpPr>
            <a:spLocks noGrp="1"/>
          </p:cNvSpPr>
          <p:nvPr>
            <p:ph type="dt" idx="1"/>
          </p:nvPr>
        </p:nvSpPr>
        <p:spPr>
          <a:xfrm>
            <a:off x="3847746" y="1"/>
            <a:ext cx="2943595" cy="497976"/>
          </a:xfrm>
          <a:prstGeom prst="rect">
            <a:avLst/>
          </a:prstGeom>
        </p:spPr>
        <p:txBody>
          <a:bodyPr vert="horz" lIns="91376" tIns="45688" rIns="91376" bIns="45688" rtlCol="0"/>
          <a:lstStyle>
            <a:lvl1pPr algn="r">
              <a:defRPr sz="1200"/>
            </a:lvl1pPr>
          </a:lstStyle>
          <a:p>
            <a:fld id="{A93DBFC0-00FC-4C8F-976D-30EC62A610F5}" type="datetimeFigureOut">
              <a:rPr lang="es-ES" smtClean="0"/>
              <a:t>25/02/2026</a:t>
            </a:fld>
            <a:endParaRPr lang="es-ES"/>
          </a:p>
        </p:txBody>
      </p:sp>
      <p:sp>
        <p:nvSpPr>
          <p:cNvPr id="4" name="Slide Image Placeholder 3"/>
          <p:cNvSpPr>
            <a:spLocks noGrp="1" noRot="1" noChangeAspect="1"/>
          </p:cNvSpPr>
          <p:nvPr>
            <p:ph type="sldImg" idx="2"/>
          </p:nvPr>
        </p:nvSpPr>
        <p:spPr>
          <a:xfrm>
            <a:off x="419100" y="1241425"/>
            <a:ext cx="5954713" cy="3349625"/>
          </a:xfrm>
          <a:prstGeom prst="rect">
            <a:avLst/>
          </a:prstGeom>
          <a:noFill/>
          <a:ln w="12700">
            <a:solidFill>
              <a:prstClr val="black"/>
            </a:solidFill>
          </a:ln>
        </p:spPr>
        <p:txBody>
          <a:bodyPr vert="horz" lIns="91376" tIns="45688" rIns="91376" bIns="45688" rtlCol="0" anchor="ctr"/>
          <a:lstStyle/>
          <a:p>
            <a:endParaRPr lang="es-ES"/>
          </a:p>
        </p:txBody>
      </p:sp>
      <p:sp>
        <p:nvSpPr>
          <p:cNvPr id="5" name="Notes Placeholder 4"/>
          <p:cNvSpPr>
            <a:spLocks noGrp="1"/>
          </p:cNvSpPr>
          <p:nvPr>
            <p:ph type="body" sz="quarter" idx="3"/>
          </p:nvPr>
        </p:nvSpPr>
        <p:spPr>
          <a:xfrm>
            <a:off x="679292" y="4776430"/>
            <a:ext cx="5434330" cy="3907989"/>
          </a:xfrm>
          <a:prstGeom prst="rect">
            <a:avLst/>
          </a:prstGeom>
        </p:spPr>
        <p:txBody>
          <a:bodyPr vert="horz" lIns="91376" tIns="45688" rIns="91376" bIns="4568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1" y="9427076"/>
            <a:ext cx="2943595" cy="497975"/>
          </a:xfrm>
          <a:prstGeom prst="rect">
            <a:avLst/>
          </a:prstGeom>
        </p:spPr>
        <p:txBody>
          <a:bodyPr vert="horz" lIns="91376" tIns="45688" rIns="91376" bIns="45688" rtlCol="0" anchor="b"/>
          <a:lstStyle>
            <a:lvl1pPr algn="l">
              <a:defRPr sz="1200"/>
            </a:lvl1pPr>
          </a:lstStyle>
          <a:p>
            <a:endParaRPr lang="es-ES"/>
          </a:p>
        </p:txBody>
      </p:sp>
      <p:sp>
        <p:nvSpPr>
          <p:cNvPr id="7" name="Slide Number Placeholder 6"/>
          <p:cNvSpPr>
            <a:spLocks noGrp="1"/>
          </p:cNvSpPr>
          <p:nvPr>
            <p:ph type="sldNum" sz="quarter" idx="5"/>
          </p:nvPr>
        </p:nvSpPr>
        <p:spPr>
          <a:xfrm>
            <a:off x="3847746" y="9427076"/>
            <a:ext cx="2943595" cy="497975"/>
          </a:xfrm>
          <a:prstGeom prst="rect">
            <a:avLst/>
          </a:prstGeom>
        </p:spPr>
        <p:txBody>
          <a:bodyPr vert="horz" lIns="91376" tIns="45688" rIns="91376" bIns="45688" rtlCol="0" anchor="b"/>
          <a:lstStyle>
            <a:lvl1pPr algn="r">
              <a:defRPr sz="1200"/>
            </a:lvl1pPr>
          </a:lstStyle>
          <a:p>
            <a:fld id="{1291E284-FB0A-4E60-AB2F-C5EDB034FEA6}" type="slidenum">
              <a:rPr lang="es-ES" smtClean="0"/>
              <a:t>‹Nº›</a:t>
            </a:fld>
            <a:endParaRPr lang="es-ES"/>
          </a:p>
        </p:txBody>
      </p:sp>
    </p:spTree>
    <p:extLst>
      <p:ext uri="{BB962C8B-B14F-4D97-AF65-F5344CB8AC3E}">
        <p14:creationId xmlns:p14="http://schemas.microsoft.com/office/powerpoint/2010/main" val="344639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802CFDE-017E-4AD7-A9BB-7B1F29A37D24}"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218266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2E1F2C-7E5A-49FE-A1F2-F40A05FDB0B5}"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589913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3871F2-06CA-41C0-9642-AE98CE2819D8}"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001378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B12E0E-DEA5-4CB4-AC89-9E0A85102633}" type="datetime1">
              <a:rPr lang="es-ES" smtClean="0">
                <a:solidFill>
                  <a:prstClr val="black">
                    <a:tint val="75000"/>
                  </a:prstClr>
                </a:solidFill>
              </a:rPr>
              <a:t>25/02/2026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62880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00C19A-912B-4F6B-86F6-DEDA20743EE6}" type="datetime1">
              <a:rPr lang="es-ES" smtClean="0">
                <a:solidFill>
                  <a:prstClr val="black">
                    <a:tint val="75000"/>
                  </a:prstClr>
                </a:solidFill>
              </a:rPr>
              <a:t>25/02/2026</a:t>
            </a:fld>
            <a:endParaRPr lang="es-ES">
              <a:solidFill>
                <a:prstClr val="black">
                  <a:tint val="75000"/>
                </a:prstClr>
              </a:solidFill>
            </a:endParaRPr>
          </a:p>
        </p:txBody>
      </p:sp>
      <p:sp>
        <p:nvSpPr>
          <p:cNvPr id="8" name="Footer Placeholder 7"/>
          <p:cNvSpPr>
            <a:spLocks noGrp="1"/>
          </p:cNvSpPr>
          <p:nvPr>
            <p:ph type="ftr" sz="quarter" idx="11"/>
          </p:nvPr>
        </p:nvSpPr>
        <p:spPr/>
        <p:txBody>
          <a:bodyPr/>
          <a:lstStyle/>
          <a:p>
            <a:r>
              <a:rPr lang="es-ES">
                <a:solidFill>
                  <a:prstClr val="black">
                    <a:tint val="75000"/>
                  </a:prstClr>
                </a:solidFill>
              </a:rPr>
              <a:t>Prueba 1: Historial Académico</a:t>
            </a:r>
          </a:p>
        </p:txBody>
      </p:sp>
      <p:sp>
        <p:nvSpPr>
          <p:cNvPr id="9" name="Slide Number Placeholder 8"/>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466742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166311-CFD3-4432-B35D-98BDF232EF61}" type="datetime1">
              <a:rPr lang="es-ES" smtClean="0">
                <a:solidFill>
                  <a:prstClr val="black">
                    <a:tint val="75000"/>
                  </a:prstClr>
                </a:solidFill>
              </a:rPr>
              <a:t>25/02/2026</a:t>
            </a:fld>
            <a:endParaRPr lang="es-ES">
              <a:solidFill>
                <a:prstClr val="black">
                  <a:tint val="75000"/>
                </a:prstClr>
              </a:solidFill>
            </a:endParaRPr>
          </a:p>
        </p:txBody>
      </p:sp>
      <p:sp>
        <p:nvSpPr>
          <p:cNvPr id="4" name="Footer Placeholder 3"/>
          <p:cNvSpPr>
            <a:spLocks noGrp="1"/>
          </p:cNvSpPr>
          <p:nvPr>
            <p:ph type="ftr" sz="quarter" idx="11"/>
          </p:nvPr>
        </p:nvSpPr>
        <p:spPr/>
        <p:txBody>
          <a:bodyPr/>
          <a:lstStyle/>
          <a:p>
            <a:r>
              <a:rPr lang="es-ES">
                <a:solidFill>
                  <a:prstClr val="black">
                    <a:tint val="75000"/>
                  </a:prstClr>
                </a:solidFill>
              </a:rPr>
              <a:t>Prueba 1: Historial Académico</a:t>
            </a:r>
          </a:p>
        </p:txBody>
      </p:sp>
      <p:sp>
        <p:nvSpPr>
          <p:cNvPr id="5" name="Slide Number Placeholder 4"/>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993535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06593B-9F2E-4895-86C9-25023821CF63}" type="datetime1">
              <a:rPr lang="es-ES" smtClean="0">
                <a:solidFill>
                  <a:prstClr val="black">
                    <a:tint val="75000"/>
                  </a:prstClr>
                </a:solidFill>
              </a:rPr>
              <a:t>25/02/2026</a:t>
            </a:fld>
            <a:endParaRPr lang="es-ES">
              <a:solidFill>
                <a:prstClr val="black">
                  <a:tint val="75000"/>
                </a:prstClr>
              </a:solidFill>
            </a:endParaRPr>
          </a:p>
        </p:txBody>
      </p:sp>
      <p:sp>
        <p:nvSpPr>
          <p:cNvPr id="3" name="Footer Placeholder 2"/>
          <p:cNvSpPr>
            <a:spLocks noGrp="1"/>
          </p:cNvSpPr>
          <p:nvPr>
            <p:ph type="ftr" sz="quarter" idx="11"/>
          </p:nvPr>
        </p:nvSpPr>
        <p:spPr/>
        <p:txBody>
          <a:bodyPr/>
          <a:lstStyle/>
          <a:p>
            <a:r>
              <a:rPr lang="es-ES">
                <a:solidFill>
                  <a:prstClr val="black">
                    <a:tint val="75000"/>
                  </a:prstClr>
                </a:solidFill>
              </a:rPr>
              <a:t>Prueba 1: Historial Académico</a:t>
            </a:r>
          </a:p>
        </p:txBody>
      </p:sp>
      <p:sp>
        <p:nvSpPr>
          <p:cNvPr id="4" name="Slide Number Placeholder 3"/>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958680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891AE6-93D3-4168-BBC8-6F74CA69BEA7}" type="datetime1">
              <a:rPr lang="es-ES" smtClean="0">
                <a:solidFill>
                  <a:prstClr val="black">
                    <a:tint val="75000"/>
                  </a:prstClr>
                </a:solidFill>
              </a:rPr>
              <a:t>25/02/2026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240042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2E1819-C8BA-416C-A0D6-7F83F1E7162D}" type="datetime1">
              <a:rPr lang="es-ES" smtClean="0">
                <a:solidFill>
                  <a:prstClr val="black">
                    <a:tint val="75000"/>
                  </a:prstClr>
                </a:solidFill>
              </a:rPr>
              <a:t>25/02/2026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4064165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5970D-F9C1-4F49-9439-476E50F8F0A3}"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66933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E5CB60-6850-4C7F-8AD0-135AE019E640}"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17776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0832A6-0A32-4744-B7B2-240034DF923D}" type="datetime1">
              <a:rPr lang="es-ES" smtClean="0">
                <a:solidFill>
                  <a:prstClr val="black">
                    <a:tint val="75000"/>
                  </a:prstClr>
                </a:solidFill>
              </a:rPr>
              <a:t>25/02/2026</a:t>
            </a:fld>
            <a:endParaRPr lang="es-ES">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a:solidFill>
                  <a:prstClr val="black">
                    <a:tint val="75000"/>
                  </a:prstClr>
                </a:solidFill>
              </a:rPr>
              <a:t>Prueba 1: Historial Académico</a:t>
            </a: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1610080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hyperlink" Target="https://www.kaggle.com/code/andyxie/k-means-clustering-implementation-in-python"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scikit-learn.org/stable/modules/generated/sklearn.datasets.make_blobs.html" TargetMode="External"/><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20.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50.png"/></Relationships>
</file>

<file path=ppt/slides/_rels/slide25.xml.rels><?xml version="1.0" encoding="UTF-8" standalone="yes"?>
<Relationships xmlns="http://schemas.openxmlformats.org/package/2006/relationships"><Relationship Id="rId3" Type="http://schemas.openxmlformats.org/officeDocument/2006/relationships/image" Target="../media/image220.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50.png"/></Relationships>
</file>

<file path=ppt/slides/_rels/slide26.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hyperlink" Target="https://dashee87.github.io/data%20science/general/Clustering-with-Scikit-with-GIFs/" TargetMode="External"/><Relationship Id="rId3" Type="http://schemas.openxmlformats.org/officeDocument/2006/relationships/hyperlink" Target="https://www.kaggle.com/datasets/joonasyoon/clustering-exercises" TargetMode="External"/><Relationship Id="rId7" Type="http://schemas.openxmlformats.org/officeDocument/2006/relationships/hyperlink" Target="https://www.unioviedo.es/compnum/laboratorios_py/kmeans/kmeans" TargetMode="External"/><Relationship Id="rId2" Type="http://schemas.openxmlformats.org/officeDocument/2006/relationships/hyperlink" Target="https://www.kaggle.com/code/marcinrutecki/clustering-methods-comprehensive-study" TargetMode="External"/><Relationship Id="rId1" Type="http://schemas.openxmlformats.org/officeDocument/2006/relationships/slideLayout" Target="../slideLayouts/slideLayout7.xml"/><Relationship Id="rId6" Type="http://schemas.openxmlformats.org/officeDocument/2006/relationships/hyperlink" Target="https://scikit-learn.org/stable/auto_examples/cluster/plot_kmeans_digits.html" TargetMode="External"/><Relationship Id="rId5" Type="http://schemas.openxmlformats.org/officeDocument/2006/relationships/hyperlink" Target="https://github.com/AssemblyAI-Examples/Machine-Learning-From-Scratch/tree/main/10%20KMeans" TargetMode="External"/><Relationship Id="rId4" Type="http://schemas.openxmlformats.org/officeDocument/2006/relationships/hyperlink" Target="https://www.kaggle.com/code/andyxie/k-means-clustering-implementation-in-python" TargetMode="External"/><Relationship Id="rId9" Type="http://schemas.openxmlformats.org/officeDocument/2006/relationships/hyperlink" Target="https://www.kaggle.com/k-means-clustering-implementation-in-pyth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4" y="2973603"/>
            <a:ext cx="3884397" cy="3884397"/>
          </a:xfrm>
          <a:prstGeom prst="rect">
            <a:avLst/>
          </a:prstGeom>
        </p:spPr>
      </p:pic>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a:t>
            </a:fld>
            <a:endParaRPr lang="es-ES">
              <a:solidFill>
                <a:prstClr val="black">
                  <a:tint val="75000"/>
                </a:prstClr>
              </a:solidFill>
            </a:endParaRPr>
          </a:p>
        </p:txBody>
      </p:sp>
      <p:sp>
        <p:nvSpPr>
          <p:cNvPr id="5" name="CuadroTexto 4">
            <a:extLst>
              <a:ext uri="{FF2B5EF4-FFF2-40B4-BE49-F238E27FC236}">
                <a16:creationId xmlns:a16="http://schemas.microsoft.com/office/drawing/2014/main" id="{D4286E82-FF38-1057-622F-02244AD16F2B}"/>
              </a:ext>
            </a:extLst>
          </p:cNvPr>
          <p:cNvSpPr txBox="1"/>
          <p:nvPr/>
        </p:nvSpPr>
        <p:spPr>
          <a:xfrm>
            <a:off x="110157" y="1229060"/>
            <a:ext cx="11975976" cy="1477328"/>
          </a:xfrm>
          <a:prstGeom prst="rect">
            <a:avLst/>
          </a:prstGeom>
          <a:noFill/>
        </p:spPr>
        <p:txBody>
          <a:bodyPr wrap="square" rtlCol="0">
            <a:spAutoFit/>
          </a:bodyPr>
          <a:lstStyle/>
          <a:p>
            <a:r>
              <a:rPr lang="es-ES" dirty="0">
                <a:solidFill>
                  <a:schemeClr val="accent1">
                    <a:lumMod val="50000"/>
                  </a:schemeClr>
                </a:solidFill>
              </a:rPr>
              <a:t>El método K-</a:t>
            </a:r>
            <a:r>
              <a:rPr lang="es-ES" dirty="0" err="1">
                <a:solidFill>
                  <a:schemeClr val="accent1">
                    <a:lumMod val="50000"/>
                  </a:schemeClr>
                </a:solidFill>
              </a:rPr>
              <a:t>means</a:t>
            </a:r>
            <a:r>
              <a:rPr lang="es-ES" dirty="0">
                <a:solidFill>
                  <a:schemeClr val="accent1">
                    <a:lumMod val="50000"/>
                  </a:schemeClr>
                </a:solidFill>
              </a:rPr>
              <a:t> es un algoritmo de aprendizaje automático </a:t>
            </a:r>
            <a:r>
              <a:rPr lang="es-ES" b="1" dirty="0">
                <a:solidFill>
                  <a:schemeClr val="accent1">
                    <a:lumMod val="50000"/>
                  </a:schemeClr>
                </a:solidFill>
              </a:rPr>
              <a:t>no supervisado </a:t>
            </a:r>
            <a:r>
              <a:rPr lang="es-ES" dirty="0">
                <a:solidFill>
                  <a:schemeClr val="accent1">
                    <a:lumMod val="50000"/>
                  </a:schemeClr>
                </a:solidFill>
              </a:rPr>
              <a:t>que partiendo de un conjunto de datos no etiquetados los </a:t>
            </a:r>
            <a:r>
              <a:rPr lang="es-ES" b="1" dirty="0">
                <a:solidFill>
                  <a:schemeClr val="accent1">
                    <a:lumMod val="50000"/>
                  </a:schemeClr>
                </a:solidFill>
              </a:rPr>
              <a:t>agrupa en k </a:t>
            </a:r>
            <a:r>
              <a:rPr lang="es-ES" b="1" i="1" dirty="0">
                <a:solidFill>
                  <a:schemeClr val="accent1">
                    <a:lumMod val="50000"/>
                  </a:schemeClr>
                </a:solidFill>
              </a:rPr>
              <a:t>clústeres</a:t>
            </a:r>
            <a:r>
              <a:rPr lang="es-ES" b="1" dirty="0">
                <a:solidFill>
                  <a:schemeClr val="accent1">
                    <a:lumMod val="50000"/>
                  </a:schemeClr>
                </a:solidFill>
              </a:rPr>
              <a:t> distintos basados en su similitud</a:t>
            </a:r>
            <a:r>
              <a:rPr lang="es-ES" dirty="0">
                <a:solidFill>
                  <a:schemeClr val="accent1">
                    <a:lumMod val="50000"/>
                  </a:schemeClr>
                </a:solidFill>
              </a:rPr>
              <a:t>. Este algoritmo tiene como entrada el conjunto de  datos de entrada y el número de grupos que se van a formar K. Su coste computacional escala bien cuando aumenta el tamaño de los datos de entrada, lo que lo convierte en uno de los métodos más empleado para descubrir patrones en conjuntos de datos complejos.</a:t>
            </a:r>
          </a:p>
        </p:txBody>
      </p:sp>
      <mc:AlternateContent xmlns:mc="http://schemas.openxmlformats.org/markup-compatibility/2006" xmlns:a14="http://schemas.microsoft.com/office/drawing/2010/main">
        <mc:Choice Requires="a14">
          <p:sp>
            <p:nvSpPr>
              <p:cNvPr id="8" name="CuadroTexto 7"/>
              <p:cNvSpPr txBox="1"/>
              <p:nvPr/>
            </p:nvSpPr>
            <p:spPr>
              <a:xfrm>
                <a:off x="3894541" y="2571404"/>
                <a:ext cx="8297459" cy="4303935"/>
              </a:xfrm>
              <a:prstGeom prst="rect">
                <a:avLst/>
              </a:prstGeom>
              <a:noFill/>
            </p:spPr>
            <p:txBody>
              <a:bodyPr wrap="square" rtlCol="0">
                <a:spAutoFit/>
              </a:bodyPr>
              <a:lstStyle/>
              <a:p>
                <a:r>
                  <a:rPr lang="es-ES" b="1" dirty="0">
                    <a:solidFill>
                      <a:schemeClr val="accent1">
                        <a:lumMod val="50000"/>
                      </a:schemeClr>
                    </a:solidFill>
                  </a:rPr>
                  <a:t>Bases del algoritmo k-</a:t>
                </a:r>
                <a:r>
                  <a:rPr lang="es-ES" b="1" dirty="0" err="1">
                    <a:solidFill>
                      <a:schemeClr val="accent1">
                        <a:lumMod val="50000"/>
                      </a:schemeClr>
                    </a:solidFill>
                  </a:rPr>
                  <a:t>Means</a:t>
                </a:r>
                <a:r>
                  <a:rPr lang="es-ES" b="1" dirty="0">
                    <a:solidFill>
                      <a:schemeClr val="accent1">
                        <a:lumMod val="50000"/>
                      </a:schemeClr>
                    </a:solidFill>
                  </a:rPr>
                  <a:t>:</a:t>
                </a:r>
              </a:p>
              <a:p>
                <a:endParaRPr lang="es-ES" b="1" dirty="0">
                  <a:solidFill>
                    <a:schemeClr val="accent1">
                      <a:lumMod val="50000"/>
                    </a:schemeClr>
                  </a:solidFill>
                </a:endParaRPr>
              </a:p>
              <a:p>
                <a:r>
                  <a:rPr lang="es-ES" dirty="0">
                    <a:solidFill>
                      <a:schemeClr val="accent1">
                        <a:lumMod val="50000"/>
                      </a:schemeClr>
                    </a:solidFill>
                  </a:rPr>
                  <a:t>El algoritmo divide un conjunto de N muestras: </a:t>
                </a:r>
                <a14:m>
                  <m:oMath xmlns:m="http://schemas.openxmlformats.org/officeDocument/2006/math">
                    <m:d>
                      <m:dPr>
                        <m:begChr m:val="{"/>
                        <m:endChr m:val="}"/>
                        <m:ctrlPr>
                          <a:rPr lang="es-ES" i="1">
                            <a:solidFill>
                              <a:schemeClr val="accent1">
                                <a:lumMod val="50000"/>
                              </a:schemeClr>
                            </a:solidFill>
                            <a:latin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i="1">
                                <a:solidFill>
                                  <a:schemeClr val="accent1">
                                    <a:lumMod val="50000"/>
                                  </a:schemeClr>
                                </a:solidFill>
                                <a:latin typeface="Cambria Math" panose="02040503050406030204" pitchFamily="18" charset="0"/>
                              </a:rPr>
                              <m:t>1</m:t>
                            </m:r>
                          </m:sup>
                        </m:sSup>
                        <m:r>
                          <a:rPr lang="es-ES" i="1">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b="1" i="1">
                                <a:solidFill>
                                  <a:schemeClr val="accent1">
                                    <a:lumMod val="50000"/>
                                  </a:schemeClr>
                                </a:solidFill>
                                <a:latin typeface="Cambria Math" panose="02040503050406030204" pitchFamily="18" charset="0"/>
                              </a:rPr>
                              <m:t>𝟐</m:t>
                            </m:r>
                          </m:sup>
                        </m:sSup>
                        <m:r>
                          <a:rPr lang="es-ES" i="1">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b="1" i="1">
                                <a:solidFill>
                                  <a:schemeClr val="accent1">
                                    <a:lumMod val="50000"/>
                                  </a:schemeClr>
                                </a:solidFill>
                                <a:latin typeface="Cambria Math" panose="02040503050406030204" pitchFamily="18" charset="0"/>
                              </a:rPr>
                              <m:t>𝟑</m:t>
                            </m:r>
                          </m:sup>
                        </m:sSup>
                        <m:r>
                          <a:rPr lang="es-ES" i="1">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i="1">
                                <a:solidFill>
                                  <a:schemeClr val="accent1">
                                    <a:lumMod val="50000"/>
                                  </a:schemeClr>
                                </a:solidFill>
                                <a:latin typeface="Cambria Math" panose="02040503050406030204" pitchFamily="18" charset="0"/>
                              </a:rPr>
                              <m:t>𝑁</m:t>
                            </m:r>
                          </m:sup>
                        </m:sSup>
                      </m:e>
                    </m:d>
                  </m:oMath>
                </a14:m>
                <a:r>
                  <a:rPr lang="es-ES" dirty="0">
                    <a:solidFill>
                      <a:schemeClr val="accent1">
                        <a:lumMod val="50000"/>
                      </a:schemeClr>
                    </a:solidFill>
                  </a:rPr>
                  <a:t> en K grupos disjuntos. Cada grupo está definido a través de la media,  </a:t>
                </a:r>
                <a14:m>
                  <m:oMath xmlns:m="http://schemas.openxmlformats.org/officeDocument/2006/math">
                    <m:sSub>
                      <m:sSubPr>
                        <m:ctrlPr>
                          <a:rPr lang="es-ES" i="1">
                            <a:solidFill>
                              <a:schemeClr val="accent1">
                                <a:lumMod val="50000"/>
                              </a:schemeClr>
                            </a:solidFill>
                            <a:latin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𝝁</m:t>
                        </m:r>
                      </m:e>
                      <m:sub>
                        <m:r>
                          <a:rPr lang="es-ES" i="1">
                            <a:solidFill>
                              <a:schemeClr val="accent1">
                                <a:lumMod val="50000"/>
                              </a:schemeClr>
                            </a:solidFill>
                            <a:latin typeface="Cambria Math" panose="02040503050406030204" pitchFamily="18" charset="0"/>
                          </a:rPr>
                          <m:t>𝑗</m:t>
                        </m:r>
                      </m:sub>
                    </m:sSub>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𝑗</m:t>
                    </m:r>
                    <m:r>
                      <a:rPr lang="es-ES" i="1">
                        <a:solidFill>
                          <a:schemeClr val="accent1">
                            <a:lumMod val="50000"/>
                          </a:schemeClr>
                        </a:solidFill>
                        <a:latin typeface="Cambria Math" panose="02040503050406030204" pitchFamily="18" charset="0"/>
                      </a:rPr>
                      <m:t>=1,…,</m:t>
                    </m:r>
                    <m:r>
                      <a:rPr lang="es-ES" i="1">
                        <a:solidFill>
                          <a:schemeClr val="accent1">
                            <a:lumMod val="50000"/>
                          </a:schemeClr>
                        </a:solidFill>
                        <a:latin typeface="Cambria Math" panose="02040503050406030204" pitchFamily="18" charset="0"/>
                      </a:rPr>
                      <m:t>𝐾</m:t>
                    </m:r>
                    <m:r>
                      <a:rPr lang="es-ES" i="1">
                        <a:solidFill>
                          <a:schemeClr val="accent1">
                            <a:lumMod val="50000"/>
                          </a:schemeClr>
                        </a:solidFill>
                        <a:latin typeface="Cambria Math" panose="02040503050406030204" pitchFamily="18" charset="0"/>
                      </a:rPr>
                      <m:t>,</m:t>
                    </m:r>
                  </m:oMath>
                </a14:m>
                <a:r>
                  <a:rPr lang="es-ES" dirty="0">
                    <a:solidFill>
                      <a:schemeClr val="accent1">
                        <a:lumMod val="50000"/>
                      </a:schemeClr>
                    </a:solidFill>
                  </a:rPr>
                  <a:t> de los puntos que lo forman. A esta media la denominaremos  centroide.</a:t>
                </a:r>
                <a:endParaRPr lang="es-ES" b="1" dirty="0">
                  <a:solidFill>
                    <a:schemeClr val="accent1">
                      <a:lumMod val="50000"/>
                    </a:schemeClr>
                  </a:solidFill>
                </a:endParaRPr>
              </a:p>
              <a:p>
                <a:endParaRPr lang="es-ES" b="1" dirty="0">
                  <a:solidFill>
                    <a:schemeClr val="accent1">
                      <a:lumMod val="50000"/>
                    </a:schemeClr>
                  </a:solidFill>
                </a:endParaRPr>
              </a:p>
              <a:p>
                <a:pPr marL="285750" indent="-285750">
                  <a:buFont typeface="Arial" panose="020B0604020202020204" pitchFamily="34" charset="0"/>
                  <a:buChar char="•"/>
                </a:pPr>
                <a:r>
                  <a:rPr lang="es-ES" u="sng" dirty="0">
                    <a:solidFill>
                      <a:schemeClr val="accent1">
                        <a:lumMod val="50000"/>
                      </a:schemeClr>
                    </a:solidFill>
                  </a:rPr>
                  <a:t>Inicialización de los centroides</a:t>
                </a:r>
                <a:r>
                  <a:rPr lang="es-ES" dirty="0">
                    <a:solidFill>
                      <a:schemeClr val="accent1">
                        <a:lumMod val="50000"/>
                      </a:schemeClr>
                    </a:solidFill>
                  </a:rPr>
                  <a:t>: Comenzamos eligiendo de forma aleatoria las posiciones de los K centroides .</a:t>
                </a:r>
              </a:p>
              <a:p>
                <a:pPr marL="285750" indent="-285750">
                  <a:buFont typeface="Arial" panose="020B0604020202020204" pitchFamily="34" charset="0"/>
                  <a:buChar char="•"/>
                </a:pPr>
                <a:endParaRPr lang="es-ES" b="1" dirty="0">
                  <a:solidFill>
                    <a:schemeClr val="accent1">
                      <a:lumMod val="50000"/>
                    </a:schemeClr>
                  </a:solidFill>
                </a:endParaRPr>
              </a:p>
              <a:p>
                <a:pPr marL="285750" indent="-285750">
                  <a:buFont typeface="Arial" panose="020B0604020202020204" pitchFamily="34" charset="0"/>
                  <a:buChar char="•"/>
                </a:pPr>
                <a:r>
                  <a:rPr lang="es-ES" u="sng" dirty="0">
                    <a:solidFill>
                      <a:schemeClr val="accent1">
                        <a:lumMod val="50000"/>
                      </a:schemeClr>
                    </a:solidFill>
                  </a:rPr>
                  <a:t>Agrupamiento en </a:t>
                </a:r>
                <a:r>
                  <a:rPr lang="es-ES" i="1" u="sng" dirty="0">
                    <a:solidFill>
                      <a:schemeClr val="accent1">
                        <a:lumMod val="50000"/>
                      </a:schemeClr>
                    </a:solidFill>
                  </a:rPr>
                  <a:t>clústeres</a:t>
                </a:r>
                <a:r>
                  <a:rPr lang="es-ES" b="1" dirty="0">
                    <a:solidFill>
                      <a:schemeClr val="accent1">
                        <a:lumMod val="50000"/>
                      </a:schemeClr>
                    </a:solidFill>
                  </a:rPr>
                  <a:t>: </a:t>
                </a:r>
                <a:r>
                  <a:rPr lang="es-ES" dirty="0">
                    <a:solidFill>
                      <a:schemeClr val="accent1">
                        <a:lumMod val="50000"/>
                      </a:schemeClr>
                    </a:solidFill>
                  </a:rPr>
                  <a:t>Cada dato de entrada se asigna a su centroide más cercano.</a:t>
                </a:r>
              </a:p>
              <a:p>
                <a:pPr marL="285750" indent="-285750">
                  <a:buFont typeface="Arial" panose="020B0604020202020204" pitchFamily="34" charset="0"/>
                  <a:buChar char="•"/>
                </a:pPr>
                <a:endParaRPr lang="es-ES" b="1" dirty="0">
                  <a:solidFill>
                    <a:schemeClr val="accent1">
                      <a:lumMod val="50000"/>
                    </a:schemeClr>
                  </a:solidFill>
                </a:endParaRPr>
              </a:p>
              <a:p>
                <a:pPr marL="285750" indent="-285750">
                  <a:buFont typeface="Arial" panose="020B0604020202020204" pitchFamily="34" charset="0"/>
                  <a:buChar char="•"/>
                </a:pPr>
                <a:r>
                  <a:rPr lang="es-ES" u="sng" dirty="0">
                    <a:solidFill>
                      <a:schemeClr val="accent1">
                        <a:lumMod val="50000"/>
                      </a:schemeClr>
                    </a:solidFill>
                  </a:rPr>
                  <a:t>Actualización de los centroides</a:t>
                </a:r>
                <a:r>
                  <a:rPr lang="es-ES" dirty="0">
                    <a:solidFill>
                      <a:schemeClr val="accent1">
                        <a:lumMod val="50000"/>
                      </a:schemeClr>
                    </a:solidFill>
                  </a:rPr>
                  <a:t>: Se actualiza la posición de cada centroide y se genera el nuevo agrupamiento. Este proceso se repite hasta que la posición de los centroides no cambie.</a:t>
                </a:r>
              </a:p>
            </p:txBody>
          </p:sp>
        </mc:Choice>
        <mc:Fallback xmlns="">
          <p:sp>
            <p:nvSpPr>
              <p:cNvPr id="8" name="CuadroTexto 7"/>
              <p:cNvSpPr txBox="1">
                <a:spLocks noRot="1" noChangeAspect="1" noMove="1" noResize="1" noEditPoints="1" noAdjustHandles="1" noChangeArrowheads="1" noChangeShapeType="1" noTextEdit="1"/>
              </p:cNvSpPr>
              <p:nvPr/>
            </p:nvSpPr>
            <p:spPr>
              <a:xfrm>
                <a:off x="3894541" y="2571404"/>
                <a:ext cx="8297459" cy="4303935"/>
              </a:xfrm>
              <a:prstGeom prst="rect">
                <a:avLst/>
              </a:prstGeom>
              <a:blipFill>
                <a:blip r:embed="rId3"/>
                <a:stretch>
                  <a:fillRect l="-661" t="-850" r="-808" b="-1275"/>
                </a:stretch>
              </a:blipFill>
            </p:spPr>
            <p:txBody>
              <a:bodyPr/>
              <a:lstStyle/>
              <a:p>
                <a:r>
                  <a:rPr lang="es-ES">
                    <a:noFill/>
                  </a:rPr>
                  <a:t> </a:t>
                </a:r>
              </a:p>
            </p:txBody>
          </p:sp>
        </mc:Fallback>
      </mc:AlternateContent>
      <p:sp>
        <p:nvSpPr>
          <p:cNvPr id="13" name="CuadroTexto 12">
            <a:extLst>
              <a:ext uri="{FF2B5EF4-FFF2-40B4-BE49-F238E27FC236}">
                <a16:creationId xmlns:a16="http://schemas.microsoft.com/office/drawing/2014/main" id="{BBAB2C66-7702-9F9D-E3A6-FB63B29B9727}"/>
              </a:ext>
            </a:extLst>
          </p:cNvPr>
          <p:cNvSpPr txBox="1"/>
          <p:nvPr/>
        </p:nvSpPr>
        <p:spPr>
          <a:xfrm>
            <a:off x="110157" y="6522378"/>
            <a:ext cx="3884397" cy="230832"/>
          </a:xfrm>
          <a:prstGeom prst="rect">
            <a:avLst/>
          </a:prstGeom>
          <a:noFill/>
        </p:spPr>
        <p:txBody>
          <a:bodyPr wrap="none" rtlCol="0">
            <a:spAutoFit/>
          </a:bodyPr>
          <a:lstStyle/>
          <a:p>
            <a:r>
              <a:rPr lang="es-ES" sz="900" dirty="0" err="1">
                <a:solidFill>
                  <a:schemeClr val="accent1">
                    <a:lumMod val="50000"/>
                  </a:schemeClr>
                </a:solidFill>
              </a:rPr>
              <a:t>From</a:t>
            </a:r>
            <a:r>
              <a:rPr lang="es-ES" sz="900" dirty="0">
                <a:solidFill>
                  <a:schemeClr val="accent1">
                    <a:lumMod val="50000"/>
                  </a:schemeClr>
                </a:solidFill>
              </a:rPr>
              <a:t>: </a:t>
            </a:r>
            <a:r>
              <a:rPr lang="es-ES" sz="900" dirty="0">
                <a:solidFill>
                  <a:schemeClr val="accent1">
                    <a:lumMod val="50000"/>
                  </a:schemeClr>
                </a:solidFill>
                <a:hlinkClick r:id="rId4"/>
              </a:rPr>
              <a:t>https://www.kaggle.com/k-means-clustering-implementation-in-python</a:t>
            </a:r>
            <a:endParaRPr lang="es-ES" sz="900" dirty="0">
              <a:solidFill>
                <a:schemeClr val="accent1">
                  <a:lumMod val="50000"/>
                </a:schemeClr>
              </a:solidFill>
            </a:endParaRPr>
          </a:p>
        </p:txBody>
      </p:sp>
      <p:sp>
        <p:nvSpPr>
          <p:cNvPr id="11" name="Rectángulo 10"/>
          <p:cNvSpPr/>
          <p:nvPr/>
        </p:nvSpPr>
        <p:spPr>
          <a:xfrm>
            <a:off x="-4080" y="-777"/>
            <a:ext cx="12192000" cy="1212498"/>
          </a:xfrm>
          <a:prstGeom prst="rect">
            <a:avLst/>
          </a:prstGeom>
          <a:solidFill>
            <a:schemeClr val="accent1">
              <a:lumMod val="40000"/>
              <a:lumOff val="60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4" name="Picture 2" descr="Logo Universidad">
            <a:extLst>
              <a:ext uri="{FF2B5EF4-FFF2-40B4-BE49-F238E27FC236}">
                <a16:creationId xmlns:a16="http://schemas.microsoft.com/office/drawing/2014/main" id="{3C1518FD-9B9D-EB2F-895D-C671464FF137}"/>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r="49051"/>
          <a:stretch/>
        </p:blipFill>
        <p:spPr bwMode="auto">
          <a:xfrm>
            <a:off x="0" y="4614"/>
            <a:ext cx="1416034" cy="1290502"/>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n 14">
            <a:extLst>
              <a:ext uri="{FF2B5EF4-FFF2-40B4-BE49-F238E27FC236}">
                <a16:creationId xmlns:a16="http://schemas.microsoft.com/office/drawing/2014/main" id="{3D56AFBF-582A-D206-33B6-3419E2AE8A97}"/>
              </a:ext>
            </a:extLst>
          </p:cNvPr>
          <p:cNvPicPr>
            <a:picLocks noChangeAspect="1"/>
          </p:cNvPicPr>
          <p:nvPr/>
        </p:nvPicPr>
        <p:blipFill>
          <a:blip r:embed="rId6"/>
          <a:srcRect l="3073" t="1221" r="4089" b="-1221"/>
          <a:stretch/>
        </p:blipFill>
        <p:spPr>
          <a:xfrm>
            <a:off x="10174778" y="17581"/>
            <a:ext cx="2013142" cy="1439917"/>
          </a:xfrm>
          <a:prstGeom prst="rect">
            <a:avLst/>
          </a:prstGeom>
        </p:spPr>
      </p:pic>
      <p:sp>
        <p:nvSpPr>
          <p:cNvPr id="16" name="CuadroTexto 15">
            <a:extLst>
              <a:ext uri="{FF2B5EF4-FFF2-40B4-BE49-F238E27FC236}">
                <a16:creationId xmlns:a16="http://schemas.microsoft.com/office/drawing/2014/main" id="{A6628F6E-EF28-4E8A-86FD-981EA7CE460F}"/>
              </a:ext>
            </a:extLst>
          </p:cNvPr>
          <p:cNvSpPr txBox="1"/>
          <p:nvPr/>
        </p:nvSpPr>
        <p:spPr>
          <a:xfrm>
            <a:off x="6675120" y="219672"/>
            <a:ext cx="3672840" cy="830997"/>
          </a:xfrm>
          <a:prstGeom prst="rect">
            <a:avLst/>
          </a:prstGeom>
          <a:noFill/>
        </p:spPr>
        <p:txBody>
          <a:bodyPr wrap="square">
            <a:spAutoFit/>
          </a:bodyPr>
          <a:lstStyle/>
          <a:p>
            <a:pPr algn="r"/>
            <a:r>
              <a:rPr lang="es-ES" sz="2400" dirty="0">
                <a:solidFill>
                  <a:schemeClr val="tx2"/>
                </a:solidFill>
              </a:rPr>
              <a:t>Inteligencia Artificial para la </a:t>
            </a:r>
          </a:p>
          <a:p>
            <a:pPr algn="r"/>
            <a:r>
              <a:rPr lang="es-ES" sz="2400" dirty="0">
                <a:solidFill>
                  <a:schemeClr val="tx2"/>
                </a:solidFill>
              </a:rPr>
              <a:t>Ingeniería Aeroespacial</a:t>
            </a:r>
          </a:p>
        </p:txBody>
      </p:sp>
      <p:sp>
        <p:nvSpPr>
          <p:cNvPr id="19" name="CuadroTexto 18">
            <a:extLst>
              <a:ext uri="{FF2B5EF4-FFF2-40B4-BE49-F238E27FC236}">
                <a16:creationId xmlns:a16="http://schemas.microsoft.com/office/drawing/2014/main" id="{A6628F6E-EF28-4E8A-86FD-981EA7CE460F}"/>
              </a:ext>
            </a:extLst>
          </p:cNvPr>
          <p:cNvSpPr txBox="1"/>
          <p:nvPr/>
        </p:nvSpPr>
        <p:spPr>
          <a:xfrm>
            <a:off x="2052355" y="219671"/>
            <a:ext cx="3672840" cy="646331"/>
          </a:xfrm>
          <a:prstGeom prst="rect">
            <a:avLst/>
          </a:prstGeom>
          <a:noFill/>
        </p:spPr>
        <p:txBody>
          <a:bodyPr wrap="square">
            <a:spAutoFit/>
          </a:bodyPr>
          <a:lstStyle/>
          <a:p>
            <a:pPr algn="r"/>
            <a:r>
              <a:rPr lang="es-ES" sz="3600" dirty="0" smtClean="0">
                <a:solidFill>
                  <a:schemeClr val="tx2"/>
                </a:solidFill>
              </a:rPr>
              <a:t>K-</a:t>
            </a:r>
            <a:r>
              <a:rPr lang="es-ES" sz="3600" dirty="0" err="1" smtClean="0">
                <a:solidFill>
                  <a:schemeClr val="tx2"/>
                </a:solidFill>
              </a:rPr>
              <a:t>Means</a:t>
            </a:r>
            <a:endParaRPr lang="es-ES" sz="3600" dirty="0">
              <a:solidFill>
                <a:schemeClr val="tx2"/>
              </a:solidFill>
            </a:endParaRPr>
          </a:p>
        </p:txBody>
      </p:sp>
    </p:spTree>
    <p:extLst>
      <p:ext uri="{BB962C8B-B14F-4D97-AF65-F5344CB8AC3E}">
        <p14:creationId xmlns:p14="http://schemas.microsoft.com/office/powerpoint/2010/main" val="35144270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a:t>
            </a:fld>
            <a:endParaRPr lang="es-ES">
              <a:solidFill>
                <a:prstClr val="black">
                  <a:tint val="75000"/>
                </a:prst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4819258" y="2241592"/>
            <a:ext cx="7372741" cy="466281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K-</a:t>
            </a:r>
            <a:r>
              <a:rPr lang="es-ES" dirty="0" err="1">
                <a:solidFill>
                  <a:schemeClr val="accent1">
                    <a:lumMod val="50000"/>
                  </a:schemeClr>
                </a:solidFill>
              </a:rPr>
              <a:t>means</a:t>
            </a:r>
            <a:r>
              <a:rPr lang="es-ES" dirty="0">
                <a:solidFill>
                  <a:schemeClr val="accent1">
                    <a:lumMod val="50000"/>
                  </a:schemeClr>
                </a:solidFill>
              </a:rPr>
              <a:t> no utiliza etiquetas, es un algoritmo de </a:t>
            </a:r>
            <a:r>
              <a:rPr lang="es-ES" dirty="0" err="1">
                <a:solidFill>
                  <a:schemeClr val="accent1">
                    <a:lumMod val="50000"/>
                  </a:schemeClr>
                </a:solidFill>
              </a:rPr>
              <a:t>clustering</a:t>
            </a:r>
            <a:r>
              <a:rPr lang="es-ES" dirty="0">
                <a:solidFill>
                  <a:schemeClr val="accent1">
                    <a:lumMod val="50000"/>
                  </a:schemeClr>
                </a:solidFill>
              </a:rPr>
              <a:t> </a:t>
            </a:r>
            <a:r>
              <a:rPr lang="es-ES" b="1" dirty="0">
                <a:solidFill>
                  <a:schemeClr val="accent1">
                    <a:lumMod val="50000"/>
                  </a:schemeClr>
                </a:solidFill>
              </a:rPr>
              <a:t>no supervisado</a:t>
            </a:r>
            <a:r>
              <a:rPr lang="es-ES" dirty="0">
                <a:solidFill>
                  <a:schemeClr val="accent1">
                    <a:lumMod val="50000"/>
                  </a:schemeClr>
                </a:solidFill>
              </a:rPr>
              <a:t>, que tiene como objetivo encontrar patrones y grupos en los datos sin etiquetas predefinidas.</a:t>
            </a:r>
          </a:p>
          <a:p>
            <a:pPr>
              <a:lnSpc>
                <a:spcPct val="150000"/>
              </a:lnSpc>
            </a:pPr>
            <a:endParaRPr lang="es-ES" dirty="0">
              <a:solidFill>
                <a:schemeClr val="accent1">
                  <a:lumMod val="50000"/>
                </a:schemeClr>
              </a:solidFill>
            </a:endParaRPr>
          </a:p>
          <a:p>
            <a:pPr marL="285750" indent="-285750">
              <a:lnSpc>
                <a:spcPct val="150000"/>
              </a:lnSpc>
              <a:buFont typeface="Arial" panose="020B0604020202020204" pitchFamily="34" charset="0"/>
              <a:buChar char="•"/>
            </a:pPr>
            <a:r>
              <a:rPr lang="es-ES" dirty="0">
                <a:solidFill>
                  <a:schemeClr val="accent1">
                    <a:lumMod val="50000"/>
                  </a:schemeClr>
                </a:solidFill>
              </a:rPr>
              <a:t>K-</a:t>
            </a:r>
            <a:r>
              <a:rPr lang="es-ES" dirty="0" err="1">
                <a:solidFill>
                  <a:schemeClr val="accent1">
                    <a:lumMod val="50000"/>
                  </a:schemeClr>
                </a:solidFill>
              </a:rPr>
              <a:t>means</a:t>
            </a:r>
            <a:r>
              <a:rPr lang="es-ES" dirty="0">
                <a:solidFill>
                  <a:schemeClr val="accent1">
                    <a:lumMod val="50000"/>
                  </a:schemeClr>
                </a:solidFill>
              </a:rPr>
              <a:t> es </a:t>
            </a:r>
            <a:r>
              <a:rPr lang="es-ES" b="1" i="1" dirty="0" err="1">
                <a:solidFill>
                  <a:schemeClr val="accent1">
                    <a:lumMod val="50000"/>
                  </a:schemeClr>
                </a:solidFill>
              </a:rPr>
              <a:t>instance-based</a:t>
            </a:r>
            <a:r>
              <a:rPr lang="es-ES" dirty="0">
                <a:solidFill>
                  <a:schemeClr val="accent1">
                    <a:lumMod val="50000"/>
                  </a:schemeClr>
                </a:solidFill>
              </a:rPr>
              <a:t> (basado en instancias), ya que agrupa los datos en función de la distancia de cada punto a los </a:t>
            </a:r>
            <a:r>
              <a:rPr lang="es-ES" dirty="0" err="1">
                <a:solidFill>
                  <a:schemeClr val="accent1">
                    <a:lumMod val="50000"/>
                  </a:schemeClr>
                </a:solidFill>
              </a:rPr>
              <a:t>centroides</a:t>
            </a:r>
            <a:r>
              <a:rPr lang="es-ES" dirty="0">
                <a:solidFill>
                  <a:schemeClr val="accent1">
                    <a:lumMod val="50000"/>
                  </a:schemeClr>
                </a:solidFill>
              </a:rPr>
              <a:t> de los clústeres.</a:t>
            </a:r>
          </a:p>
          <a:p>
            <a:pPr>
              <a:lnSpc>
                <a:spcPct val="150000"/>
              </a:lnSpc>
            </a:pPr>
            <a:endParaRPr lang="es-ES" dirty="0">
              <a:solidFill>
                <a:schemeClr val="accent1">
                  <a:lumMod val="50000"/>
                </a:schemeClr>
              </a:solidFill>
            </a:endParaRPr>
          </a:p>
          <a:p>
            <a:pPr marL="285750" indent="-285750">
              <a:lnSpc>
                <a:spcPct val="150000"/>
              </a:lnSpc>
              <a:buFont typeface="Arial" panose="020B0604020202020204" pitchFamily="34" charset="0"/>
              <a:buChar char="•"/>
            </a:pPr>
            <a:r>
              <a:rPr lang="es-ES" dirty="0">
                <a:solidFill>
                  <a:schemeClr val="accent1">
                    <a:lumMod val="50000"/>
                  </a:schemeClr>
                </a:solidFill>
              </a:rPr>
              <a:t>K-</a:t>
            </a:r>
            <a:r>
              <a:rPr lang="es-ES" dirty="0" err="1">
                <a:solidFill>
                  <a:schemeClr val="accent1">
                    <a:lumMod val="50000"/>
                  </a:schemeClr>
                </a:solidFill>
              </a:rPr>
              <a:t>means</a:t>
            </a:r>
            <a:r>
              <a:rPr lang="es-ES" dirty="0">
                <a:solidFill>
                  <a:schemeClr val="accent1">
                    <a:lumMod val="50000"/>
                  </a:schemeClr>
                </a:solidFill>
              </a:rPr>
              <a:t> es un algoritmo de </a:t>
            </a:r>
            <a:r>
              <a:rPr lang="es-ES" b="1" i="1" dirty="0" err="1">
                <a:solidFill>
                  <a:schemeClr val="accent1">
                    <a:lumMod val="50000"/>
                  </a:schemeClr>
                </a:solidFill>
              </a:rPr>
              <a:t>batch</a:t>
            </a:r>
            <a:r>
              <a:rPr lang="es-ES" b="1" i="1" dirty="0">
                <a:solidFill>
                  <a:schemeClr val="accent1">
                    <a:lumMod val="50000"/>
                  </a:schemeClr>
                </a:solidFill>
              </a:rPr>
              <a:t> </a:t>
            </a:r>
            <a:r>
              <a:rPr lang="es-ES" b="1" i="1" dirty="0" err="1">
                <a:solidFill>
                  <a:schemeClr val="accent1">
                    <a:lumMod val="50000"/>
                  </a:schemeClr>
                </a:solidFill>
              </a:rPr>
              <a:t>learning</a:t>
            </a:r>
            <a:r>
              <a:rPr lang="es-ES" b="1" i="1" dirty="0">
                <a:solidFill>
                  <a:schemeClr val="accent1">
                    <a:lumMod val="50000"/>
                  </a:schemeClr>
                </a:solidFill>
              </a:rPr>
              <a:t>, </a:t>
            </a:r>
            <a:r>
              <a:rPr lang="es-ES" dirty="0">
                <a:solidFill>
                  <a:schemeClr val="accent1">
                    <a:lumMod val="50000"/>
                  </a:schemeClr>
                </a:solidFill>
              </a:rPr>
              <a:t>suele ejecutarse en un conjunto completo de datos en cada iteración, aunque también existen variantes en </a:t>
            </a:r>
            <a:r>
              <a:rPr lang="es-ES" dirty="0" smtClean="0">
                <a:solidFill>
                  <a:schemeClr val="accent1">
                    <a:lumMod val="50000"/>
                  </a:schemeClr>
                </a:solidFill>
              </a:rPr>
              <a:t>línea (online) </a:t>
            </a:r>
            <a:r>
              <a:rPr lang="es-ES" dirty="0">
                <a:solidFill>
                  <a:schemeClr val="accent1">
                    <a:lumMod val="50000"/>
                  </a:schemeClr>
                </a:solidFill>
              </a:rPr>
              <a:t>que procesan los datos de manera incremental.</a:t>
            </a: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No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589638" y="903443"/>
            <a:ext cx="6598473" cy="707886"/>
          </a:xfrm>
          <a:prstGeom prst="rect">
            <a:avLst/>
          </a:prstGeom>
          <a:noFill/>
        </p:spPr>
        <p:txBody>
          <a:bodyPr wrap="none" rtlCol="0">
            <a:spAutoFit/>
          </a:bodyPr>
          <a:lstStyle/>
          <a:p>
            <a:r>
              <a:rPr lang="es-ES" sz="4000" b="1">
                <a:solidFill>
                  <a:schemeClr val="accent1">
                    <a:lumMod val="50000"/>
                  </a:schemeClr>
                </a:solidFill>
              </a:rPr>
              <a:t>K-means: </a:t>
            </a:r>
            <a:r>
              <a:rPr lang="es-ES" sz="4000" b="1" dirty="0">
                <a:solidFill>
                  <a:schemeClr val="accent1">
                    <a:lumMod val="50000"/>
                  </a:schemeClr>
                </a:solidFill>
              </a:rPr>
              <a:t>Clasificación en ML. </a:t>
            </a:r>
          </a:p>
        </p:txBody>
      </p:sp>
      <p:sp>
        <p:nvSpPr>
          <p:cNvPr id="8" name="CuadroTexto 7">
            <a:extLst>
              <a:ext uri="{FF2B5EF4-FFF2-40B4-BE49-F238E27FC236}">
                <a16:creationId xmlns:a16="http://schemas.microsoft.com/office/drawing/2014/main" id="{0DC7F0AA-6BAB-AA5B-079C-4DC81327269D}"/>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pic>
        <p:nvPicPr>
          <p:cNvPr id="13" name="Imagen 12"/>
          <p:cNvPicPr>
            <a:picLocks noChangeAspect="1"/>
          </p:cNvPicPr>
          <p:nvPr/>
        </p:nvPicPr>
        <p:blipFill rotWithShape="1">
          <a:blip r:embed="rId2"/>
          <a:srcRect b="1437"/>
          <a:stretch/>
        </p:blipFill>
        <p:spPr>
          <a:xfrm>
            <a:off x="38827" y="2815200"/>
            <a:ext cx="4780432" cy="2813244"/>
          </a:xfrm>
          <a:prstGeom prst="rect">
            <a:avLst/>
          </a:prstGeom>
        </p:spPr>
      </p:pic>
    </p:spTree>
    <p:extLst>
      <p:ext uri="{BB962C8B-B14F-4D97-AF65-F5344CB8AC3E}">
        <p14:creationId xmlns:p14="http://schemas.microsoft.com/office/powerpoint/2010/main" val="39739092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10644325" y="136523"/>
            <a:ext cx="1452247" cy="461665"/>
          </a:xfrm>
          <a:prstGeom prst="rect">
            <a:avLst/>
          </a:prstGeom>
          <a:noFill/>
        </p:spPr>
        <p:txBody>
          <a:bodyPr wrap="square" rtlCol="0">
            <a:spAutoFit/>
          </a:bodyPr>
          <a:lstStyle/>
          <a:p>
            <a:r>
              <a:rPr lang="es-ES" sz="2400" b="1">
                <a:solidFill>
                  <a:schemeClr val="accent1">
                    <a:lumMod val="50000"/>
                  </a:schemeClr>
                </a:solidFill>
              </a:rPr>
              <a:t>K-Means</a:t>
            </a:r>
            <a:endParaRPr lang="es-ES" sz="8800" b="1" dirty="0">
              <a:solidFill>
                <a:schemeClr val="accent1">
                  <a:lumMod val="50000"/>
                </a:scheme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1705814" y="1037194"/>
            <a:ext cx="9876881" cy="45550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b="1">
                <a:solidFill>
                  <a:schemeClr val="accent1">
                    <a:lumMod val="50000"/>
                  </a:schemeClr>
                </a:solidFill>
              </a:rPr>
              <a:t>Algoritmo Completo de K-means.</a:t>
            </a:r>
          </a:p>
          <a:p>
            <a:pPr marL="742950" lvl="1" indent="-285750">
              <a:buFont typeface="Arial" panose="020B0604020202020204" pitchFamily="34" charset="0"/>
              <a:buChar char="•"/>
            </a:pPr>
            <a:r>
              <a:rPr lang="en-US" sz="2000" b="1">
                <a:solidFill>
                  <a:schemeClr val="accent1">
                    <a:lumMod val="50000"/>
                  </a:schemeClr>
                </a:solidFill>
              </a:rPr>
              <a:t>Implementación desde Scratch.</a:t>
            </a:r>
          </a:p>
          <a:p>
            <a:pPr marL="742950" lvl="1" indent="-285750">
              <a:buFont typeface="Arial" panose="020B0604020202020204" pitchFamily="34" charset="0"/>
              <a:buChar char="•"/>
            </a:pPr>
            <a:r>
              <a:rPr lang="en-US" sz="2000" b="1">
                <a:solidFill>
                  <a:schemeClr val="accent1">
                    <a:lumMod val="50000"/>
                  </a:schemeClr>
                </a:solidFill>
              </a:rPr>
              <a:t>Soluciones subóptimas.</a:t>
            </a:r>
            <a:endParaRPr lang="en-US" sz="2000" b="1" dirty="0">
              <a:solidFill>
                <a:schemeClr val="accent1">
                  <a:lumMod val="50000"/>
                </a:schemeClr>
              </a:solidFill>
            </a:endParaRPr>
          </a:p>
          <a:p>
            <a:pPr marL="285750" indent="-285750">
              <a:lnSpc>
                <a:spcPct val="150000"/>
              </a:lnSpc>
              <a:buFont typeface="Arial" panose="020B0604020202020204" pitchFamily="34" charset="0"/>
              <a:buChar char="•"/>
            </a:pPr>
            <a:r>
              <a:rPr lang="es-ES" sz="2400" b="1">
                <a:solidFill>
                  <a:schemeClr val="accent1">
                    <a:lumMod val="50000"/>
                  </a:schemeClr>
                </a:solidFill>
              </a:rPr>
              <a:t>Implementación en Sklearn.</a:t>
            </a:r>
            <a:endParaRPr lang="es-ES" sz="2400" b="1" dirty="0">
              <a:solidFill>
                <a:schemeClr val="accent1">
                  <a:lumMod val="50000"/>
                </a:schemeClr>
              </a:solidFill>
            </a:endParaRPr>
          </a:p>
          <a:p>
            <a:pPr marL="742950" lvl="1" indent="-285750">
              <a:buFont typeface="Arial" panose="020B0604020202020204" pitchFamily="34" charset="0"/>
              <a:buChar char="•"/>
            </a:pPr>
            <a:r>
              <a:rPr lang="es-ES" sz="2000" b="1">
                <a:solidFill>
                  <a:schemeClr val="accent1">
                    <a:lumMod val="50000"/>
                  </a:schemeClr>
                </a:solidFill>
              </a:rPr>
              <a:t>Parámetros.</a:t>
            </a:r>
            <a:endParaRPr lang="es-ES" sz="2000" b="1" dirty="0">
              <a:solidFill>
                <a:schemeClr val="accent1">
                  <a:lumMod val="50000"/>
                </a:schemeClr>
              </a:solidFill>
            </a:endParaRPr>
          </a:p>
          <a:p>
            <a:pPr marL="285750" indent="-285750">
              <a:lnSpc>
                <a:spcPct val="150000"/>
              </a:lnSpc>
              <a:buFont typeface="Arial" panose="020B0604020202020204" pitchFamily="34" charset="0"/>
              <a:buChar char="•"/>
            </a:pPr>
            <a:r>
              <a:rPr lang="es-ES" sz="2400" b="1">
                <a:solidFill>
                  <a:schemeClr val="accent1">
                    <a:lumMod val="50000"/>
                  </a:schemeClr>
                </a:solidFill>
              </a:rPr>
              <a:t>Preprocesamiento. Escalado.</a:t>
            </a:r>
          </a:p>
          <a:p>
            <a:pPr marL="285750" indent="-285750">
              <a:lnSpc>
                <a:spcPct val="150000"/>
              </a:lnSpc>
              <a:buFont typeface="Arial" panose="020B0604020202020204" pitchFamily="34" charset="0"/>
              <a:buChar char="•"/>
            </a:pPr>
            <a:r>
              <a:rPr lang="es-ES" sz="2400" b="1">
                <a:solidFill>
                  <a:schemeClr val="accent1">
                    <a:lumMod val="50000"/>
                  </a:schemeClr>
                </a:solidFill>
              </a:rPr>
              <a:t>Número óptimo de </a:t>
            </a:r>
            <a:r>
              <a:rPr lang="es-ES" sz="2400" b="1" i="1">
                <a:solidFill>
                  <a:schemeClr val="accent1">
                    <a:lumMod val="50000"/>
                  </a:schemeClr>
                </a:solidFill>
              </a:rPr>
              <a:t>clústeres.</a:t>
            </a:r>
            <a:endParaRPr lang="es-ES" sz="2400" b="1" dirty="0">
              <a:solidFill>
                <a:schemeClr val="accent1">
                  <a:lumMod val="50000"/>
                </a:schemeClr>
              </a:solidFill>
            </a:endParaRPr>
          </a:p>
          <a:p>
            <a:pPr marL="742950" lvl="1" indent="-285750">
              <a:buFont typeface="Arial" panose="020B0604020202020204" pitchFamily="34" charset="0"/>
              <a:buChar char="•"/>
            </a:pPr>
            <a:r>
              <a:rPr lang="es-ES" sz="2000" b="1" dirty="0">
                <a:solidFill>
                  <a:schemeClr val="accent1">
                    <a:lumMod val="50000"/>
                  </a:schemeClr>
                </a:solidFill>
              </a:rPr>
              <a:t>Método del codo.</a:t>
            </a:r>
          </a:p>
          <a:p>
            <a:pPr marL="742950" lvl="1" indent="-285750">
              <a:buFont typeface="Arial" panose="020B0604020202020204" pitchFamily="34" charset="0"/>
              <a:buChar char="•"/>
            </a:pPr>
            <a:r>
              <a:rPr lang="es-ES" sz="2000" b="1" dirty="0">
                <a:solidFill>
                  <a:schemeClr val="accent1">
                    <a:lumMod val="50000"/>
                  </a:schemeClr>
                </a:solidFill>
              </a:rPr>
              <a:t>Método de la silueta.</a:t>
            </a:r>
          </a:p>
          <a:p>
            <a:pPr marL="285750" indent="-285750">
              <a:lnSpc>
                <a:spcPct val="150000"/>
              </a:lnSpc>
              <a:buFont typeface="Arial" panose="020B0604020202020204" pitchFamily="34" charset="0"/>
              <a:buChar char="•"/>
            </a:pPr>
            <a:r>
              <a:rPr lang="es-ES" sz="2400" b="1" dirty="0">
                <a:solidFill>
                  <a:schemeClr val="accent1">
                    <a:lumMod val="50000"/>
                  </a:schemeClr>
                </a:solidFill>
              </a:rPr>
              <a:t>Ventajas e </a:t>
            </a:r>
            <a:r>
              <a:rPr lang="es-ES" sz="2400" b="1">
                <a:solidFill>
                  <a:schemeClr val="accent1">
                    <a:lumMod val="50000"/>
                  </a:schemeClr>
                </a:solidFill>
              </a:rPr>
              <a:t>inconvenientes de K-Means.</a:t>
            </a:r>
            <a:endParaRPr lang="es-ES" sz="2400" b="1" dirty="0">
              <a:solidFill>
                <a:schemeClr val="accent1">
                  <a:lumMod val="50000"/>
                </a:schemeClr>
              </a:solidFill>
            </a:endParaRPr>
          </a:p>
        </p:txBody>
      </p:sp>
    </p:spTree>
    <p:extLst>
      <p:ext uri="{BB962C8B-B14F-4D97-AF65-F5344CB8AC3E}">
        <p14:creationId xmlns:p14="http://schemas.microsoft.com/office/powerpoint/2010/main" val="32699040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4</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368990" y="320934"/>
            <a:ext cx="2199641" cy="707886"/>
          </a:xfrm>
          <a:prstGeom prst="rect">
            <a:avLst/>
          </a:prstGeom>
          <a:noFill/>
        </p:spPr>
        <p:txBody>
          <a:bodyPr wrap="none" rtlCol="0">
            <a:spAutoFit/>
          </a:bodyPr>
          <a:lstStyle/>
          <a:p>
            <a:r>
              <a:rPr lang="es-ES" sz="4000" b="1" dirty="0">
                <a:solidFill>
                  <a:schemeClr val="accent1">
                    <a:lumMod val="50000"/>
                  </a:schemeClr>
                </a:solidFill>
              </a:rPr>
              <a:t>K-</a:t>
            </a:r>
            <a:r>
              <a:rPr lang="es-ES" sz="4000" b="1" dirty="0" err="1">
                <a:solidFill>
                  <a:schemeClr val="accent1">
                    <a:lumMod val="50000"/>
                  </a:schemeClr>
                </a:solidFill>
              </a:rPr>
              <a:t>Means</a:t>
            </a:r>
            <a:r>
              <a:rPr lang="es-ES" sz="4000" b="1" dirty="0">
                <a:solidFill>
                  <a:schemeClr val="accent1">
                    <a:lumMod val="50000"/>
                  </a:schemeClr>
                </a:solidFill>
              </a:rPr>
              <a:t>.</a:t>
            </a:r>
          </a:p>
        </p:txBody>
      </p:sp>
      <mc:AlternateContent xmlns:mc="http://schemas.openxmlformats.org/markup-compatibility/2006" xmlns:a14="http://schemas.microsoft.com/office/drawing/2010/main">
        <mc:Choice Requires="a14">
          <p:sp>
            <p:nvSpPr>
              <p:cNvPr id="8" name="Rectángulo: esquinas redondeadas 7">
                <a:extLst>
                  <a:ext uri="{FF2B5EF4-FFF2-40B4-BE49-F238E27FC236}">
                    <a16:creationId xmlns:a16="http://schemas.microsoft.com/office/drawing/2014/main" id="{4B309927-41DA-64B4-EB8F-F391C526962C}"/>
                  </a:ext>
                </a:extLst>
              </p:cNvPr>
              <p:cNvSpPr/>
              <p:nvPr/>
            </p:nvSpPr>
            <p:spPr>
              <a:xfrm>
                <a:off x="244591" y="1279977"/>
                <a:ext cx="3534086" cy="853623"/>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14:m>
                  <m:oMath xmlns:m="http://schemas.openxmlformats.org/officeDocument/2006/math">
                    <m:d>
                      <m:dPr>
                        <m:begChr m:val="{"/>
                        <m:endChr m:val="}"/>
                        <m:ctrlPr>
                          <a:rPr lang="es-ES" i="1" smtClean="0">
                            <a:solidFill>
                              <a:schemeClr val="accent1">
                                <a:lumMod val="50000"/>
                              </a:schemeClr>
                            </a:solidFill>
                            <a:latin typeface="Cambria Math" panose="02040503050406030204" pitchFamily="18" charset="0"/>
                          </a:rPr>
                        </m:ctrlPr>
                      </m:dPr>
                      <m:e>
                        <m:sSup>
                          <m:sSupPr>
                            <m:ctrlPr>
                              <a:rPr lang="es-ES"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rPr>
                              <m:t>𝒙</m:t>
                            </m:r>
                          </m:e>
                          <m:sup>
                            <m:r>
                              <a:rPr lang="es-ES" b="0" i="1" smtClean="0">
                                <a:solidFill>
                                  <a:schemeClr val="accent1">
                                    <a:lumMod val="50000"/>
                                  </a:schemeClr>
                                </a:solidFill>
                                <a:latin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b="1" i="1" smtClean="0">
                                <a:solidFill>
                                  <a:schemeClr val="accent1">
                                    <a:lumMod val="50000"/>
                                  </a:schemeClr>
                                </a:solidFill>
                                <a:latin typeface="Cambria Math" panose="02040503050406030204" pitchFamily="18" charset="0"/>
                              </a:rPr>
                              <m:t>𝟐</m:t>
                            </m:r>
                          </m:sup>
                        </m:sSup>
                        <m:r>
                          <a:rPr lang="es-ES" b="0" i="1" smtClean="0">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b="1" i="1" smtClean="0">
                                <a:solidFill>
                                  <a:schemeClr val="accent1">
                                    <a:lumMod val="50000"/>
                                  </a:schemeClr>
                                </a:solidFill>
                                <a:latin typeface="Cambria Math" panose="02040503050406030204" pitchFamily="18" charset="0"/>
                              </a:rPr>
                              <m:t>𝟑</m:t>
                            </m:r>
                          </m:sup>
                        </m:sSup>
                        <m:r>
                          <a:rPr lang="es-ES" b="0" i="1" smtClean="0">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b="0" i="1" smtClean="0">
                                <a:solidFill>
                                  <a:schemeClr val="accent1">
                                    <a:lumMod val="50000"/>
                                  </a:schemeClr>
                                </a:solidFill>
                                <a:latin typeface="Cambria Math" panose="02040503050406030204" pitchFamily="18" charset="0"/>
                              </a:rPr>
                              <m:t>𝑁</m:t>
                            </m:r>
                          </m:sup>
                        </m:sSup>
                      </m:e>
                    </m:d>
                  </m:oMath>
                </a14:m>
                <a:endParaRPr lang="es-ES" dirty="0"/>
              </a:p>
              <a:p>
                <a:pPr marL="285750" indent="-285750">
                  <a:buFont typeface="Arial" panose="020B0604020202020204" pitchFamily="34" charset="0"/>
                  <a:buChar char="•"/>
                </a:pPr>
                <a:r>
                  <a:rPr lang="es-ES" dirty="0">
                    <a:solidFill>
                      <a:schemeClr val="accent1">
                        <a:lumMod val="50000"/>
                      </a:schemeClr>
                    </a:solidFill>
                  </a:rPr>
                  <a:t>Número de grupos K</a:t>
                </a:r>
              </a:p>
            </p:txBody>
          </p:sp>
        </mc:Choice>
        <mc:Fallback xmlns="">
          <p:sp>
            <p:nvSpPr>
              <p:cNvPr id="8" name="Rectángulo: esquinas redondeadas 7">
                <a:extLst>
                  <a:ext uri="{FF2B5EF4-FFF2-40B4-BE49-F238E27FC236}">
                    <a16:creationId xmlns:a16="http://schemas.microsoft.com/office/drawing/2014/main" id="{4B309927-41DA-64B4-EB8F-F391C526962C}"/>
                  </a:ext>
                </a:extLst>
              </p:cNvPr>
              <p:cNvSpPr>
                <a:spLocks noRot="1" noChangeAspect="1" noMove="1" noResize="1" noEditPoints="1" noAdjustHandles="1" noChangeArrowheads="1" noChangeShapeType="1" noTextEdit="1"/>
              </p:cNvSpPr>
              <p:nvPr/>
            </p:nvSpPr>
            <p:spPr>
              <a:xfrm>
                <a:off x="244591" y="1279977"/>
                <a:ext cx="3534086" cy="853623"/>
              </a:xfrm>
              <a:prstGeom prst="roundRect">
                <a:avLst>
                  <a:gd name="adj" fmla="val 11262"/>
                </a:avLst>
              </a:prstGeom>
              <a:blipFill>
                <a:blip r:embed="rId2"/>
                <a:stretch>
                  <a:fillRect/>
                </a:stretch>
              </a:blipFill>
              <a:ln w="28575"/>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Rectángulo: esquinas redondeadas 10">
                <a:extLst>
                  <a:ext uri="{FF2B5EF4-FFF2-40B4-BE49-F238E27FC236}">
                    <a16:creationId xmlns:a16="http://schemas.microsoft.com/office/drawing/2014/main" id="{EC53C7D3-625D-B9E0-4C76-F864148AA065}"/>
                  </a:ext>
                </a:extLst>
              </p:cNvPr>
              <p:cNvSpPr/>
              <p:nvPr/>
            </p:nvSpPr>
            <p:spPr>
              <a:xfrm>
                <a:off x="244590" y="2575377"/>
                <a:ext cx="3534086" cy="853623"/>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dirty="0">
                    <a:solidFill>
                      <a:schemeClr val="accent1">
                        <a:lumMod val="50000"/>
                      </a:schemeClr>
                    </a:solidFill>
                  </a:rPr>
                  <a:t>Inicialización centroides: </a:t>
                </a:r>
                <a14:m>
                  <m:oMath xmlns:m="http://schemas.openxmlformats.org/officeDocument/2006/math">
                    <m:d>
                      <m:dPr>
                        <m:begChr m:val="{"/>
                        <m:endChr m:val="}"/>
                        <m:ctrlPr>
                          <a:rPr lang="es-ES" i="1" smtClean="0">
                            <a:solidFill>
                              <a:schemeClr val="accent1">
                                <a:lumMod val="50000"/>
                              </a:schemeClr>
                            </a:solidFill>
                            <a:latin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𝝁</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r>
                          <a:rPr lang="es-ES" b="0" i="1" smtClean="0">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𝝁</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Sub>
                        <m:r>
                          <a:rPr lang="es-ES" b="0" i="1" smtClean="0">
                            <a:solidFill>
                              <a:schemeClr val="accent1">
                                <a:lumMod val="50000"/>
                              </a:schemeClr>
                            </a:solidFill>
                            <a:latin typeface="Cambria Math" panose="02040503050406030204" pitchFamily="18" charset="0"/>
                          </a:rPr>
                          <m:t>,</m:t>
                        </m:r>
                        <m:r>
                          <a:rPr lang="es-ES" i="1" smtClean="0">
                            <a:solidFill>
                              <a:schemeClr val="accent1">
                                <a:lumMod val="50000"/>
                              </a:schemeClr>
                            </a:solidFill>
                            <a:latin typeface="Cambria Math" panose="02040503050406030204" pitchFamily="18" charset="0"/>
                          </a:rPr>
                          <m:t>…</m:t>
                        </m:r>
                        <m:r>
                          <a:rPr lang="es-ES" b="0" i="1" smtClean="0">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𝝁</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𝐾</m:t>
                            </m:r>
                          </m:sub>
                        </m:sSub>
                      </m:e>
                    </m:d>
                  </m:oMath>
                </a14:m>
                <a:endParaRPr lang="es-ES" dirty="0"/>
              </a:p>
            </p:txBody>
          </p:sp>
        </mc:Choice>
        <mc:Fallback xmlns="">
          <p:sp>
            <p:nvSpPr>
              <p:cNvPr id="11" name="Rectángulo: esquinas redondeadas 10">
                <a:extLst>
                  <a:ext uri="{FF2B5EF4-FFF2-40B4-BE49-F238E27FC236}">
                    <a16:creationId xmlns:a16="http://schemas.microsoft.com/office/drawing/2014/main" id="{EC53C7D3-625D-B9E0-4C76-F864148AA065}"/>
                  </a:ext>
                </a:extLst>
              </p:cNvPr>
              <p:cNvSpPr>
                <a:spLocks noRot="1" noChangeAspect="1" noMove="1" noResize="1" noEditPoints="1" noAdjustHandles="1" noChangeArrowheads="1" noChangeShapeType="1" noTextEdit="1"/>
              </p:cNvSpPr>
              <p:nvPr/>
            </p:nvSpPr>
            <p:spPr>
              <a:xfrm>
                <a:off x="244590" y="2575377"/>
                <a:ext cx="3534086" cy="853623"/>
              </a:xfrm>
              <a:prstGeom prst="roundRect">
                <a:avLst>
                  <a:gd name="adj" fmla="val 11262"/>
                </a:avLst>
              </a:prstGeom>
              <a:blipFill>
                <a:blip r:embed="rId3"/>
                <a:stretch>
                  <a:fillRect/>
                </a:stretch>
              </a:blipFill>
              <a:ln w="28575"/>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Rectángulo: esquinas redondeadas 11">
                <a:extLst>
                  <a:ext uri="{FF2B5EF4-FFF2-40B4-BE49-F238E27FC236}">
                    <a16:creationId xmlns:a16="http://schemas.microsoft.com/office/drawing/2014/main" id="{4B6BF5A4-DE35-98A8-9FD7-116CC4874512}"/>
                  </a:ext>
                </a:extLst>
              </p:cNvPr>
              <p:cNvSpPr/>
              <p:nvPr/>
            </p:nvSpPr>
            <p:spPr>
              <a:xfrm>
                <a:off x="244590" y="3955159"/>
                <a:ext cx="3534086" cy="853623"/>
              </a:xfrm>
              <a:prstGeom prst="roundRect">
                <a:avLst>
                  <a:gd name="adj" fmla="val 19636"/>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dirty="0">
                    <a:solidFill>
                      <a:schemeClr val="accent1">
                        <a:lumMod val="50000"/>
                      </a:schemeClr>
                    </a:solidFill>
                  </a:rPr>
                  <a:t>Asignación grupo:</a:t>
                </a:r>
              </a:p>
              <a:p>
                <a:pPr/>
                <a14:m>
                  <m:oMathPara xmlns:m="http://schemas.openxmlformats.org/officeDocument/2006/math">
                    <m:oMathParaPr>
                      <m:jc m:val="centerGroup"/>
                    </m:oMathParaPr>
                    <m:oMath xmlns:m="http://schemas.openxmlformats.org/officeDocument/2006/math">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b="0" i="1" smtClean="0">
                              <a:solidFill>
                                <a:schemeClr val="accent1">
                                  <a:lumMod val="50000"/>
                                </a:schemeClr>
                              </a:solidFill>
                              <a:latin typeface="Cambria Math" panose="02040503050406030204" pitchFamily="18" charset="0"/>
                            </a:rPr>
                            <m:t>𝑖</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𝐶</m:t>
                          </m:r>
                        </m:e>
                        <m:sup>
                          <m:r>
                            <a:rPr lang="es-ES" b="0" i="1" smtClean="0">
                              <a:solidFill>
                                <a:schemeClr val="accent1">
                                  <a:lumMod val="50000"/>
                                </a:schemeClr>
                              </a:solidFill>
                              <a:latin typeface="Cambria Math" panose="02040503050406030204" pitchFamily="18" charset="0"/>
                              <a:ea typeface="Cambria Math" panose="02040503050406030204" pitchFamily="18" charset="0"/>
                            </a:rPr>
                            <m:t>𝑘</m:t>
                          </m:r>
                        </m:sup>
                      </m:sSup>
                      <m:r>
                        <a:rPr lang="es-ES" b="1" i="1" smtClean="0">
                          <a:solidFill>
                            <a:schemeClr val="accent1">
                              <a:lumMod val="50000"/>
                            </a:schemeClr>
                          </a:solidFill>
                          <a:latin typeface="Cambria Math" panose="02040503050406030204" pitchFamily="18" charset="0"/>
                          <a:ea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𝑘</m:t>
                      </m:r>
                      <m:r>
                        <a:rPr lang="es-ES" b="0" i="1" smtClean="0">
                          <a:solidFill>
                            <a:schemeClr val="accent1">
                              <a:lumMod val="50000"/>
                            </a:schemeClr>
                          </a:solidFill>
                          <a:latin typeface="Cambria Math" panose="02040503050406030204" pitchFamily="18" charset="0"/>
                          <a:ea typeface="Cambria Math" panose="02040503050406030204" pitchFamily="18" charset="0"/>
                        </a:rPr>
                        <m:t>=</m:t>
                      </m:r>
                      <m:func>
                        <m:func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funcPr>
                        <m:fName>
                          <m:r>
                            <a:rPr lang="es-ES" b="0" i="1" smtClean="0">
                              <a:solidFill>
                                <a:schemeClr val="accent1">
                                  <a:lumMod val="50000"/>
                                </a:schemeClr>
                              </a:solidFill>
                              <a:latin typeface="Cambria Math" panose="02040503050406030204" pitchFamily="18" charset="0"/>
                              <a:ea typeface="Cambria Math" panose="02040503050406030204" pitchFamily="18" charset="0"/>
                            </a:rPr>
                            <m:t>𝑎𝑟𝑔</m:t>
                          </m:r>
                          <m:limLow>
                            <m:limLow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limLowPr>
                            <m:e>
                              <m:r>
                                <m:rPr>
                                  <m:sty m:val="p"/>
                                </m:rPr>
                                <a:rPr lang="es-ES" b="0" i="0" smtClean="0">
                                  <a:solidFill>
                                    <a:schemeClr val="accent1">
                                      <a:lumMod val="50000"/>
                                    </a:schemeClr>
                                  </a:solidFill>
                                  <a:latin typeface="Cambria Math" panose="02040503050406030204" pitchFamily="18" charset="0"/>
                                  <a:ea typeface="Cambria Math" panose="02040503050406030204" pitchFamily="18" charset="0"/>
                                </a:rPr>
                                <m:t>min</m:t>
                              </m:r>
                            </m:e>
                            <m:lim>
                              <m:r>
                                <a:rPr lang="es-ES" b="0" i="1" smtClean="0">
                                  <a:solidFill>
                                    <a:schemeClr val="accent1">
                                      <a:lumMod val="50000"/>
                                    </a:schemeClr>
                                  </a:solidFill>
                                  <a:latin typeface="Cambria Math" panose="02040503050406030204" pitchFamily="18" charset="0"/>
                                  <a:ea typeface="Cambria Math" panose="02040503050406030204" pitchFamily="18" charset="0"/>
                                </a:rPr>
                                <m:t>𝑗</m:t>
                              </m:r>
                            </m:lim>
                          </m:limLow>
                        </m:fName>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i="1">
                                          <a:solidFill>
                                            <a:schemeClr val="accent1">
                                              <a:lumMod val="50000"/>
                                            </a:schemeClr>
                                          </a:solidFill>
                                          <a:latin typeface="Cambria Math" panose="02040503050406030204" pitchFamily="18" charset="0"/>
                                        </a:rPr>
                                        <m:t>𝑖</m:t>
                                      </m:r>
                                    </m:sup>
                                  </m:sSup>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𝝁</m:t>
                                      </m:r>
                                    </m:e>
                                    <m:sub>
                                      <m:r>
                                        <a:rPr lang="es-ES" i="1">
                                          <a:solidFill>
                                            <a:schemeClr val="accent1">
                                              <a:lumMod val="50000"/>
                                            </a:schemeClr>
                                          </a:solidFill>
                                          <a:latin typeface="Cambria Math" panose="02040503050406030204" pitchFamily="18" charset="0"/>
                                          <a:ea typeface="Cambria Math" panose="02040503050406030204" pitchFamily="18" charset="0"/>
                                        </a:rPr>
                                        <m:t>𝑗</m:t>
                                      </m:r>
                                    </m:sub>
                                  </m:sSub>
                                </m:e>
                              </m:d>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e>
                      </m:func>
                    </m:oMath>
                  </m:oMathPara>
                </a14:m>
                <a:endParaRPr lang="es-ES" dirty="0"/>
              </a:p>
            </p:txBody>
          </p:sp>
        </mc:Choice>
        <mc:Fallback xmlns="">
          <p:sp>
            <p:nvSpPr>
              <p:cNvPr id="12" name="Rectángulo: esquinas redondeadas 11">
                <a:extLst>
                  <a:ext uri="{FF2B5EF4-FFF2-40B4-BE49-F238E27FC236}">
                    <a16:creationId xmlns:a16="http://schemas.microsoft.com/office/drawing/2014/main" id="{4B6BF5A4-DE35-98A8-9FD7-116CC4874512}"/>
                  </a:ext>
                </a:extLst>
              </p:cNvPr>
              <p:cNvSpPr>
                <a:spLocks noRot="1" noChangeAspect="1" noMove="1" noResize="1" noEditPoints="1" noAdjustHandles="1" noChangeArrowheads="1" noChangeShapeType="1" noTextEdit="1"/>
              </p:cNvSpPr>
              <p:nvPr/>
            </p:nvSpPr>
            <p:spPr>
              <a:xfrm>
                <a:off x="244590" y="3955159"/>
                <a:ext cx="3534086" cy="853623"/>
              </a:xfrm>
              <a:prstGeom prst="roundRect">
                <a:avLst>
                  <a:gd name="adj" fmla="val 19636"/>
                </a:avLst>
              </a:prstGeom>
              <a:blipFill>
                <a:blip r:embed="rId4"/>
                <a:stretch>
                  <a:fillRect t="-1379"/>
                </a:stretch>
              </a:blipFill>
              <a:ln w="28575">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Rectángulo: esquinas redondeadas 12">
                <a:extLst>
                  <a:ext uri="{FF2B5EF4-FFF2-40B4-BE49-F238E27FC236}">
                    <a16:creationId xmlns:a16="http://schemas.microsoft.com/office/drawing/2014/main" id="{7BB677A7-586F-C274-24CE-1E173B96606F}"/>
                  </a:ext>
                </a:extLst>
              </p:cNvPr>
              <p:cNvSpPr/>
              <p:nvPr/>
            </p:nvSpPr>
            <p:spPr>
              <a:xfrm>
                <a:off x="244590" y="5233780"/>
                <a:ext cx="3534086" cy="1126851"/>
              </a:xfrm>
              <a:prstGeom prst="roundRect">
                <a:avLst>
                  <a:gd name="adj" fmla="val 16020"/>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dirty="0">
                    <a:solidFill>
                      <a:schemeClr val="accent1">
                        <a:lumMod val="50000"/>
                      </a:schemeClr>
                    </a:solidFill>
                  </a:rPr>
                  <a:t>Nuevos centroides:</a:t>
                </a:r>
              </a:p>
              <a:p>
                <a:pP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𝝁</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𝑘</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b>
                      </m:sSub>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nary>
                            <m:naryPr>
                              <m:chr m:val="∑"/>
                              <m:ctrlPr>
                                <a:rPr lang="es-ES"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ea typeface="Cambria Math" panose="02040503050406030204" pitchFamily="18" charset="0"/>
                                </a:rPr>
                                <m:t>𝑖</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𝑁</m:t>
                                  </m:r>
                                </m:e>
                                <m:sup>
                                  <m:r>
                                    <a:rPr lang="es-ES" b="0" i="1" smtClean="0">
                                      <a:solidFill>
                                        <a:schemeClr val="accent1">
                                          <a:lumMod val="50000"/>
                                        </a:schemeClr>
                                      </a:solidFill>
                                      <a:latin typeface="Cambria Math" panose="02040503050406030204" pitchFamily="18" charset="0"/>
                                      <a:ea typeface="Cambria Math" panose="02040503050406030204" pitchFamily="18" charset="0"/>
                                    </a:rPr>
                                    <m:t>𝑘</m:t>
                                  </m:r>
                                </m:sup>
                              </m:sSup>
                            </m:sup>
                            <m:e>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i="1">
                                      <a:solidFill>
                                        <a:schemeClr val="accent1">
                                          <a:lumMod val="50000"/>
                                        </a:schemeClr>
                                      </a:solidFill>
                                      <a:latin typeface="Cambria Math" panose="02040503050406030204" pitchFamily="18" charset="0"/>
                                    </a:rPr>
                                    <m:t>𝑖</m:t>
                                  </m:r>
                                </m:sup>
                              </m:sSup>
                            </m:e>
                          </m:nary>
                        </m:num>
                        <m:den>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𝑁</m:t>
                              </m:r>
                            </m:e>
                            <m:sup>
                              <m:r>
                                <a:rPr lang="es-ES" i="1">
                                  <a:solidFill>
                                    <a:schemeClr val="accent1">
                                      <a:lumMod val="50000"/>
                                    </a:schemeClr>
                                  </a:solidFill>
                                  <a:latin typeface="Cambria Math" panose="02040503050406030204" pitchFamily="18" charset="0"/>
                                  <a:ea typeface="Cambria Math" panose="02040503050406030204" pitchFamily="18" charset="0"/>
                                </a:rPr>
                                <m:t>𝑘</m:t>
                              </m:r>
                            </m:sup>
                          </m:sSup>
                        </m:den>
                      </m:f>
                      <m:r>
                        <a:rPr lang="es-ES" b="0" i="0"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𝒙</m:t>
                          </m:r>
                        </m:e>
                        <m:sup>
                          <m:r>
                            <a:rPr lang="es-ES" i="1">
                              <a:solidFill>
                                <a:schemeClr val="accent1">
                                  <a:lumMod val="50000"/>
                                </a:schemeClr>
                              </a:solidFill>
                              <a:latin typeface="Cambria Math" panose="02040503050406030204" pitchFamily="18" charset="0"/>
                            </a:rPr>
                            <m:t>𝑖</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𝐶</m:t>
                          </m:r>
                        </m:e>
                        <m:sup>
                          <m:r>
                            <a:rPr lang="es-ES" i="1">
                              <a:solidFill>
                                <a:schemeClr val="accent1">
                                  <a:lumMod val="50000"/>
                                </a:schemeClr>
                              </a:solidFill>
                              <a:latin typeface="Cambria Math" panose="02040503050406030204" pitchFamily="18" charset="0"/>
                              <a:ea typeface="Cambria Math" panose="02040503050406030204" pitchFamily="18" charset="0"/>
                            </a:rPr>
                            <m:t>𝑘</m:t>
                          </m:r>
                        </m:sup>
                      </m:sSup>
                    </m:oMath>
                  </m:oMathPara>
                </a14:m>
                <a:endParaRPr lang="es-ES" dirty="0"/>
              </a:p>
            </p:txBody>
          </p:sp>
        </mc:Choice>
        <mc:Fallback xmlns="">
          <p:sp>
            <p:nvSpPr>
              <p:cNvPr id="13" name="Rectángulo: esquinas redondeadas 12">
                <a:extLst>
                  <a:ext uri="{FF2B5EF4-FFF2-40B4-BE49-F238E27FC236}">
                    <a16:creationId xmlns:a16="http://schemas.microsoft.com/office/drawing/2014/main" id="{7BB677A7-586F-C274-24CE-1E173B96606F}"/>
                  </a:ext>
                </a:extLst>
              </p:cNvPr>
              <p:cNvSpPr>
                <a:spLocks noRot="1" noChangeAspect="1" noMove="1" noResize="1" noEditPoints="1" noAdjustHandles="1" noChangeArrowheads="1" noChangeShapeType="1" noTextEdit="1"/>
              </p:cNvSpPr>
              <p:nvPr/>
            </p:nvSpPr>
            <p:spPr>
              <a:xfrm>
                <a:off x="244590" y="5233780"/>
                <a:ext cx="3534086" cy="1126851"/>
              </a:xfrm>
              <a:prstGeom prst="roundRect">
                <a:avLst>
                  <a:gd name="adj" fmla="val 16020"/>
                </a:avLst>
              </a:prstGeom>
              <a:blipFill>
                <a:blip r:embed="rId5"/>
                <a:stretch>
                  <a:fillRect/>
                </a:stretch>
              </a:blipFill>
              <a:ln w="28575">
                <a:solidFill>
                  <a:schemeClr val="accent1">
                    <a:lumMod val="50000"/>
                  </a:schemeClr>
                </a:solidFill>
              </a:ln>
            </p:spPr>
            <p:txBody>
              <a:bodyPr/>
              <a:lstStyle/>
              <a:p>
                <a:r>
                  <a:rPr lang="es-ES">
                    <a:noFill/>
                  </a:rPr>
                  <a:t> </a:t>
                </a:r>
              </a:p>
            </p:txBody>
          </p:sp>
        </mc:Fallback>
      </mc:AlternateContent>
      <p:sp>
        <p:nvSpPr>
          <p:cNvPr id="14" name="Flecha: hacia abajo 13">
            <a:extLst>
              <a:ext uri="{FF2B5EF4-FFF2-40B4-BE49-F238E27FC236}">
                <a16:creationId xmlns:a16="http://schemas.microsoft.com/office/drawing/2014/main" id="{9AAD3902-4E70-DE5C-2B78-BDABEC2DEC0B}"/>
              </a:ext>
            </a:extLst>
          </p:cNvPr>
          <p:cNvSpPr/>
          <p:nvPr/>
        </p:nvSpPr>
        <p:spPr>
          <a:xfrm>
            <a:off x="1907305" y="2243417"/>
            <a:ext cx="208655" cy="2700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Flecha: hacia abajo 14">
            <a:extLst>
              <a:ext uri="{FF2B5EF4-FFF2-40B4-BE49-F238E27FC236}">
                <a16:creationId xmlns:a16="http://schemas.microsoft.com/office/drawing/2014/main" id="{E236FFB3-B2B7-CA66-16A1-BFB41D2012AF}"/>
              </a:ext>
            </a:extLst>
          </p:cNvPr>
          <p:cNvSpPr/>
          <p:nvPr/>
        </p:nvSpPr>
        <p:spPr>
          <a:xfrm>
            <a:off x="1907304" y="3521555"/>
            <a:ext cx="208655" cy="2700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Flecha: arriba y abajo 15">
            <a:extLst>
              <a:ext uri="{FF2B5EF4-FFF2-40B4-BE49-F238E27FC236}">
                <a16:creationId xmlns:a16="http://schemas.microsoft.com/office/drawing/2014/main" id="{08E2A2A3-0019-0B68-1AD3-F2FD5F9CA63B}"/>
              </a:ext>
            </a:extLst>
          </p:cNvPr>
          <p:cNvSpPr/>
          <p:nvPr/>
        </p:nvSpPr>
        <p:spPr>
          <a:xfrm>
            <a:off x="1910728" y="4841281"/>
            <a:ext cx="180000" cy="360000"/>
          </a:xfrm>
          <a:prstGeom prst="upDownArrow">
            <a:avLst>
              <a:gd name="adj1" fmla="val 43976"/>
              <a:gd name="adj2" fmla="val 5571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esquinas redondeadas 16">
            <a:extLst>
              <a:ext uri="{FF2B5EF4-FFF2-40B4-BE49-F238E27FC236}">
                <a16:creationId xmlns:a16="http://schemas.microsoft.com/office/drawing/2014/main" id="{28CBD03E-D502-160D-C9DB-853D05C5696B}"/>
              </a:ext>
            </a:extLst>
          </p:cNvPr>
          <p:cNvSpPr/>
          <p:nvPr/>
        </p:nvSpPr>
        <p:spPr>
          <a:xfrm>
            <a:off x="96008" y="3860137"/>
            <a:ext cx="3842267" cy="2600233"/>
          </a:xfrm>
          <a:prstGeom prst="roundRect">
            <a:avLst>
              <a:gd name="adj" fmla="val 11741"/>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esquinas redondeadas 30">
            <a:extLst>
              <a:ext uri="{FF2B5EF4-FFF2-40B4-BE49-F238E27FC236}">
                <a16:creationId xmlns:a16="http://schemas.microsoft.com/office/drawing/2014/main" id="{A97A2075-0C07-5F80-978B-3D794F7636E4}"/>
              </a:ext>
            </a:extLst>
          </p:cNvPr>
          <p:cNvSpPr/>
          <p:nvPr/>
        </p:nvSpPr>
        <p:spPr>
          <a:xfrm>
            <a:off x="4332659" y="1279977"/>
            <a:ext cx="7763332" cy="2035329"/>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600" b="1" dirty="0" err="1">
                <a:solidFill>
                  <a:schemeClr val="accent1">
                    <a:lumMod val="50000"/>
                  </a:schemeClr>
                </a:solidFill>
              </a:rPr>
              <a:t>Aleatoria</a:t>
            </a:r>
            <a:r>
              <a:rPr lang="en-US" sz="1600" dirty="0">
                <a:solidFill>
                  <a:schemeClr val="accent1">
                    <a:lumMod val="50000"/>
                  </a:schemeClr>
                </a:solidFill>
              </a:rPr>
              <a:t>: </a:t>
            </a:r>
            <a:r>
              <a:rPr lang="en-US" sz="1600" dirty="0" err="1">
                <a:solidFill>
                  <a:schemeClr val="accent1">
                    <a:lumMod val="50000"/>
                  </a:schemeClr>
                </a:solidFill>
              </a:rPr>
              <a:t>Seleccionamos</a:t>
            </a:r>
            <a:r>
              <a:rPr lang="en-US" sz="1600" dirty="0">
                <a:solidFill>
                  <a:schemeClr val="accent1">
                    <a:lumMod val="50000"/>
                  </a:schemeClr>
                </a:solidFill>
              </a:rPr>
              <a:t> de forma </a:t>
            </a:r>
            <a:r>
              <a:rPr lang="en-US" sz="1600" dirty="0" err="1">
                <a:solidFill>
                  <a:schemeClr val="accent1">
                    <a:lumMod val="50000"/>
                  </a:schemeClr>
                </a:solidFill>
              </a:rPr>
              <a:t>aleatoria</a:t>
            </a:r>
            <a:r>
              <a:rPr lang="en-US" sz="1600" dirty="0">
                <a:solidFill>
                  <a:schemeClr val="accent1">
                    <a:lumMod val="50000"/>
                  </a:schemeClr>
                </a:solidFill>
              </a:rPr>
              <a:t> </a:t>
            </a:r>
            <a:r>
              <a:rPr lang="en-US" sz="1600" dirty="0" err="1">
                <a:solidFill>
                  <a:schemeClr val="accent1">
                    <a:lumMod val="50000"/>
                  </a:schemeClr>
                </a:solidFill>
              </a:rPr>
              <a:t>los</a:t>
            </a:r>
            <a:r>
              <a:rPr lang="en-US" sz="1600" dirty="0">
                <a:solidFill>
                  <a:schemeClr val="accent1">
                    <a:lumMod val="50000"/>
                  </a:schemeClr>
                </a:solidFill>
              </a:rPr>
              <a:t> k </a:t>
            </a:r>
            <a:r>
              <a:rPr lang="en-US" sz="1600" dirty="0" err="1">
                <a:solidFill>
                  <a:schemeClr val="accent1">
                    <a:lumMod val="50000"/>
                  </a:schemeClr>
                </a:solidFill>
              </a:rPr>
              <a:t>centroides</a:t>
            </a:r>
            <a:r>
              <a:rPr lang="en-US" sz="1600" dirty="0">
                <a:solidFill>
                  <a:schemeClr val="accent1">
                    <a:lumMod val="50000"/>
                  </a:schemeClr>
                </a:solidFill>
              </a:rPr>
              <a:t>.</a:t>
            </a:r>
          </a:p>
          <a:p>
            <a:pPr marL="171450" indent="-171450">
              <a:buFont typeface="Arial" panose="020B0604020202020204" pitchFamily="34" charset="0"/>
              <a:buChar char="•"/>
            </a:pPr>
            <a:r>
              <a:rPr lang="en-US" sz="1600" b="1" dirty="0">
                <a:solidFill>
                  <a:schemeClr val="accent1">
                    <a:lumMod val="50000"/>
                  </a:schemeClr>
                </a:solidFill>
              </a:rPr>
              <a:t>K-means++:</a:t>
            </a:r>
            <a:r>
              <a:rPr lang="en-US" sz="1600" dirty="0">
                <a:solidFill>
                  <a:schemeClr val="accent1">
                    <a:lumMod val="50000"/>
                  </a:schemeClr>
                </a:solidFill>
              </a:rPr>
              <a:t> </a:t>
            </a:r>
            <a:r>
              <a:rPr lang="en-US" sz="1600" dirty="0" err="1">
                <a:solidFill>
                  <a:schemeClr val="accent1">
                    <a:lumMod val="50000"/>
                  </a:schemeClr>
                </a:solidFill>
              </a:rPr>
              <a:t>Seleccionamos</a:t>
            </a:r>
            <a:r>
              <a:rPr lang="en-US" sz="1600" dirty="0">
                <a:solidFill>
                  <a:schemeClr val="accent1">
                    <a:lumMod val="50000"/>
                  </a:schemeClr>
                </a:solidFill>
              </a:rPr>
              <a:t> </a:t>
            </a:r>
            <a:r>
              <a:rPr lang="en-US" sz="1600" dirty="0" err="1">
                <a:solidFill>
                  <a:schemeClr val="accent1">
                    <a:lumMod val="50000"/>
                  </a:schemeClr>
                </a:solidFill>
              </a:rPr>
              <a:t>aleatoriamente</a:t>
            </a:r>
            <a:r>
              <a:rPr lang="en-US" sz="1600" dirty="0">
                <a:solidFill>
                  <a:schemeClr val="accent1">
                    <a:lumMod val="50000"/>
                  </a:schemeClr>
                </a:solidFill>
              </a:rPr>
              <a:t> </a:t>
            </a:r>
            <a:r>
              <a:rPr lang="en-US" sz="1600" dirty="0" err="1">
                <a:solidFill>
                  <a:schemeClr val="accent1">
                    <a:lumMod val="50000"/>
                  </a:schemeClr>
                </a:solidFill>
              </a:rPr>
              <a:t>el</a:t>
            </a:r>
            <a:r>
              <a:rPr lang="en-US" sz="1600" dirty="0">
                <a:solidFill>
                  <a:schemeClr val="accent1">
                    <a:lumMod val="50000"/>
                  </a:schemeClr>
                </a:solidFill>
              </a:rPr>
              <a:t> primer </a:t>
            </a:r>
            <a:r>
              <a:rPr lang="en-US" sz="1600" dirty="0" err="1">
                <a:solidFill>
                  <a:schemeClr val="accent1">
                    <a:lumMod val="50000"/>
                  </a:schemeClr>
                </a:solidFill>
              </a:rPr>
              <a:t>centroide</a:t>
            </a:r>
            <a:r>
              <a:rPr lang="en-US" sz="1600" dirty="0">
                <a:solidFill>
                  <a:schemeClr val="accent1">
                    <a:lumMod val="50000"/>
                  </a:schemeClr>
                </a:solidFill>
              </a:rPr>
              <a:t>. El resto se </a:t>
            </a:r>
            <a:r>
              <a:rPr lang="en-US" sz="1600" dirty="0" err="1">
                <a:solidFill>
                  <a:schemeClr val="accent1">
                    <a:lumMod val="50000"/>
                  </a:schemeClr>
                </a:solidFill>
              </a:rPr>
              <a:t>calculan</a:t>
            </a:r>
            <a:r>
              <a:rPr lang="en-US" sz="1600" dirty="0">
                <a:solidFill>
                  <a:schemeClr val="accent1">
                    <a:lumMod val="50000"/>
                  </a:schemeClr>
                </a:solidFill>
              </a:rPr>
              <a:t> de forma que </a:t>
            </a:r>
            <a:r>
              <a:rPr lang="en-US" sz="1600" dirty="0" err="1">
                <a:solidFill>
                  <a:schemeClr val="accent1">
                    <a:lumMod val="50000"/>
                  </a:schemeClr>
                </a:solidFill>
              </a:rPr>
              <a:t>su</a:t>
            </a:r>
            <a:r>
              <a:rPr lang="en-US" sz="1600" dirty="0">
                <a:solidFill>
                  <a:schemeClr val="accent1">
                    <a:lumMod val="50000"/>
                  </a:schemeClr>
                </a:solidFill>
              </a:rPr>
              <a:t> </a:t>
            </a:r>
            <a:r>
              <a:rPr lang="en-US" sz="1600" dirty="0" err="1">
                <a:solidFill>
                  <a:schemeClr val="accent1">
                    <a:lumMod val="50000"/>
                  </a:schemeClr>
                </a:solidFill>
              </a:rPr>
              <a:t>distancia</a:t>
            </a:r>
            <a:r>
              <a:rPr lang="en-US" sz="1600" dirty="0">
                <a:solidFill>
                  <a:schemeClr val="accent1">
                    <a:lumMod val="50000"/>
                  </a:schemeClr>
                </a:solidFill>
              </a:rPr>
              <a:t> a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centroides</a:t>
            </a:r>
            <a:r>
              <a:rPr lang="en-US" sz="1600" dirty="0">
                <a:solidFill>
                  <a:schemeClr val="accent1">
                    <a:lumMod val="50000"/>
                  </a:schemeClr>
                </a:solidFill>
              </a:rPr>
              <a:t> </a:t>
            </a:r>
            <a:r>
              <a:rPr lang="en-US" sz="1600" dirty="0" err="1">
                <a:solidFill>
                  <a:schemeClr val="accent1">
                    <a:lumMod val="50000"/>
                  </a:schemeClr>
                </a:solidFill>
              </a:rPr>
              <a:t>existentes</a:t>
            </a:r>
            <a:r>
              <a:rPr lang="en-US" sz="1600" dirty="0">
                <a:solidFill>
                  <a:schemeClr val="accent1">
                    <a:lumMod val="50000"/>
                  </a:schemeClr>
                </a:solidFill>
              </a:rPr>
              <a:t> se </a:t>
            </a:r>
            <a:r>
              <a:rPr lang="en-US" sz="1600" dirty="0" err="1">
                <a:solidFill>
                  <a:schemeClr val="accent1">
                    <a:lumMod val="50000"/>
                  </a:schemeClr>
                </a:solidFill>
              </a:rPr>
              <a:t>distribuya</a:t>
            </a:r>
            <a:r>
              <a:rPr lang="en-US" sz="1600" dirty="0">
                <a:solidFill>
                  <a:schemeClr val="accent1">
                    <a:lumMod val="50000"/>
                  </a:schemeClr>
                </a:solidFill>
              </a:rPr>
              <a:t> </a:t>
            </a:r>
            <a:r>
              <a:rPr lang="en-US" sz="1600" dirty="0" err="1">
                <a:solidFill>
                  <a:schemeClr val="accent1">
                    <a:lumMod val="50000"/>
                  </a:schemeClr>
                </a:solidFill>
              </a:rPr>
              <a:t>uniformemente</a:t>
            </a:r>
            <a:r>
              <a:rPr lang="en-US" sz="1600" dirty="0">
                <a:solidFill>
                  <a:schemeClr val="accent1">
                    <a:lumMod val="50000"/>
                  </a:schemeClr>
                </a:solidFill>
              </a:rPr>
              <a:t>.</a:t>
            </a:r>
          </a:p>
          <a:p>
            <a:pPr marL="171450" indent="-171450">
              <a:buFont typeface="Arial" panose="020B0604020202020204" pitchFamily="34" charset="0"/>
              <a:buChar char="•"/>
            </a:pPr>
            <a:r>
              <a:rPr lang="en-US" sz="1600" b="1" dirty="0" err="1">
                <a:solidFill>
                  <a:schemeClr val="accent1">
                    <a:lumMod val="50000"/>
                  </a:schemeClr>
                </a:solidFill>
              </a:rPr>
              <a:t>Partición</a:t>
            </a:r>
            <a:r>
              <a:rPr lang="en-US" sz="1600" b="1" dirty="0">
                <a:solidFill>
                  <a:schemeClr val="accent1">
                    <a:lumMod val="50000"/>
                  </a:schemeClr>
                </a:solidFill>
              </a:rPr>
              <a:t> </a:t>
            </a:r>
            <a:r>
              <a:rPr lang="en-US" sz="1600" b="1" dirty="0" err="1">
                <a:solidFill>
                  <a:schemeClr val="accent1">
                    <a:lumMod val="50000"/>
                  </a:schemeClr>
                </a:solidFill>
              </a:rPr>
              <a:t>alrededor</a:t>
            </a:r>
            <a:r>
              <a:rPr lang="en-US" sz="1600" b="1" dirty="0">
                <a:solidFill>
                  <a:schemeClr val="accent1">
                    <a:lumMod val="50000"/>
                  </a:schemeClr>
                </a:solidFill>
              </a:rPr>
              <a:t> de Medoids</a:t>
            </a:r>
            <a:r>
              <a:rPr lang="en-US" sz="1600" dirty="0">
                <a:solidFill>
                  <a:schemeClr val="accent1">
                    <a:lumMod val="50000"/>
                  </a:schemeClr>
                </a:solidFill>
              </a:rPr>
              <a:t>: En </a:t>
            </a:r>
            <a:r>
              <a:rPr lang="en-US" sz="1600" dirty="0" err="1">
                <a:solidFill>
                  <a:schemeClr val="accent1">
                    <a:lumMod val="50000"/>
                  </a:schemeClr>
                </a:solidFill>
              </a:rPr>
              <a:t>lugar</a:t>
            </a:r>
            <a:r>
              <a:rPr lang="en-US" sz="1600" dirty="0">
                <a:solidFill>
                  <a:schemeClr val="accent1">
                    <a:lumMod val="50000"/>
                  </a:schemeClr>
                </a:solidFill>
              </a:rPr>
              <a:t> de </a:t>
            </a:r>
            <a:r>
              <a:rPr lang="en-US" sz="1600" dirty="0" err="1">
                <a:solidFill>
                  <a:schemeClr val="accent1">
                    <a:lumMod val="50000"/>
                  </a:schemeClr>
                </a:solidFill>
              </a:rPr>
              <a:t>calcular</a:t>
            </a:r>
            <a:r>
              <a:rPr lang="en-US" sz="1600" dirty="0">
                <a:solidFill>
                  <a:schemeClr val="accent1">
                    <a:lumMod val="50000"/>
                  </a:schemeClr>
                </a:solidFill>
              </a:rPr>
              <a:t> </a:t>
            </a:r>
            <a:r>
              <a:rPr lang="en-US" sz="1600" dirty="0" err="1">
                <a:solidFill>
                  <a:schemeClr val="accent1">
                    <a:lumMod val="50000"/>
                  </a:schemeClr>
                </a:solidFill>
              </a:rPr>
              <a:t>el</a:t>
            </a:r>
            <a:r>
              <a:rPr lang="en-US" sz="1600" dirty="0">
                <a:solidFill>
                  <a:schemeClr val="accent1">
                    <a:lumMod val="50000"/>
                  </a:schemeClr>
                </a:solidFill>
              </a:rPr>
              <a:t> </a:t>
            </a:r>
            <a:r>
              <a:rPr lang="en-US" sz="1600" dirty="0" err="1">
                <a:solidFill>
                  <a:schemeClr val="accent1">
                    <a:lumMod val="50000"/>
                  </a:schemeClr>
                </a:solidFill>
              </a:rPr>
              <a:t>centroide</a:t>
            </a:r>
            <a:r>
              <a:rPr lang="en-US" sz="1600" dirty="0">
                <a:solidFill>
                  <a:schemeClr val="accent1">
                    <a:lumMod val="50000"/>
                  </a:schemeClr>
                </a:solidFill>
              </a:rPr>
              <a:t> lo </a:t>
            </a:r>
            <a:r>
              <a:rPr lang="en-US" sz="1600" dirty="0" err="1">
                <a:solidFill>
                  <a:schemeClr val="accent1">
                    <a:lumMod val="50000"/>
                  </a:schemeClr>
                </a:solidFill>
              </a:rPr>
              <a:t>elige</a:t>
            </a:r>
            <a:r>
              <a:rPr lang="en-US" sz="1600" dirty="0">
                <a:solidFill>
                  <a:schemeClr val="accent1">
                    <a:lumMod val="50000"/>
                  </a:schemeClr>
                </a:solidFill>
              </a:rPr>
              <a:t> de entre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datos</a:t>
            </a:r>
            <a:r>
              <a:rPr lang="en-US" sz="1600" dirty="0">
                <a:solidFill>
                  <a:schemeClr val="accent1">
                    <a:lumMod val="50000"/>
                  </a:schemeClr>
                </a:solidFill>
              </a:rPr>
              <a:t> </a:t>
            </a:r>
            <a:r>
              <a:rPr lang="en-US" sz="1600" dirty="0" err="1">
                <a:solidFill>
                  <a:schemeClr val="accent1">
                    <a:lumMod val="50000"/>
                  </a:schemeClr>
                </a:solidFill>
              </a:rPr>
              <a:t>originales</a:t>
            </a:r>
            <a:r>
              <a:rPr lang="en-US" sz="1600" dirty="0">
                <a:solidFill>
                  <a:schemeClr val="accent1">
                    <a:lumMod val="50000"/>
                  </a:schemeClr>
                </a:solidFill>
              </a:rPr>
              <a:t>.</a:t>
            </a:r>
          </a:p>
          <a:p>
            <a:pPr marL="171450" indent="-171450">
              <a:buFont typeface="Arial" panose="020B0604020202020204" pitchFamily="34" charset="0"/>
              <a:buChar char="•"/>
            </a:pPr>
            <a:r>
              <a:rPr lang="en-US" sz="1600" b="1" dirty="0" err="1">
                <a:solidFill>
                  <a:schemeClr val="accent1">
                    <a:lumMod val="50000"/>
                  </a:schemeClr>
                </a:solidFill>
              </a:rPr>
              <a:t>Valores</a:t>
            </a:r>
            <a:r>
              <a:rPr lang="en-US" sz="1600" b="1" dirty="0">
                <a:solidFill>
                  <a:schemeClr val="accent1">
                    <a:lumMod val="50000"/>
                  </a:schemeClr>
                </a:solidFill>
              </a:rPr>
              <a:t> </a:t>
            </a:r>
            <a:r>
              <a:rPr lang="en-US" sz="1600" b="1" dirty="0" err="1">
                <a:solidFill>
                  <a:schemeClr val="accent1">
                    <a:lumMod val="50000"/>
                  </a:schemeClr>
                </a:solidFill>
              </a:rPr>
              <a:t>determinados</a:t>
            </a:r>
            <a:r>
              <a:rPr lang="en-US" sz="1600" b="1" dirty="0">
                <a:solidFill>
                  <a:schemeClr val="accent1">
                    <a:lumMod val="50000"/>
                  </a:schemeClr>
                </a:solidFill>
              </a:rPr>
              <a:t> </a:t>
            </a:r>
            <a:r>
              <a:rPr lang="en-US" sz="1600" b="1" dirty="0" err="1">
                <a:solidFill>
                  <a:schemeClr val="accent1">
                    <a:lumMod val="50000"/>
                  </a:schemeClr>
                </a:solidFill>
              </a:rPr>
              <a:t>por</a:t>
            </a:r>
            <a:r>
              <a:rPr lang="en-US" sz="1600" b="1" dirty="0">
                <a:solidFill>
                  <a:schemeClr val="accent1">
                    <a:lumMod val="50000"/>
                  </a:schemeClr>
                </a:solidFill>
              </a:rPr>
              <a:t> </a:t>
            </a:r>
            <a:r>
              <a:rPr lang="en-US" sz="1600" b="1" dirty="0" err="1">
                <a:solidFill>
                  <a:schemeClr val="accent1">
                    <a:lumMod val="50000"/>
                  </a:schemeClr>
                </a:solidFill>
              </a:rPr>
              <a:t>usuario</a:t>
            </a:r>
            <a:r>
              <a:rPr lang="en-US" sz="1600" dirty="0">
                <a:solidFill>
                  <a:schemeClr val="accent1">
                    <a:lumMod val="50000"/>
                  </a:schemeClr>
                </a:solidFill>
              </a:rPr>
              <a:t>: Si </a:t>
            </a:r>
            <a:r>
              <a:rPr lang="en-US" sz="1600" dirty="0" err="1">
                <a:solidFill>
                  <a:schemeClr val="accent1">
                    <a:lumMod val="50000"/>
                  </a:schemeClr>
                </a:solidFill>
              </a:rPr>
              <a:t>tenemos</a:t>
            </a:r>
            <a:r>
              <a:rPr lang="en-US" sz="1600" dirty="0">
                <a:solidFill>
                  <a:schemeClr val="accent1">
                    <a:lumMod val="50000"/>
                  </a:schemeClr>
                </a:solidFill>
              </a:rPr>
              <a:t> </a:t>
            </a:r>
            <a:r>
              <a:rPr lang="en-US" sz="1600" dirty="0" err="1">
                <a:solidFill>
                  <a:schemeClr val="accent1">
                    <a:lumMod val="50000"/>
                  </a:schemeClr>
                </a:solidFill>
              </a:rPr>
              <a:t>información</a:t>
            </a:r>
            <a:r>
              <a:rPr lang="en-US" sz="1600" dirty="0">
                <a:solidFill>
                  <a:schemeClr val="accent1">
                    <a:lumMod val="50000"/>
                  </a:schemeClr>
                </a:solidFill>
              </a:rPr>
              <a:t> de la </a:t>
            </a:r>
            <a:r>
              <a:rPr lang="en-US" sz="1600" dirty="0" err="1">
                <a:solidFill>
                  <a:schemeClr val="accent1">
                    <a:lumMod val="50000"/>
                  </a:schemeClr>
                </a:solidFill>
              </a:rPr>
              <a:t>localización</a:t>
            </a:r>
            <a:r>
              <a:rPr lang="en-US" sz="1600" dirty="0">
                <a:solidFill>
                  <a:schemeClr val="accent1">
                    <a:lumMod val="50000"/>
                  </a:schemeClr>
                </a:solidFill>
              </a:rPr>
              <a:t>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centroides</a:t>
            </a:r>
            <a:r>
              <a:rPr lang="en-US" sz="1600" dirty="0">
                <a:solidFill>
                  <a:schemeClr val="accent1">
                    <a:lumMod val="50000"/>
                  </a:schemeClr>
                </a:solidFill>
              </a:rPr>
              <a:t>, </a:t>
            </a:r>
            <a:r>
              <a:rPr lang="en-US" sz="1600" dirty="0" err="1">
                <a:solidFill>
                  <a:schemeClr val="accent1">
                    <a:lumMod val="50000"/>
                  </a:schemeClr>
                </a:solidFill>
              </a:rPr>
              <a:t>podemos</a:t>
            </a:r>
            <a:r>
              <a:rPr lang="en-US" sz="1600" dirty="0">
                <a:solidFill>
                  <a:schemeClr val="accent1">
                    <a:lumMod val="50000"/>
                  </a:schemeClr>
                </a:solidFill>
              </a:rPr>
              <a:t> </a:t>
            </a:r>
            <a:r>
              <a:rPr lang="en-US" sz="1600" dirty="0" err="1">
                <a:solidFill>
                  <a:schemeClr val="accent1">
                    <a:lumMod val="50000"/>
                  </a:schemeClr>
                </a:solidFill>
              </a:rPr>
              <a:t>asignar</a:t>
            </a:r>
            <a:r>
              <a:rPr lang="en-US" sz="1600" dirty="0">
                <a:solidFill>
                  <a:schemeClr val="accent1">
                    <a:lumMod val="50000"/>
                  </a:schemeClr>
                </a:solidFill>
              </a:rPr>
              <a:t>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centroides</a:t>
            </a:r>
            <a:r>
              <a:rPr lang="en-US" sz="1600" dirty="0">
                <a:solidFill>
                  <a:schemeClr val="accent1">
                    <a:lumMod val="50000"/>
                  </a:schemeClr>
                </a:solidFill>
              </a:rPr>
              <a:t> </a:t>
            </a:r>
            <a:r>
              <a:rPr lang="en-US" sz="1600" dirty="0" err="1">
                <a:solidFill>
                  <a:schemeClr val="accent1">
                    <a:lumMod val="50000"/>
                  </a:schemeClr>
                </a:solidFill>
              </a:rPr>
              <a:t>iniciales</a:t>
            </a:r>
            <a:r>
              <a:rPr lang="en-US" sz="1600" dirty="0">
                <a:solidFill>
                  <a:schemeClr val="accent1">
                    <a:lumMod val="50000"/>
                  </a:schemeClr>
                </a:solidFill>
              </a:rPr>
              <a:t> de forma manual, </a:t>
            </a:r>
            <a:r>
              <a:rPr lang="en-US" sz="1600" dirty="0" err="1">
                <a:solidFill>
                  <a:schemeClr val="accent1">
                    <a:lumMod val="50000"/>
                  </a:schemeClr>
                </a:solidFill>
              </a:rPr>
              <a:t>acelerando</a:t>
            </a:r>
            <a:r>
              <a:rPr lang="en-US" sz="1600" dirty="0">
                <a:solidFill>
                  <a:schemeClr val="accent1">
                    <a:lumMod val="50000"/>
                  </a:schemeClr>
                </a:solidFill>
              </a:rPr>
              <a:t> </a:t>
            </a:r>
            <a:r>
              <a:rPr lang="en-US" sz="1600" dirty="0" err="1">
                <a:solidFill>
                  <a:schemeClr val="accent1">
                    <a:lumMod val="50000"/>
                  </a:schemeClr>
                </a:solidFill>
              </a:rPr>
              <a:t>el</a:t>
            </a:r>
            <a:r>
              <a:rPr lang="en-US" sz="1600" dirty="0">
                <a:solidFill>
                  <a:schemeClr val="accent1">
                    <a:lumMod val="50000"/>
                  </a:schemeClr>
                </a:solidFill>
              </a:rPr>
              <a:t> </a:t>
            </a:r>
            <a:r>
              <a:rPr lang="en-US" sz="1600" dirty="0" err="1">
                <a:solidFill>
                  <a:schemeClr val="accent1">
                    <a:lumMod val="50000"/>
                  </a:schemeClr>
                </a:solidFill>
              </a:rPr>
              <a:t>proceso</a:t>
            </a:r>
            <a:r>
              <a:rPr lang="en-US" sz="1600" dirty="0">
                <a:solidFill>
                  <a:schemeClr val="accent1">
                    <a:lumMod val="50000"/>
                  </a:schemeClr>
                </a:solidFill>
              </a:rPr>
              <a:t> de </a:t>
            </a:r>
            <a:r>
              <a:rPr lang="en-US" sz="1600" dirty="0" err="1">
                <a:solidFill>
                  <a:schemeClr val="accent1">
                    <a:lumMod val="50000"/>
                  </a:schemeClr>
                </a:solidFill>
              </a:rPr>
              <a:t>convergencia</a:t>
            </a:r>
            <a:r>
              <a:rPr lang="en-US" sz="1600" dirty="0">
                <a:solidFill>
                  <a:schemeClr val="accent1">
                    <a:lumMod val="50000"/>
                  </a:schemeClr>
                </a:solidFill>
              </a:rPr>
              <a:t>.</a:t>
            </a:r>
          </a:p>
        </p:txBody>
      </p:sp>
      <mc:AlternateContent xmlns:mc="http://schemas.openxmlformats.org/markup-compatibility/2006" xmlns:a14="http://schemas.microsoft.com/office/drawing/2010/main">
        <mc:Choice Requires="a14">
          <p:sp>
            <p:nvSpPr>
              <p:cNvPr id="32" name="Rectángulo: esquinas redondeadas 31">
                <a:extLst>
                  <a:ext uri="{FF2B5EF4-FFF2-40B4-BE49-F238E27FC236}">
                    <a16:creationId xmlns:a16="http://schemas.microsoft.com/office/drawing/2014/main" id="{B4FD8EAB-8F49-C90B-31DC-46BD188EC55D}"/>
                  </a:ext>
                </a:extLst>
              </p:cNvPr>
              <p:cNvSpPr/>
              <p:nvPr/>
            </p:nvSpPr>
            <p:spPr>
              <a:xfrm>
                <a:off x="4332660" y="3510314"/>
                <a:ext cx="7763332" cy="3261538"/>
              </a:xfrm>
              <a:prstGeom prst="roundRect">
                <a:avLst>
                  <a:gd name="adj" fmla="val 4718"/>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600" dirty="0">
                    <a:solidFill>
                      <a:schemeClr val="accent1">
                        <a:lumMod val="50000"/>
                      </a:schemeClr>
                    </a:solidFill>
                  </a:rPr>
                  <a:t>El algoritmo K-</a:t>
                </a:r>
                <a:r>
                  <a:rPr lang="es-ES" sz="1600" dirty="0" err="1">
                    <a:solidFill>
                      <a:schemeClr val="accent1">
                        <a:lumMod val="50000"/>
                      </a:schemeClr>
                    </a:solidFill>
                  </a:rPr>
                  <a:t>Means</a:t>
                </a:r>
                <a:r>
                  <a:rPr lang="es-ES" sz="1600" dirty="0">
                    <a:solidFill>
                      <a:schemeClr val="accent1">
                        <a:lumMod val="50000"/>
                      </a:schemeClr>
                    </a:solidFill>
                  </a:rPr>
                  <a:t> busca minimizar la suma de las distancias al cuadrado dentro del </a:t>
                </a:r>
                <a:r>
                  <a:rPr lang="es-ES" sz="1600" dirty="0" err="1">
                    <a:solidFill>
                      <a:schemeClr val="accent1">
                        <a:lumMod val="50000"/>
                      </a:schemeClr>
                    </a:solidFill>
                  </a:rPr>
                  <a:t>cluster</a:t>
                </a:r>
                <a:r>
                  <a:rPr lang="es-ES" sz="1600" dirty="0">
                    <a:solidFill>
                      <a:schemeClr val="accent1">
                        <a:lumMod val="50000"/>
                      </a:schemeClr>
                    </a:solidFill>
                  </a:rPr>
                  <a:t> (WCSS </a:t>
                </a:r>
                <a:r>
                  <a:rPr lang="en-US" sz="1600" dirty="0">
                    <a:solidFill>
                      <a:schemeClr val="accent1">
                        <a:lumMod val="50000"/>
                      </a:schemeClr>
                    </a:solidFill>
                    <a:highlight>
                      <a:srgbClr val="FFFFFF"/>
                    </a:highlight>
                  </a:rPr>
                  <a:t>Within-Cluster Sum of Square</a:t>
                </a:r>
                <a:r>
                  <a:rPr lang="es-ES" sz="1600" dirty="0">
                    <a:solidFill>
                      <a:schemeClr val="accent1">
                        <a:lumMod val="50000"/>
                      </a:schemeClr>
                    </a:solidFill>
                  </a:rPr>
                  <a:t>).</a:t>
                </a:r>
              </a:p>
              <a:p>
                <a:endParaRPr lang="es-ES" sz="1600" dirty="0">
                  <a:solidFill>
                    <a:schemeClr val="accent1">
                      <a:lumMod val="50000"/>
                    </a:schemeClr>
                  </a:solidFill>
                </a:endParaRPr>
              </a:p>
              <a:p>
                <a:pPr/>
                <a14:m>
                  <m:oMathPara xmlns:m="http://schemas.openxmlformats.org/officeDocument/2006/math">
                    <m:oMathParaPr>
                      <m:jc m:val="centerGroup"/>
                    </m:oMathParaPr>
                    <m:oMath xmlns:m="http://schemas.openxmlformats.org/officeDocument/2006/math">
                      <m:r>
                        <a:rPr lang="es-ES" sz="1600" b="0" i="1" smtClean="0">
                          <a:solidFill>
                            <a:schemeClr val="accent1">
                              <a:lumMod val="50000"/>
                            </a:schemeClr>
                          </a:solidFill>
                          <a:latin typeface="Cambria Math" panose="02040503050406030204" pitchFamily="18" charset="0"/>
                        </a:rPr>
                        <m:t>𝑊𝐶𝑆𝑆</m:t>
                      </m:r>
                      <m:r>
                        <a:rPr lang="es-ES" sz="1600" b="0" i="1" smtClean="0">
                          <a:solidFill>
                            <a:schemeClr val="accent1">
                              <a:lumMod val="50000"/>
                            </a:schemeClr>
                          </a:solidFill>
                          <a:latin typeface="Cambria Math" panose="02040503050406030204" pitchFamily="18" charset="0"/>
                        </a:rPr>
                        <m:t>=</m:t>
                      </m:r>
                      <m:nary>
                        <m:naryPr>
                          <m:chr m:val="∑"/>
                          <m:ctrlPr>
                            <a:rPr lang="es-ES" sz="1600" b="0" i="1" smtClean="0">
                              <a:solidFill>
                                <a:schemeClr val="accent1">
                                  <a:lumMod val="50000"/>
                                </a:schemeClr>
                              </a:solidFill>
                              <a:latin typeface="Cambria Math" panose="02040503050406030204" pitchFamily="18" charset="0"/>
                            </a:rPr>
                          </m:ctrlPr>
                        </m:naryPr>
                        <m:sub>
                          <m:r>
                            <m:rPr>
                              <m:brk m:alnAt="23"/>
                            </m:rPr>
                            <a:rPr lang="es-ES" sz="1600" b="0" i="1" smtClean="0">
                              <a:solidFill>
                                <a:schemeClr val="accent1">
                                  <a:lumMod val="50000"/>
                                </a:schemeClr>
                              </a:solidFill>
                              <a:latin typeface="Cambria Math" panose="02040503050406030204" pitchFamily="18" charset="0"/>
                            </a:rPr>
                            <m:t>𝑗</m:t>
                          </m:r>
                          <m:r>
                            <a:rPr lang="es-ES" sz="1600" b="0" i="1" smtClean="0">
                              <a:solidFill>
                                <a:schemeClr val="accent1">
                                  <a:lumMod val="50000"/>
                                </a:schemeClr>
                              </a:solidFill>
                              <a:latin typeface="Cambria Math" panose="02040503050406030204" pitchFamily="18" charset="0"/>
                            </a:rPr>
                            <m:t>=1</m:t>
                          </m:r>
                        </m:sub>
                        <m:sup>
                          <m:r>
                            <a:rPr lang="es-ES" sz="1600" b="0" i="1" smtClean="0">
                              <a:solidFill>
                                <a:schemeClr val="accent1">
                                  <a:lumMod val="50000"/>
                                </a:schemeClr>
                              </a:solidFill>
                              <a:latin typeface="Cambria Math" panose="02040503050406030204" pitchFamily="18" charset="0"/>
                            </a:rPr>
                            <m:t>𝐾</m:t>
                          </m:r>
                        </m:sup>
                        <m:e>
                          <m:nary>
                            <m:naryPr>
                              <m:chr m:val="∑"/>
                              <m:ctrlPr>
                                <a:rPr lang="es-ES" sz="1600" i="1">
                                  <a:solidFill>
                                    <a:schemeClr val="accent1">
                                      <a:lumMod val="50000"/>
                                    </a:schemeClr>
                                  </a:solidFill>
                                  <a:latin typeface="Cambria Math" panose="02040503050406030204" pitchFamily="18" charset="0"/>
                                </a:rPr>
                              </m:ctrlPr>
                            </m:naryPr>
                            <m:sub>
                              <m:r>
                                <m:rPr>
                                  <m:brk m:alnAt="23"/>
                                </m:rPr>
                                <a:rPr lang="es-ES" sz="1600" i="1">
                                  <a:solidFill>
                                    <a:schemeClr val="accent1">
                                      <a:lumMod val="50000"/>
                                    </a:schemeClr>
                                  </a:solidFill>
                                  <a:latin typeface="Cambria Math" panose="02040503050406030204" pitchFamily="18" charset="0"/>
                                </a:rPr>
                                <m:t>𝑖</m:t>
                              </m:r>
                              <m:r>
                                <a:rPr lang="es-ES" sz="1600" i="1">
                                  <a:solidFill>
                                    <a:schemeClr val="accent1">
                                      <a:lumMod val="50000"/>
                                    </a:schemeClr>
                                  </a:solidFill>
                                  <a:latin typeface="Cambria Math" panose="02040503050406030204" pitchFamily="18" charset="0"/>
                                </a:rPr>
                                <m:t>=1</m:t>
                              </m:r>
                            </m:sub>
                            <m:sup>
                              <m:r>
                                <a:rPr lang="es-ES" sz="1600" i="1">
                                  <a:solidFill>
                                    <a:schemeClr val="accent1">
                                      <a:lumMod val="50000"/>
                                    </a:schemeClr>
                                  </a:solidFill>
                                  <a:latin typeface="Cambria Math" panose="02040503050406030204" pitchFamily="18" charset="0"/>
                                </a:rPr>
                                <m:t>𝑁</m:t>
                              </m:r>
                            </m:sup>
                            <m:e>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d>
                                    <m:dPr>
                                      <m:begChr m:val="‖"/>
                                      <m:endChr m:val="‖"/>
                                      <m:ctrlPr>
                                        <a:rPr lang="es-ES" sz="1600"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600" i="1">
                                              <a:solidFill>
                                                <a:schemeClr val="accent1">
                                                  <a:lumMod val="50000"/>
                                                </a:schemeClr>
                                              </a:solidFill>
                                              <a:latin typeface="Cambria Math" panose="02040503050406030204" pitchFamily="18" charset="0"/>
                                            </a:rPr>
                                          </m:ctrlPr>
                                        </m:sSupPr>
                                        <m:e>
                                          <m:r>
                                            <a:rPr lang="es-ES" sz="1600" b="1" i="1">
                                              <a:solidFill>
                                                <a:schemeClr val="accent1">
                                                  <a:lumMod val="50000"/>
                                                </a:schemeClr>
                                              </a:solidFill>
                                              <a:latin typeface="Cambria Math" panose="02040503050406030204" pitchFamily="18" charset="0"/>
                                            </a:rPr>
                                            <m:t>𝒙</m:t>
                                          </m:r>
                                        </m:e>
                                        <m:sup>
                                          <m:r>
                                            <a:rPr lang="es-ES" sz="1600" i="1">
                                              <a:solidFill>
                                                <a:schemeClr val="accent1">
                                                  <a:lumMod val="50000"/>
                                                </a:schemeClr>
                                              </a:solidFill>
                                              <a:latin typeface="Cambria Math" panose="02040503050406030204" pitchFamily="18" charset="0"/>
                                            </a:rPr>
                                            <m:t>𝑖</m:t>
                                          </m:r>
                                        </m:sup>
                                      </m:sSup>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b="1" i="1">
                                              <a:solidFill>
                                                <a:schemeClr val="accent1">
                                                  <a:lumMod val="50000"/>
                                                </a:schemeClr>
                                              </a:solidFill>
                                              <a:latin typeface="Cambria Math" panose="02040503050406030204" pitchFamily="18" charset="0"/>
                                              <a:ea typeface="Cambria Math" panose="02040503050406030204" pitchFamily="18" charset="0"/>
                                            </a:rPr>
                                            <m:t>𝝁</m:t>
                                          </m:r>
                                        </m:e>
                                        <m:sub>
                                          <m:r>
                                            <a:rPr lang="es-ES" sz="1600" i="1">
                                              <a:solidFill>
                                                <a:schemeClr val="accent1">
                                                  <a:lumMod val="50000"/>
                                                </a:schemeClr>
                                              </a:solidFill>
                                              <a:latin typeface="Cambria Math" panose="02040503050406030204" pitchFamily="18" charset="0"/>
                                              <a:ea typeface="Cambria Math" panose="02040503050406030204" pitchFamily="18" charset="0"/>
                                            </a:rPr>
                                            <m:t>𝑗</m:t>
                                          </m:r>
                                        </m:sub>
                                      </m:sSub>
                                    </m:e>
                                  </m:d>
                                </m:e>
                                <m:sup>
                                  <m:r>
                                    <a:rPr lang="es-ES" sz="1600" i="1">
                                      <a:solidFill>
                                        <a:schemeClr val="accent1">
                                          <a:lumMod val="50000"/>
                                        </a:schemeClr>
                                      </a:solidFill>
                                      <a:latin typeface="Cambria Math" panose="02040503050406030204" pitchFamily="18" charset="0"/>
                                      <a:ea typeface="Cambria Math" panose="02040503050406030204" pitchFamily="18" charset="0"/>
                                    </a:rPr>
                                    <m:t>2</m:t>
                                  </m:r>
                                </m:sup>
                              </m:sSup>
                            </m:e>
                          </m:nary>
                        </m:e>
                      </m:nary>
                    </m:oMath>
                  </m:oMathPara>
                </a14:m>
                <a:endParaRPr lang="es-ES" sz="1600" dirty="0">
                  <a:solidFill>
                    <a:schemeClr val="accent1">
                      <a:lumMod val="50000"/>
                    </a:schemeClr>
                  </a:solidFill>
                </a:endParaRPr>
              </a:p>
              <a:p>
                <a:endParaRPr lang="es-ES" sz="1600" dirty="0">
                  <a:solidFill>
                    <a:schemeClr val="accent1">
                      <a:lumMod val="50000"/>
                    </a:schemeClr>
                  </a:solidFill>
                </a:endParaRPr>
              </a:p>
              <a:p>
                <a:r>
                  <a:rPr lang="es-ES" sz="1600" dirty="0">
                    <a:solidFill>
                      <a:schemeClr val="accent1">
                        <a:lumMod val="50000"/>
                      </a:schemeClr>
                    </a:solidFill>
                  </a:rPr>
                  <a:t>La forma de verificar que se ha alcanzado un mínimo es utilizando como criterio de convergencia la posición de los nuevos centroides. Si los centroides no varían consideramos que el método iterativo ha finalizado.</a:t>
                </a:r>
              </a:p>
              <a:p>
                <a:endParaRPr lang="es-ES" sz="1600" dirty="0">
                  <a:solidFill>
                    <a:schemeClr val="accent1">
                      <a:lumMod val="50000"/>
                    </a:schemeClr>
                  </a:solidFill>
                </a:endParaRPr>
              </a:p>
              <a:p>
                <a:r>
                  <a:rPr lang="es-ES" sz="1600" dirty="0">
                    <a:solidFill>
                      <a:schemeClr val="accent1">
                        <a:lumMod val="50000"/>
                      </a:schemeClr>
                    </a:solidFill>
                  </a:rPr>
                  <a:t>Sin embargo, como veremos, ese criterio puede llevar a soluciones locales que son mínimos subóptimos.</a:t>
                </a:r>
              </a:p>
            </p:txBody>
          </p:sp>
        </mc:Choice>
        <mc:Fallback xmlns="">
          <p:sp>
            <p:nvSpPr>
              <p:cNvPr id="32" name="Rectángulo: esquinas redondeadas 31">
                <a:extLst>
                  <a:ext uri="{FF2B5EF4-FFF2-40B4-BE49-F238E27FC236}">
                    <a16:creationId xmlns:a16="http://schemas.microsoft.com/office/drawing/2014/main" id="{B4FD8EAB-8F49-C90B-31DC-46BD188EC55D}"/>
                  </a:ext>
                </a:extLst>
              </p:cNvPr>
              <p:cNvSpPr>
                <a:spLocks noRot="1" noChangeAspect="1" noMove="1" noResize="1" noEditPoints="1" noAdjustHandles="1" noChangeArrowheads="1" noChangeShapeType="1" noTextEdit="1"/>
              </p:cNvSpPr>
              <p:nvPr/>
            </p:nvSpPr>
            <p:spPr>
              <a:xfrm>
                <a:off x="4332660" y="3510314"/>
                <a:ext cx="7763332" cy="3261538"/>
              </a:xfrm>
              <a:prstGeom prst="roundRect">
                <a:avLst>
                  <a:gd name="adj" fmla="val 4718"/>
                </a:avLst>
              </a:prstGeom>
              <a:blipFill>
                <a:blip r:embed="rId6"/>
                <a:stretch>
                  <a:fillRect b="-1481"/>
                </a:stretch>
              </a:blipFill>
              <a:ln w="28575"/>
            </p:spPr>
            <p:txBody>
              <a:bodyPr/>
              <a:lstStyle/>
              <a:p>
                <a:r>
                  <a:rPr lang="es-ES">
                    <a:noFill/>
                  </a:rPr>
                  <a:t> </a:t>
                </a:r>
              </a:p>
            </p:txBody>
          </p:sp>
        </mc:Fallback>
      </mc:AlternateContent>
      <p:sp>
        <p:nvSpPr>
          <p:cNvPr id="35" name="Rectángulo: esquinas redondeadas 34">
            <a:extLst>
              <a:ext uri="{FF2B5EF4-FFF2-40B4-BE49-F238E27FC236}">
                <a16:creationId xmlns:a16="http://schemas.microsoft.com/office/drawing/2014/main" id="{E7473D52-8C94-1233-3956-BC1A1D48F938}"/>
              </a:ext>
            </a:extLst>
          </p:cNvPr>
          <p:cNvSpPr/>
          <p:nvPr/>
        </p:nvSpPr>
        <p:spPr>
          <a:xfrm>
            <a:off x="4332659" y="263886"/>
            <a:ext cx="7763332" cy="821083"/>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numCol="2" rtlCol="0" anchor="ctr"/>
          <a:lstStyle/>
          <a:p>
            <a:pPr marL="171450" indent="-171450">
              <a:buFont typeface="Arial" panose="020B0604020202020204" pitchFamily="34" charset="0"/>
              <a:buChar char="•"/>
            </a:pPr>
            <a:r>
              <a:rPr lang="en-US" sz="1600" b="1" dirty="0" err="1">
                <a:solidFill>
                  <a:schemeClr val="accent1">
                    <a:lumMod val="50000"/>
                  </a:schemeClr>
                </a:solidFill>
              </a:rPr>
              <a:t>Datos</a:t>
            </a:r>
            <a:r>
              <a:rPr lang="en-US" sz="1600" b="1" dirty="0">
                <a:solidFill>
                  <a:schemeClr val="accent1">
                    <a:lumMod val="50000"/>
                  </a:schemeClr>
                </a:solidFill>
              </a:rPr>
              <a:t> </a:t>
            </a:r>
            <a:r>
              <a:rPr lang="en-US" sz="1600" b="1" dirty="0" err="1">
                <a:solidFill>
                  <a:schemeClr val="accent1">
                    <a:lumMod val="50000"/>
                  </a:schemeClr>
                </a:solidFill>
              </a:rPr>
              <a:t>anómalos</a:t>
            </a:r>
            <a:r>
              <a:rPr lang="en-US" sz="1600" b="1" dirty="0">
                <a:solidFill>
                  <a:schemeClr val="accent1">
                    <a:lumMod val="50000"/>
                  </a:schemeClr>
                </a:solidFill>
              </a:rPr>
              <a:t>.</a:t>
            </a:r>
          </a:p>
          <a:p>
            <a:pPr marL="171450" indent="-171450">
              <a:buFont typeface="Arial" panose="020B0604020202020204" pitchFamily="34" charset="0"/>
              <a:buChar char="•"/>
            </a:pPr>
            <a:r>
              <a:rPr lang="en-US" sz="1600" b="1" dirty="0" err="1">
                <a:solidFill>
                  <a:schemeClr val="accent1">
                    <a:lumMod val="50000"/>
                  </a:schemeClr>
                </a:solidFill>
              </a:rPr>
              <a:t>Escalado</a:t>
            </a:r>
            <a:r>
              <a:rPr lang="en-US" sz="1600" b="1" dirty="0">
                <a:solidFill>
                  <a:schemeClr val="accent1">
                    <a:lumMod val="50000"/>
                  </a:schemeClr>
                </a:solidFill>
              </a:rPr>
              <a:t> </a:t>
            </a:r>
            <a:r>
              <a:rPr lang="en-US" sz="1600" b="1" dirty="0" err="1">
                <a:solidFill>
                  <a:schemeClr val="accent1">
                    <a:lumMod val="50000"/>
                  </a:schemeClr>
                </a:solidFill>
              </a:rPr>
              <a:t>inicial</a:t>
            </a:r>
            <a:r>
              <a:rPr lang="en-US" sz="1600" b="1" dirty="0">
                <a:solidFill>
                  <a:schemeClr val="accent1">
                    <a:lumMod val="50000"/>
                  </a:schemeClr>
                </a:solidFill>
              </a:rPr>
              <a:t> de </a:t>
            </a:r>
            <a:r>
              <a:rPr lang="en-US" sz="1600" b="1" dirty="0" err="1">
                <a:solidFill>
                  <a:schemeClr val="accent1">
                    <a:lumMod val="50000"/>
                  </a:schemeClr>
                </a:solidFill>
              </a:rPr>
              <a:t>los</a:t>
            </a:r>
            <a:r>
              <a:rPr lang="en-US" sz="1600" b="1" dirty="0">
                <a:solidFill>
                  <a:schemeClr val="accent1">
                    <a:lumMod val="50000"/>
                  </a:schemeClr>
                </a:solidFill>
              </a:rPr>
              <a:t> </a:t>
            </a:r>
            <a:r>
              <a:rPr lang="en-US" sz="1600" b="1" dirty="0" err="1">
                <a:solidFill>
                  <a:schemeClr val="accent1">
                    <a:lumMod val="50000"/>
                  </a:schemeClr>
                </a:solidFill>
              </a:rPr>
              <a:t>datos</a:t>
            </a:r>
            <a:r>
              <a:rPr lang="en-US" sz="1600" b="1" dirty="0">
                <a:solidFill>
                  <a:schemeClr val="accent1">
                    <a:lumMod val="50000"/>
                  </a:schemeClr>
                </a:solidFill>
              </a:rPr>
              <a:t>.</a:t>
            </a:r>
          </a:p>
          <a:p>
            <a:pPr marL="171450" indent="-171450">
              <a:buFont typeface="Arial" panose="020B0604020202020204" pitchFamily="34" charset="0"/>
              <a:buChar char="•"/>
            </a:pPr>
            <a:r>
              <a:rPr lang="en-US" sz="1600" b="1" dirty="0" err="1">
                <a:solidFill>
                  <a:schemeClr val="accent1">
                    <a:lumMod val="50000"/>
                  </a:schemeClr>
                </a:solidFill>
              </a:rPr>
              <a:t>Elección</a:t>
            </a:r>
            <a:r>
              <a:rPr lang="en-US" sz="1600" b="1" dirty="0">
                <a:solidFill>
                  <a:schemeClr val="accent1">
                    <a:lumMod val="50000"/>
                  </a:schemeClr>
                </a:solidFill>
              </a:rPr>
              <a:t> del valor </a:t>
            </a:r>
            <a:r>
              <a:rPr lang="en-US" sz="1600" b="1" dirty="0" err="1">
                <a:solidFill>
                  <a:schemeClr val="accent1">
                    <a:lumMod val="50000"/>
                  </a:schemeClr>
                </a:solidFill>
              </a:rPr>
              <a:t>óptimo</a:t>
            </a:r>
            <a:r>
              <a:rPr lang="en-US" sz="1600" b="1" dirty="0">
                <a:solidFill>
                  <a:schemeClr val="accent1">
                    <a:lumMod val="50000"/>
                  </a:schemeClr>
                </a:solidFill>
              </a:rPr>
              <a:t> de k.</a:t>
            </a:r>
            <a:r>
              <a:rPr lang="en-US" sz="1600" dirty="0">
                <a:solidFill>
                  <a:schemeClr val="accent1">
                    <a:lumMod val="50000"/>
                  </a:schemeClr>
                </a:solidFill>
              </a:rPr>
              <a:t> </a:t>
            </a:r>
          </a:p>
        </p:txBody>
      </p:sp>
      <p:cxnSp>
        <p:nvCxnSpPr>
          <p:cNvPr id="37" name="Conector recto de flecha 36">
            <a:extLst>
              <a:ext uri="{FF2B5EF4-FFF2-40B4-BE49-F238E27FC236}">
                <a16:creationId xmlns:a16="http://schemas.microsoft.com/office/drawing/2014/main" id="{26A4C029-404E-8DEB-E7EC-A47C781060B4}"/>
              </a:ext>
            </a:extLst>
          </p:cNvPr>
          <p:cNvCxnSpPr>
            <a:stCxn id="8" idx="3"/>
            <a:endCxn id="35" idx="1"/>
          </p:cNvCxnSpPr>
          <p:nvPr/>
        </p:nvCxnSpPr>
        <p:spPr>
          <a:xfrm flipV="1">
            <a:off x="3778677" y="674428"/>
            <a:ext cx="553982" cy="1032361"/>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8D469C68-5BA4-ED0C-D4AF-9FA4C53D9C92}"/>
              </a:ext>
            </a:extLst>
          </p:cNvPr>
          <p:cNvCxnSpPr>
            <a:cxnSpLocks/>
            <a:stCxn id="11" idx="3"/>
            <a:endCxn id="31" idx="1"/>
          </p:cNvCxnSpPr>
          <p:nvPr/>
        </p:nvCxnSpPr>
        <p:spPr>
          <a:xfrm flipV="1">
            <a:off x="3778676" y="2297642"/>
            <a:ext cx="553983" cy="704547"/>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89F9E2F4-A0AC-61F2-D416-05C0D7925D70}"/>
              </a:ext>
            </a:extLst>
          </p:cNvPr>
          <p:cNvCxnSpPr>
            <a:cxnSpLocks/>
            <a:stCxn id="17" idx="3"/>
            <a:endCxn id="32" idx="1"/>
          </p:cNvCxnSpPr>
          <p:nvPr/>
        </p:nvCxnSpPr>
        <p:spPr>
          <a:xfrm flipV="1">
            <a:off x="3938275" y="5141083"/>
            <a:ext cx="394385" cy="0"/>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1373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424AA98-4301-7859-AAC4-F0D06EDAF49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5</a:t>
            </a:fld>
            <a:endParaRPr lang="es-ES">
              <a:solidFill>
                <a:prstClr val="black">
                  <a:tint val="75000"/>
                </a:prstClr>
              </a:solidFill>
            </a:endParaRPr>
          </a:p>
        </p:txBody>
      </p:sp>
      <p:sp>
        <p:nvSpPr>
          <p:cNvPr id="3" name="CuadroTexto 2">
            <a:extLst>
              <a:ext uri="{FF2B5EF4-FFF2-40B4-BE49-F238E27FC236}">
                <a16:creationId xmlns:a16="http://schemas.microsoft.com/office/drawing/2014/main" id="{0DC7F0AA-6BAB-AA5B-079C-4DC81327269D}"/>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pic>
        <p:nvPicPr>
          <p:cNvPr id="1026" name="Picture 2">
            <a:extLst>
              <a:ext uri="{FF2B5EF4-FFF2-40B4-BE49-F238E27FC236}">
                <a16:creationId xmlns:a16="http://schemas.microsoft.com/office/drawing/2014/main" id="{00449CE5-2920-5861-9A99-B1356D1E7C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34" y="1617935"/>
            <a:ext cx="5400000" cy="4075649"/>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esquinas redondeadas 3">
            <a:extLst>
              <a:ext uri="{FF2B5EF4-FFF2-40B4-BE49-F238E27FC236}">
                <a16:creationId xmlns:a16="http://schemas.microsoft.com/office/drawing/2014/main" id="{B57E880C-5701-1ACF-30A5-BC31276BDEE8}"/>
              </a:ext>
            </a:extLst>
          </p:cNvPr>
          <p:cNvSpPr/>
          <p:nvPr/>
        </p:nvSpPr>
        <p:spPr>
          <a:xfrm>
            <a:off x="6096001" y="1434130"/>
            <a:ext cx="5907578" cy="5287347"/>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400" dirty="0" err="1">
                <a:solidFill>
                  <a:srgbClr val="0000FF"/>
                </a:solidFill>
                <a:latin typeface="Consolas" panose="020B0609020204030204" pitchFamily="49" charset="0"/>
              </a:rPr>
              <a:t>import</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seaborn</a:t>
            </a:r>
            <a:r>
              <a:rPr lang="es-ES" sz="1400" dirty="0">
                <a:solidFill>
                  <a:srgbClr val="000000"/>
                </a:solidFill>
                <a:latin typeface="Consolas" panose="020B0609020204030204" pitchFamily="49" charset="0"/>
              </a:rPr>
              <a:t> </a:t>
            </a:r>
            <a:r>
              <a:rPr lang="es-ES" sz="1400" dirty="0">
                <a:solidFill>
                  <a:srgbClr val="0000FF"/>
                </a:solidFill>
                <a:latin typeface="Consolas" panose="020B0609020204030204" pitchFamily="49" charset="0"/>
              </a:rPr>
              <a:t>as</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sns</a:t>
            </a:r>
            <a:endParaRPr lang="es-ES" sz="1400" dirty="0">
              <a:solidFill>
                <a:srgbClr val="000000"/>
              </a:solidFill>
              <a:latin typeface="Consolas" panose="020B0609020204030204" pitchFamily="49" charset="0"/>
            </a:endParaRPr>
          </a:p>
          <a:p>
            <a:r>
              <a:rPr lang="es-ES" sz="1400" dirty="0" err="1">
                <a:solidFill>
                  <a:srgbClr val="0000FF"/>
                </a:solidFill>
                <a:latin typeface="Consolas" panose="020B0609020204030204" pitchFamily="49" charset="0"/>
              </a:rPr>
              <a:t>import</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numpy</a:t>
            </a:r>
            <a:r>
              <a:rPr lang="es-ES" sz="1400" dirty="0">
                <a:solidFill>
                  <a:srgbClr val="000000"/>
                </a:solidFill>
                <a:latin typeface="Consolas" panose="020B0609020204030204" pitchFamily="49" charset="0"/>
              </a:rPr>
              <a:t> </a:t>
            </a:r>
            <a:r>
              <a:rPr lang="es-ES" sz="1400" dirty="0">
                <a:solidFill>
                  <a:srgbClr val="0000FF"/>
                </a:solidFill>
                <a:latin typeface="Consolas" panose="020B0609020204030204" pitchFamily="49" charset="0"/>
              </a:rPr>
              <a:t>as</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np</a:t>
            </a:r>
            <a:endParaRPr lang="es-ES" sz="1400" dirty="0">
              <a:solidFill>
                <a:srgbClr val="000000"/>
              </a:solidFill>
              <a:latin typeface="Consolas" panose="020B0609020204030204" pitchFamily="49" charset="0"/>
            </a:endParaRPr>
          </a:p>
          <a:p>
            <a:r>
              <a:rPr lang="es-ES" sz="1400" dirty="0" err="1">
                <a:solidFill>
                  <a:srgbClr val="0000FF"/>
                </a:solidFill>
                <a:latin typeface="Consolas" panose="020B0609020204030204" pitchFamily="49" charset="0"/>
              </a:rPr>
              <a:t>from</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sklearn.datasets</a:t>
            </a:r>
            <a:r>
              <a:rPr lang="es-ES" sz="1400" dirty="0">
                <a:solidFill>
                  <a:srgbClr val="000000"/>
                </a:solidFill>
                <a:latin typeface="Consolas" panose="020B0609020204030204" pitchFamily="49" charset="0"/>
              </a:rPr>
              <a:t> </a:t>
            </a:r>
            <a:r>
              <a:rPr lang="es-ES" sz="1400" dirty="0" err="1">
                <a:solidFill>
                  <a:srgbClr val="0000FF"/>
                </a:solidFill>
                <a:latin typeface="Consolas" panose="020B0609020204030204" pitchFamily="49" charset="0"/>
              </a:rPr>
              <a:t>import</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make_blobs</a:t>
            </a:r>
            <a:endParaRPr lang="es-ES" sz="1400" dirty="0">
              <a:solidFill>
                <a:srgbClr val="000000"/>
              </a:solidFill>
              <a:latin typeface="Consolas" panose="020B0609020204030204" pitchFamily="49" charset="0"/>
            </a:endParaRPr>
          </a:p>
          <a:p>
            <a:r>
              <a:rPr lang="es-ES" sz="1400" dirty="0" err="1">
                <a:solidFill>
                  <a:srgbClr val="0000FF"/>
                </a:solidFill>
                <a:latin typeface="Consolas" panose="020B0609020204030204" pitchFamily="49" charset="0"/>
              </a:rPr>
              <a:t>import</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matplotlib.pyplot</a:t>
            </a:r>
            <a:r>
              <a:rPr lang="es-ES" sz="1400" dirty="0">
                <a:solidFill>
                  <a:srgbClr val="000000"/>
                </a:solidFill>
                <a:latin typeface="Consolas" panose="020B0609020204030204" pitchFamily="49" charset="0"/>
              </a:rPr>
              <a:t> </a:t>
            </a:r>
            <a:r>
              <a:rPr lang="es-ES" sz="1400" dirty="0">
                <a:solidFill>
                  <a:srgbClr val="0000FF"/>
                </a:solidFill>
                <a:latin typeface="Consolas" panose="020B0609020204030204" pitchFamily="49" charset="0"/>
              </a:rPr>
              <a:t>as</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plt</a:t>
            </a:r>
            <a:endParaRPr lang="es-ES" sz="1400" dirty="0">
              <a:solidFill>
                <a:srgbClr val="000000"/>
              </a:solidFill>
              <a:latin typeface="Consolas" panose="020B0609020204030204" pitchFamily="49" charset="0"/>
            </a:endParaRPr>
          </a:p>
          <a:p>
            <a:r>
              <a:rPr lang="es-ES" sz="1400" dirty="0" err="1">
                <a:solidFill>
                  <a:srgbClr val="0000FF"/>
                </a:solidFill>
                <a:latin typeface="Consolas" panose="020B0609020204030204" pitchFamily="49" charset="0"/>
              </a:rPr>
              <a:t>from</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sklearn.preprocessing</a:t>
            </a:r>
            <a:r>
              <a:rPr lang="es-ES" sz="1400" dirty="0">
                <a:solidFill>
                  <a:srgbClr val="000000"/>
                </a:solidFill>
                <a:latin typeface="Consolas" panose="020B0609020204030204" pitchFamily="49" charset="0"/>
              </a:rPr>
              <a:t> </a:t>
            </a:r>
            <a:r>
              <a:rPr lang="es-ES" sz="1400" dirty="0" err="1">
                <a:solidFill>
                  <a:srgbClr val="0000FF"/>
                </a:solidFill>
                <a:latin typeface="Consolas" panose="020B0609020204030204" pitchFamily="49" charset="0"/>
              </a:rPr>
              <a:t>import</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StandardScaler</a:t>
            </a:r>
            <a:endParaRPr lang="es-ES" sz="1400" dirty="0">
              <a:solidFill>
                <a:srgbClr val="000000"/>
              </a:solidFill>
              <a:latin typeface="Consolas" panose="020B0609020204030204" pitchFamily="49" charset="0"/>
            </a:endParaRPr>
          </a:p>
          <a:p>
            <a:endParaRPr lang="es-ES" sz="1400" dirty="0">
              <a:solidFill>
                <a:srgbClr val="000000"/>
              </a:solidFill>
              <a:latin typeface="Consolas" panose="020B0609020204030204" pitchFamily="49" charset="0"/>
            </a:endParaRPr>
          </a:p>
          <a:p>
            <a:r>
              <a:rPr lang="es-ES" sz="1400" dirty="0">
                <a:solidFill>
                  <a:srgbClr val="000000"/>
                </a:solidFill>
                <a:latin typeface="Consolas" panose="020B0609020204030204" pitchFamily="49" charset="0"/>
              </a:rPr>
              <a:t>centers = </a:t>
            </a:r>
            <a:r>
              <a:rPr lang="es-ES" sz="1400" dirty="0">
                <a:solidFill>
                  <a:srgbClr val="098658"/>
                </a:solidFill>
                <a:latin typeface="Consolas" panose="020B0609020204030204" pitchFamily="49" charset="0"/>
              </a:rPr>
              <a:t>3</a:t>
            </a:r>
            <a:endParaRPr lang="es-ES" sz="1400" dirty="0">
              <a:solidFill>
                <a:srgbClr val="000000"/>
              </a:solidFill>
              <a:latin typeface="Consolas" panose="020B0609020204030204" pitchFamily="49" charset="0"/>
            </a:endParaRPr>
          </a:p>
          <a:p>
            <a:r>
              <a:rPr lang="es-ES" sz="1400" dirty="0" err="1">
                <a:solidFill>
                  <a:srgbClr val="000000"/>
                </a:solidFill>
                <a:latin typeface="Consolas" panose="020B0609020204030204" pitchFamily="49" charset="0"/>
              </a:rPr>
              <a:t>X_train</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true_labels</a:t>
            </a:r>
            <a:r>
              <a:rPr lang="es-ES" sz="1400" dirty="0">
                <a:solidFill>
                  <a:srgbClr val="000000"/>
                </a:solidFill>
                <a:latin typeface="Consolas" panose="020B0609020204030204" pitchFamily="49" charset="0"/>
              </a:rPr>
              <a:t> = </a:t>
            </a:r>
            <a:r>
              <a:rPr lang="es-ES" sz="1400" dirty="0" err="1">
                <a:solidFill>
                  <a:srgbClr val="000000"/>
                </a:solidFill>
                <a:latin typeface="Consolas" panose="020B0609020204030204" pitchFamily="49" charset="0"/>
              </a:rPr>
              <a:t>make_blobs</a:t>
            </a:r>
            <a:r>
              <a:rPr lang="es-ES" sz="1400" dirty="0">
                <a:solidFill>
                  <a:srgbClr val="000000"/>
                </a:solidFill>
                <a:latin typeface="Consolas" panose="020B0609020204030204" pitchFamily="49" charset="0"/>
              </a:rPr>
              <a:t>(</a:t>
            </a:r>
            <a:r>
              <a:rPr lang="es-ES" sz="1400" dirty="0" err="1">
                <a:solidFill>
                  <a:srgbClr val="000000"/>
                </a:solidFill>
                <a:latin typeface="Consolas" panose="020B0609020204030204" pitchFamily="49" charset="0"/>
              </a:rPr>
              <a:t>n_samples</a:t>
            </a:r>
            <a:r>
              <a:rPr lang="es-ES" sz="1400" dirty="0">
                <a:solidFill>
                  <a:srgbClr val="000000"/>
                </a:solidFill>
                <a:latin typeface="Consolas" panose="020B0609020204030204" pitchFamily="49" charset="0"/>
              </a:rPr>
              <a:t>=</a:t>
            </a:r>
            <a:r>
              <a:rPr lang="es-ES" sz="1400" dirty="0">
                <a:solidFill>
                  <a:srgbClr val="098658"/>
                </a:solidFill>
                <a:latin typeface="Consolas" panose="020B0609020204030204" pitchFamily="49" charset="0"/>
              </a:rPr>
              <a:t>60</a:t>
            </a:r>
            <a:r>
              <a:rPr lang="es-ES" sz="1400" dirty="0">
                <a:solidFill>
                  <a:srgbClr val="000000"/>
                </a:solidFill>
                <a:latin typeface="Consolas" panose="020B0609020204030204" pitchFamily="49" charset="0"/>
              </a:rPr>
              <a:t>, </a:t>
            </a:r>
          </a:p>
          <a:p>
            <a:r>
              <a:rPr lang="es-ES" sz="1400" dirty="0">
                <a:solidFill>
                  <a:srgbClr val="000000"/>
                </a:solidFill>
                <a:latin typeface="Consolas" panose="020B0609020204030204" pitchFamily="49" charset="0"/>
              </a:rPr>
              <a:t>                                  centers=centers, </a:t>
            </a:r>
          </a:p>
          <a:p>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random_state</a:t>
            </a:r>
            <a:r>
              <a:rPr lang="es-ES" sz="1400" dirty="0">
                <a:solidFill>
                  <a:srgbClr val="000000"/>
                </a:solidFill>
                <a:latin typeface="Consolas" panose="020B0609020204030204" pitchFamily="49" charset="0"/>
              </a:rPr>
              <a:t>=</a:t>
            </a:r>
            <a:r>
              <a:rPr lang="es-ES" sz="1400" dirty="0">
                <a:solidFill>
                  <a:srgbClr val="098658"/>
                </a:solidFill>
                <a:latin typeface="Consolas" panose="020B0609020204030204" pitchFamily="49" charset="0"/>
              </a:rPr>
              <a:t>142</a:t>
            </a:r>
            <a:r>
              <a:rPr lang="es-ES" sz="1400" dirty="0">
                <a:solidFill>
                  <a:srgbClr val="000000"/>
                </a:solidFill>
                <a:latin typeface="Consolas" panose="020B0609020204030204" pitchFamily="49" charset="0"/>
              </a:rPr>
              <a:t>)</a:t>
            </a:r>
          </a:p>
          <a:p>
            <a:endParaRPr lang="es-ES" sz="1400" dirty="0">
              <a:solidFill>
                <a:srgbClr val="000000"/>
              </a:solidFill>
              <a:latin typeface="Consolas" panose="020B0609020204030204" pitchFamily="49" charset="0"/>
            </a:endParaRPr>
          </a:p>
          <a:p>
            <a:r>
              <a:rPr lang="es-ES" sz="1400" dirty="0" err="1">
                <a:solidFill>
                  <a:srgbClr val="000000"/>
                </a:solidFill>
                <a:latin typeface="Consolas" panose="020B0609020204030204" pitchFamily="49" charset="0"/>
              </a:rPr>
              <a:t>X_train</a:t>
            </a:r>
            <a:r>
              <a:rPr lang="es-ES" sz="1400" dirty="0">
                <a:solidFill>
                  <a:srgbClr val="000000"/>
                </a:solidFill>
                <a:latin typeface="Consolas" panose="020B0609020204030204" pitchFamily="49" charset="0"/>
              </a:rPr>
              <a:t> = </a:t>
            </a:r>
            <a:r>
              <a:rPr lang="es-ES" sz="1400" dirty="0" err="1">
                <a:solidFill>
                  <a:srgbClr val="000000"/>
                </a:solidFill>
                <a:latin typeface="Consolas" panose="020B0609020204030204" pitchFamily="49" charset="0"/>
              </a:rPr>
              <a:t>StandardScaler</a:t>
            </a:r>
            <a:r>
              <a:rPr lang="es-ES" sz="1400" dirty="0">
                <a:solidFill>
                  <a:srgbClr val="000000"/>
                </a:solidFill>
                <a:latin typeface="Consolas" panose="020B0609020204030204" pitchFamily="49" charset="0"/>
              </a:rPr>
              <a:t>().</a:t>
            </a:r>
            <a:r>
              <a:rPr lang="es-ES" sz="1400" dirty="0" err="1">
                <a:solidFill>
                  <a:srgbClr val="000000"/>
                </a:solidFill>
                <a:latin typeface="Consolas" panose="020B0609020204030204" pitchFamily="49" charset="0"/>
              </a:rPr>
              <a:t>fit_transform</a:t>
            </a:r>
            <a:r>
              <a:rPr lang="es-ES" sz="1400" dirty="0">
                <a:solidFill>
                  <a:srgbClr val="000000"/>
                </a:solidFill>
                <a:latin typeface="Consolas" panose="020B0609020204030204" pitchFamily="49" charset="0"/>
              </a:rPr>
              <a:t>(</a:t>
            </a:r>
            <a:r>
              <a:rPr lang="es-ES" sz="1400" dirty="0" err="1">
                <a:solidFill>
                  <a:srgbClr val="000000"/>
                </a:solidFill>
                <a:latin typeface="Consolas" panose="020B0609020204030204" pitchFamily="49" charset="0"/>
              </a:rPr>
              <a:t>X_train</a:t>
            </a:r>
            <a:r>
              <a:rPr lang="es-ES" sz="1400" dirty="0">
                <a:solidFill>
                  <a:srgbClr val="000000"/>
                </a:solidFill>
                <a:latin typeface="Consolas" panose="020B0609020204030204" pitchFamily="49" charset="0"/>
              </a:rPr>
              <a:t>)</a:t>
            </a:r>
          </a:p>
          <a:p>
            <a:endParaRPr lang="es-ES" sz="1400" dirty="0">
              <a:solidFill>
                <a:srgbClr val="000000"/>
              </a:solidFill>
              <a:latin typeface="Consolas" panose="020B0609020204030204" pitchFamily="49" charset="0"/>
            </a:endParaRPr>
          </a:p>
          <a:p>
            <a:r>
              <a:rPr lang="es-ES" sz="1400" dirty="0" err="1">
                <a:solidFill>
                  <a:srgbClr val="000000"/>
                </a:solidFill>
                <a:latin typeface="Consolas" panose="020B0609020204030204" pitchFamily="49" charset="0"/>
              </a:rPr>
              <a:t>sns.scatterplot</a:t>
            </a:r>
            <a:r>
              <a:rPr lang="es-ES" sz="1400" dirty="0">
                <a:solidFill>
                  <a:srgbClr val="000000"/>
                </a:solidFill>
                <a:latin typeface="Consolas" panose="020B0609020204030204" pitchFamily="49" charset="0"/>
              </a:rPr>
              <a:t>(x=[X[</a:t>
            </a:r>
            <a:r>
              <a:rPr lang="es-ES" sz="1400" dirty="0">
                <a:solidFill>
                  <a:srgbClr val="098658"/>
                </a:solidFill>
                <a:latin typeface="Consolas" panose="020B0609020204030204" pitchFamily="49" charset="0"/>
              </a:rPr>
              <a:t>0</a:t>
            </a:r>
            <a:r>
              <a:rPr lang="es-ES" sz="1400" dirty="0">
                <a:solidFill>
                  <a:srgbClr val="000000"/>
                </a:solidFill>
                <a:latin typeface="Consolas" panose="020B0609020204030204" pitchFamily="49" charset="0"/>
              </a:rPr>
              <a:t>] </a:t>
            </a:r>
            <a:r>
              <a:rPr lang="es-ES" sz="1400" dirty="0" err="1">
                <a:solidFill>
                  <a:srgbClr val="0000FF"/>
                </a:solidFill>
                <a:latin typeface="Consolas" panose="020B0609020204030204" pitchFamily="49" charset="0"/>
              </a:rPr>
              <a:t>for</a:t>
            </a:r>
            <a:r>
              <a:rPr lang="es-ES" sz="1400" dirty="0">
                <a:solidFill>
                  <a:srgbClr val="000000"/>
                </a:solidFill>
                <a:latin typeface="Consolas" panose="020B0609020204030204" pitchFamily="49" charset="0"/>
              </a:rPr>
              <a:t> X </a:t>
            </a:r>
            <a:r>
              <a:rPr lang="es-ES" sz="1400" dirty="0">
                <a:solidFill>
                  <a:srgbClr val="0000FF"/>
                </a:solidFill>
                <a:latin typeface="Consolas" panose="020B0609020204030204" pitchFamily="49" charset="0"/>
              </a:rPr>
              <a:t>in</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X_train</a:t>
            </a:r>
            <a:r>
              <a:rPr lang="es-ES" sz="1400" dirty="0">
                <a:solidFill>
                  <a:srgbClr val="000000"/>
                </a:solidFill>
                <a:latin typeface="Consolas" panose="020B0609020204030204" pitchFamily="49" charset="0"/>
              </a:rPr>
              <a:t>],</a:t>
            </a:r>
          </a:p>
          <a:p>
            <a:r>
              <a:rPr lang="es-ES" sz="1400" dirty="0">
                <a:solidFill>
                  <a:srgbClr val="000000"/>
                </a:solidFill>
                <a:latin typeface="Consolas" panose="020B0609020204030204" pitchFamily="49" charset="0"/>
              </a:rPr>
              <a:t>                y=[X[</a:t>
            </a:r>
            <a:r>
              <a:rPr lang="es-ES" sz="1400" dirty="0">
                <a:solidFill>
                  <a:srgbClr val="098658"/>
                </a:solidFill>
                <a:latin typeface="Consolas" panose="020B0609020204030204" pitchFamily="49" charset="0"/>
              </a:rPr>
              <a:t>1</a:t>
            </a:r>
            <a:r>
              <a:rPr lang="es-ES" sz="1400" dirty="0">
                <a:solidFill>
                  <a:srgbClr val="000000"/>
                </a:solidFill>
                <a:latin typeface="Consolas" panose="020B0609020204030204" pitchFamily="49" charset="0"/>
              </a:rPr>
              <a:t>] </a:t>
            </a:r>
            <a:r>
              <a:rPr lang="es-ES" sz="1400" dirty="0" err="1">
                <a:solidFill>
                  <a:srgbClr val="0000FF"/>
                </a:solidFill>
                <a:latin typeface="Consolas" panose="020B0609020204030204" pitchFamily="49" charset="0"/>
              </a:rPr>
              <a:t>for</a:t>
            </a:r>
            <a:r>
              <a:rPr lang="es-ES" sz="1400" dirty="0">
                <a:solidFill>
                  <a:srgbClr val="000000"/>
                </a:solidFill>
                <a:latin typeface="Consolas" panose="020B0609020204030204" pitchFamily="49" charset="0"/>
              </a:rPr>
              <a:t> X </a:t>
            </a:r>
            <a:r>
              <a:rPr lang="es-ES" sz="1400" dirty="0">
                <a:solidFill>
                  <a:srgbClr val="0000FF"/>
                </a:solidFill>
                <a:latin typeface="Consolas" panose="020B0609020204030204" pitchFamily="49" charset="0"/>
              </a:rPr>
              <a:t>in</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X_train</a:t>
            </a:r>
            <a:r>
              <a:rPr lang="es-ES" sz="1400" dirty="0">
                <a:solidFill>
                  <a:srgbClr val="000000"/>
                </a:solidFill>
                <a:latin typeface="Consolas" panose="020B0609020204030204" pitchFamily="49" charset="0"/>
              </a:rPr>
              <a:t>],</a:t>
            </a:r>
          </a:p>
          <a:p>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hue</a:t>
            </a:r>
            <a:r>
              <a:rPr lang="es-ES" sz="1400" dirty="0">
                <a:solidFill>
                  <a:srgbClr val="000000"/>
                </a:solidFill>
                <a:latin typeface="Consolas" panose="020B0609020204030204" pitchFamily="49" charset="0"/>
              </a:rPr>
              <a:t>=</a:t>
            </a:r>
            <a:r>
              <a:rPr lang="es-ES" sz="1400" dirty="0" err="1">
                <a:solidFill>
                  <a:srgbClr val="000000"/>
                </a:solidFill>
                <a:latin typeface="Consolas" panose="020B0609020204030204" pitchFamily="49" charset="0"/>
              </a:rPr>
              <a:t>true_labels</a:t>
            </a:r>
            <a:r>
              <a:rPr lang="es-ES" sz="1400" dirty="0">
                <a:solidFill>
                  <a:srgbClr val="000000"/>
                </a:solidFill>
                <a:latin typeface="Consolas" panose="020B0609020204030204" pitchFamily="49" charset="0"/>
              </a:rPr>
              <a:t>,</a:t>
            </a:r>
          </a:p>
          <a:p>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palette</a:t>
            </a:r>
            <a:r>
              <a:rPr lang="es-ES" sz="1400" dirty="0">
                <a:solidFill>
                  <a:srgbClr val="000000"/>
                </a:solidFill>
                <a:latin typeface="Consolas" panose="020B0609020204030204" pitchFamily="49" charset="0"/>
              </a:rPr>
              <a:t>=</a:t>
            </a:r>
            <a:r>
              <a:rPr lang="es-ES" sz="1400" dirty="0">
                <a:solidFill>
                  <a:srgbClr val="A31515"/>
                </a:solidFill>
                <a:latin typeface="Consolas" panose="020B0609020204030204" pitchFamily="49" charset="0"/>
              </a:rPr>
              <a:t>"</a:t>
            </a:r>
            <a:r>
              <a:rPr lang="es-ES" sz="1400" dirty="0" err="1">
                <a:solidFill>
                  <a:srgbClr val="A31515"/>
                </a:solidFill>
                <a:latin typeface="Consolas" panose="020B0609020204030204" pitchFamily="49" charset="0"/>
              </a:rPr>
              <a:t>deep</a:t>
            </a:r>
            <a:r>
              <a:rPr lang="es-ES" sz="1400" dirty="0">
                <a:solidFill>
                  <a:srgbClr val="A31515"/>
                </a:solidFill>
                <a:latin typeface="Consolas" panose="020B0609020204030204" pitchFamily="49" charset="0"/>
              </a:rPr>
              <a:t>"</a:t>
            </a:r>
            <a:r>
              <a:rPr lang="es-ES" sz="1400" dirty="0">
                <a:solidFill>
                  <a:srgbClr val="000000"/>
                </a:solidFill>
                <a:latin typeface="Consolas" panose="020B0609020204030204" pitchFamily="49" charset="0"/>
              </a:rPr>
              <a:t>,</a:t>
            </a:r>
          </a:p>
          <a:p>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legend</a:t>
            </a:r>
            <a:r>
              <a:rPr lang="es-ES" sz="1400" dirty="0">
                <a:solidFill>
                  <a:srgbClr val="000000"/>
                </a:solidFill>
                <a:latin typeface="Consolas" panose="020B0609020204030204" pitchFamily="49" charset="0"/>
              </a:rPr>
              <a:t>=</a:t>
            </a:r>
            <a:r>
              <a:rPr lang="es-ES" sz="1400" dirty="0" err="1">
                <a:solidFill>
                  <a:srgbClr val="0000FF"/>
                </a:solidFill>
                <a:latin typeface="Consolas" panose="020B0609020204030204" pitchFamily="49" charset="0"/>
              </a:rPr>
              <a:t>None</a:t>
            </a:r>
            <a:endParaRPr lang="es-ES" sz="1400" dirty="0">
              <a:solidFill>
                <a:srgbClr val="000000"/>
              </a:solidFill>
              <a:latin typeface="Consolas" panose="020B0609020204030204" pitchFamily="49" charset="0"/>
            </a:endParaRPr>
          </a:p>
          <a:p>
            <a:r>
              <a:rPr lang="es-ES" sz="1400" dirty="0">
                <a:solidFill>
                  <a:srgbClr val="000000"/>
                </a:solidFill>
                <a:latin typeface="Consolas" panose="020B0609020204030204" pitchFamily="49" charset="0"/>
              </a:rPr>
              <a:t>                )</a:t>
            </a:r>
          </a:p>
          <a:p>
            <a:r>
              <a:rPr lang="es-ES" sz="1400" dirty="0" err="1">
                <a:solidFill>
                  <a:srgbClr val="000000"/>
                </a:solidFill>
                <a:latin typeface="Consolas" panose="020B0609020204030204" pitchFamily="49" charset="0"/>
              </a:rPr>
              <a:t>plt.xlabel</a:t>
            </a:r>
            <a:r>
              <a:rPr lang="es-ES" sz="1400" dirty="0">
                <a:solidFill>
                  <a:srgbClr val="000000"/>
                </a:solidFill>
                <a:latin typeface="Consolas" panose="020B0609020204030204" pitchFamily="49" charset="0"/>
              </a:rPr>
              <a:t>(</a:t>
            </a:r>
            <a:r>
              <a:rPr lang="es-ES" sz="1400" dirty="0">
                <a:solidFill>
                  <a:srgbClr val="A31515"/>
                </a:solidFill>
                <a:latin typeface="Consolas" panose="020B0609020204030204" pitchFamily="49" charset="0"/>
              </a:rPr>
              <a:t>"x"</a:t>
            </a:r>
            <a:r>
              <a:rPr lang="es-ES" sz="1400" dirty="0">
                <a:solidFill>
                  <a:srgbClr val="000000"/>
                </a:solidFill>
                <a:latin typeface="Consolas" panose="020B0609020204030204" pitchFamily="49" charset="0"/>
              </a:rPr>
              <a:t>)</a:t>
            </a:r>
          </a:p>
          <a:p>
            <a:r>
              <a:rPr lang="es-ES" sz="1400" dirty="0" err="1">
                <a:solidFill>
                  <a:srgbClr val="000000"/>
                </a:solidFill>
                <a:latin typeface="Consolas" panose="020B0609020204030204" pitchFamily="49" charset="0"/>
              </a:rPr>
              <a:t>plt.ylabel</a:t>
            </a:r>
            <a:r>
              <a:rPr lang="es-ES" sz="1400" dirty="0">
                <a:solidFill>
                  <a:srgbClr val="000000"/>
                </a:solidFill>
                <a:latin typeface="Consolas" panose="020B0609020204030204" pitchFamily="49" charset="0"/>
              </a:rPr>
              <a:t>(</a:t>
            </a:r>
            <a:r>
              <a:rPr lang="es-ES" sz="1400" dirty="0">
                <a:solidFill>
                  <a:srgbClr val="A31515"/>
                </a:solidFill>
                <a:latin typeface="Consolas" panose="020B0609020204030204" pitchFamily="49" charset="0"/>
              </a:rPr>
              <a:t>"y"</a:t>
            </a:r>
            <a:r>
              <a:rPr lang="es-ES" sz="1400" dirty="0">
                <a:solidFill>
                  <a:srgbClr val="000000"/>
                </a:solidFill>
                <a:latin typeface="Consolas" panose="020B0609020204030204" pitchFamily="49" charset="0"/>
              </a:rPr>
              <a:t>)</a:t>
            </a:r>
          </a:p>
          <a:p>
            <a:r>
              <a:rPr lang="es-ES" sz="1400" dirty="0" err="1">
                <a:solidFill>
                  <a:srgbClr val="000000"/>
                </a:solidFill>
                <a:latin typeface="Consolas" panose="020B0609020204030204" pitchFamily="49" charset="0"/>
              </a:rPr>
              <a:t>plt.show</a:t>
            </a:r>
            <a:r>
              <a:rPr lang="es-ES" sz="1400" dirty="0">
                <a:solidFill>
                  <a:srgbClr val="000000"/>
                </a:solidFill>
                <a:latin typeface="Consolas" panose="020B0609020204030204" pitchFamily="49" charset="0"/>
              </a:rPr>
              <a:t>()</a:t>
            </a:r>
          </a:p>
        </p:txBody>
      </p:sp>
      <mc:AlternateContent xmlns:mc="http://schemas.openxmlformats.org/markup-compatibility/2006" xmlns:a14="http://schemas.microsoft.com/office/drawing/2010/main">
        <mc:Choice Requires="a14">
          <p:sp>
            <p:nvSpPr>
              <p:cNvPr id="5" name="Rectángulo 4"/>
              <p:cNvSpPr/>
              <p:nvPr/>
            </p:nvSpPr>
            <p:spPr>
              <a:xfrm>
                <a:off x="185534" y="211733"/>
                <a:ext cx="9415666" cy="1200329"/>
              </a:xfrm>
              <a:prstGeom prst="rect">
                <a:avLst/>
              </a:prstGeom>
            </p:spPr>
            <p:txBody>
              <a:bodyPr wrap="square">
                <a:spAutoFit/>
              </a:bodyPr>
              <a:lstStyle/>
              <a:p>
                <a:pPr marL="285750" indent="-285750">
                  <a:buFont typeface="Arial" panose="020B0604020202020204" pitchFamily="34" charset="0"/>
                  <a:buChar char="•"/>
                </a:pP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desde</a:t>
                </a:r>
                <a:r>
                  <a:rPr lang="en-US" sz="2000" b="1" dirty="0">
                    <a:solidFill>
                      <a:schemeClr val="accent1">
                        <a:lumMod val="50000"/>
                      </a:schemeClr>
                    </a:solidFill>
                  </a:rPr>
                  <a:t> Scratch.</a:t>
                </a:r>
              </a:p>
              <a:p>
                <a:endParaRPr lang="en-US" sz="2000" b="1" dirty="0">
                  <a:solidFill>
                    <a:schemeClr val="accent1">
                      <a:lumMod val="50000"/>
                    </a:schemeClr>
                  </a:solidFill>
                </a:endParaRPr>
              </a:p>
              <a:p>
                <a:r>
                  <a:rPr lang="en-US" sz="1600" dirty="0" err="1">
                    <a:solidFill>
                      <a:schemeClr val="accent1">
                        <a:lumMod val="50000"/>
                      </a:schemeClr>
                    </a:solidFill>
                  </a:rPr>
                  <a:t>Genero</a:t>
                </a:r>
                <a:r>
                  <a:rPr lang="en-US" sz="1600" dirty="0">
                    <a:solidFill>
                      <a:schemeClr val="accent1">
                        <a:lumMod val="50000"/>
                      </a:schemeClr>
                    </a:solidFill>
                  </a:rPr>
                  <a:t> </a:t>
                </a:r>
                <a:r>
                  <a:rPr lang="en-US" sz="1600" dirty="0" err="1">
                    <a:solidFill>
                      <a:schemeClr val="accent1">
                        <a:lumMod val="50000"/>
                      </a:schemeClr>
                    </a:solidFill>
                  </a:rPr>
                  <a:t>una</a:t>
                </a:r>
                <a:r>
                  <a:rPr lang="en-US" sz="1600" dirty="0">
                    <a:solidFill>
                      <a:schemeClr val="accent1">
                        <a:lumMod val="50000"/>
                      </a:schemeClr>
                    </a:solidFill>
                  </a:rPr>
                  <a:t> </a:t>
                </a:r>
                <a:r>
                  <a:rPr lang="en-US" sz="1600" dirty="0" err="1">
                    <a:solidFill>
                      <a:schemeClr val="accent1">
                        <a:lumMod val="50000"/>
                      </a:schemeClr>
                    </a:solidFill>
                  </a:rPr>
                  <a:t>muestra</a:t>
                </a:r>
                <a:r>
                  <a:rPr lang="en-US" sz="1600" dirty="0">
                    <a:solidFill>
                      <a:schemeClr val="accent1">
                        <a:lumMod val="50000"/>
                      </a:schemeClr>
                    </a:solidFill>
                  </a:rPr>
                  <a:t> </a:t>
                </a:r>
                <a:r>
                  <a:rPr lang="en-US" sz="1600" dirty="0" err="1">
                    <a:solidFill>
                      <a:schemeClr val="accent1">
                        <a:lumMod val="50000"/>
                      </a:schemeClr>
                    </a:solidFill>
                  </a:rPr>
                  <a:t>formada</a:t>
                </a:r>
                <a:r>
                  <a:rPr lang="en-US" sz="1600" dirty="0">
                    <a:solidFill>
                      <a:schemeClr val="accent1">
                        <a:lumMod val="50000"/>
                      </a:schemeClr>
                    </a:solidFill>
                  </a:rPr>
                  <a:t> </a:t>
                </a:r>
                <a:r>
                  <a:rPr lang="en-US" sz="1600" dirty="0" err="1">
                    <a:solidFill>
                      <a:schemeClr val="accent1">
                        <a:lumMod val="50000"/>
                      </a:schemeClr>
                    </a:solidFill>
                  </a:rPr>
                  <a:t>por</a:t>
                </a:r>
                <a:r>
                  <a:rPr lang="en-US" sz="1600" dirty="0">
                    <a:solidFill>
                      <a:schemeClr val="accent1">
                        <a:lumMod val="50000"/>
                      </a:schemeClr>
                    </a:solidFill>
                  </a:rPr>
                  <a:t> 60 </a:t>
                </a:r>
                <a:r>
                  <a:rPr lang="en-US" sz="1600" dirty="0" err="1">
                    <a:solidFill>
                      <a:schemeClr val="accent1">
                        <a:lumMod val="50000"/>
                      </a:schemeClr>
                    </a:solidFill>
                  </a:rPr>
                  <a:t>puntos</a:t>
                </a:r>
                <a:r>
                  <a:rPr lang="en-US" sz="1600" dirty="0">
                    <a:solidFill>
                      <a:schemeClr val="accent1">
                        <a:lumMod val="50000"/>
                      </a:schemeClr>
                    </a:solidFill>
                  </a:rPr>
                  <a:t> </a:t>
                </a:r>
                <a:r>
                  <a:rPr lang="en-US" sz="1600" dirty="0" err="1">
                    <a:solidFill>
                      <a:schemeClr val="accent1">
                        <a:lumMod val="50000"/>
                      </a:schemeClr>
                    </a:solidFill>
                  </a:rPr>
                  <a:t>agrupados</a:t>
                </a:r>
                <a:r>
                  <a:rPr lang="en-US" sz="1600" dirty="0">
                    <a:solidFill>
                      <a:schemeClr val="accent1">
                        <a:lumMod val="50000"/>
                      </a:schemeClr>
                    </a:solidFill>
                  </a:rPr>
                  <a:t> </a:t>
                </a:r>
                <a:r>
                  <a:rPr lang="en-US" sz="1600" dirty="0" err="1">
                    <a:solidFill>
                      <a:schemeClr val="accent1">
                        <a:lumMod val="50000"/>
                      </a:schemeClr>
                    </a:solidFill>
                  </a:rPr>
                  <a:t>en</a:t>
                </a:r>
                <a:r>
                  <a:rPr lang="en-US" sz="1600" dirty="0">
                    <a:solidFill>
                      <a:schemeClr val="accent1">
                        <a:lumMod val="50000"/>
                      </a:schemeClr>
                    </a:solidFill>
                  </a:rPr>
                  <a:t> 3 </a:t>
                </a:r>
                <a:r>
                  <a:rPr lang="en-US" sz="1600" dirty="0" err="1">
                    <a:solidFill>
                      <a:schemeClr val="accent1">
                        <a:lumMod val="50000"/>
                      </a:schemeClr>
                    </a:solidFill>
                  </a:rPr>
                  <a:t>grupos</a:t>
                </a:r>
                <a:r>
                  <a:rPr lang="en-US" sz="1600" dirty="0">
                    <a:solidFill>
                      <a:schemeClr val="accent1">
                        <a:lumMod val="50000"/>
                      </a:schemeClr>
                    </a:solidFill>
                  </a:rPr>
                  <a:t> </a:t>
                </a:r>
                <a:r>
                  <a:rPr lang="en-US" sz="1600" dirty="0" err="1">
                    <a:solidFill>
                      <a:schemeClr val="accent1">
                        <a:lumMod val="50000"/>
                      </a:schemeClr>
                    </a:solidFill>
                  </a:rPr>
                  <a:t>usando</a:t>
                </a:r>
                <a:r>
                  <a:rPr lang="en-US" sz="1600" dirty="0">
                    <a:solidFill>
                      <a:schemeClr val="accent1">
                        <a:lumMod val="50000"/>
                      </a:schemeClr>
                    </a:solidFill>
                  </a:rPr>
                  <a:t> la </a:t>
                </a:r>
                <a:r>
                  <a:rPr lang="en-US" sz="1600" dirty="0" err="1">
                    <a:solidFill>
                      <a:schemeClr val="accent1">
                        <a:lumMod val="50000"/>
                      </a:schemeClr>
                    </a:solidFill>
                  </a:rPr>
                  <a:t>función</a:t>
                </a:r>
                <a:r>
                  <a:rPr lang="en-US" sz="1600" dirty="0">
                    <a:solidFill>
                      <a:schemeClr val="accent1">
                        <a:lumMod val="50000"/>
                      </a:schemeClr>
                    </a:solidFill>
                  </a:rPr>
                  <a:t> </a:t>
                </a:r>
                <a:r>
                  <a:rPr lang="es-ES" sz="1600" dirty="0" err="1">
                    <a:solidFill>
                      <a:srgbClr val="000000"/>
                    </a:solidFill>
                    <a:latin typeface="Consolas" panose="020B0609020204030204" pitchFamily="49" charset="0"/>
                    <a:hlinkClick r:id="rId3"/>
                  </a:rPr>
                  <a:t>make_blobs</a:t>
                </a:r>
                <a:r>
                  <a:rPr lang="es-ES" sz="1600" dirty="0">
                    <a:solidFill>
                      <a:schemeClr val="accent1">
                        <a:lumMod val="50000"/>
                      </a:schemeClr>
                    </a:solidFill>
                  </a:rPr>
                  <a:t> de </a:t>
                </a:r>
                <a:r>
                  <a:rPr lang="es-ES" sz="1600" dirty="0" err="1">
                    <a:solidFill>
                      <a:schemeClr val="accent1">
                        <a:lumMod val="50000"/>
                      </a:schemeClr>
                    </a:solidFill>
                  </a:rPr>
                  <a:t>Sklearn</a:t>
                </a:r>
                <a:r>
                  <a:rPr lang="es-ES" sz="1600" dirty="0">
                    <a:solidFill>
                      <a:schemeClr val="accent1">
                        <a:lumMod val="50000"/>
                      </a:schemeClr>
                    </a:solidFill>
                  </a:rPr>
                  <a:t>.</a:t>
                </a:r>
              </a:p>
              <a:p>
                <a:r>
                  <a:rPr lang="es-ES" sz="1600" dirty="0">
                    <a:solidFill>
                      <a:schemeClr val="accent1">
                        <a:lumMod val="50000"/>
                      </a:schemeClr>
                    </a:solidFill>
                  </a:rPr>
                  <a:t>Las variables de entrada serán las coordenadas </a:t>
                </a:r>
                <a14:m>
                  <m:oMath xmlns:m="http://schemas.openxmlformats.org/officeDocument/2006/math">
                    <m:r>
                      <a:rPr lang="es-ES" sz="1600" b="0" i="1" smtClean="0">
                        <a:solidFill>
                          <a:schemeClr val="accent1">
                            <a:lumMod val="50000"/>
                          </a:schemeClr>
                        </a:solidFill>
                        <a:latin typeface="Cambria Math" panose="02040503050406030204" pitchFamily="18" charset="0"/>
                      </a:rPr>
                      <m:t>(</m:t>
                    </m:r>
                    <m:r>
                      <a:rPr lang="es-ES" sz="1600" b="0" i="1" smtClean="0">
                        <a:solidFill>
                          <a:schemeClr val="accent1">
                            <a:lumMod val="50000"/>
                          </a:schemeClr>
                        </a:solidFill>
                        <a:latin typeface="Cambria Math" panose="02040503050406030204" pitchFamily="18" charset="0"/>
                      </a:rPr>
                      <m:t>𝑥</m:t>
                    </m:r>
                    <m:r>
                      <a:rPr lang="es-ES" sz="1600" b="0" i="1" smtClean="0">
                        <a:solidFill>
                          <a:schemeClr val="accent1">
                            <a:lumMod val="50000"/>
                          </a:schemeClr>
                        </a:solidFill>
                        <a:latin typeface="Cambria Math" panose="02040503050406030204" pitchFamily="18" charset="0"/>
                      </a:rPr>
                      <m:t>,</m:t>
                    </m:r>
                    <m:r>
                      <a:rPr lang="es-ES" sz="1600" b="0" i="1" smtClean="0">
                        <a:solidFill>
                          <a:schemeClr val="accent1">
                            <a:lumMod val="50000"/>
                          </a:schemeClr>
                        </a:solidFill>
                        <a:latin typeface="Cambria Math" panose="02040503050406030204" pitchFamily="18" charset="0"/>
                      </a:rPr>
                      <m:t>𝑦</m:t>
                    </m:r>
                    <m:r>
                      <a:rPr lang="es-ES" sz="1600" b="0" i="1" smtClean="0">
                        <a:solidFill>
                          <a:schemeClr val="accent1">
                            <a:lumMod val="50000"/>
                          </a:schemeClr>
                        </a:solidFill>
                        <a:latin typeface="Cambria Math" panose="02040503050406030204" pitchFamily="18" charset="0"/>
                      </a:rPr>
                      <m:t>) </m:t>
                    </m:r>
                  </m:oMath>
                </a14:m>
                <a:r>
                  <a:rPr lang="es-ES" sz="1600" dirty="0">
                    <a:solidFill>
                      <a:schemeClr val="accent1">
                        <a:lumMod val="50000"/>
                      </a:schemeClr>
                    </a:solidFill>
                  </a:rPr>
                  <a:t> de dichos puntos.</a:t>
                </a:r>
                <a:r>
                  <a:rPr lang="en-US" sz="1600" dirty="0">
                    <a:solidFill>
                      <a:schemeClr val="accent1">
                        <a:lumMod val="50000"/>
                      </a:schemeClr>
                    </a:solidFill>
                  </a:rPr>
                  <a:t>  </a:t>
                </a:r>
              </a:p>
            </p:txBody>
          </p:sp>
        </mc:Choice>
        <mc:Fallback xmlns="">
          <p:sp>
            <p:nvSpPr>
              <p:cNvPr id="5" name="Rectángulo 4"/>
              <p:cNvSpPr>
                <a:spLocks noRot="1" noChangeAspect="1" noMove="1" noResize="1" noEditPoints="1" noAdjustHandles="1" noChangeArrowheads="1" noChangeShapeType="1" noTextEdit="1"/>
              </p:cNvSpPr>
              <p:nvPr/>
            </p:nvSpPr>
            <p:spPr>
              <a:xfrm>
                <a:off x="185534" y="211733"/>
                <a:ext cx="9415666" cy="1200329"/>
              </a:xfrm>
              <a:prstGeom prst="rect">
                <a:avLst/>
              </a:prstGeom>
              <a:blipFill>
                <a:blip r:embed="rId4"/>
                <a:stretch>
                  <a:fillRect l="-583" t="-3046" b="-5584"/>
                </a:stretch>
              </a:blipFill>
            </p:spPr>
            <p:txBody>
              <a:bodyPr/>
              <a:lstStyle/>
              <a:p>
                <a:r>
                  <a:rPr lang="es-ES">
                    <a:noFill/>
                  </a:rPr>
                  <a:t> </a:t>
                </a:r>
              </a:p>
            </p:txBody>
          </p:sp>
        </mc:Fallback>
      </mc:AlternateContent>
    </p:spTree>
    <p:extLst>
      <p:ext uri="{BB962C8B-B14F-4D97-AF65-F5344CB8AC3E}">
        <p14:creationId xmlns:p14="http://schemas.microsoft.com/office/powerpoint/2010/main" val="40409469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424AA98-4301-7859-AAC4-F0D06EDAF49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6</a:t>
            </a:fld>
            <a:endParaRPr lang="es-ES">
              <a:solidFill>
                <a:prstClr val="black">
                  <a:tint val="75000"/>
                </a:prstClr>
              </a:solidFill>
            </a:endParaRPr>
          </a:p>
        </p:txBody>
      </p:sp>
      <p:sp>
        <p:nvSpPr>
          <p:cNvPr id="6" name="Rectángulo: esquinas redondeadas 5">
            <a:extLst>
              <a:ext uri="{FF2B5EF4-FFF2-40B4-BE49-F238E27FC236}">
                <a16:creationId xmlns:a16="http://schemas.microsoft.com/office/drawing/2014/main" id="{E40F6E9B-4FDF-04B6-AFA9-4C0C9357C3A2}"/>
              </a:ext>
            </a:extLst>
          </p:cNvPr>
          <p:cNvSpPr/>
          <p:nvPr/>
        </p:nvSpPr>
        <p:spPr>
          <a:xfrm>
            <a:off x="923730" y="4958930"/>
            <a:ext cx="10344539" cy="1579984"/>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400" dirty="0">
                <a:solidFill>
                  <a:schemeClr val="accent2">
                    <a:lumMod val="50000"/>
                  </a:schemeClr>
                </a:solidFill>
                <a:latin typeface="Courier New" panose="02070309020205020404" pitchFamily="49" charset="0"/>
                <a:cs typeface="Courier New" panose="02070309020205020404" pitchFamily="49" charset="0"/>
              </a:rPr>
              <a:t># Vectores con los valores </a:t>
            </a:r>
            <a:r>
              <a:rPr lang="es-ES" sz="1400" dirty="0" err="1">
                <a:solidFill>
                  <a:schemeClr val="accent2">
                    <a:lumMod val="50000"/>
                  </a:schemeClr>
                </a:solidFill>
                <a:latin typeface="Courier New" panose="02070309020205020404" pitchFamily="49" charset="0"/>
                <a:cs typeface="Courier New" panose="02070309020205020404" pitchFamily="49" charset="0"/>
              </a:rPr>
              <a:t>minimo</a:t>
            </a:r>
            <a:r>
              <a:rPr lang="es-ES" sz="1400" dirty="0">
                <a:solidFill>
                  <a:schemeClr val="accent2">
                    <a:lumMod val="50000"/>
                  </a:schemeClr>
                </a:solidFill>
                <a:latin typeface="Courier New" panose="02070309020205020404" pitchFamily="49" charset="0"/>
                <a:cs typeface="Courier New" panose="02070309020205020404" pitchFamily="49" charset="0"/>
              </a:rPr>
              <a:t> y máximo de cada </a:t>
            </a:r>
            <a:r>
              <a:rPr lang="es-ES" sz="1400" dirty="0" err="1">
                <a:solidFill>
                  <a:schemeClr val="accent2">
                    <a:lumMod val="50000"/>
                  </a:schemeClr>
                </a:solidFill>
                <a:latin typeface="Courier New" panose="02070309020205020404" pitchFamily="49" charset="0"/>
                <a:cs typeface="Courier New" panose="02070309020205020404" pitchFamily="49" charset="0"/>
              </a:rPr>
              <a:t>dimension</a:t>
            </a:r>
            <a:r>
              <a:rPr lang="es-ES" sz="1400" dirty="0">
                <a:solidFill>
                  <a:schemeClr val="accent2">
                    <a:lumMod val="50000"/>
                  </a:schemeClr>
                </a:solidFill>
                <a:latin typeface="Courier New" panose="02070309020205020404" pitchFamily="49" charset="0"/>
                <a:cs typeface="Courier New" panose="02070309020205020404" pitchFamily="49" charset="0"/>
              </a:rPr>
              <a:t> de los datos de entrada</a:t>
            </a:r>
          </a:p>
          <a:p>
            <a:r>
              <a:rPr lang="es-ES" sz="1400" dirty="0" err="1">
                <a:solidFill>
                  <a:schemeClr val="accent1">
                    <a:lumMod val="50000"/>
                  </a:schemeClr>
                </a:solidFill>
                <a:latin typeface="Courier New" panose="02070309020205020404" pitchFamily="49" charset="0"/>
                <a:cs typeface="Courier New" panose="02070309020205020404" pitchFamily="49" charset="0"/>
              </a:rPr>
              <a:t>min_vect</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max_vect</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np.min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X_train</a:t>
            </a:r>
            <a:r>
              <a:rPr lang="es-ES" sz="1400" dirty="0">
                <a:solidFill>
                  <a:schemeClr val="accent1">
                    <a:lumMod val="50000"/>
                  </a:schemeClr>
                </a:solidFill>
                <a:latin typeface="Courier New" panose="02070309020205020404" pitchFamily="49" charset="0"/>
                <a:cs typeface="Courier New" panose="02070309020205020404" pitchFamily="49" charset="0"/>
              </a:rPr>
              <a:t>, axis=</a:t>
            </a:r>
            <a:r>
              <a:rPr lang="es-ES" sz="1400" b="1" dirty="0">
                <a:solidFill>
                  <a:schemeClr val="accent6">
                    <a:lumMod val="75000"/>
                  </a:schemeClr>
                </a:solidFill>
                <a:latin typeface="Courier New" panose="02070309020205020404" pitchFamily="49" charset="0"/>
                <a:cs typeface="Courier New" panose="02070309020205020404" pitchFamily="49" charset="0"/>
              </a:rPr>
              <a:t>0</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np.max</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X_train</a:t>
            </a:r>
            <a:r>
              <a:rPr lang="es-ES" sz="1400" dirty="0">
                <a:solidFill>
                  <a:schemeClr val="accent1">
                    <a:lumMod val="50000"/>
                  </a:schemeClr>
                </a:solidFill>
                <a:latin typeface="Courier New" panose="02070309020205020404" pitchFamily="49" charset="0"/>
                <a:cs typeface="Courier New" panose="02070309020205020404" pitchFamily="49" charset="0"/>
              </a:rPr>
              <a:t>, axis=</a:t>
            </a:r>
            <a:r>
              <a:rPr lang="es-ES" sz="1400" b="1" dirty="0">
                <a:solidFill>
                  <a:schemeClr val="accent6">
                    <a:lumMod val="75000"/>
                  </a:schemeClr>
                </a:solidFill>
                <a:latin typeface="Courier New" panose="02070309020205020404" pitchFamily="49" charset="0"/>
                <a:cs typeface="Courier New" panose="02070309020205020404" pitchFamily="49" charset="0"/>
              </a:rPr>
              <a:t>0</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2">
                    <a:lumMod val="50000"/>
                  </a:schemeClr>
                </a:solidFill>
                <a:latin typeface="Courier New" panose="02070309020205020404" pitchFamily="49" charset="0"/>
                <a:cs typeface="Courier New" panose="02070309020205020404" pitchFamily="49" charset="0"/>
              </a:rPr>
              <a:t># Valores aleatorios distribuidos uniformemente entre el mínimo y el máximo</a:t>
            </a:r>
          </a:p>
          <a:p>
            <a:r>
              <a:rPr lang="es-ES" sz="1400" dirty="0">
                <a:solidFill>
                  <a:schemeClr val="accent1">
                    <a:lumMod val="50000"/>
                  </a:schemeClr>
                </a:solidFill>
                <a:latin typeface="Courier New" panose="02070309020205020404" pitchFamily="49" charset="0"/>
                <a:cs typeface="Courier New" panose="02070309020205020404" pitchFamily="49" charset="0"/>
              </a:rPr>
              <a:t>centroide = [</a:t>
            </a:r>
            <a:r>
              <a:rPr lang="es-ES" sz="1400" dirty="0" err="1">
                <a:solidFill>
                  <a:schemeClr val="accent1">
                    <a:lumMod val="50000"/>
                  </a:schemeClr>
                </a:solidFill>
                <a:latin typeface="Courier New" panose="02070309020205020404" pitchFamily="49" charset="0"/>
                <a:cs typeface="Courier New" panose="02070309020205020404" pitchFamily="49" charset="0"/>
              </a:rPr>
              <a:t>np.random.uniform</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min_vect</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max_vect</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b="1" dirty="0">
                <a:solidFill>
                  <a:schemeClr val="accent6">
                    <a:lumMod val="50000"/>
                  </a:schemeClr>
                </a:solidFill>
                <a:latin typeface="Courier New" panose="02070309020205020404" pitchFamily="49" charset="0"/>
                <a:cs typeface="Courier New" panose="02070309020205020404" pitchFamily="49" charset="0"/>
              </a:rPr>
              <a:t> </a:t>
            </a:r>
            <a:r>
              <a:rPr lang="es-ES" sz="1400" b="1" dirty="0">
                <a:solidFill>
                  <a:schemeClr val="accent1">
                    <a:lumMod val="50000"/>
                  </a:schemeClr>
                </a:solidFill>
                <a:latin typeface="Courier New" panose="02070309020205020404" pitchFamily="49" charset="0"/>
                <a:cs typeface="Courier New" panose="02070309020205020404" pitchFamily="49" charset="0"/>
              </a:rPr>
              <a:t>_</a:t>
            </a:r>
            <a:r>
              <a:rPr lang="es-ES" sz="1400" b="1" dirty="0">
                <a:solidFill>
                  <a:schemeClr val="accent6">
                    <a:lumMod val="50000"/>
                  </a:schemeClr>
                </a:solidFill>
                <a:latin typeface="Courier New" panose="02070309020205020404" pitchFamily="49" charset="0"/>
                <a:cs typeface="Courier New" panose="02070309020205020404" pitchFamily="49" charset="0"/>
              </a:rPr>
              <a:t>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p:txBody>
      </p:sp>
      <p:sp>
        <p:nvSpPr>
          <p:cNvPr id="7" name="CuadroTexto 6">
            <a:extLst>
              <a:ext uri="{FF2B5EF4-FFF2-40B4-BE49-F238E27FC236}">
                <a16:creationId xmlns:a16="http://schemas.microsoft.com/office/drawing/2014/main" id="{1764596F-C042-2DD7-944D-ECE1F6E8B10D}"/>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8" name="Rectángulo 7"/>
          <p:cNvSpPr/>
          <p:nvPr/>
        </p:nvSpPr>
        <p:spPr>
          <a:xfrm>
            <a:off x="185533" y="211733"/>
            <a:ext cx="5650002" cy="2923877"/>
          </a:xfrm>
          <a:prstGeom prst="rect">
            <a:avLst/>
          </a:prstGeom>
        </p:spPr>
        <p:txBody>
          <a:bodyPr wrap="square">
            <a:spAutoFit/>
          </a:bodyPr>
          <a:lstStyle/>
          <a:p>
            <a:pPr marL="285750" indent="-285750">
              <a:buFont typeface="Arial" panose="020B0604020202020204" pitchFamily="34" charset="0"/>
              <a:buChar char="•"/>
            </a:pP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desde</a:t>
            </a:r>
            <a:r>
              <a:rPr lang="en-US" sz="2000" b="1" dirty="0">
                <a:solidFill>
                  <a:schemeClr val="accent1">
                    <a:lumMod val="50000"/>
                  </a:schemeClr>
                </a:solidFill>
              </a:rPr>
              <a:t> Scratch.</a:t>
            </a:r>
          </a:p>
          <a:p>
            <a:pPr marL="285750" indent="-285750">
              <a:buFont typeface="Arial" panose="020B0604020202020204" pitchFamily="34" charset="0"/>
              <a:buChar char="•"/>
            </a:pPr>
            <a:endParaRPr lang="en-US" sz="2000" b="1" dirty="0">
              <a:solidFill>
                <a:schemeClr val="accent1">
                  <a:lumMod val="50000"/>
                </a:schemeClr>
              </a:solidFill>
            </a:endParaRPr>
          </a:p>
          <a:p>
            <a:endParaRPr lang="en-US" sz="1600" dirty="0">
              <a:solidFill>
                <a:schemeClr val="accent1">
                  <a:lumMod val="50000"/>
                </a:schemeClr>
              </a:solidFill>
            </a:endParaRPr>
          </a:p>
          <a:p>
            <a:endParaRPr lang="en-US" sz="1600" dirty="0">
              <a:solidFill>
                <a:schemeClr val="accent1">
                  <a:lumMod val="50000"/>
                </a:schemeClr>
              </a:solidFill>
            </a:endParaRPr>
          </a:p>
          <a:p>
            <a:r>
              <a:rPr lang="en-US" sz="1600" dirty="0">
                <a:solidFill>
                  <a:schemeClr val="accent1">
                    <a:lumMod val="50000"/>
                  </a:schemeClr>
                </a:solidFill>
              </a:rPr>
              <a:t>El primer </a:t>
            </a:r>
            <a:r>
              <a:rPr lang="en-US" sz="1600" dirty="0" err="1">
                <a:solidFill>
                  <a:schemeClr val="accent1">
                    <a:lumMod val="50000"/>
                  </a:schemeClr>
                </a:solidFill>
              </a:rPr>
              <a:t>paso</a:t>
            </a:r>
            <a:r>
              <a:rPr lang="en-US" sz="1600" dirty="0">
                <a:solidFill>
                  <a:schemeClr val="accent1">
                    <a:lumMod val="50000"/>
                  </a:schemeClr>
                </a:solidFill>
              </a:rPr>
              <a:t> antes del </a:t>
            </a:r>
            <a:r>
              <a:rPr lang="en-US" sz="1600" dirty="0" err="1">
                <a:solidFill>
                  <a:schemeClr val="accent1">
                    <a:lumMod val="50000"/>
                  </a:schemeClr>
                </a:solidFill>
              </a:rPr>
              <a:t>proceso</a:t>
            </a:r>
            <a:r>
              <a:rPr lang="en-US" sz="1600" dirty="0">
                <a:solidFill>
                  <a:schemeClr val="accent1">
                    <a:lumMod val="50000"/>
                  </a:schemeClr>
                </a:solidFill>
              </a:rPr>
              <a:t> iterative </a:t>
            </a:r>
            <a:r>
              <a:rPr lang="en-US" sz="1600" dirty="0" err="1">
                <a:solidFill>
                  <a:schemeClr val="accent1">
                    <a:lumMod val="50000"/>
                  </a:schemeClr>
                </a:solidFill>
              </a:rPr>
              <a:t>es</a:t>
            </a:r>
            <a:r>
              <a:rPr lang="en-US" sz="1600" dirty="0">
                <a:solidFill>
                  <a:schemeClr val="accent1">
                    <a:lumMod val="50000"/>
                  </a:schemeClr>
                </a:solidFill>
              </a:rPr>
              <a:t> </a:t>
            </a:r>
            <a:r>
              <a:rPr lang="en-US" sz="1600" dirty="0" err="1">
                <a:solidFill>
                  <a:schemeClr val="accent1">
                    <a:lumMod val="50000"/>
                  </a:schemeClr>
                </a:solidFill>
              </a:rPr>
              <a:t>inicializar</a:t>
            </a:r>
            <a:r>
              <a:rPr lang="en-US" sz="1600" dirty="0">
                <a:solidFill>
                  <a:schemeClr val="accent1">
                    <a:lumMod val="50000"/>
                  </a:schemeClr>
                </a:solidFill>
              </a:rPr>
              <a:t>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centroides</a:t>
            </a:r>
            <a:r>
              <a:rPr lang="en-US" sz="1600" dirty="0">
                <a:solidFill>
                  <a:schemeClr val="accent1">
                    <a:lumMod val="50000"/>
                  </a:schemeClr>
                </a:solidFill>
              </a:rPr>
              <a:t>.</a:t>
            </a:r>
          </a:p>
          <a:p>
            <a:endParaRPr lang="en-US" sz="1600" dirty="0">
              <a:solidFill>
                <a:schemeClr val="accent1">
                  <a:lumMod val="50000"/>
                </a:schemeClr>
              </a:solidFill>
            </a:endParaRPr>
          </a:p>
          <a:p>
            <a:r>
              <a:rPr lang="en-US" sz="1600" dirty="0" err="1">
                <a:solidFill>
                  <a:schemeClr val="accent1">
                    <a:lumMod val="50000"/>
                  </a:schemeClr>
                </a:solidFill>
              </a:rPr>
              <a:t>Creo</a:t>
            </a:r>
            <a:r>
              <a:rPr lang="en-US" sz="1600" dirty="0">
                <a:solidFill>
                  <a:schemeClr val="accent1">
                    <a:lumMod val="50000"/>
                  </a:schemeClr>
                </a:solidFill>
              </a:rPr>
              <a:t> </a:t>
            </a:r>
            <a:r>
              <a:rPr lang="en-US" sz="1600" dirty="0" err="1">
                <a:solidFill>
                  <a:schemeClr val="accent1">
                    <a:lumMod val="50000"/>
                  </a:schemeClr>
                </a:solidFill>
              </a:rPr>
              <a:t>una</a:t>
            </a:r>
            <a:r>
              <a:rPr lang="en-US" sz="1600" dirty="0">
                <a:solidFill>
                  <a:schemeClr val="accent1">
                    <a:lumMod val="50000"/>
                  </a:schemeClr>
                </a:solidFill>
              </a:rPr>
              <a:t> </a:t>
            </a:r>
            <a:r>
              <a:rPr lang="en-US" sz="1600" dirty="0" err="1">
                <a:solidFill>
                  <a:schemeClr val="accent1">
                    <a:lumMod val="50000"/>
                  </a:schemeClr>
                </a:solidFill>
              </a:rPr>
              <a:t>lista</a:t>
            </a:r>
            <a:r>
              <a:rPr lang="en-US" sz="1600" dirty="0">
                <a:solidFill>
                  <a:schemeClr val="accent1">
                    <a:lumMod val="50000"/>
                  </a:schemeClr>
                </a:solidFill>
              </a:rPr>
              <a:t> con </a:t>
            </a:r>
            <a:r>
              <a:rPr lang="en-US" sz="1600" dirty="0" err="1">
                <a:solidFill>
                  <a:schemeClr val="accent1">
                    <a:lumMod val="50000"/>
                  </a:schemeClr>
                </a:solidFill>
              </a:rPr>
              <a:t>tantos</a:t>
            </a:r>
            <a:r>
              <a:rPr lang="en-US" sz="1600" dirty="0">
                <a:solidFill>
                  <a:schemeClr val="accent1">
                    <a:lumMod val="50000"/>
                  </a:schemeClr>
                </a:solidFill>
              </a:rPr>
              <a:t> pares de </a:t>
            </a:r>
            <a:r>
              <a:rPr lang="en-US" sz="1600" dirty="0" err="1">
                <a:solidFill>
                  <a:schemeClr val="accent1">
                    <a:lumMod val="50000"/>
                  </a:schemeClr>
                </a:solidFill>
              </a:rPr>
              <a:t>puntos</a:t>
            </a:r>
            <a:r>
              <a:rPr lang="en-US" sz="1600" dirty="0">
                <a:solidFill>
                  <a:schemeClr val="accent1">
                    <a:lumMod val="50000"/>
                  </a:schemeClr>
                </a:solidFill>
              </a:rPr>
              <a:t> </a:t>
            </a:r>
            <a:r>
              <a:rPr lang="en-US" sz="1600" dirty="0" err="1">
                <a:solidFill>
                  <a:schemeClr val="accent1">
                    <a:lumMod val="50000"/>
                  </a:schemeClr>
                </a:solidFill>
              </a:rPr>
              <a:t>como</a:t>
            </a:r>
            <a:r>
              <a:rPr lang="en-US" sz="1600" dirty="0">
                <a:solidFill>
                  <a:schemeClr val="accent1">
                    <a:lumMod val="50000"/>
                  </a:schemeClr>
                </a:solidFill>
              </a:rPr>
              <a:t> </a:t>
            </a:r>
            <a:r>
              <a:rPr lang="en-US" sz="1600" dirty="0" err="1">
                <a:solidFill>
                  <a:schemeClr val="accent1">
                    <a:lumMod val="50000"/>
                  </a:schemeClr>
                </a:solidFill>
              </a:rPr>
              <a:t>número</a:t>
            </a:r>
            <a:r>
              <a:rPr lang="en-US" sz="1600" dirty="0">
                <a:solidFill>
                  <a:schemeClr val="accent1">
                    <a:lumMod val="50000"/>
                  </a:schemeClr>
                </a:solidFill>
              </a:rPr>
              <a:t> de </a:t>
            </a:r>
            <a:r>
              <a:rPr lang="en-US" sz="1600" dirty="0" err="1">
                <a:solidFill>
                  <a:schemeClr val="accent1">
                    <a:lumMod val="50000"/>
                  </a:schemeClr>
                </a:solidFill>
              </a:rPr>
              <a:t>clústeres</a:t>
            </a:r>
            <a:r>
              <a:rPr lang="en-US" sz="1600" dirty="0">
                <a:solidFill>
                  <a:schemeClr val="accent1">
                    <a:lumMod val="50000"/>
                  </a:schemeClr>
                </a:solidFill>
              </a:rPr>
              <a:t> </a:t>
            </a:r>
            <a:r>
              <a:rPr lang="en-US" sz="1600" dirty="0" err="1">
                <a:solidFill>
                  <a:schemeClr val="accent1">
                    <a:lumMod val="50000"/>
                  </a:schemeClr>
                </a:solidFill>
              </a:rPr>
              <a:t>quiero</a:t>
            </a:r>
            <a:r>
              <a:rPr lang="en-US" sz="1600" dirty="0">
                <a:solidFill>
                  <a:schemeClr val="accent1">
                    <a:lumMod val="50000"/>
                  </a:schemeClr>
                </a:solidFill>
              </a:rPr>
              <a:t> </a:t>
            </a:r>
            <a:r>
              <a:rPr lang="en-US" sz="1600" dirty="0" err="1">
                <a:solidFill>
                  <a:schemeClr val="accent1">
                    <a:lumMod val="50000"/>
                  </a:schemeClr>
                </a:solidFill>
              </a:rPr>
              <a:t>formar</a:t>
            </a:r>
            <a:r>
              <a:rPr lang="en-US" sz="1600" dirty="0">
                <a:solidFill>
                  <a:schemeClr val="accent1">
                    <a:lumMod val="50000"/>
                  </a:schemeClr>
                </a:solidFill>
              </a:rPr>
              <a:t>. Las </a:t>
            </a:r>
            <a:r>
              <a:rPr lang="en-US" sz="1600" dirty="0" err="1">
                <a:solidFill>
                  <a:schemeClr val="accent1">
                    <a:lumMod val="50000"/>
                  </a:schemeClr>
                </a:solidFill>
              </a:rPr>
              <a:t>coordenadas</a:t>
            </a:r>
            <a:r>
              <a:rPr lang="en-US" sz="1600" dirty="0">
                <a:solidFill>
                  <a:schemeClr val="accent1">
                    <a:lumMod val="50000"/>
                  </a:schemeClr>
                </a:solidFill>
              </a:rPr>
              <a:t>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centroides</a:t>
            </a:r>
            <a:r>
              <a:rPr lang="en-US" sz="1600" dirty="0">
                <a:solidFill>
                  <a:schemeClr val="accent1">
                    <a:lumMod val="50000"/>
                  </a:schemeClr>
                </a:solidFill>
              </a:rPr>
              <a:t> se </a:t>
            </a:r>
            <a:r>
              <a:rPr lang="en-US" sz="1600" dirty="0" err="1">
                <a:solidFill>
                  <a:schemeClr val="accent1">
                    <a:lumMod val="50000"/>
                  </a:schemeClr>
                </a:solidFill>
              </a:rPr>
              <a:t>eligen</a:t>
            </a:r>
            <a:r>
              <a:rPr lang="en-US" sz="1600" dirty="0">
                <a:solidFill>
                  <a:schemeClr val="accent1">
                    <a:lumMod val="50000"/>
                  </a:schemeClr>
                </a:solidFill>
              </a:rPr>
              <a:t> </a:t>
            </a:r>
            <a:r>
              <a:rPr lang="en-US" sz="1600" dirty="0" err="1">
                <a:solidFill>
                  <a:schemeClr val="accent1">
                    <a:lumMod val="50000"/>
                  </a:schemeClr>
                </a:solidFill>
              </a:rPr>
              <a:t>aleatoriamente</a:t>
            </a:r>
            <a:r>
              <a:rPr lang="en-US" sz="1600" dirty="0">
                <a:solidFill>
                  <a:schemeClr val="accent1">
                    <a:lumMod val="50000"/>
                  </a:schemeClr>
                </a:solidFill>
              </a:rPr>
              <a:t> entre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valores</a:t>
            </a:r>
            <a:r>
              <a:rPr lang="en-US" sz="1600" dirty="0">
                <a:solidFill>
                  <a:schemeClr val="accent1">
                    <a:lumMod val="50000"/>
                  </a:schemeClr>
                </a:solidFill>
              </a:rPr>
              <a:t> </a:t>
            </a:r>
            <a:r>
              <a:rPr lang="en-US" sz="1600" dirty="0" err="1">
                <a:solidFill>
                  <a:schemeClr val="accent1">
                    <a:lumMod val="50000"/>
                  </a:schemeClr>
                </a:solidFill>
              </a:rPr>
              <a:t>mínimo</a:t>
            </a:r>
            <a:r>
              <a:rPr lang="en-US" sz="1600" dirty="0">
                <a:solidFill>
                  <a:schemeClr val="accent1">
                    <a:lumMod val="50000"/>
                  </a:schemeClr>
                </a:solidFill>
              </a:rPr>
              <a:t> y </a:t>
            </a:r>
            <a:r>
              <a:rPr lang="en-US" sz="1600" dirty="0" err="1">
                <a:solidFill>
                  <a:schemeClr val="accent1">
                    <a:lumMod val="50000"/>
                  </a:schemeClr>
                </a:solidFill>
              </a:rPr>
              <a:t>máximo</a:t>
            </a:r>
            <a:r>
              <a:rPr lang="en-US" sz="1600" dirty="0">
                <a:solidFill>
                  <a:schemeClr val="accent1">
                    <a:lumMod val="50000"/>
                  </a:schemeClr>
                </a:solidFill>
              </a:rPr>
              <a:t> de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coordenada</a:t>
            </a:r>
            <a:r>
              <a:rPr lang="en-US" sz="1600" dirty="0">
                <a:solidFill>
                  <a:schemeClr val="accent1">
                    <a:lumMod val="50000"/>
                  </a:schemeClr>
                </a:solidFill>
              </a:rPr>
              <a:t>.</a:t>
            </a:r>
          </a:p>
        </p:txBody>
      </p:sp>
      <p:pic>
        <p:nvPicPr>
          <p:cNvPr id="4" name="Imagen 3">
            <a:extLst>
              <a:ext uri="{FF2B5EF4-FFF2-40B4-BE49-F238E27FC236}">
                <a16:creationId xmlns:a16="http://schemas.microsoft.com/office/drawing/2014/main" id="{574D0FEC-D13A-A6D1-3613-ECD063196CB6}"/>
              </a:ext>
            </a:extLst>
          </p:cNvPr>
          <p:cNvPicPr>
            <a:picLocks noChangeAspect="1"/>
          </p:cNvPicPr>
          <p:nvPr/>
        </p:nvPicPr>
        <p:blipFill>
          <a:blip r:embed="rId2"/>
          <a:stretch>
            <a:fillRect/>
          </a:stretch>
        </p:blipFill>
        <p:spPr>
          <a:xfrm>
            <a:off x="5949043" y="432009"/>
            <a:ext cx="6057424" cy="4425236"/>
          </a:xfrm>
          <a:prstGeom prst="rect">
            <a:avLst/>
          </a:prstGeom>
        </p:spPr>
      </p:pic>
    </p:spTree>
    <p:extLst>
      <p:ext uri="{BB962C8B-B14F-4D97-AF65-F5344CB8AC3E}">
        <p14:creationId xmlns:p14="http://schemas.microsoft.com/office/powerpoint/2010/main" val="22306809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829638CA-7D27-576A-B20B-2F2A80EC6B66}"/>
              </a:ext>
            </a:extLst>
          </p:cNvPr>
          <p:cNvPicPr>
            <a:picLocks noChangeAspect="1"/>
          </p:cNvPicPr>
          <p:nvPr/>
        </p:nvPicPr>
        <p:blipFill>
          <a:blip r:embed="rId2"/>
          <a:stretch>
            <a:fillRect/>
          </a:stretch>
        </p:blipFill>
        <p:spPr>
          <a:xfrm>
            <a:off x="64611" y="2819399"/>
            <a:ext cx="5305928" cy="3954345"/>
          </a:xfrm>
          <a:prstGeom prst="rect">
            <a:avLst/>
          </a:prstGeom>
        </p:spPr>
      </p:pic>
      <p:sp>
        <p:nvSpPr>
          <p:cNvPr id="2" name="Marcador de número de diapositiva 1">
            <a:extLst>
              <a:ext uri="{FF2B5EF4-FFF2-40B4-BE49-F238E27FC236}">
                <a16:creationId xmlns:a16="http://schemas.microsoft.com/office/drawing/2014/main" id="{C424AA98-4301-7859-AAC4-F0D06EDAF49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7</a:t>
            </a:fld>
            <a:endParaRPr lang="es-ES">
              <a:solidFill>
                <a:prstClr val="black">
                  <a:tint val="75000"/>
                </a:prstClr>
              </a:solidFill>
            </a:endParaRPr>
          </a:p>
        </p:txBody>
      </p:sp>
      <p:sp>
        <p:nvSpPr>
          <p:cNvPr id="5" name="Rectángulo: esquinas redondeadas 4">
            <a:extLst>
              <a:ext uri="{FF2B5EF4-FFF2-40B4-BE49-F238E27FC236}">
                <a16:creationId xmlns:a16="http://schemas.microsoft.com/office/drawing/2014/main" id="{72647C09-3989-7DC5-9A9A-EB618E8B71D4}"/>
              </a:ext>
            </a:extLst>
          </p:cNvPr>
          <p:cNvSpPr/>
          <p:nvPr/>
        </p:nvSpPr>
        <p:spPr>
          <a:xfrm>
            <a:off x="5523722" y="516293"/>
            <a:ext cx="6531478" cy="6052457"/>
          </a:xfrm>
          <a:prstGeom prst="roundRect">
            <a:avLst>
              <a:gd name="adj" fmla="val 3421"/>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400" b="1" dirty="0" err="1">
                <a:solidFill>
                  <a:schemeClr val="accent6">
                    <a:lumMod val="75000"/>
                  </a:schemeClr>
                </a:solidFill>
                <a:latin typeface="Courier New" panose="02070309020205020404" pitchFamily="49" charset="0"/>
                <a:cs typeface="Courier New" panose="02070309020205020404" pitchFamily="49" charset="0"/>
              </a:rPr>
              <a:t>while</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not</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final:</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Asigno cada punto a su </a:t>
            </a:r>
            <a:r>
              <a:rPr lang="es-ES" sz="1400" dirty="0" err="1">
                <a:solidFill>
                  <a:schemeClr val="accent2">
                    <a:lumMod val="50000"/>
                  </a:schemeClr>
                </a:solidFill>
                <a:latin typeface="Courier New" panose="02070309020205020404" pitchFamily="49" charset="0"/>
                <a:cs typeface="Courier New" panose="02070309020205020404" pitchFamily="49" charset="0"/>
              </a:rPr>
              <a:t>cluster</a:t>
            </a:r>
            <a:endParaRPr lang="es-ES" sz="1400" dirty="0">
              <a:solidFill>
                <a:schemeClr val="accent2">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grupo = [[]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_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x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X_train</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Para cada punto determino la distancia a cada     	centroide y la guardo en un vector</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(x-centroide[k])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np.argmin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grupo[</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append</a:t>
            </a:r>
            <a:r>
              <a:rPr lang="es-ES" sz="1400" dirty="0">
                <a:solidFill>
                  <a:schemeClr val="accent1">
                    <a:lumMod val="50000"/>
                  </a:schemeClr>
                </a:solidFill>
                <a:latin typeface="Courier New" panose="02070309020205020404" pitchFamily="49" charset="0"/>
                <a:cs typeface="Courier New" panose="02070309020205020404" pitchFamily="49" charset="0"/>
              </a:rPr>
              <a:t>(x)</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Actualizo el valor de cada centroide</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centroide.copy</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Calculo la media en cada </a:t>
            </a:r>
            <a:r>
              <a:rPr lang="es-ES" sz="1400" dirty="0" err="1">
                <a:solidFill>
                  <a:schemeClr val="accent2">
                    <a:lumMod val="50000"/>
                  </a:schemeClr>
                </a:solidFill>
                <a:latin typeface="Courier New" panose="02070309020205020404" pitchFamily="49" charset="0"/>
                <a:cs typeface="Courier New" panose="02070309020205020404" pitchFamily="49" charset="0"/>
              </a:rPr>
              <a:t>dimension</a:t>
            </a:r>
            <a:r>
              <a:rPr lang="es-ES" sz="1400" dirty="0">
                <a:solidFill>
                  <a:schemeClr val="accent2">
                    <a:lumMod val="50000"/>
                  </a:schemeClr>
                </a:solidFill>
                <a:latin typeface="Courier New" panose="02070309020205020404" pitchFamily="49" charset="0"/>
                <a:cs typeface="Courier New" panose="02070309020205020404" pitchFamily="49" charset="0"/>
              </a:rPr>
              <a:t> para cada 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k,grupo_k</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enumerate</a:t>
            </a:r>
            <a:r>
              <a:rPr lang="es-ES" sz="1400" dirty="0">
                <a:solidFill>
                  <a:schemeClr val="accent1">
                    <a:lumMod val="50000"/>
                  </a:schemeClr>
                </a:solidFill>
                <a:latin typeface="Courier New" panose="02070309020205020404" pitchFamily="49" charset="0"/>
                <a:cs typeface="Courier New" panose="02070309020205020404" pitchFamily="49" charset="0"/>
              </a:rPr>
              <a:t>(grupo):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len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)&gt;0: centroide[k] = </a:t>
            </a:r>
            <a:r>
              <a:rPr lang="es-ES" sz="1400" dirty="0" err="1">
                <a:solidFill>
                  <a:schemeClr val="accent1">
                    <a:lumMod val="50000"/>
                  </a:schemeClr>
                </a:solidFill>
                <a:latin typeface="Courier New" panose="02070309020205020404" pitchFamily="49" charset="0"/>
                <a:cs typeface="Courier New" panose="02070309020205020404" pitchFamily="49" charset="0"/>
              </a:rPr>
              <a:t>np.mean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 					axis=0)</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Compruebo convergencia</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1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max_iter</a:t>
            </a:r>
            <a:r>
              <a:rPr lang="es-ES" sz="1400" dirty="0">
                <a:solidFill>
                  <a:schemeClr val="accent1">
                    <a:lumMod val="50000"/>
                  </a:schemeClr>
                </a:solidFill>
                <a:latin typeface="Courier New" panose="02070309020205020404" pitchFamily="49" charset="0"/>
                <a:cs typeface="Courier New" panose="02070309020205020404" pitchFamily="49" charset="0"/>
              </a:rPr>
              <a:t>: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[k]-	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max</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)&lt;0.00001: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p>
        </p:txBody>
      </p:sp>
      <p:cxnSp>
        <p:nvCxnSpPr>
          <p:cNvPr id="7" name="Conector recto de flecha 6">
            <a:extLst>
              <a:ext uri="{FF2B5EF4-FFF2-40B4-BE49-F238E27FC236}">
                <a16:creationId xmlns:a16="http://schemas.microsoft.com/office/drawing/2014/main" id="{9866FCCB-302C-1611-C1B4-E8015CEF7F99}"/>
              </a:ext>
            </a:extLst>
          </p:cNvPr>
          <p:cNvCxnSpPr>
            <a:cxnSpLocks/>
          </p:cNvCxnSpPr>
          <p:nvPr/>
        </p:nvCxnSpPr>
        <p:spPr>
          <a:xfrm flipH="1">
            <a:off x="1270831" y="5789150"/>
            <a:ext cx="118188" cy="68424"/>
          </a:xfrm>
          <a:prstGeom prst="straightConnector1">
            <a:avLst/>
          </a:prstGeom>
          <a:ln w="31750">
            <a:solidFill>
              <a:schemeClr val="accent3">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E5131183-E5DD-B4BE-6586-05373F9F42EF}"/>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10" name="Rectángulo 9"/>
          <p:cNvSpPr/>
          <p:nvPr/>
        </p:nvSpPr>
        <p:spPr>
          <a:xfrm>
            <a:off x="185533" y="211733"/>
            <a:ext cx="5650002" cy="2185214"/>
          </a:xfrm>
          <a:prstGeom prst="rect">
            <a:avLst/>
          </a:prstGeom>
        </p:spPr>
        <p:txBody>
          <a:bodyPr wrap="square">
            <a:spAutoFit/>
          </a:bodyPr>
          <a:lstStyle/>
          <a:p>
            <a:pPr marL="285750" indent="-285750">
              <a:buFont typeface="Arial" panose="020B0604020202020204" pitchFamily="34" charset="0"/>
              <a:buChar char="•"/>
            </a:pP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desde</a:t>
            </a:r>
            <a:r>
              <a:rPr lang="en-US" sz="2000" b="1" dirty="0">
                <a:solidFill>
                  <a:schemeClr val="accent1">
                    <a:lumMod val="50000"/>
                  </a:schemeClr>
                </a:solidFill>
              </a:rPr>
              <a:t> Scratch.</a:t>
            </a:r>
          </a:p>
          <a:p>
            <a:pPr marL="285750" indent="-285750">
              <a:buFont typeface="Arial" panose="020B0604020202020204" pitchFamily="34" charset="0"/>
              <a:buChar char="•"/>
            </a:pPr>
            <a:endParaRPr lang="en-US" sz="2000" b="1" dirty="0">
              <a:solidFill>
                <a:schemeClr val="accent1">
                  <a:lumMod val="50000"/>
                </a:schemeClr>
              </a:solidFill>
            </a:endParaRPr>
          </a:p>
          <a:p>
            <a:r>
              <a:rPr lang="en-US" sz="1600" dirty="0" err="1">
                <a:solidFill>
                  <a:schemeClr val="accent1">
                    <a:lumMod val="50000"/>
                  </a:schemeClr>
                </a:solidFill>
              </a:rPr>
              <a:t>En</a:t>
            </a:r>
            <a:r>
              <a:rPr lang="en-US" sz="1600" dirty="0">
                <a:solidFill>
                  <a:schemeClr val="accent1">
                    <a:lumMod val="50000"/>
                  </a:schemeClr>
                </a:solidFill>
              </a:rPr>
              <a:t> el </a:t>
            </a:r>
            <a:r>
              <a:rPr lang="en-US" sz="1600" dirty="0" err="1">
                <a:solidFill>
                  <a:schemeClr val="accent1">
                    <a:lumMod val="50000"/>
                  </a:schemeClr>
                </a:solidFill>
              </a:rPr>
              <a:t>proceso</a:t>
            </a:r>
            <a:r>
              <a:rPr lang="en-US" sz="1600" dirty="0">
                <a:solidFill>
                  <a:schemeClr val="accent1">
                    <a:lumMod val="50000"/>
                  </a:schemeClr>
                </a:solidFill>
              </a:rPr>
              <a:t> </a:t>
            </a:r>
            <a:r>
              <a:rPr lang="en-US" sz="1600" dirty="0" err="1">
                <a:solidFill>
                  <a:schemeClr val="accent1">
                    <a:lumMod val="50000"/>
                  </a:schemeClr>
                </a:solidFill>
              </a:rPr>
              <a:t>iterativo</a:t>
            </a:r>
            <a:r>
              <a:rPr lang="en-US" sz="1600" dirty="0">
                <a:solidFill>
                  <a:schemeClr val="accent1">
                    <a:lumMod val="50000"/>
                  </a:schemeClr>
                </a:solidFill>
              </a:rPr>
              <a:t>:</a:t>
            </a:r>
          </a:p>
          <a:p>
            <a:pPr marL="285750" indent="-285750">
              <a:buFont typeface="Arial" panose="020B0604020202020204" pitchFamily="34" charset="0"/>
              <a:buChar char="•"/>
            </a:pPr>
            <a:r>
              <a:rPr lang="en-US" sz="1600" b="1" dirty="0" err="1">
                <a:solidFill>
                  <a:schemeClr val="accent1">
                    <a:lumMod val="50000"/>
                  </a:schemeClr>
                </a:solidFill>
              </a:rPr>
              <a:t>Asigno</a:t>
            </a:r>
            <a:r>
              <a:rPr lang="en-US" sz="1600" b="1" dirty="0">
                <a:solidFill>
                  <a:schemeClr val="accent1">
                    <a:lumMod val="50000"/>
                  </a:schemeClr>
                </a:solidFill>
              </a:rPr>
              <a:t> </a:t>
            </a:r>
            <a:r>
              <a:rPr lang="en-US" sz="1600" b="1" dirty="0" err="1">
                <a:solidFill>
                  <a:schemeClr val="accent1">
                    <a:lumMod val="50000"/>
                  </a:schemeClr>
                </a:solidFill>
              </a:rPr>
              <a:t>cada</a:t>
            </a:r>
            <a:r>
              <a:rPr lang="en-US" sz="1600" b="1" dirty="0">
                <a:solidFill>
                  <a:schemeClr val="accent1">
                    <a:lumMod val="50000"/>
                  </a:schemeClr>
                </a:solidFill>
              </a:rPr>
              <a:t> </a:t>
            </a:r>
            <a:r>
              <a:rPr lang="en-US" sz="1600" b="1" dirty="0" err="1">
                <a:solidFill>
                  <a:schemeClr val="accent1">
                    <a:lumMod val="50000"/>
                  </a:schemeClr>
                </a:solidFill>
              </a:rPr>
              <a:t>punto</a:t>
            </a:r>
            <a:r>
              <a:rPr lang="en-US" sz="1600" b="1" dirty="0">
                <a:solidFill>
                  <a:schemeClr val="accent1">
                    <a:lumMod val="50000"/>
                  </a:schemeClr>
                </a:solidFill>
              </a:rPr>
              <a:t> a </a:t>
            </a:r>
            <a:r>
              <a:rPr lang="en-US" sz="1600" b="1" dirty="0" err="1">
                <a:solidFill>
                  <a:schemeClr val="accent1">
                    <a:lumMod val="50000"/>
                  </a:schemeClr>
                </a:solidFill>
              </a:rPr>
              <a:t>su</a:t>
            </a:r>
            <a:r>
              <a:rPr lang="en-US" sz="1600" b="1" dirty="0">
                <a:solidFill>
                  <a:schemeClr val="accent1">
                    <a:lumMod val="50000"/>
                  </a:schemeClr>
                </a:solidFill>
              </a:rPr>
              <a:t> </a:t>
            </a:r>
            <a:r>
              <a:rPr lang="en-US" sz="1600" b="1" dirty="0" err="1">
                <a:solidFill>
                  <a:schemeClr val="accent1">
                    <a:lumMod val="50000"/>
                  </a:schemeClr>
                </a:solidFill>
              </a:rPr>
              <a:t>centroide</a:t>
            </a:r>
            <a:r>
              <a:rPr lang="en-US" sz="1600" b="1" dirty="0">
                <a:solidFill>
                  <a:schemeClr val="accent1">
                    <a:lumMod val="50000"/>
                  </a:schemeClr>
                </a:solidFill>
              </a:rPr>
              <a:t> </a:t>
            </a:r>
            <a:r>
              <a:rPr lang="en-US" sz="1600" b="1" dirty="0" err="1">
                <a:solidFill>
                  <a:schemeClr val="accent1">
                    <a:lumMod val="50000"/>
                  </a:schemeClr>
                </a:solidFill>
              </a:rPr>
              <a:t>más</a:t>
            </a:r>
            <a:r>
              <a:rPr lang="en-US" sz="1600" b="1" dirty="0">
                <a:solidFill>
                  <a:schemeClr val="accent1">
                    <a:lumMod val="50000"/>
                  </a:schemeClr>
                </a:solidFill>
              </a:rPr>
              <a:t> </a:t>
            </a:r>
            <a:r>
              <a:rPr lang="en-US" sz="1600" b="1" dirty="0" err="1">
                <a:solidFill>
                  <a:schemeClr val="accent1">
                    <a:lumMod val="50000"/>
                  </a:schemeClr>
                </a:solidFill>
              </a:rPr>
              <a:t>cercano</a:t>
            </a:r>
            <a:r>
              <a:rPr lang="en-US" sz="1600" b="1"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Calculo</a:t>
            </a:r>
            <a:r>
              <a:rPr lang="en-US" sz="1600" dirty="0">
                <a:solidFill>
                  <a:schemeClr val="accent1">
                    <a:lumMod val="50000"/>
                  </a:schemeClr>
                </a:solidFill>
              </a:rPr>
              <a:t> la </a:t>
            </a:r>
            <a:r>
              <a:rPr lang="en-US" sz="1600" dirty="0" err="1">
                <a:solidFill>
                  <a:schemeClr val="accent1">
                    <a:lumMod val="50000"/>
                  </a:schemeClr>
                </a:solidFill>
              </a:rPr>
              <a:t>posición</a:t>
            </a:r>
            <a:r>
              <a:rPr lang="en-US" sz="1600" dirty="0">
                <a:solidFill>
                  <a:schemeClr val="accent1">
                    <a:lumMod val="50000"/>
                  </a:schemeClr>
                </a:solidFill>
              </a:rPr>
              <a:t> de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centroide</a:t>
            </a:r>
            <a:r>
              <a:rPr lang="en-US" sz="1600" dirty="0">
                <a:solidFill>
                  <a:schemeClr val="accent1">
                    <a:lumMod val="50000"/>
                  </a:schemeClr>
                </a:solidFill>
              </a:rPr>
              <a:t> </a:t>
            </a:r>
            <a:r>
              <a:rPr lang="en-US" sz="1600" dirty="0" err="1">
                <a:solidFill>
                  <a:schemeClr val="accent1">
                    <a:lumMod val="50000"/>
                  </a:schemeClr>
                </a:solidFill>
              </a:rPr>
              <a:t>como</a:t>
            </a:r>
            <a:r>
              <a:rPr lang="en-US" sz="1600" dirty="0">
                <a:solidFill>
                  <a:schemeClr val="accent1">
                    <a:lumMod val="50000"/>
                  </a:schemeClr>
                </a:solidFill>
              </a:rPr>
              <a:t> la media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puntos</a:t>
            </a:r>
            <a:r>
              <a:rPr lang="en-US" sz="1600" dirty="0">
                <a:solidFill>
                  <a:schemeClr val="accent1">
                    <a:lumMod val="50000"/>
                  </a:schemeClr>
                </a:solidFill>
              </a:rPr>
              <a:t> </a:t>
            </a:r>
            <a:r>
              <a:rPr lang="en-US" sz="1600" dirty="0" err="1">
                <a:solidFill>
                  <a:schemeClr val="accent1">
                    <a:lumMod val="50000"/>
                  </a:schemeClr>
                </a:solidFill>
              </a:rPr>
              <a:t>asignados</a:t>
            </a:r>
            <a:r>
              <a:rPr lang="en-US" sz="1600" dirty="0">
                <a:solidFill>
                  <a:schemeClr val="accent1">
                    <a:lumMod val="50000"/>
                  </a:schemeClr>
                </a:solidFill>
              </a:rPr>
              <a:t> </a:t>
            </a:r>
            <a:r>
              <a:rPr lang="en-US" sz="1600" dirty="0" err="1">
                <a:solidFill>
                  <a:schemeClr val="accent1">
                    <a:lumMod val="50000"/>
                  </a:schemeClr>
                </a:solidFill>
              </a:rPr>
              <a:t>en</a:t>
            </a:r>
            <a:r>
              <a:rPr lang="en-US" sz="1600" dirty="0">
                <a:solidFill>
                  <a:schemeClr val="accent1">
                    <a:lumMod val="50000"/>
                  </a:schemeClr>
                </a:solidFill>
              </a:rPr>
              <a:t>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coordenada</a:t>
            </a:r>
            <a:r>
              <a:rPr lang="en-US" sz="1600"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Evaluo</a:t>
            </a:r>
            <a:r>
              <a:rPr lang="en-US" sz="1600" dirty="0">
                <a:solidFill>
                  <a:schemeClr val="accent1">
                    <a:lumMod val="50000"/>
                  </a:schemeClr>
                </a:solidFill>
              </a:rPr>
              <a:t> la </a:t>
            </a:r>
            <a:r>
              <a:rPr lang="en-US" sz="1600" dirty="0" err="1">
                <a:solidFill>
                  <a:schemeClr val="accent1">
                    <a:lumMod val="50000"/>
                  </a:schemeClr>
                </a:solidFill>
              </a:rPr>
              <a:t>convergencia</a:t>
            </a:r>
            <a:r>
              <a:rPr lang="en-US" sz="1600" dirty="0">
                <a:solidFill>
                  <a:schemeClr val="accent1">
                    <a:lumMod val="50000"/>
                  </a:schemeClr>
                </a:solidFill>
              </a:rPr>
              <a:t> del </a:t>
            </a:r>
            <a:r>
              <a:rPr lang="en-US" sz="1600" dirty="0" err="1">
                <a:solidFill>
                  <a:schemeClr val="accent1">
                    <a:lumMod val="50000"/>
                  </a:schemeClr>
                </a:solidFill>
              </a:rPr>
              <a:t>proceso</a:t>
            </a:r>
            <a:r>
              <a:rPr lang="en-US" sz="1600" dirty="0">
                <a:solidFill>
                  <a:schemeClr val="accent1">
                    <a:lumMod val="50000"/>
                  </a:schemeClr>
                </a:solidFill>
              </a:rPr>
              <a:t> (</a:t>
            </a:r>
            <a:r>
              <a:rPr lang="en-US" sz="1600" dirty="0" err="1">
                <a:solidFill>
                  <a:schemeClr val="accent1">
                    <a:lumMod val="50000"/>
                  </a:schemeClr>
                </a:solidFill>
              </a:rPr>
              <a:t>según</a:t>
            </a:r>
            <a:r>
              <a:rPr lang="en-US" sz="1600" dirty="0">
                <a:solidFill>
                  <a:schemeClr val="accent1">
                    <a:lumMod val="50000"/>
                  </a:schemeClr>
                </a:solidFill>
              </a:rPr>
              <a:t> la </a:t>
            </a:r>
            <a:r>
              <a:rPr lang="en-US" sz="1600" dirty="0" err="1">
                <a:solidFill>
                  <a:schemeClr val="accent1">
                    <a:lumMod val="50000"/>
                  </a:schemeClr>
                </a:solidFill>
              </a:rPr>
              <a:t>variación</a:t>
            </a:r>
            <a:r>
              <a:rPr lang="en-US" sz="1600" dirty="0">
                <a:solidFill>
                  <a:schemeClr val="accent1">
                    <a:lumMod val="50000"/>
                  </a:schemeClr>
                </a:solidFill>
              </a:rPr>
              <a:t> de </a:t>
            </a:r>
            <a:r>
              <a:rPr lang="en-US" sz="1600" dirty="0" err="1">
                <a:solidFill>
                  <a:schemeClr val="accent1">
                    <a:lumMod val="50000"/>
                  </a:schemeClr>
                </a:solidFill>
              </a:rPr>
              <a:t>posición</a:t>
            </a:r>
            <a:r>
              <a:rPr lang="en-US" sz="1600" dirty="0">
                <a:solidFill>
                  <a:schemeClr val="accent1">
                    <a:lumMod val="50000"/>
                  </a:schemeClr>
                </a:solidFill>
              </a:rPr>
              <a:t>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centroides</a:t>
            </a:r>
            <a:r>
              <a:rPr lang="en-US" sz="1600" dirty="0">
                <a:solidFill>
                  <a:schemeClr val="accent1">
                    <a:lumMod val="50000"/>
                  </a:schemeClr>
                </a:solidFill>
              </a:rPr>
              <a:t>)</a:t>
            </a:r>
          </a:p>
        </p:txBody>
      </p:sp>
    </p:spTree>
    <p:extLst>
      <p:ext uri="{BB962C8B-B14F-4D97-AF65-F5344CB8AC3E}">
        <p14:creationId xmlns:p14="http://schemas.microsoft.com/office/powerpoint/2010/main" val="34743982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FF3A-8AB2-2742-493D-F52B9532DDCC}"/>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485AC68A-FD59-0583-D3BE-7FF092C9411A}"/>
              </a:ext>
            </a:extLst>
          </p:cNvPr>
          <p:cNvPicPr>
            <a:picLocks noChangeAspect="1"/>
          </p:cNvPicPr>
          <p:nvPr/>
        </p:nvPicPr>
        <p:blipFill>
          <a:blip r:embed="rId2"/>
          <a:stretch>
            <a:fillRect/>
          </a:stretch>
        </p:blipFill>
        <p:spPr>
          <a:xfrm>
            <a:off x="64611" y="2819399"/>
            <a:ext cx="5305928" cy="3954345"/>
          </a:xfrm>
          <a:prstGeom prst="rect">
            <a:avLst/>
          </a:prstGeom>
        </p:spPr>
      </p:pic>
      <p:sp>
        <p:nvSpPr>
          <p:cNvPr id="2" name="Marcador de número de diapositiva 1">
            <a:extLst>
              <a:ext uri="{FF2B5EF4-FFF2-40B4-BE49-F238E27FC236}">
                <a16:creationId xmlns:a16="http://schemas.microsoft.com/office/drawing/2014/main" id="{C1C5E182-1D85-2C56-1F7D-2BA813B5E835}"/>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8</a:t>
            </a:fld>
            <a:endParaRPr lang="es-ES">
              <a:solidFill>
                <a:prstClr val="black">
                  <a:tint val="75000"/>
                </a:prstClr>
              </a:solidFill>
            </a:endParaRPr>
          </a:p>
        </p:txBody>
      </p:sp>
      <p:sp>
        <p:nvSpPr>
          <p:cNvPr id="5" name="Rectángulo: esquinas redondeadas 4">
            <a:extLst>
              <a:ext uri="{FF2B5EF4-FFF2-40B4-BE49-F238E27FC236}">
                <a16:creationId xmlns:a16="http://schemas.microsoft.com/office/drawing/2014/main" id="{5DC4C156-9613-2DCE-891E-364312F79ECE}"/>
              </a:ext>
            </a:extLst>
          </p:cNvPr>
          <p:cNvSpPr/>
          <p:nvPr/>
        </p:nvSpPr>
        <p:spPr>
          <a:xfrm>
            <a:off x="5523722" y="516293"/>
            <a:ext cx="6531478" cy="6052457"/>
          </a:xfrm>
          <a:prstGeom prst="roundRect">
            <a:avLst>
              <a:gd name="adj" fmla="val 3421"/>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400" b="1" dirty="0" err="1">
                <a:solidFill>
                  <a:schemeClr val="accent6">
                    <a:lumMod val="75000"/>
                  </a:schemeClr>
                </a:solidFill>
                <a:latin typeface="Courier New" panose="02070309020205020404" pitchFamily="49" charset="0"/>
                <a:cs typeface="Courier New" panose="02070309020205020404" pitchFamily="49" charset="0"/>
              </a:rPr>
              <a:t>while</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not</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final:</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Asigno cada punto a su </a:t>
            </a:r>
            <a:r>
              <a:rPr lang="es-ES" sz="1400" dirty="0" err="1">
                <a:solidFill>
                  <a:schemeClr val="accent2">
                    <a:lumMod val="50000"/>
                  </a:schemeClr>
                </a:solidFill>
                <a:latin typeface="Courier New" panose="02070309020205020404" pitchFamily="49" charset="0"/>
                <a:cs typeface="Courier New" panose="02070309020205020404" pitchFamily="49" charset="0"/>
              </a:rPr>
              <a:t>cluster</a:t>
            </a:r>
            <a:endParaRPr lang="es-ES" sz="1400" dirty="0">
              <a:solidFill>
                <a:schemeClr val="accent2">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grupo = [[]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_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x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X_train</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Para cada punto determino la distancia a cada     	centroide y la guardo en un vector</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(x-centroide[k])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np.argmin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grupo[</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append</a:t>
            </a:r>
            <a:r>
              <a:rPr lang="es-ES" sz="1400" dirty="0">
                <a:solidFill>
                  <a:schemeClr val="accent1">
                    <a:lumMod val="50000"/>
                  </a:schemeClr>
                </a:solidFill>
                <a:latin typeface="Courier New" panose="02070309020205020404" pitchFamily="49" charset="0"/>
                <a:cs typeface="Courier New" panose="02070309020205020404" pitchFamily="49" charset="0"/>
              </a:rPr>
              <a:t>(x)</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Actualizo el valor de cada centroide</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centroide.copy</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Calculo la media en cada </a:t>
            </a:r>
            <a:r>
              <a:rPr lang="es-ES" sz="1400" dirty="0" err="1">
                <a:solidFill>
                  <a:schemeClr val="accent2">
                    <a:lumMod val="50000"/>
                  </a:schemeClr>
                </a:solidFill>
                <a:latin typeface="Courier New" panose="02070309020205020404" pitchFamily="49" charset="0"/>
                <a:cs typeface="Courier New" panose="02070309020205020404" pitchFamily="49" charset="0"/>
              </a:rPr>
              <a:t>dimension</a:t>
            </a:r>
            <a:r>
              <a:rPr lang="es-ES" sz="1400" dirty="0">
                <a:solidFill>
                  <a:schemeClr val="accent2">
                    <a:lumMod val="50000"/>
                  </a:schemeClr>
                </a:solidFill>
                <a:latin typeface="Courier New" panose="02070309020205020404" pitchFamily="49" charset="0"/>
                <a:cs typeface="Courier New" panose="02070309020205020404" pitchFamily="49" charset="0"/>
              </a:rPr>
              <a:t> para cada 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k,grupo_k</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enumerate</a:t>
            </a:r>
            <a:r>
              <a:rPr lang="es-ES" sz="1400" dirty="0">
                <a:solidFill>
                  <a:schemeClr val="accent1">
                    <a:lumMod val="50000"/>
                  </a:schemeClr>
                </a:solidFill>
                <a:latin typeface="Courier New" panose="02070309020205020404" pitchFamily="49" charset="0"/>
                <a:cs typeface="Courier New" panose="02070309020205020404" pitchFamily="49" charset="0"/>
              </a:rPr>
              <a:t>(grupo):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len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)&gt;0: centroide[k] = </a:t>
            </a:r>
            <a:r>
              <a:rPr lang="es-ES" sz="1400" dirty="0" err="1">
                <a:solidFill>
                  <a:schemeClr val="accent1">
                    <a:lumMod val="50000"/>
                  </a:schemeClr>
                </a:solidFill>
                <a:latin typeface="Courier New" panose="02070309020205020404" pitchFamily="49" charset="0"/>
                <a:cs typeface="Courier New" panose="02070309020205020404" pitchFamily="49" charset="0"/>
              </a:rPr>
              <a:t>np.mean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 					axis=0)</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Compruebo convergencia</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1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max_iter</a:t>
            </a:r>
            <a:r>
              <a:rPr lang="es-ES" sz="1400" dirty="0">
                <a:solidFill>
                  <a:schemeClr val="accent1">
                    <a:lumMod val="50000"/>
                  </a:schemeClr>
                </a:solidFill>
                <a:latin typeface="Courier New" panose="02070309020205020404" pitchFamily="49" charset="0"/>
                <a:cs typeface="Courier New" panose="02070309020205020404" pitchFamily="49" charset="0"/>
              </a:rPr>
              <a:t>: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[k]-	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max</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)&lt;0.00001: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p>
        </p:txBody>
      </p:sp>
      <p:cxnSp>
        <p:nvCxnSpPr>
          <p:cNvPr id="7" name="Conector recto de flecha 6">
            <a:extLst>
              <a:ext uri="{FF2B5EF4-FFF2-40B4-BE49-F238E27FC236}">
                <a16:creationId xmlns:a16="http://schemas.microsoft.com/office/drawing/2014/main" id="{EA89ED46-100B-D2D3-B773-AB9E9F2381E8}"/>
              </a:ext>
            </a:extLst>
          </p:cNvPr>
          <p:cNvCxnSpPr>
            <a:cxnSpLocks/>
          </p:cNvCxnSpPr>
          <p:nvPr/>
        </p:nvCxnSpPr>
        <p:spPr>
          <a:xfrm flipH="1">
            <a:off x="1279142" y="5789150"/>
            <a:ext cx="118188" cy="68424"/>
          </a:xfrm>
          <a:prstGeom prst="straightConnector1">
            <a:avLst/>
          </a:prstGeom>
          <a:ln w="31750">
            <a:solidFill>
              <a:schemeClr val="accent3">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3B3D13F4-BFA4-FD16-BC2C-9D669F2436D8}"/>
              </a:ext>
            </a:extLst>
          </p:cNvPr>
          <p:cNvCxnSpPr>
            <a:cxnSpLocks/>
          </p:cNvCxnSpPr>
          <p:nvPr/>
        </p:nvCxnSpPr>
        <p:spPr>
          <a:xfrm flipH="1" flipV="1">
            <a:off x="3943739" y="3744388"/>
            <a:ext cx="342122" cy="590939"/>
          </a:xfrm>
          <a:prstGeom prst="straightConnector1">
            <a:avLst/>
          </a:prstGeom>
          <a:ln w="31750">
            <a:solidFill>
              <a:schemeClr val="accent3">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7FE05BEE-00CF-9E58-589F-B4EE56C7EFBC}"/>
              </a:ext>
            </a:extLst>
          </p:cNvPr>
          <p:cNvCxnSpPr>
            <a:cxnSpLocks/>
          </p:cNvCxnSpPr>
          <p:nvPr/>
        </p:nvCxnSpPr>
        <p:spPr>
          <a:xfrm flipV="1">
            <a:off x="5056174" y="4464541"/>
            <a:ext cx="45070" cy="194245"/>
          </a:xfrm>
          <a:prstGeom prst="straightConnector1">
            <a:avLst/>
          </a:prstGeom>
          <a:ln w="31750">
            <a:solidFill>
              <a:schemeClr val="accent3">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D6475294-B422-0072-1A5C-0FEA22E2EAC4}"/>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10" name="Rectángulo 9">
            <a:extLst>
              <a:ext uri="{FF2B5EF4-FFF2-40B4-BE49-F238E27FC236}">
                <a16:creationId xmlns:a16="http://schemas.microsoft.com/office/drawing/2014/main" id="{6D105234-6EC1-847F-C96F-A10776271591}"/>
              </a:ext>
            </a:extLst>
          </p:cNvPr>
          <p:cNvSpPr/>
          <p:nvPr/>
        </p:nvSpPr>
        <p:spPr>
          <a:xfrm>
            <a:off x="185533" y="211733"/>
            <a:ext cx="5650002" cy="2185214"/>
          </a:xfrm>
          <a:prstGeom prst="rect">
            <a:avLst/>
          </a:prstGeom>
        </p:spPr>
        <p:txBody>
          <a:bodyPr wrap="square">
            <a:spAutoFit/>
          </a:bodyPr>
          <a:lstStyle/>
          <a:p>
            <a:pPr marL="285750" indent="-285750">
              <a:buFont typeface="Arial" panose="020B0604020202020204" pitchFamily="34" charset="0"/>
              <a:buChar char="•"/>
            </a:pP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desde</a:t>
            </a:r>
            <a:r>
              <a:rPr lang="en-US" sz="2000" b="1" dirty="0">
                <a:solidFill>
                  <a:schemeClr val="accent1">
                    <a:lumMod val="50000"/>
                  </a:schemeClr>
                </a:solidFill>
              </a:rPr>
              <a:t> Scratch.</a:t>
            </a:r>
          </a:p>
          <a:p>
            <a:pPr marL="285750" indent="-285750">
              <a:buFont typeface="Arial" panose="020B0604020202020204" pitchFamily="34" charset="0"/>
              <a:buChar char="•"/>
            </a:pPr>
            <a:endParaRPr lang="en-US" sz="2000" b="1" dirty="0">
              <a:solidFill>
                <a:schemeClr val="accent1">
                  <a:lumMod val="50000"/>
                </a:schemeClr>
              </a:solidFill>
            </a:endParaRPr>
          </a:p>
          <a:p>
            <a:r>
              <a:rPr lang="en-US" sz="1600" dirty="0" err="1">
                <a:solidFill>
                  <a:schemeClr val="accent1">
                    <a:lumMod val="50000"/>
                  </a:schemeClr>
                </a:solidFill>
              </a:rPr>
              <a:t>En</a:t>
            </a:r>
            <a:r>
              <a:rPr lang="en-US" sz="1600" dirty="0">
                <a:solidFill>
                  <a:schemeClr val="accent1">
                    <a:lumMod val="50000"/>
                  </a:schemeClr>
                </a:solidFill>
              </a:rPr>
              <a:t> el </a:t>
            </a:r>
            <a:r>
              <a:rPr lang="en-US" sz="1600" dirty="0" err="1">
                <a:solidFill>
                  <a:schemeClr val="accent1">
                    <a:lumMod val="50000"/>
                  </a:schemeClr>
                </a:solidFill>
              </a:rPr>
              <a:t>proceso</a:t>
            </a:r>
            <a:r>
              <a:rPr lang="en-US" sz="1600" dirty="0">
                <a:solidFill>
                  <a:schemeClr val="accent1">
                    <a:lumMod val="50000"/>
                  </a:schemeClr>
                </a:solidFill>
              </a:rPr>
              <a:t> </a:t>
            </a:r>
            <a:r>
              <a:rPr lang="en-US" sz="1600" dirty="0" err="1">
                <a:solidFill>
                  <a:schemeClr val="accent1">
                    <a:lumMod val="50000"/>
                  </a:schemeClr>
                </a:solidFill>
              </a:rPr>
              <a:t>iterativo</a:t>
            </a:r>
            <a:r>
              <a:rPr lang="en-US" sz="1600"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Asigno</a:t>
            </a:r>
            <a:r>
              <a:rPr lang="en-US" sz="1600" dirty="0">
                <a:solidFill>
                  <a:schemeClr val="accent1">
                    <a:lumMod val="50000"/>
                  </a:schemeClr>
                </a:solidFill>
              </a:rPr>
              <a:t>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punto</a:t>
            </a:r>
            <a:r>
              <a:rPr lang="en-US" sz="1600" dirty="0">
                <a:solidFill>
                  <a:schemeClr val="accent1">
                    <a:lumMod val="50000"/>
                  </a:schemeClr>
                </a:solidFill>
              </a:rPr>
              <a:t> a </a:t>
            </a:r>
            <a:r>
              <a:rPr lang="en-US" sz="1600" dirty="0" err="1">
                <a:solidFill>
                  <a:schemeClr val="accent1">
                    <a:lumMod val="50000"/>
                  </a:schemeClr>
                </a:solidFill>
              </a:rPr>
              <a:t>su</a:t>
            </a:r>
            <a:r>
              <a:rPr lang="en-US" sz="1600" dirty="0">
                <a:solidFill>
                  <a:schemeClr val="accent1">
                    <a:lumMod val="50000"/>
                  </a:schemeClr>
                </a:solidFill>
              </a:rPr>
              <a:t> </a:t>
            </a:r>
            <a:r>
              <a:rPr lang="en-US" sz="1600" dirty="0" err="1">
                <a:solidFill>
                  <a:schemeClr val="accent1">
                    <a:lumMod val="50000"/>
                  </a:schemeClr>
                </a:solidFill>
              </a:rPr>
              <a:t>centroide</a:t>
            </a:r>
            <a:r>
              <a:rPr lang="en-US" sz="1600" dirty="0">
                <a:solidFill>
                  <a:schemeClr val="accent1">
                    <a:lumMod val="50000"/>
                  </a:schemeClr>
                </a:solidFill>
              </a:rPr>
              <a:t> </a:t>
            </a:r>
            <a:r>
              <a:rPr lang="en-US" sz="1600" dirty="0" err="1">
                <a:solidFill>
                  <a:schemeClr val="accent1">
                    <a:lumMod val="50000"/>
                  </a:schemeClr>
                </a:solidFill>
              </a:rPr>
              <a:t>más</a:t>
            </a:r>
            <a:r>
              <a:rPr lang="en-US" sz="1600" dirty="0">
                <a:solidFill>
                  <a:schemeClr val="accent1">
                    <a:lumMod val="50000"/>
                  </a:schemeClr>
                </a:solidFill>
              </a:rPr>
              <a:t> </a:t>
            </a:r>
            <a:r>
              <a:rPr lang="en-US" sz="1600" dirty="0" err="1">
                <a:solidFill>
                  <a:schemeClr val="accent1">
                    <a:lumMod val="50000"/>
                  </a:schemeClr>
                </a:solidFill>
              </a:rPr>
              <a:t>cercano</a:t>
            </a:r>
            <a:r>
              <a:rPr lang="en-US" sz="1600" dirty="0">
                <a:solidFill>
                  <a:schemeClr val="accent1">
                    <a:lumMod val="50000"/>
                  </a:schemeClr>
                </a:solidFill>
              </a:rPr>
              <a:t>.</a:t>
            </a:r>
          </a:p>
          <a:p>
            <a:pPr marL="285750" indent="-285750">
              <a:buFont typeface="Arial" panose="020B0604020202020204" pitchFamily="34" charset="0"/>
              <a:buChar char="•"/>
            </a:pPr>
            <a:r>
              <a:rPr lang="en-US" sz="1600" b="1" dirty="0" err="1">
                <a:solidFill>
                  <a:schemeClr val="accent1">
                    <a:lumMod val="50000"/>
                  </a:schemeClr>
                </a:solidFill>
              </a:rPr>
              <a:t>Calculo</a:t>
            </a:r>
            <a:r>
              <a:rPr lang="en-US" sz="1600" b="1" dirty="0">
                <a:solidFill>
                  <a:schemeClr val="accent1">
                    <a:lumMod val="50000"/>
                  </a:schemeClr>
                </a:solidFill>
              </a:rPr>
              <a:t> la </a:t>
            </a:r>
            <a:r>
              <a:rPr lang="en-US" sz="1600" b="1" dirty="0" err="1">
                <a:solidFill>
                  <a:schemeClr val="accent1">
                    <a:lumMod val="50000"/>
                  </a:schemeClr>
                </a:solidFill>
              </a:rPr>
              <a:t>posición</a:t>
            </a:r>
            <a:r>
              <a:rPr lang="en-US" sz="1600" b="1" dirty="0">
                <a:solidFill>
                  <a:schemeClr val="accent1">
                    <a:lumMod val="50000"/>
                  </a:schemeClr>
                </a:solidFill>
              </a:rPr>
              <a:t> de </a:t>
            </a:r>
            <a:r>
              <a:rPr lang="en-US" sz="1600" b="1" dirty="0" err="1">
                <a:solidFill>
                  <a:schemeClr val="accent1">
                    <a:lumMod val="50000"/>
                  </a:schemeClr>
                </a:solidFill>
              </a:rPr>
              <a:t>cada</a:t>
            </a:r>
            <a:r>
              <a:rPr lang="en-US" sz="1600" b="1" dirty="0">
                <a:solidFill>
                  <a:schemeClr val="accent1">
                    <a:lumMod val="50000"/>
                  </a:schemeClr>
                </a:solidFill>
              </a:rPr>
              <a:t> </a:t>
            </a:r>
            <a:r>
              <a:rPr lang="en-US" sz="1600" b="1" dirty="0" err="1">
                <a:solidFill>
                  <a:schemeClr val="accent1">
                    <a:lumMod val="50000"/>
                  </a:schemeClr>
                </a:solidFill>
              </a:rPr>
              <a:t>centroide</a:t>
            </a:r>
            <a:r>
              <a:rPr lang="en-US" sz="1600" b="1" dirty="0">
                <a:solidFill>
                  <a:schemeClr val="accent1">
                    <a:lumMod val="50000"/>
                  </a:schemeClr>
                </a:solidFill>
              </a:rPr>
              <a:t> </a:t>
            </a:r>
            <a:r>
              <a:rPr lang="en-US" sz="1600" b="1" dirty="0" err="1">
                <a:solidFill>
                  <a:schemeClr val="accent1">
                    <a:lumMod val="50000"/>
                  </a:schemeClr>
                </a:solidFill>
              </a:rPr>
              <a:t>como</a:t>
            </a:r>
            <a:r>
              <a:rPr lang="en-US" sz="1600" b="1" dirty="0">
                <a:solidFill>
                  <a:schemeClr val="accent1">
                    <a:lumMod val="50000"/>
                  </a:schemeClr>
                </a:solidFill>
              </a:rPr>
              <a:t> la media de </a:t>
            </a:r>
            <a:r>
              <a:rPr lang="en-US" sz="1600" b="1" dirty="0" err="1">
                <a:solidFill>
                  <a:schemeClr val="accent1">
                    <a:lumMod val="50000"/>
                  </a:schemeClr>
                </a:solidFill>
              </a:rPr>
              <a:t>los</a:t>
            </a:r>
            <a:r>
              <a:rPr lang="en-US" sz="1600" b="1" dirty="0">
                <a:solidFill>
                  <a:schemeClr val="accent1">
                    <a:lumMod val="50000"/>
                  </a:schemeClr>
                </a:solidFill>
              </a:rPr>
              <a:t> </a:t>
            </a:r>
            <a:r>
              <a:rPr lang="en-US" sz="1600" b="1" dirty="0" err="1">
                <a:solidFill>
                  <a:schemeClr val="accent1">
                    <a:lumMod val="50000"/>
                  </a:schemeClr>
                </a:solidFill>
              </a:rPr>
              <a:t>puntos</a:t>
            </a:r>
            <a:r>
              <a:rPr lang="en-US" sz="1600" b="1" dirty="0">
                <a:solidFill>
                  <a:schemeClr val="accent1">
                    <a:lumMod val="50000"/>
                  </a:schemeClr>
                </a:solidFill>
              </a:rPr>
              <a:t> </a:t>
            </a:r>
            <a:r>
              <a:rPr lang="en-US" sz="1600" b="1" dirty="0" err="1">
                <a:solidFill>
                  <a:schemeClr val="accent1">
                    <a:lumMod val="50000"/>
                  </a:schemeClr>
                </a:solidFill>
              </a:rPr>
              <a:t>asignados</a:t>
            </a:r>
            <a:r>
              <a:rPr lang="en-US" sz="1600" b="1" dirty="0">
                <a:solidFill>
                  <a:schemeClr val="accent1">
                    <a:lumMod val="50000"/>
                  </a:schemeClr>
                </a:solidFill>
              </a:rPr>
              <a:t> </a:t>
            </a:r>
            <a:r>
              <a:rPr lang="en-US" sz="1600" b="1" dirty="0" err="1">
                <a:solidFill>
                  <a:schemeClr val="accent1">
                    <a:lumMod val="50000"/>
                  </a:schemeClr>
                </a:solidFill>
              </a:rPr>
              <a:t>en</a:t>
            </a:r>
            <a:r>
              <a:rPr lang="en-US" sz="1600" b="1" dirty="0">
                <a:solidFill>
                  <a:schemeClr val="accent1">
                    <a:lumMod val="50000"/>
                  </a:schemeClr>
                </a:solidFill>
              </a:rPr>
              <a:t> </a:t>
            </a:r>
            <a:r>
              <a:rPr lang="en-US" sz="1600" b="1" dirty="0" err="1">
                <a:solidFill>
                  <a:schemeClr val="accent1">
                    <a:lumMod val="50000"/>
                  </a:schemeClr>
                </a:solidFill>
              </a:rPr>
              <a:t>cada</a:t>
            </a:r>
            <a:r>
              <a:rPr lang="en-US" sz="1600" b="1" dirty="0">
                <a:solidFill>
                  <a:schemeClr val="accent1">
                    <a:lumMod val="50000"/>
                  </a:schemeClr>
                </a:solidFill>
              </a:rPr>
              <a:t> </a:t>
            </a:r>
            <a:r>
              <a:rPr lang="en-US" sz="1600" b="1" dirty="0" err="1">
                <a:solidFill>
                  <a:schemeClr val="accent1">
                    <a:lumMod val="50000"/>
                  </a:schemeClr>
                </a:solidFill>
              </a:rPr>
              <a:t>coordenada</a:t>
            </a:r>
            <a:r>
              <a:rPr lang="en-US" sz="1600" b="1"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Evaluo</a:t>
            </a:r>
            <a:r>
              <a:rPr lang="en-US" sz="1600" dirty="0">
                <a:solidFill>
                  <a:schemeClr val="accent1">
                    <a:lumMod val="50000"/>
                  </a:schemeClr>
                </a:solidFill>
              </a:rPr>
              <a:t> la </a:t>
            </a:r>
            <a:r>
              <a:rPr lang="en-US" sz="1600" dirty="0" err="1">
                <a:solidFill>
                  <a:schemeClr val="accent1">
                    <a:lumMod val="50000"/>
                  </a:schemeClr>
                </a:solidFill>
              </a:rPr>
              <a:t>convergencia</a:t>
            </a:r>
            <a:r>
              <a:rPr lang="en-US" sz="1600" dirty="0">
                <a:solidFill>
                  <a:schemeClr val="accent1">
                    <a:lumMod val="50000"/>
                  </a:schemeClr>
                </a:solidFill>
              </a:rPr>
              <a:t> del </a:t>
            </a:r>
            <a:r>
              <a:rPr lang="en-US" sz="1600" dirty="0" err="1">
                <a:solidFill>
                  <a:schemeClr val="accent1">
                    <a:lumMod val="50000"/>
                  </a:schemeClr>
                </a:solidFill>
              </a:rPr>
              <a:t>proceso</a:t>
            </a:r>
            <a:r>
              <a:rPr lang="en-US" sz="1600" dirty="0">
                <a:solidFill>
                  <a:schemeClr val="accent1">
                    <a:lumMod val="50000"/>
                  </a:schemeClr>
                </a:solidFill>
              </a:rPr>
              <a:t> (</a:t>
            </a:r>
            <a:r>
              <a:rPr lang="en-US" sz="1600" dirty="0" err="1">
                <a:solidFill>
                  <a:schemeClr val="accent1">
                    <a:lumMod val="50000"/>
                  </a:schemeClr>
                </a:solidFill>
              </a:rPr>
              <a:t>según</a:t>
            </a:r>
            <a:r>
              <a:rPr lang="en-US" sz="1600" dirty="0">
                <a:solidFill>
                  <a:schemeClr val="accent1">
                    <a:lumMod val="50000"/>
                  </a:schemeClr>
                </a:solidFill>
              </a:rPr>
              <a:t> la </a:t>
            </a:r>
            <a:r>
              <a:rPr lang="en-US" sz="1600" dirty="0" err="1">
                <a:solidFill>
                  <a:schemeClr val="accent1">
                    <a:lumMod val="50000"/>
                  </a:schemeClr>
                </a:solidFill>
              </a:rPr>
              <a:t>variación</a:t>
            </a:r>
            <a:r>
              <a:rPr lang="en-US" sz="1600" dirty="0">
                <a:solidFill>
                  <a:schemeClr val="accent1">
                    <a:lumMod val="50000"/>
                  </a:schemeClr>
                </a:solidFill>
              </a:rPr>
              <a:t> de </a:t>
            </a:r>
            <a:r>
              <a:rPr lang="en-US" sz="1600" dirty="0" err="1">
                <a:solidFill>
                  <a:schemeClr val="accent1">
                    <a:lumMod val="50000"/>
                  </a:schemeClr>
                </a:solidFill>
              </a:rPr>
              <a:t>posición</a:t>
            </a:r>
            <a:r>
              <a:rPr lang="en-US" sz="1600" dirty="0">
                <a:solidFill>
                  <a:schemeClr val="accent1">
                    <a:lumMod val="50000"/>
                  </a:schemeClr>
                </a:solidFill>
              </a:rPr>
              <a:t>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centroides</a:t>
            </a:r>
            <a:r>
              <a:rPr lang="en-US" sz="1600" dirty="0">
                <a:solidFill>
                  <a:schemeClr val="accent1">
                    <a:lumMod val="50000"/>
                  </a:schemeClr>
                </a:solidFill>
              </a:rPr>
              <a:t>)</a:t>
            </a:r>
          </a:p>
        </p:txBody>
      </p:sp>
    </p:spTree>
    <p:extLst>
      <p:ext uri="{BB962C8B-B14F-4D97-AF65-F5344CB8AC3E}">
        <p14:creationId xmlns:p14="http://schemas.microsoft.com/office/powerpoint/2010/main" val="20229930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8B1A04B-438E-D97C-1075-872E81CBBD5B}"/>
              </a:ext>
            </a:extLst>
          </p:cNvPr>
          <p:cNvPicPr>
            <a:picLocks noChangeAspect="1"/>
          </p:cNvPicPr>
          <p:nvPr/>
        </p:nvPicPr>
        <p:blipFill>
          <a:blip r:embed="rId2"/>
          <a:stretch>
            <a:fillRect/>
          </a:stretch>
        </p:blipFill>
        <p:spPr>
          <a:xfrm>
            <a:off x="97973" y="2871716"/>
            <a:ext cx="5302027" cy="3910824"/>
          </a:xfrm>
          <a:prstGeom prst="rect">
            <a:avLst/>
          </a:prstGeom>
        </p:spPr>
      </p:pic>
      <p:sp>
        <p:nvSpPr>
          <p:cNvPr id="2" name="Marcador de número de diapositiva 1">
            <a:extLst>
              <a:ext uri="{FF2B5EF4-FFF2-40B4-BE49-F238E27FC236}">
                <a16:creationId xmlns:a16="http://schemas.microsoft.com/office/drawing/2014/main" id="{C424AA98-4301-7859-AAC4-F0D06EDAF49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9</a:t>
            </a:fld>
            <a:endParaRPr lang="es-ES">
              <a:solidFill>
                <a:prstClr val="black">
                  <a:tint val="75000"/>
                </a:prstClr>
              </a:solidFill>
            </a:endParaRPr>
          </a:p>
        </p:txBody>
      </p:sp>
      <p:sp>
        <p:nvSpPr>
          <p:cNvPr id="5" name="Rectángulo: esquinas redondeadas 4">
            <a:extLst>
              <a:ext uri="{FF2B5EF4-FFF2-40B4-BE49-F238E27FC236}">
                <a16:creationId xmlns:a16="http://schemas.microsoft.com/office/drawing/2014/main" id="{253CB176-1CE1-6968-6345-7542A8B91E81}"/>
              </a:ext>
            </a:extLst>
          </p:cNvPr>
          <p:cNvSpPr/>
          <p:nvPr/>
        </p:nvSpPr>
        <p:spPr>
          <a:xfrm>
            <a:off x="5523722" y="516293"/>
            <a:ext cx="6531478" cy="6052457"/>
          </a:xfrm>
          <a:prstGeom prst="roundRect">
            <a:avLst>
              <a:gd name="adj" fmla="val 3421"/>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400" b="1" dirty="0" err="1">
                <a:solidFill>
                  <a:schemeClr val="accent6">
                    <a:lumMod val="75000"/>
                  </a:schemeClr>
                </a:solidFill>
                <a:latin typeface="Courier New" panose="02070309020205020404" pitchFamily="49" charset="0"/>
                <a:cs typeface="Courier New" panose="02070309020205020404" pitchFamily="49" charset="0"/>
              </a:rPr>
              <a:t>while</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not</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final:</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Asigno cada punto a su </a:t>
            </a:r>
            <a:r>
              <a:rPr lang="es-ES" sz="1400" dirty="0" err="1">
                <a:solidFill>
                  <a:schemeClr val="accent2">
                    <a:lumMod val="50000"/>
                  </a:schemeClr>
                </a:solidFill>
                <a:latin typeface="Courier New" panose="02070309020205020404" pitchFamily="49" charset="0"/>
                <a:cs typeface="Courier New" panose="02070309020205020404" pitchFamily="49" charset="0"/>
              </a:rPr>
              <a:t>cluster</a:t>
            </a:r>
            <a:endParaRPr lang="es-ES" sz="1400" dirty="0">
              <a:solidFill>
                <a:schemeClr val="accent2">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grupo = [[]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_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x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X_train</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Para cada punto determino la distancia a cada     	centroide y la guardo en un vector</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(x-centroide[k])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np.argmin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grupo[</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append</a:t>
            </a:r>
            <a:r>
              <a:rPr lang="es-ES" sz="1400" dirty="0">
                <a:solidFill>
                  <a:schemeClr val="accent1">
                    <a:lumMod val="50000"/>
                  </a:schemeClr>
                </a:solidFill>
                <a:latin typeface="Courier New" panose="02070309020205020404" pitchFamily="49" charset="0"/>
                <a:cs typeface="Courier New" panose="02070309020205020404" pitchFamily="49" charset="0"/>
              </a:rPr>
              <a:t>(x)</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Actualizo el valor de cada centroide</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centroide.copy</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Calculo la media en cada </a:t>
            </a:r>
            <a:r>
              <a:rPr lang="es-ES" sz="1400" dirty="0" err="1">
                <a:solidFill>
                  <a:schemeClr val="accent2">
                    <a:lumMod val="50000"/>
                  </a:schemeClr>
                </a:solidFill>
                <a:latin typeface="Courier New" panose="02070309020205020404" pitchFamily="49" charset="0"/>
                <a:cs typeface="Courier New" panose="02070309020205020404" pitchFamily="49" charset="0"/>
              </a:rPr>
              <a:t>dimension</a:t>
            </a:r>
            <a:r>
              <a:rPr lang="es-ES" sz="1400" dirty="0">
                <a:solidFill>
                  <a:schemeClr val="accent2">
                    <a:lumMod val="50000"/>
                  </a:schemeClr>
                </a:solidFill>
                <a:latin typeface="Courier New" panose="02070309020205020404" pitchFamily="49" charset="0"/>
                <a:cs typeface="Courier New" panose="02070309020205020404" pitchFamily="49" charset="0"/>
              </a:rPr>
              <a:t> para cada 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k,grupo_k</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enumerate</a:t>
            </a:r>
            <a:r>
              <a:rPr lang="es-ES" sz="1400" dirty="0">
                <a:solidFill>
                  <a:schemeClr val="accent1">
                    <a:lumMod val="50000"/>
                  </a:schemeClr>
                </a:solidFill>
                <a:latin typeface="Courier New" panose="02070309020205020404" pitchFamily="49" charset="0"/>
                <a:cs typeface="Courier New" panose="02070309020205020404" pitchFamily="49" charset="0"/>
              </a:rPr>
              <a:t>(grupo):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len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)&gt;0: centroide[k] = </a:t>
            </a:r>
            <a:r>
              <a:rPr lang="es-ES" sz="1400" dirty="0" err="1">
                <a:solidFill>
                  <a:schemeClr val="accent1">
                    <a:lumMod val="50000"/>
                  </a:schemeClr>
                </a:solidFill>
                <a:latin typeface="Courier New" panose="02070309020205020404" pitchFamily="49" charset="0"/>
                <a:cs typeface="Courier New" panose="02070309020205020404" pitchFamily="49" charset="0"/>
              </a:rPr>
              <a:t>np.mean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 					axis=0)</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Compruebo convergencia</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1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max_iter</a:t>
            </a:r>
            <a:r>
              <a:rPr lang="es-ES" sz="1400" dirty="0">
                <a:solidFill>
                  <a:schemeClr val="accent1">
                    <a:lumMod val="50000"/>
                  </a:schemeClr>
                </a:solidFill>
                <a:latin typeface="Courier New" panose="02070309020205020404" pitchFamily="49" charset="0"/>
                <a:cs typeface="Courier New" panose="02070309020205020404" pitchFamily="49" charset="0"/>
              </a:rPr>
              <a:t>: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[k]-	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max</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)&lt;0.00001: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p>
        </p:txBody>
      </p:sp>
      <p:sp>
        <p:nvSpPr>
          <p:cNvPr id="10" name="CuadroTexto 9">
            <a:extLst>
              <a:ext uri="{FF2B5EF4-FFF2-40B4-BE49-F238E27FC236}">
                <a16:creationId xmlns:a16="http://schemas.microsoft.com/office/drawing/2014/main" id="{5E4087E2-E5D9-3864-83B5-07C0BAADEB71}"/>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11" name="Rectángulo 10"/>
          <p:cNvSpPr/>
          <p:nvPr/>
        </p:nvSpPr>
        <p:spPr>
          <a:xfrm>
            <a:off x="185533" y="211733"/>
            <a:ext cx="5650002" cy="2185214"/>
          </a:xfrm>
          <a:prstGeom prst="rect">
            <a:avLst/>
          </a:prstGeom>
        </p:spPr>
        <p:txBody>
          <a:bodyPr wrap="square">
            <a:spAutoFit/>
          </a:bodyPr>
          <a:lstStyle/>
          <a:p>
            <a:pPr marL="285750" indent="-285750">
              <a:buFont typeface="Arial" panose="020B0604020202020204" pitchFamily="34" charset="0"/>
              <a:buChar char="•"/>
            </a:pP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desde</a:t>
            </a:r>
            <a:r>
              <a:rPr lang="en-US" sz="2000" b="1" dirty="0">
                <a:solidFill>
                  <a:schemeClr val="accent1">
                    <a:lumMod val="50000"/>
                  </a:schemeClr>
                </a:solidFill>
              </a:rPr>
              <a:t> Scratch.</a:t>
            </a:r>
          </a:p>
          <a:p>
            <a:pPr marL="285750" indent="-285750">
              <a:buFont typeface="Arial" panose="020B0604020202020204" pitchFamily="34" charset="0"/>
              <a:buChar char="•"/>
            </a:pPr>
            <a:endParaRPr lang="en-US" sz="2000" b="1" dirty="0">
              <a:solidFill>
                <a:schemeClr val="accent1">
                  <a:lumMod val="50000"/>
                </a:schemeClr>
              </a:solidFill>
            </a:endParaRPr>
          </a:p>
          <a:p>
            <a:r>
              <a:rPr lang="en-US" sz="1600" dirty="0" err="1">
                <a:solidFill>
                  <a:schemeClr val="accent1">
                    <a:lumMod val="50000"/>
                  </a:schemeClr>
                </a:solidFill>
              </a:rPr>
              <a:t>En</a:t>
            </a:r>
            <a:r>
              <a:rPr lang="en-US" sz="1600" dirty="0">
                <a:solidFill>
                  <a:schemeClr val="accent1">
                    <a:lumMod val="50000"/>
                  </a:schemeClr>
                </a:solidFill>
              </a:rPr>
              <a:t> el </a:t>
            </a:r>
            <a:r>
              <a:rPr lang="en-US" sz="1600" dirty="0" err="1">
                <a:solidFill>
                  <a:schemeClr val="accent1">
                    <a:lumMod val="50000"/>
                  </a:schemeClr>
                </a:solidFill>
              </a:rPr>
              <a:t>proceso</a:t>
            </a:r>
            <a:r>
              <a:rPr lang="en-US" sz="1600" dirty="0">
                <a:solidFill>
                  <a:schemeClr val="accent1">
                    <a:lumMod val="50000"/>
                  </a:schemeClr>
                </a:solidFill>
              </a:rPr>
              <a:t> </a:t>
            </a:r>
            <a:r>
              <a:rPr lang="en-US" sz="1600" dirty="0" err="1">
                <a:solidFill>
                  <a:schemeClr val="accent1">
                    <a:lumMod val="50000"/>
                  </a:schemeClr>
                </a:solidFill>
              </a:rPr>
              <a:t>iterativo</a:t>
            </a:r>
            <a:r>
              <a:rPr lang="en-US" sz="1600" dirty="0">
                <a:solidFill>
                  <a:schemeClr val="accent1">
                    <a:lumMod val="50000"/>
                  </a:schemeClr>
                </a:solidFill>
              </a:rPr>
              <a:t>:</a:t>
            </a:r>
          </a:p>
          <a:p>
            <a:pPr marL="285750" indent="-285750">
              <a:buFont typeface="Arial" panose="020B0604020202020204" pitchFamily="34" charset="0"/>
              <a:buChar char="•"/>
            </a:pPr>
            <a:r>
              <a:rPr lang="en-US" sz="1600" b="1" dirty="0" err="1">
                <a:solidFill>
                  <a:schemeClr val="accent1">
                    <a:lumMod val="50000"/>
                  </a:schemeClr>
                </a:solidFill>
              </a:rPr>
              <a:t>Asigno</a:t>
            </a:r>
            <a:r>
              <a:rPr lang="en-US" sz="1600" b="1" dirty="0">
                <a:solidFill>
                  <a:schemeClr val="accent1">
                    <a:lumMod val="50000"/>
                  </a:schemeClr>
                </a:solidFill>
              </a:rPr>
              <a:t> </a:t>
            </a:r>
            <a:r>
              <a:rPr lang="en-US" sz="1600" b="1" dirty="0" err="1">
                <a:solidFill>
                  <a:schemeClr val="accent1">
                    <a:lumMod val="50000"/>
                  </a:schemeClr>
                </a:solidFill>
              </a:rPr>
              <a:t>cada</a:t>
            </a:r>
            <a:r>
              <a:rPr lang="en-US" sz="1600" b="1" dirty="0">
                <a:solidFill>
                  <a:schemeClr val="accent1">
                    <a:lumMod val="50000"/>
                  </a:schemeClr>
                </a:solidFill>
              </a:rPr>
              <a:t> </a:t>
            </a:r>
            <a:r>
              <a:rPr lang="en-US" sz="1600" b="1" dirty="0" err="1">
                <a:solidFill>
                  <a:schemeClr val="accent1">
                    <a:lumMod val="50000"/>
                  </a:schemeClr>
                </a:solidFill>
              </a:rPr>
              <a:t>punto</a:t>
            </a:r>
            <a:r>
              <a:rPr lang="en-US" sz="1600" b="1" dirty="0">
                <a:solidFill>
                  <a:schemeClr val="accent1">
                    <a:lumMod val="50000"/>
                  </a:schemeClr>
                </a:solidFill>
              </a:rPr>
              <a:t> a </a:t>
            </a:r>
            <a:r>
              <a:rPr lang="en-US" sz="1600" b="1" dirty="0" err="1">
                <a:solidFill>
                  <a:schemeClr val="accent1">
                    <a:lumMod val="50000"/>
                  </a:schemeClr>
                </a:solidFill>
              </a:rPr>
              <a:t>su</a:t>
            </a:r>
            <a:r>
              <a:rPr lang="en-US" sz="1600" b="1" dirty="0">
                <a:solidFill>
                  <a:schemeClr val="accent1">
                    <a:lumMod val="50000"/>
                  </a:schemeClr>
                </a:solidFill>
              </a:rPr>
              <a:t> </a:t>
            </a:r>
            <a:r>
              <a:rPr lang="en-US" sz="1600" b="1" dirty="0" err="1">
                <a:solidFill>
                  <a:schemeClr val="accent1">
                    <a:lumMod val="50000"/>
                  </a:schemeClr>
                </a:solidFill>
              </a:rPr>
              <a:t>centroide</a:t>
            </a:r>
            <a:r>
              <a:rPr lang="en-US" sz="1600" b="1" dirty="0">
                <a:solidFill>
                  <a:schemeClr val="accent1">
                    <a:lumMod val="50000"/>
                  </a:schemeClr>
                </a:solidFill>
              </a:rPr>
              <a:t> </a:t>
            </a:r>
            <a:r>
              <a:rPr lang="en-US" sz="1600" b="1" dirty="0" err="1">
                <a:solidFill>
                  <a:schemeClr val="accent1">
                    <a:lumMod val="50000"/>
                  </a:schemeClr>
                </a:solidFill>
              </a:rPr>
              <a:t>más</a:t>
            </a:r>
            <a:r>
              <a:rPr lang="en-US" sz="1600" b="1" dirty="0">
                <a:solidFill>
                  <a:schemeClr val="accent1">
                    <a:lumMod val="50000"/>
                  </a:schemeClr>
                </a:solidFill>
              </a:rPr>
              <a:t> </a:t>
            </a:r>
            <a:r>
              <a:rPr lang="en-US" sz="1600" b="1" dirty="0" err="1">
                <a:solidFill>
                  <a:schemeClr val="accent1">
                    <a:lumMod val="50000"/>
                  </a:schemeClr>
                </a:solidFill>
              </a:rPr>
              <a:t>cercano</a:t>
            </a:r>
            <a:r>
              <a:rPr lang="en-US" sz="1600" b="1"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Calculo</a:t>
            </a:r>
            <a:r>
              <a:rPr lang="en-US" sz="1600" dirty="0">
                <a:solidFill>
                  <a:schemeClr val="accent1">
                    <a:lumMod val="50000"/>
                  </a:schemeClr>
                </a:solidFill>
              </a:rPr>
              <a:t> la </a:t>
            </a:r>
            <a:r>
              <a:rPr lang="en-US" sz="1600" dirty="0" err="1">
                <a:solidFill>
                  <a:schemeClr val="accent1">
                    <a:lumMod val="50000"/>
                  </a:schemeClr>
                </a:solidFill>
              </a:rPr>
              <a:t>posición</a:t>
            </a:r>
            <a:r>
              <a:rPr lang="en-US" sz="1600" dirty="0">
                <a:solidFill>
                  <a:schemeClr val="accent1">
                    <a:lumMod val="50000"/>
                  </a:schemeClr>
                </a:solidFill>
              </a:rPr>
              <a:t> de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centroide</a:t>
            </a:r>
            <a:r>
              <a:rPr lang="en-US" sz="1600" dirty="0">
                <a:solidFill>
                  <a:schemeClr val="accent1">
                    <a:lumMod val="50000"/>
                  </a:schemeClr>
                </a:solidFill>
              </a:rPr>
              <a:t> </a:t>
            </a:r>
            <a:r>
              <a:rPr lang="en-US" sz="1600" dirty="0" err="1">
                <a:solidFill>
                  <a:schemeClr val="accent1">
                    <a:lumMod val="50000"/>
                  </a:schemeClr>
                </a:solidFill>
              </a:rPr>
              <a:t>como</a:t>
            </a:r>
            <a:r>
              <a:rPr lang="en-US" sz="1600" dirty="0">
                <a:solidFill>
                  <a:schemeClr val="accent1">
                    <a:lumMod val="50000"/>
                  </a:schemeClr>
                </a:solidFill>
              </a:rPr>
              <a:t> la media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puntos</a:t>
            </a:r>
            <a:r>
              <a:rPr lang="en-US" sz="1600" dirty="0">
                <a:solidFill>
                  <a:schemeClr val="accent1">
                    <a:lumMod val="50000"/>
                  </a:schemeClr>
                </a:solidFill>
              </a:rPr>
              <a:t> </a:t>
            </a:r>
            <a:r>
              <a:rPr lang="en-US" sz="1600" dirty="0" err="1">
                <a:solidFill>
                  <a:schemeClr val="accent1">
                    <a:lumMod val="50000"/>
                  </a:schemeClr>
                </a:solidFill>
              </a:rPr>
              <a:t>asignados</a:t>
            </a:r>
            <a:r>
              <a:rPr lang="en-US" sz="1600" dirty="0">
                <a:solidFill>
                  <a:schemeClr val="accent1">
                    <a:lumMod val="50000"/>
                  </a:schemeClr>
                </a:solidFill>
              </a:rPr>
              <a:t> </a:t>
            </a:r>
            <a:r>
              <a:rPr lang="en-US" sz="1600" dirty="0" err="1">
                <a:solidFill>
                  <a:schemeClr val="accent1">
                    <a:lumMod val="50000"/>
                  </a:schemeClr>
                </a:solidFill>
              </a:rPr>
              <a:t>en</a:t>
            </a:r>
            <a:r>
              <a:rPr lang="en-US" sz="1600" dirty="0">
                <a:solidFill>
                  <a:schemeClr val="accent1">
                    <a:lumMod val="50000"/>
                  </a:schemeClr>
                </a:solidFill>
              </a:rPr>
              <a:t>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coordenada</a:t>
            </a:r>
            <a:r>
              <a:rPr lang="en-US" sz="1600"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Evaluo</a:t>
            </a:r>
            <a:r>
              <a:rPr lang="en-US" sz="1600" dirty="0">
                <a:solidFill>
                  <a:schemeClr val="accent1">
                    <a:lumMod val="50000"/>
                  </a:schemeClr>
                </a:solidFill>
              </a:rPr>
              <a:t> la </a:t>
            </a:r>
            <a:r>
              <a:rPr lang="en-US" sz="1600" dirty="0" err="1">
                <a:solidFill>
                  <a:schemeClr val="accent1">
                    <a:lumMod val="50000"/>
                  </a:schemeClr>
                </a:solidFill>
              </a:rPr>
              <a:t>convergencia</a:t>
            </a:r>
            <a:r>
              <a:rPr lang="en-US" sz="1600" dirty="0">
                <a:solidFill>
                  <a:schemeClr val="accent1">
                    <a:lumMod val="50000"/>
                  </a:schemeClr>
                </a:solidFill>
              </a:rPr>
              <a:t> del </a:t>
            </a:r>
            <a:r>
              <a:rPr lang="en-US" sz="1600" dirty="0" err="1">
                <a:solidFill>
                  <a:schemeClr val="accent1">
                    <a:lumMod val="50000"/>
                  </a:schemeClr>
                </a:solidFill>
              </a:rPr>
              <a:t>proceso</a:t>
            </a:r>
            <a:r>
              <a:rPr lang="en-US" sz="1600" dirty="0">
                <a:solidFill>
                  <a:schemeClr val="accent1">
                    <a:lumMod val="50000"/>
                  </a:schemeClr>
                </a:solidFill>
              </a:rPr>
              <a:t> (</a:t>
            </a:r>
            <a:r>
              <a:rPr lang="en-US" sz="1600" dirty="0" err="1">
                <a:solidFill>
                  <a:schemeClr val="accent1">
                    <a:lumMod val="50000"/>
                  </a:schemeClr>
                </a:solidFill>
              </a:rPr>
              <a:t>según</a:t>
            </a:r>
            <a:r>
              <a:rPr lang="en-US" sz="1600" dirty="0">
                <a:solidFill>
                  <a:schemeClr val="accent1">
                    <a:lumMod val="50000"/>
                  </a:schemeClr>
                </a:solidFill>
              </a:rPr>
              <a:t> la </a:t>
            </a:r>
            <a:r>
              <a:rPr lang="en-US" sz="1600" dirty="0" err="1">
                <a:solidFill>
                  <a:schemeClr val="accent1">
                    <a:lumMod val="50000"/>
                  </a:schemeClr>
                </a:solidFill>
              </a:rPr>
              <a:t>variación</a:t>
            </a:r>
            <a:r>
              <a:rPr lang="en-US" sz="1600" dirty="0">
                <a:solidFill>
                  <a:schemeClr val="accent1">
                    <a:lumMod val="50000"/>
                  </a:schemeClr>
                </a:solidFill>
              </a:rPr>
              <a:t> de </a:t>
            </a:r>
            <a:r>
              <a:rPr lang="en-US" sz="1600" dirty="0" err="1">
                <a:solidFill>
                  <a:schemeClr val="accent1">
                    <a:lumMod val="50000"/>
                  </a:schemeClr>
                </a:solidFill>
              </a:rPr>
              <a:t>posición</a:t>
            </a:r>
            <a:r>
              <a:rPr lang="en-US" sz="1600" dirty="0">
                <a:solidFill>
                  <a:schemeClr val="accent1">
                    <a:lumMod val="50000"/>
                  </a:schemeClr>
                </a:solidFill>
              </a:rPr>
              <a:t>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centroides</a:t>
            </a:r>
            <a:r>
              <a:rPr lang="en-US" sz="1600" dirty="0">
                <a:solidFill>
                  <a:schemeClr val="accent1">
                    <a:lumMod val="50000"/>
                  </a:schemeClr>
                </a:solidFill>
              </a:rPr>
              <a:t>)</a:t>
            </a:r>
          </a:p>
        </p:txBody>
      </p:sp>
    </p:spTree>
    <p:extLst>
      <p:ext uri="{BB962C8B-B14F-4D97-AF65-F5344CB8AC3E}">
        <p14:creationId xmlns:p14="http://schemas.microsoft.com/office/powerpoint/2010/main" val="39533849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138EC-AA8E-2796-F2E5-C22BF3AA9AA4}"/>
            </a:ext>
          </a:extLst>
        </p:cNvPr>
        <p:cNvGrpSpPr/>
        <p:nvPr/>
      </p:nvGrpSpPr>
      <p:grpSpPr>
        <a:xfrm>
          <a:off x="0" y="0"/>
          <a:ext cx="0" cy="0"/>
          <a:chOff x="0" y="0"/>
          <a:chExt cx="0" cy="0"/>
        </a:xfrm>
      </p:grpSpPr>
      <p:pic>
        <p:nvPicPr>
          <p:cNvPr id="1032" name="Picture 8">
            <a:extLst>
              <a:ext uri="{FF2B5EF4-FFF2-40B4-BE49-F238E27FC236}">
                <a16:creationId xmlns:a16="http://schemas.microsoft.com/office/drawing/2014/main" id="{B2E170A2-951D-D8F3-FB6E-EE519D750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89304"/>
            <a:ext cx="5400000" cy="4075648"/>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número de diapositiva 1">
            <a:extLst>
              <a:ext uri="{FF2B5EF4-FFF2-40B4-BE49-F238E27FC236}">
                <a16:creationId xmlns:a16="http://schemas.microsoft.com/office/drawing/2014/main" id="{EFCE55A2-2671-94A2-89EB-E28767548A2E}"/>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10</a:t>
            </a:fld>
            <a:endParaRPr lang="es-ES">
              <a:solidFill>
                <a:prstClr val="black">
                  <a:tint val="75000"/>
                </a:prstClr>
              </a:solidFill>
            </a:endParaRPr>
          </a:p>
        </p:txBody>
      </p:sp>
      <p:sp>
        <p:nvSpPr>
          <p:cNvPr id="5" name="Rectángulo: esquinas redondeadas 4">
            <a:extLst>
              <a:ext uri="{FF2B5EF4-FFF2-40B4-BE49-F238E27FC236}">
                <a16:creationId xmlns:a16="http://schemas.microsoft.com/office/drawing/2014/main" id="{EED98DC8-5C87-C783-84B4-26A15ECF3E6B}"/>
              </a:ext>
            </a:extLst>
          </p:cNvPr>
          <p:cNvSpPr/>
          <p:nvPr/>
        </p:nvSpPr>
        <p:spPr>
          <a:xfrm>
            <a:off x="5523722" y="516293"/>
            <a:ext cx="6531478" cy="6052457"/>
          </a:xfrm>
          <a:prstGeom prst="roundRect">
            <a:avLst>
              <a:gd name="adj" fmla="val 3421"/>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400" b="1" dirty="0" err="1">
                <a:solidFill>
                  <a:schemeClr val="accent6">
                    <a:lumMod val="75000"/>
                  </a:schemeClr>
                </a:solidFill>
                <a:latin typeface="Courier New" panose="02070309020205020404" pitchFamily="49" charset="0"/>
                <a:cs typeface="Courier New" panose="02070309020205020404" pitchFamily="49" charset="0"/>
              </a:rPr>
              <a:t>while</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not</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final:</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Asigno cada punto a su </a:t>
            </a:r>
            <a:r>
              <a:rPr lang="es-ES" sz="1400" dirty="0" err="1">
                <a:solidFill>
                  <a:schemeClr val="accent2">
                    <a:lumMod val="50000"/>
                  </a:schemeClr>
                </a:solidFill>
                <a:latin typeface="Courier New" panose="02070309020205020404" pitchFamily="49" charset="0"/>
                <a:cs typeface="Courier New" panose="02070309020205020404" pitchFamily="49" charset="0"/>
              </a:rPr>
              <a:t>cluster</a:t>
            </a:r>
            <a:endParaRPr lang="es-ES" sz="1400" dirty="0">
              <a:solidFill>
                <a:schemeClr val="accent2">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grupo = [[]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_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x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X_train</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Para cada punto determino la distancia a cada     	centroide y la guardo en un vector</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(x-centroide[k])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np.argmin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grupo[</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append</a:t>
            </a:r>
            <a:r>
              <a:rPr lang="es-ES" sz="1400" dirty="0">
                <a:solidFill>
                  <a:schemeClr val="accent1">
                    <a:lumMod val="50000"/>
                  </a:schemeClr>
                </a:solidFill>
                <a:latin typeface="Courier New" panose="02070309020205020404" pitchFamily="49" charset="0"/>
                <a:cs typeface="Courier New" panose="02070309020205020404" pitchFamily="49" charset="0"/>
              </a:rPr>
              <a:t>(x)</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Actualizo el valor de cada centroide</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centroide.copy</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Calculo la media en cada </a:t>
            </a:r>
            <a:r>
              <a:rPr lang="es-ES" sz="1400" dirty="0" err="1">
                <a:solidFill>
                  <a:schemeClr val="accent2">
                    <a:lumMod val="50000"/>
                  </a:schemeClr>
                </a:solidFill>
                <a:latin typeface="Courier New" panose="02070309020205020404" pitchFamily="49" charset="0"/>
                <a:cs typeface="Courier New" panose="02070309020205020404" pitchFamily="49" charset="0"/>
              </a:rPr>
              <a:t>dimension</a:t>
            </a:r>
            <a:r>
              <a:rPr lang="es-ES" sz="1400" dirty="0">
                <a:solidFill>
                  <a:schemeClr val="accent2">
                    <a:lumMod val="50000"/>
                  </a:schemeClr>
                </a:solidFill>
                <a:latin typeface="Courier New" panose="02070309020205020404" pitchFamily="49" charset="0"/>
                <a:cs typeface="Courier New" panose="02070309020205020404" pitchFamily="49" charset="0"/>
              </a:rPr>
              <a:t> para cada 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k,grupo_k</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enumerate</a:t>
            </a:r>
            <a:r>
              <a:rPr lang="es-ES" sz="1400" dirty="0">
                <a:solidFill>
                  <a:schemeClr val="accent1">
                    <a:lumMod val="50000"/>
                  </a:schemeClr>
                </a:solidFill>
                <a:latin typeface="Courier New" panose="02070309020205020404" pitchFamily="49" charset="0"/>
                <a:cs typeface="Courier New" panose="02070309020205020404" pitchFamily="49" charset="0"/>
              </a:rPr>
              <a:t>(grupo):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len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)&gt;0: centroide[k] = </a:t>
            </a:r>
            <a:r>
              <a:rPr lang="es-ES" sz="1400" dirty="0" err="1">
                <a:solidFill>
                  <a:schemeClr val="accent1">
                    <a:lumMod val="50000"/>
                  </a:schemeClr>
                </a:solidFill>
                <a:latin typeface="Courier New" panose="02070309020205020404" pitchFamily="49" charset="0"/>
                <a:cs typeface="Courier New" panose="02070309020205020404" pitchFamily="49" charset="0"/>
              </a:rPr>
              <a:t>np.mean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 					axis=0)</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Compruebo convergencia</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1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max_iter</a:t>
            </a:r>
            <a:r>
              <a:rPr lang="es-ES" sz="1400" dirty="0">
                <a:solidFill>
                  <a:schemeClr val="accent1">
                    <a:lumMod val="50000"/>
                  </a:schemeClr>
                </a:solidFill>
                <a:latin typeface="Courier New" panose="02070309020205020404" pitchFamily="49" charset="0"/>
                <a:cs typeface="Courier New" panose="02070309020205020404" pitchFamily="49" charset="0"/>
              </a:rPr>
              <a:t>: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[k]-	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max</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)&lt;0.00001: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p>
        </p:txBody>
      </p:sp>
      <p:cxnSp>
        <p:nvCxnSpPr>
          <p:cNvPr id="6" name="Conector recto de flecha 5">
            <a:extLst>
              <a:ext uri="{FF2B5EF4-FFF2-40B4-BE49-F238E27FC236}">
                <a16:creationId xmlns:a16="http://schemas.microsoft.com/office/drawing/2014/main" id="{74BBE7ED-2B53-2457-A9D1-B8D88C809381}"/>
              </a:ext>
            </a:extLst>
          </p:cNvPr>
          <p:cNvCxnSpPr>
            <a:cxnSpLocks/>
          </p:cNvCxnSpPr>
          <p:nvPr/>
        </p:nvCxnSpPr>
        <p:spPr>
          <a:xfrm flipH="1" flipV="1">
            <a:off x="4719594" y="4447586"/>
            <a:ext cx="295751" cy="96699"/>
          </a:xfrm>
          <a:prstGeom prst="straightConnector1">
            <a:avLst/>
          </a:prstGeom>
          <a:ln w="31750">
            <a:solidFill>
              <a:schemeClr val="accent3">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DAB0C02E-3FD5-0723-A94F-58F2F3D8C7C0}"/>
              </a:ext>
            </a:extLst>
          </p:cNvPr>
          <p:cNvCxnSpPr>
            <a:cxnSpLocks/>
          </p:cNvCxnSpPr>
          <p:nvPr/>
        </p:nvCxnSpPr>
        <p:spPr>
          <a:xfrm flipH="1" flipV="1">
            <a:off x="3774714" y="3696670"/>
            <a:ext cx="123587" cy="116095"/>
          </a:xfrm>
          <a:prstGeom prst="straightConnector1">
            <a:avLst/>
          </a:prstGeom>
          <a:ln w="31750">
            <a:solidFill>
              <a:schemeClr val="accent3">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E8C006BE-66F8-6E14-D334-0708CD0F7365}"/>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11" name="Rectángulo 10">
            <a:extLst>
              <a:ext uri="{FF2B5EF4-FFF2-40B4-BE49-F238E27FC236}">
                <a16:creationId xmlns:a16="http://schemas.microsoft.com/office/drawing/2014/main" id="{3726A8DB-9FD1-AE51-852B-03A4D21D1142}"/>
              </a:ext>
            </a:extLst>
          </p:cNvPr>
          <p:cNvSpPr/>
          <p:nvPr/>
        </p:nvSpPr>
        <p:spPr>
          <a:xfrm>
            <a:off x="185533" y="211733"/>
            <a:ext cx="5650002" cy="2185214"/>
          </a:xfrm>
          <a:prstGeom prst="rect">
            <a:avLst/>
          </a:prstGeom>
        </p:spPr>
        <p:txBody>
          <a:bodyPr wrap="square">
            <a:spAutoFit/>
          </a:bodyPr>
          <a:lstStyle/>
          <a:p>
            <a:pPr marL="285750" indent="-285750">
              <a:buFont typeface="Arial" panose="020B0604020202020204" pitchFamily="34" charset="0"/>
              <a:buChar char="•"/>
            </a:pP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desde</a:t>
            </a:r>
            <a:r>
              <a:rPr lang="en-US" sz="2000" b="1" dirty="0">
                <a:solidFill>
                  <a:schemeClr val="accent1">
                    <a:lumMod val="50000"/>
                  </a:schemeClr>
                </a:solidFill>
              </a:rPr>
              <a:t> Scratch.</a:t>
            </a:r>
          </a:p>
          <a:p>
            <a:pPr marL="285750" indent="-285750">
              <a:buFont typeface="Arial" panose="020B0604020202020204" pitchFamily="34" charset="0"/>
              <a:buChar char="•"/>
            </a:pPr>
            <a:endParaRPr lang="en-US" sz="2000" b="1" dirty="0">
              <a:solidFill>
                <a:schemeClr val="accent1">
                  <a:lumMod val="50000"/>
                </a:schemeClr>
              </a:solidFill>
            </a:endParaRPr>
          </a:p>
          <a:p>
            <a:r>
              <a:rPr lang="en-US" sz="1600" dirty="0" err="1">
                <a:solidFill>
                  <a:schemeClr val="accent1">
                    <a:lumMod val="50000"/>
                  </a:schemeClr>
                </a:solidFill>
              </a:rPr>
              <a:t>En</a:t>
            </a:r>
            <a:r>
              <a:rPr lang="en-US" sz="1600" dirty="0">
                <a:solidFill>
                  <a:schemeClr val="accent1">
                    <a:lumMod val="50000"/>
                  </a:schemeClr>
                </a:solidFill>
              </a:rPr>
              <a:t> el </a:t>
            </a:r>
            <a:r>
              <a:rPr lang="en-US" sz="1600" dirty="0" err="1">
                <a:solidFill>
                  <a:schemeClr val="accent1">
                    <a:lumMod val="50000"/>
                  </a:schemeClr>
                </a:solidFill>
              </a:rPr>
              <a:t>proceso</a:t>
            </a:r>
            <a:r>
              <a:rPr lang="en-US" sz="1600" dirty="0">
                <a:solidFill>
                  <a:schemeClr val="accent1">
                    <a:lumMod val="50000"/>
                  </a:schemeClr>
                </a:solidFill>
              </a:rPr>
              <a:t> </a:t>
            </a:r>
            <a:r>
              <a:rPr lang="en-US" sz="1600" dirty="0" err="1">
                <a:solidFill>
                  <a:schemeClr val="accent1">
                    <a:lumMod val="50000"/>
                  </a:schemeClr>
                </a:solidFill>
              </a:rPr>
              <a:t>iterativo</a:t>
            </a:r>
            <a:r>
              <a:rPr lang="en-US" sz="1600"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Asigno</a:t>
            </a:r>
            <a:r>
              <a:rPr lang="en-US" sz="1600" dirty="0">
                <a:solidFill>
                  <a:schemeClr val="accent1">
                    <a:lumMod val="50000"/>
                  </a:schemeClr>
                </a:solidFill>
              </a:rPr>
              <a:t>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punto</a:t>
            </a:r>
            <a:r>
              <a:rPr lang="en-US" sz="1600" dirty="0">
                <a:solidFill>
                  <a:schemeClr val="accent1">
                    <a:lumMod val="50000"/>
                  </a:schemeClr>
                </a:solidFill>
              </a:rPr>
              <a:t> a </a:t>
            </a:r>
            <a:r>
              <a:rPr lang="en-US" sz="1600" dirty="0" err="1">
                <a:solidFill>
                  <a:schemeClr val="accent1">
                    <a:lumMod val="50000"/>
                  </a:schemeClr>
                </a:solidFill>
              </a:rPr>
              <a:t>su</a:t>
            </a:r>
            <a:r>
              <a:rPr lang="en-US" sz="1600" dirty="0">
                <a:solidFill>
                  <a:schemeClr val="accent1">
                    <a:lumMod val="50000"/>
                  </a:schemeClr>
                </a:solidFill>
              </a:rPr>
              <a:t> </a:t>
            </a:r>
            <a:r>
              <a:rPr lang="en-US" sz="1600" dirty="0" err="1">
                <a:solidFill>
                  <a:schemeClr val="accent1">
                    <a:lumMod val="50000"/>
                  </a:schemeClr>
                </a:solidFill>
              </a:rPr>
              <a:t>centroide</a:t>
            </a:r>
            <a:r>
              <a:rPr lang="en-US" sz="1600" dirty="0">
                <a:solidFill>
                  <a:schemeClr val="accent1">
                    <a:lumMod val="50000"/>
                  </a:schemeClr>
                </a:solidFill>
              </a:rPr>
              <a:t> </a:t>
            </a:r>
            <a:r>
              <a:rPr lang="en-US" sz="1600" dirty="0" err="1">
                <a:solidFill>
                  <a:schemeClr val="accent1">
                    <a:lumMod val="50000"/>
                  </a:schemeClr>
                </a:solidFill>
              </a:rPr>
              <a:t>más</a:t>
            </a:r>
            <a:r>
              <a:rPr lang="en-US" sz="1600" dirty="0">
                <a:solidFill>
                  <a:schemeClr val="accent1">
                    <a:lumMod val="50000"/>
                  </a:schemeClr>
                </a:solidFill>
              </a:rPr>
              <a:t> </a:t>
            </a:r>
            <a:r>
              <a:rPr lang="en-US" sz="1600" dirty="0" err="1">
                <a:solidFill>
                  <a:schemeClr val="accent1">
                    <a:lumMod val="50000"/>
                  </a:schemeClr>
                </a:solidFill>
              </a:rPr>
              <a:t>cercano</a:t>
            </a:r>
            <a:r>
              <a:rPr lang="en-US" sz="1600"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Calculo</a:t>
            </a:r>
            <a:r>
              <a:rPr lang="en-US" sz="1600" dirty="0">
                <a:solidFill>
                  <a:schemeClr val="accent1">
                    <a:lumMod val="50000"/>
                  </a:schemeClr>
                </a:solidFill>
              </a:rPr>
              <a:t> la </a:t>
            </a:r>
            <a:r>
              <a:rPr lang="en-US" sz="1600" dirty="0" err="1">
                <a:solidFill>
                  <a:schemeClr val="accent1">
                    <a:lumMod val="50000"/>
                  </a:schemeClr>
                </a:solidFill>
              </a:rPr>
              <a:t>posición</a:t>
            </a:r>
            <a:r>
              <a:rPr lang="en-US" sz="1600" dirty="0">
                <a:solidFill>
                  <a:schemeClr val="accent1">
                    <a:lumMod val="50000"/>
                  </a:schemeClr>
                </a:solidFill>
              </a:rPr>
              <a:t> de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centroide</a:t>
            </a:r>
            <a:r>
              <a:rPr lang="en-US" sz="1600" dirty="0">
                <a:solidFill>
                  <a:schemeClr val="accent1">
                    <a:lumMod val="50000"/>
                  </a:schemeClr>
                </a:solidFill>
              </a:rPr>
              <a:t> </a:t>
            </a:r>
            <a:r>
              <a:rPr lang="en-US" sz="1600" dirty="0" err="1">
                <a:solidFill>
                  <a:schemeClr val="accent1">
                    <a:lumMod val="50000"/>
                  </a:schemeClr>
                </a:solidFill>
              </a:rPr>
              <a:t>como</a:t>
            </a:r>
            <a:r>
              <a:rPr lang="en-US" sz="1600" dirty="0">
                <a:solidFill>
                  <a:schemeClr val="accent1">
                    <a:lumMod val="50000"/>
                  </a:schemeClr>
                </a:solidFill>
              </a:rPr>
              <a:t> la media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puntos</a:t>
            </a:r>
            <a:r>
              <a:rPr lang="en-US" sz="1600" dirty="0">
                <a:solidFill>
                  <a:schemeClr val="accent1">
                    <a:lumMod val="50000"/>
                  </a:schemeClr>
                </a:solidFill>
              </a:rPr>
              <a:t> </a:t>
            </a:r>
            <a:r>
              <a:rPr lang="en-US" sz="1600" dirty="0" err="1">
                <a:solidFill>
                  <a:schemeClr val="accent1">
                    <a:lumMod val="50000"/>
                  </a:schemeClr>
                </a:solidFill>
              </a:rPr>
              <a:t>asignados</a:t>
            </a:r>
            <a:r>
              <a:rPr lang="en-US" sz="1600" dirty="0">
                <a:solidFill>
                  <a:schemeClr val="accent1">
                    <a:lumMod val="50000"/>
                  </a:schemeClr>
                </a:solidFill>
              </a:rPr>
              <a:t> </a:t>
            </a:r>
            <a:r>
              <a:rPr lang="en-US" sz="1600" dirty="0" err="1">
                <a:solidFill>
                  <a:schemeClr val="accent1">
                    <a:lumMod val="50000"/>
                  </a:schemeClr>
                </a:solidFill>
              </a:rPr>
              <a:t>en</a:t>
            </a:r>
            <a:r>
              <a:rPr lang="en-US" sz="1600" dirty="0">
                <a:solidFill>
                  <a:schemeClr val="accent1">
                    <a:lumMod val="50000"/>
                  </a:schemeClr>
                </a:solidFill>
              </a:rPr>
              <a:t>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coordenada</a:t>
            </a:r>
            <a:r>
              <a:rPr lang="en-US" sz="1600" dirty="0">
                <a:solidFill>
                  <a:schemeClr val="accent1">
                    <a:lumMod val="50000"/>
                  </a:schemeClr>
                </a:solidFill>
              </a:rPr>
              <a:t>.</a:t>
            </a:r>
          </a:p>
          <a:p>
            <a:pPr marL="285750" indent="-285750">
              <a:buFont typeface="Arial" panose="020B0604020202020204" pitchFamily="34" charset="0"/>
              <a:buChar char="•"/>
            </a:pPr>
            <a:r>
              <a:rPr lang="en-US" sz="1600" b="1" dirty="0" err="1">
                <a:solidFill>
                  <a:schemeClr val="accent1">
                    <a:lumMod val="50000"/>
                  </a:schemeClr>
                </a:solidFill>
              </a:rPr>
              <a:t>Evaluo</a:t>
            </a:r>
            <a:r>
              <a:rPr lang="en-US" sz="1600" b="1" dirty="0">
                <a:solidFill>
                  <a:schemeClr val="accent1">
                    <a:lumMod val="50000"/>
                  </a:schemeClr>
                </a:solidFill>
              </a:rPr>
              <a:t> la </a:t>
            </a:r>
            <a:r>
              <a:rPr lang="en-US" sz="1600" b="1" dirty="0" err="1">
                <a:solidFill>
                  <a:schemeClr val="accent1">
                    <a:lumMod val="50000"/>
                  </a:schemeClr>
                </a:solidFill>
              </a:rPr>
              <a:t>convergencia</a:t>
            </a:r>
            <a:r>
              <a:rPr lang="en-US" sz="1600" b="1" dirty="0">
                <a:solidFill>
                  <a:schemeClr val="accent1">
                    <a:lumMod val="50000"/>
                  </a:schemeClr>
                </a:solidFill>
              </a:rPr>
              <a:t> del </a:t>
            </a:r>
            <a:r>
              <a:rPr lang="en-US" sz="1600" b="1" dirty="0" err="1">
                <a:solidFill>
                  <a:schemeClr val="accent1">
                    <a:lumMod val="50000"/>
                  </a:schemeClr>
                </a:solidFill>
              </a:rPr>
              <a:t>proceso</a:t>
            </a:r>
            <a:r>
              <a:rPr lang="en-US" sz="1600" b="1" dirty="0">
                <a:solidFill>
                  <a:schemeClr val="accent1">
                    <a:lumMod val="50000"/>
                  </a:schemeClr>
                </a:solidFill>
              </a:rPr>
              <a:t> (</a:t>
            </a:r>
            <a:r>
              <a:rPr lang="en-US" sz="1600" b="1" dirty="0" err="1">
                <a:solidFill>
                  <a:schemeClr val="accent1">
                    <a:lumMod val="50000"/>
                  </a:schemeClr>
                </a:solidFill>
              </a:rPr>
              <a:t>según</a:t>
            </a:r>
            <a:r>
              <a:rPr lang="en-US" sz="1600" b="1" dirty="0">
                <a:solidFill>
                  <a:schemeClr val="accent1">
                    <a:lumMod val="50000"/>
                  </a:schemeClr>
                </a:solidFill>
              </a:rPr>
              <a:t> la </a:t>
            </a:r>
            <a:r>
              <a:rPr lang="en-US" sz="1600" b="1" dirty="0" err="1">
                <a:solidFill>
                  <a:schemeClr val="accent1">
                    <a:lumMod val="50000"/>
                  </a:schemeClr>
                </a:solidFill>
              </a:rPr>
              <a:t>variación</a:t>
            </a:r>
            <a:r>
              <a:rPr lang="en-US" sz="1600" b="1" dirty="0">
                <a:solidFill>
                  <a:schemeClr val="accent1">
                    <a:lumMod val="50000"/>
                  </a:schemeClr>
                </a:solidFill>
              </a:rPr>
              <a:t> de </a:t>
            </a:r>
            <a:r>
              <a:rPr lang="en-US" sz="1600" b="1" dirty="0" err="1">
                <a:solidFill>
                  <a:schemeClr val="accent1">
                    <a:lumMod val="50000"/>
                  </a:schemeClr>
                </a:solidFill>
              </a:rPr>
              <a:t>posición</a:t>
            </a:r>
            <a:r>
              <a:rPr lang="en-US" sz="1600" b="1" dirty="0">
                <a:solidFill>
                  <a:schemeClr val="accent1">
                    <a:lumMod val="50000"/>
                  </a:schemeClr>
                </a:solidFill>
              </a:rPr>
              <a:t> de </a:t>
            </a:r>
            <a:r>
              <a:rPr lang="en-US" sz="1600" b="1" dirty="0" err="1">
                <a:solidFill>
                  <a:schemeClr val="accent1">
                    <a:lumMod val="50000"/>
                  </a:schemeClr>
                </a:solidFill>
              </a:rPr>
              <a:t>los</a:t>
            </a:r>
            <a:r>
              <a:rPr lang="en-US" sz="1600" b="1" dirty="0">
                <a:solidFill>
                  <a:schemeClr val="accent1">
                    <a:lumMod val="50000"/>
                  </a:schemeClr>
                </a:solidFill>
              </a:rPr>
              <a:t> </a:t>
            </a:r>
            <a:r>
              <a:rPr lang="en-US" sz="1600" b="1" dirty="0" err="1">
                <a:solidFill>
                  <a:schemeClr val="accent1">
                    <a:lumMod val="50000"/>
                  </a:schemeClr>
                </a:solidFill>
              </a:rPr>
              <a:t>centroides</a:t>
            </a:r>
            <a:r>
              <a:rPr lang="en-US" sz="1600" b="1" dirty="0">
                <a:solidFill>
                  <a:schemeClr val="accent1">
                    <a:lumMod val="50000"/>
                  </a:schemeClr>
                </a:solidFill>
              </a:rPr>
              <a:t>)</a:t>
            </a:r>
          </a:p>
        </p:txBody>
      </p:sp>
    </p:spTree>
    <p:extLst>
      <p:ext uri="{BB962C8B-B14F-4D97-AF65-F5344CB8AC3E}">
        <p14:creationId xmlns:p14="http://schemas.microsoft.com/office/powerpoint/2010/main" val="14783650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424AA98-4301-7859-AAC4-F0D06EDAF49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11</a:t>
            </a:fld>
            <a:endParaRPr lang="es-ES">
              <a:solidFill>
                <a:prstClr val="black">
                  <a:tint val="75000"/>
                </a:prstClr>
              </a:solidFill>
            </a:endParaRPr>
          </a:p>
        </p:txBody>
      </p:sp>
      <p:pic>
        <p:nvPicPr>
          <p:cNvPr id="1034" name="Picture 10">
            <a:extLst>
              <a:ext uri="{FF2B5EF4-FFF2-40B4-BE49-F238E27FC236}">
                <a16:creationId xmlns:a16="http://schemas.microsoft.com/office/drawing/2014/main" id="{E3B522C1-349F-AFF6-EA87-445547207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81169"/>
            <a:ext cx="5400000" cy="4075648"/>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esquinas redondeadas 3">
            <a:extLst>
              <a:ext uri="{FF2B5EF4-FFF2-40B4-BE49-F238E27FC236}">
                <a16:creationId xmlns:a16="http://schemas.microsoft.com/office/drawing/2014/main" id="{44C03449-B03A-EC5F-0B6F-46832D0E42F9}"/>
              </a:ext>
            </a:extLst>
          </p:cNvPr>
          <p:cNvSpPr/>
          <p:nvPr/>
        </p:nvSpPr>
        <p:spPr>
          <a:xfrm>
            <a:off x="5523722" y="516293"/>
            <a:ext cx="6531478" cy="6052457"/>
          </a:xfrm>
          <a:prstGeom prst="roundRect">
            <a:avLst>
              <a:gd name="adj" fmla="val 3421"/>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400" b="1" dirty="0" err="1">
                <a:solidFill>
                  <a:schemeClr val="accent6">
                    <a:lumMod val="75000"/>
                  </a:schemeClr>
                </a:solidFill>
                <a:latin typeface="Courier New" panose="02070309020205020404" pitchFamily="49" charset="0"/>
                <a:cs typeface="Courier New" panose="02070309020205020404" pitchFamily="49" charset="0"/>
              </a:rPr>
              <a:t>while</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not</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final:</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Asigno cada punto a su </a:t>
            </a:r>
            <a:r>
              <a:rPr lang="es-ES" sz="1400" dirty="0" err="1">
                <a:solidFill>
                  <a:schemeClr val="accent2">
                    <a:lumMod val="50000"/>
                  </a:schemeClr>
                </a:solidFill>
                <a:latin typeface="Courier New" panose="02070309020205020404" pitchFamily="49" charset="0"/>
                <a:cs typeface="Courier New" panose="02070309020205020404" pitchFamily="49" charset="0"/>
              </a:rPr>
              <a:t>cluster</a:t>
            </a:r>
            <a:endParaRPr lang="es-ES" sz="1400" dirty="0">
              <a:solidFill>
                <a:schemeClr val="accent2">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grupo = [[]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_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x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X_train</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Para cada punto determino la distancia a cada     	centroide y la guardo en un vector</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(x-centroide[k])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np.argmin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grupo[</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append</a:t>
            </a:r>
            <a:r>
              <a:rPr lang="es-ES" sz="1400" dirty="0">
                <a:solidFill>
                  <a:schemeClr val="accent1">
                    <a:lumMod val="50000"/>
                  </a:schemeClr>
                </a:solidFill>
                <a:latin typeface="Courier New" panose="02070309020205020404" pitchFamily="49" charset="0"/>
                <a:cs typeface="Courier New" panose="02070309020205020404" pitchFamily="49" charset="0"/>
              </a:rPr>
              <a:t>(x)</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Actualizo el valor de cada centroide</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centroide.copy</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Calculo la media en cada </a:t>
            </a:r>
            <a:r>
              <a:rPr lang="es-ES" sz="1400" dirty="0" err="1">
                <a:solidFill>
                  <a:schemeClr val="accent2">
                    <a:lumMod val="50000"/>
                  </a:schemeClr>
                </a:solidFill>
                <a:latin typeface="Courier New" panose="02070309020205020404" pitchFamily="49" charset="0"/>
                <a:cs typeface="Courier New" panose="02070309020205020404" pitchFamily="49" charset="0"/>
              </a:rPr>
              <a:t>dimension</a:t>
            </a:r>
            <a:r>
              <a:rPr lang="es-ES" sz="1400" dirty="0">
                <a:solidFill>
                  <a:schemeClr val="accent2">
                    <a:lumMod val="50000"/>
                  </a:schemeClr>
                </a:solidFill>
                <a:latin typeface="Courier New" panose="02070309020205020404" pitchFamily="49" charset="0"/>
                <a:cs typeface="Courier New" panose="02070309020205020404" pitchFamily="49" charset="0"/>
              </a:rPr>
              <a:t> para cada 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k,grupo_k</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enumerate</a:t>
            </a:r>
            <a:r>
              <a:rPr lang="es-ES" sz="1400" dirty="0">
                <a:solidFill>
                  <a:schemeClr val="accent1">
                    <a:lumMod val="50000"/>
                  </a:schemeClr>
                </a:solidFill>
                <a:latin typeface="Courier New" panose="02070309020205020404" pitchFamily="49" charset="0"/>
                <a:cs typeface="Courier New" panose="02070309020205020404" pitchFamily="49" charset="0"/>
              </a:rPr>
              <a:t>(grupo):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len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)&gt;0: centroide[k] = </a:t>
            </a:r>
            <a:r>
              <a:rPr lang="es-ES" sz="1400" dirty="0" err="1">
                <a:solidFill>
                  <a:schemeClr val="accent1">
                    <a:lumMod val="50000"/>
                  </a:schemeClr>
                </a:solidFill>
                <a:latin typeface="Courier New" panose="02070309020205020404" pitchFamily="49" charset="0"/>
                <a:cs typeface="Courier New" panose="02070309020205020404" pitchFamily="49" charset="0"/>
              </a:rPr>
              <a:t>np.mean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 					axis=0)</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Compruebo convergencia</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1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max_iter</a:t>
            </a:r>
            <a:r>
              <a:rPr lang="es-ES" sz="1400" dirty="0">
                <a:solidFill>
                  <a:schemeClr val="accent1">
                    <a:lumMod val="50000"/>
                  </a:schemeClr>
                </a:solidFill>
                <a:latin typeface="Courier New" panose="02070309020205020404" pitchFamily="49" charset="0"/>
                <a:cs typeface="Courier New" panose="02070309020205020404" pitchFamily="49" charset="0"/>
              </a:rPr>
              <a:t>: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[k]-	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max</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)&lt;0.00001: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p>
        </p:txBody>
      </p:sp>
      <p:cxnSp>
        <p:nvCxnSpPr>
          <p:cNvPr id="5" name="Conector recto de flecha 4">
            <a:extLst>
              <a:ext uri="{FF2B5EF4-FFF2-40B4-BE49-F238E27FC236}">
                <a16:creationId xmlns:a16="http://schemas.microsoft.com/office/drawing/2014/main" id="{F07EED44-E3ED-CC85-A910-C77EFB26A561}"/>
              </a:ext>
            </a:extLst>
          </p:cNvPr>
          <p:cNvCxnSpPr>
            <a:cxnSpLocks/>
          </p:cNvCxnSpPr>
          <p:nvPr/>
        </p:nvCxnSpPr>
        <p:spPr>
          <a:xfrm flipH="1" flipV="1">
            <a:off x="3494852" y="3466696"/>
            <a:ext cx="209853" cy="135491"/>
          </a:xfrm>
          <a:prstGeom prst="straightConnector1">
            <a:avLst/>
          </a:prstGeom>
          <a:ln w="31750">
            <a:solidFill>
              <a:schemeClr val="accent3">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47B0E712-3860-6306-433D-B978AEC83205}"/>
              </a:ext>
            </a:extLst>
          </p:cNvPr>
          <p:cNvCxnSpPr>
            <a:cxnSpLocks/>
          </p:cNvCxnSpPr>
          <p:nvPr/>
        </p:nvCxnSpPr>
        <p:spPr>
          <a:xfrm flipH="1" flipV="1">
            <a:off x="4545026" y="4284114"/>
            <a:ext cx="123956" cy="149346"/>
          </a:xfrm>
          <a:prstGeom prst="straightConnector1">
            <a:avLst/>
          </a:prstGeom>
          <a:ln w="31750">
            <a:solidFill>
              <a:schemeClr val="accent3">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6A8ADCB5-4EA2-AD5A-F4EC-90992F026F2C}"/>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8" name="Rectángulo 7"/>
          <p:cNvSpPr/>
          <p:nvPr/>
        </p:nvSpPr>
        <p:spPr>
          <a:xfrm>
            <a:off x="185533" y="211733"/>
            <a:ext cx="5650002" cy="2185214"/>
          </a:xfrm>
          <a:prstGeom prst="rect">
            <a:avLst/>
          </a:prstGeom>
        </p:spPr>
        <p:txBody>
          <a:bodyPr wrap="square">
            <a:spAutoFit/>
          </a:bodyPr>
          <a:lstStyle/>
          <a:p>
            <a:pPr marL="285750" indent="-285750">
              <a:buFont typeface="Arial" panose="020B0604020202020204" pitchFamily="34" charset="0"/>
              <a:buChar char="•"/>
            </a:pP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desde</a:t>
            </a:r>
            <a:r>
              <a:rPr lang="en-US" sz="2000" b="1" dirty="0">
                <a:solidFill>
                  <a:schemeClr val="accent1">
                    <a:lumMod val="50000"/>
                  </a:schemeClr>
                </a:solidFill>
              </a:rPr>
              <a:t> Scratch.</a:t>
            </a:r>
          </a:p>
          <a:p>
            <a:pPr marL="285750" indent="-285750">
              <a:buFont typeface="Arial" panose="020B0604020202020204" pitchFamily="34" charset="0"/>
              <a:buChar char="•"/>
            </a:pPr>
            <a:endParaRPr lang="en-US" sz="2000" b="1" dirty="0">
              <a:solidFill>
                <a:schemeClr val="accent1">
                  <a:lumMod val="50000"/>
                </a:schemeClr>
              </a:solidFill>
            </a:endParaRPr>
          </a:p>
          <a:p>
            <a:r>
              <a:rPr lang="en-US" sz="1600" dirty="0" err="1">
                <a:solidFill>
                  <a:schemeClr val="accent1">
                    <a:lumMod val="50000"/>
                  </a:schemeClr>
                </a:solidFill>
              </a:rPr>
              <a:t>En</a:t>
            </a:r>
            <a:r>
              <a:rPr lang="en-US" sz="1600" dirty="0">
                <a:solidFill>
                  <a:schemeClr val="accent1">
                    <a:lumMod val="50000"/>
                  </a:schemeClr>
                </a:solidFill>
              </a:rPr>
              <a:t> el </a:t>
            </a:r>
            <a:r>
              <a:rPr lang="en-US" sz="1600" dirty="0" err="1">
                <a:solidFill>
                  <a:schemeClr val="accent1">
                    <a:lumMod val="50000"/>
                  </a:schemeClr>
                </a:solidFill>
              </a:rPr>
              <a:t>proceso</a:t>
            </a:r>
            <a:r>
              <a:rPr lang="en-US" sz="1600" dirty="0">
                <a:solidFill>
                  <a:schemeClr val="accent1">
                    <a:lumMod val="50000"/>
                  </a:schemeClr>
                </a:solidFill>
              </a:rPr>
              <a:t> </a:t>
            </a:r>
            <a:r>
              <a:rPr lang="en-US" sz="1600" dirty="0" err="1">
                <a:solidFill>
                  <a:schemeClr val="accent1">
                    <a:lumMod val="50000"/>
                  </a:schemeClr>
                </a:solidFill>
              </a:rPr>
              <a:t>iterativo</a:t>
            </a:r>
            <a:r>
              <a:rPr lang="en-US" sz="1600"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Asigno</a:t>
            </a:r>
            <a:r>
              <a:rPr lang="en-US" sz="1600" dirty="0">
                <a:solidFill>
                  <a:schemeClr val="accent1">
                    <a:lumMod val="50000"/>
                  </a:schemeClr>
                </a:solidFill>
              </a:rPr>
              <a:t>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punto</a:t>
            </a:r>
            <a:r>
              <a:rPr lang="en-US" sz="1600" dirty="0">
                <a:solidFill>
                  <a:schemeClr val="accent1">
                    <a:lumMod val="50000"/>
                  </a:schemeClr>
                </a:solidFill>
              </a:rPr>
              <a:t> a </a:t>
            </a:r>
            <a:r>
              <a:rPr lang="en-US" sz="1600" dirty="0" err="1">
                <a:solidFill>
                  <a:schemeClr val="accent1">
                    <a:lumMod val="50000"/>
                  </a:schemeClr>
                </a:solidFill>
              </a:rPr>
              <a:t>su</a:t>
            </a:r>
            <a:r>
              <a:rPr lang="en-US" sz="1600" dirty="0">
                <a:solidFill>
                  <a:schemeClr val="accent1">
                    <a:lumMod val="50000"/>
                  </a:schemeClr>
                </a:solidFill>
              </a:rPr>
              <a:t> </a:t>
            </a:r>
            <a:r>
              <a:rPr lang="en-US" sz="1600" dirty="0" err="1">
                <a:solidFill>
                  <a:schemeClr val="accent1">
                    <a:lumMod val="50000"/>
                  </a:schemeClr>
                </a:solidFill>
              </a:rPr>
              <a:t>centroide</a:t>
            </a:r>
            <a:r>
              <a:rPr lang="en-US" sz="1600" dirty="0">
                <a:solidFill>
                  <a:schemeClr val="accent1">
                    <a:lumMod val="50000"/>
                  </a:schemeClr>
                </a:solidFill>
              </a:rPr>
              <a:t> </a:t>
            </a:r>
            <a:r>
              <a:rPr lang="en-US" sz="1600" dirty="0" err="1">
                <a:solidFill>
                  <a:schemeClr val="accent1">
                    <a:lumMod val="50000"/>
                  </a:schemeClr>
                </a:solidFill>
              </a:rPr>
              <a:t>más</a:t>
            </a:r>
            <a:r>
              <a:rPr lang="en-US" sz="1600" dirty="0">
                <a:solidFill>
                  <a:schemeClr val="accent1">
                    <a:lumMod val="50000"/>
                  </a:schemeClr>
                </a:solidFill>
              </a:rPr>
              <a:t> </a:t>
            </a:r>
            <a:r>
              <a:rPr lang="en-US" sz="1600" dirty="0" err="1">
                <a:solidFill>
                  <a:schemeClr val="accent1">
                    <a:lumMod val="50000"/>
                  </a:schemeClr>
                </a:solidFill>
              </a:rPr>
              <a:t>cercano</a:t>
            </a:r>
            <a:r>
              <a:rPr lang="en-US" sz="1600"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Calculo</a:t>
            </a:r>
            <a:r>
              <a:rPr lang="en-US" sz="1600" dirty="0">
                <a:solidFill>
                  <a:schemeClr val="accent1">
                    <a:lumMod val="50000"/>
                  </a:schemeClr>
                </a:solidFill>
              </a:rPr>
              <a:t> la </a:t>
            </a:r>
            <a:r>
              <a:rPr lang="en-US" sz="1600" dirty="0" err="1">
                <a:solidFill>
                  <a:schemeClr val="accent1">
                    <a:lumMod val="50000"/>
                  </a:schemeClr>
                </a:solidFill>
              </a:rPr>
              <a:t>posición</a:t>
            </a:r>
            <a:r>
              <a:rPr lang="en-US" sz="1600" dirty="0">
                <a:solidFill>
                  <a:schemeClr val="accent1">
                    <a:lumMod val="50000"/>
                  </a:schemeClr>
                </a:solidFill>
              </a:rPr>
              <a:t> de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centroide</a:t>
            </a:r>
            <a:r>
              <a:rPr lang="en-US" sz="1600" dirty="0">
                <a:solidFill>
                  <a:schemeClr val="accent1">
                    <a:lumMod val="50000"/>
                  </a:schemeClr>
                </a:solidFill>
              </a:rPr>
              <a:t> </a:t>
            </a:r>
            <a:r>
              <a:rPr lang="en-US" sz="1600" dirty="0" err="1">
                <a:solidFill>
                  <a:schemeClr val="accent1">
                    <a:lumMod val="50000"/>
                  </a:schemeClr>
                </a:solidFill>
              </a:rPr>
              <a:t>como</a:t>
            </a:r>
            <a:r>
              <a:rPr lang="en-US" sz="1600" dirty="0">
                <a:solidFill>
                  <a:schemeClr val="accent1">
                    <a:lumMod val="50000"/>
                  </a:schemeClr>
                </a:solidFill>
              </a:rPr>
              <a:t> la media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puntos</a:t>
            </a:r>
            <a:r>
              <a:rPr lang="en-US" sz="1600" dirty="0">
                <a:solidFill>
                  <a:schemeClr val="accent1">
                    <a:lumMod val="50000"/>
                  </a:schemeClr>
                </a:solidFill>
              </a:rPr>
              <a:t> </a:t>
            </a:r>
            <a:r>
              <a:rPr lang="en-US" sz="1600" dirty="0" err="1">
                <a:solidFill>
                  <a:schemeClr val="accent1">
                    <a:lumMod val="50000"/>
                  </a:schemeClr>
                </a:solidFill>
              </a:rPr>
              <a:t>asignados</a:t>
            </a:r>
            <a:r>
              <a:rPr lang="en-US" sz="1600" dirty="0">
                <a:solidFill>
                  <a:schemeClr val="accent1">
                    <a:lumMod val="50000"/>
                  </a:schemeClr>
                </a:solidFill>
              </a:rPr>
              <a:t> </a:t>
            </a:r>
            <a:r>
              <a:rPr lang="en-US" sz="1600" dirty="0" err="1">
                <a:solidFill>
                  <a:schemeClr val="accent1">
                    <a:lumMod val="50000"/>
                  </a:schemeClr>
                </a:solidFill>
              </a:rPr>
              <a:t>en</a:t>
            </a:r>
            <a:r>
              <a:rPr lang="en-US" sz="1600" dirty="0">
                <a:solidFill>
                  <a:schemeClr val="accent1">
                    <a:lumMod val="50000"/>
                  </a:schemeClr>
                </a:solidFill>
              </a:rPr>
              <a:t>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coordenada</a:t>
            </a:r>
            <a:r>
              <a:rPr lang="en-US" sz="1600" dirty="0">
                <a:solidFill>
                  <a:schemeClr val="accent1">
                    <a:lumMod val="50000"/>
                  </a:schemeClr>
                </a:solidFill>
              </a:rPr>
              <a:t>.</a:t>
            </a:r>
          </a:p>
          <a:p>
            <a:pPr marL="285750" indent="-285750">
              <a:buFont typeface="Arial" panose="020B0604020202020204" pitchFamily="34" charset="0"/>
              <a:buChar char="•"/>
            </a:pPr>
            <a:r>
              <a:rPr lang="en-US" sz="1600" b="1" dirty="0" err="1">
                <a:solidFill>
                  <a:schemeClr val="accent1">
                    <a:lumMod val="50000"/>
                  </a:schemeClr>
                </a:solidFill>
              </a:rPr>
              <a:t>Evaluo</a:t>
            </a:r>
            <a:r>
              <a:rPr lang="en-US" sz="1600" b="1" dirty="0">
                <a:solidFill>
                  <a:schemeClr val="accent1">
                    <a:lumMod val="50000"/>
                  </a:schemeClr>
                </a:solidFill>
              </a:rPr>
              <a:t> la </a:t>
            </a:r>
            <a:r>
              <a:rPr lang="en-US" sz="1600" b="1" dirty="0" err="1">
                <a:solidFill>
                  <a:schemeClr val="accent1">
                    <a:lumMod val="50000"/>
                  </a:schemeClr>
                </a:solidFill>
              </a:rPr>
              <a:t>convergencia</a:t>
            </a:r>
            <a:r>
              <a:rPr lang="en-US" sz="1600" b="1" dirty="0">
                <a:solidFill>
                  <a:schemeClr val="accent1">
                    <a:lumMod val="50000"/>
                  </a:schemeClr>
                </a:solidFill>
              </a:rPr>
              <a:t> del </a:t>
            </a:r>
            <a:r>
              <a:rPr lang="en-US" sz="1600" b="1" dirty="0" err="1">
                <a:solidFill>
                  <a:schemeClr val="accent1">
                    <a:lumMod val="50000"/>
                  </a:schemeClr>
                </a:solidFill>
              </a:rPr>
              <a:t>proceso</a:t>
            </a:r>
            <a:r>
              <a:rPr lang="en-US" sz="1600" b="1" dirty="0">
                <a:solidFill>
                  <a:schemeClr val="accent1">
                    <a:lumMod val="50000"/>
                  </a:schemeClr>
                </a:solidFill>
              </a:rPr>
              <a:t> (</a:t>
            </a:r>
            <a:r>
              <a:rPr lang="en-US" sz="1600" b="1" dirty="0" err="1">
                <a:solidFill>
                  <a:schemeClr val="accent1">
                    <a:lumMod val="50000"/>
                  </a:schemeClr>
                </a:solidFill>
              </a:rPr>
              <a:t>según</a:t>
            </a:r>
            <a:r>
              <a:rPr lang="en-US" sz="1600" b="1" dirty="0">
                <a:solidFill>
                  <a:schemeClr val="accent1">
                    <a:lumMod val="50000"/>
                  </a:schemeClr>
                </a:solidFill>
              </a:rPr>
              <a:t> la </a:t>
            </a:r>
            <a:r>
              <a:rPr lang="en-US" sz="1600" b="1" dirty="0" err="1">
                <a:solidFill>
                  <a:schemeClr val="accent1">
                    <a:lumMod val="50000"/>
                  </a:schemeClr>
                </a:solidFill>
              </a:rPr>
              <a:t>variación</a:t>
            </a:r>
            <a:r>
              <a:rPr lang="en-US" sz="1600" b="1" dirty="0">
                <a:solidFill>
                  <a:schemeClr val="accent1">
                    <a:lumMod val="50000"/>
                  </a:schemeClr>
                </a:solidFill>
              </a:rPr>
              <a:t> de </a:t>
            </a:r>
            <a:r>
              <a:rPr lang="en-US" sz="1600" b="1" dirty="0" err="1">
                <a:solidFill>
                  <a:schemeClr val="accent1">
                    <a:lumMod val="50000"/>
                  </a:schemeClr>
                </a:solidFill>
              </a:rPr>
              <a:t>posición</a:t>
            </a:r>
            <a:r>
              <a:rPr lang="en-US" sz="1600" b="1" dirty="0">
                <a:solidFill>
                  <a:schemeClr val="accent1">
                    <a:lumMod val="50000"/>
                  </a:schemeClr>
                </a:solidFill>
              </a:rPr>
              <a:t> de </a:t>
            </a:r>
            <a:r>
              <a:rPr lang="en-US" sz="1600" b="1" dirty="0" err="1">
                <a:solidFill>
                  <a:schemeClr val="accent1">
                    <a:lumMod val="50000"/>
                  </a:schemeClr>
                </a:solidFill>
              </a:rPr>
              <a:t>los</a:t>
            </a:r>
            <a:r>
              <a:rPr lang="en-US" sz="1600" b="1" dirty="0">
                <a:solidFill>
                  <a:schemeClr val="accent1">
                    <a:lumMod val="50000"/>
                  </a:schemeClr>
                </a:solidFill>
              </a:rPr>
              <a:t> </a:t>
            </a:r>
            <a:r>
              <a:rPr lang="en-US" sz="1600" b="1" dirty="0" err="1">
                <a:solidFill>
                  <a:schemeClr val="accent1">
                    <a:lumMod val="50000"/>
                  </a:schemeClr>
                </a:solidFill>
              </a:rPr>
              <a:t>centroides</a:t>
            </a:r>
            <a:r>
              <a:rPr lang="en-US" sz="1600" b="1" dirty="0">
                <a:solidFill>
                  <a:schemeClr val="accent1">
                    <a:lumMod val="50000"/>
                  </a:schemeClr>
                </a:solidFill>
              </a:rPr>
              <a:t>)</a:t>
            </a:r>
          </a:p>
        </p:txBody>
      </p:sp>
    </p:spTree>
    <p:extLst>
      <p:ext uri="{BB962C8B-B14F-4D97-AF65-F5344CB8AC3E}">
        <p14:creationId xmlns:p14="http://schemas.microsoft.com/office/powerpoint/2010/main" val="401745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424AA98-4301-7859-AAC4-F0D06EDAF49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12</a:t>
            </a:fld>
            <a:endParaRPr lang="es-ES">
              <a:solidFill>
                <a:prstClr val="black">
                  <a:tint val="75000"/>
                </a:prstClr>
              </a:solidFill>
            </a:endParaRPr>
          </a:p>
        </p:txBody>
      </p:sp>
      <p:pic>
        <p:nvPicPr>
          <p:cNvPr id="3074" name="Picture 2">
            <a:extLst>
              <a:ext uri="{FF2B5EF4-FFF2-40B4-BE49-F238E27FC236}">
                <a16:creationId xmlns:a16="http://schemas.microsoft.com/office/drawing/2014/main" id="{0AE7B189-E790-5DCF-9013-DB0C0367C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89476"/>
            <a:ext cx="5400000" cy="4075648"/>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esquinas redondeadas 3">
            <a:extLst>
              <a:ext uri="{FF2B5EF4-FFF2-40B4-BE49-F238E27FC236}">
                <a16:creationId xmlns:a16="http://schemas.microsoft.com/office/drawing/2014/main" id="{A822AFEE-7F14-8940-94A6-58AE2DDF8F91}"/>
              </a:ext>
            </a:extLst>
          </p:cNvPr>
          <p:cNvSpPr/>
          <p:nvPr/>
        </p:nvSpPr>
        <p:spPr>
          <a:xfrm>
            <a:off x="5523722" y="516293"/>
            <a:ext cx="6531478" cy="6052457"/>
          </a:xfrm>
          <a:prstGeom prst="roundRect">
            <a:avLst>
              <a:gd name="adj" fmla="val 3421"/>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400" b="1" dirty="0" err="1">
                <a:solidFill>
                  <a:schemeClr val="accent6">
                    <a:lumMod val="75000"/>
                  </a:schemeClr>
                </a:solidFill>
                <a:latin typeface="Courier New" panose="02070309020205020404" pitchFamily="49" charset="0"/>
                <a:cs typeface="Courier New" panose="02070309020205020404" pitchFamily="49" charset="0"/>
              </a:rPr>
              <a:t>while</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not</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final:</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Asigno cada punto a su </a:t>
            </a:r>
            <a:r>
              <a:rPr lang="es-ES" sz="1400" dirty="0" err="1">
                <a:solidFill>
                  <a:schemeClr val="accent2">
                    <a:lumMod val="50000"/>
                  </a:schemeClr>
                </a:solidFill>
                <a:latin typeface="Courier New" panose="02070309020205020404" pitchFamily="49" charset="0"/>
                <a:cs typeface="Courier New" panose="02070309020205020404" pitchFamily="49" charset="0"/>
              </a:rPr>
              <a:t>cluster</a:t>
            </a:r>
            <a:endParaRPr lang="es-ES" sz="1400" dirty="0">
              <a:solidFill>
                <a:schemeClr val="accent2">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grupo = [[]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_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dirty="0">
                <a:solidFill>
                  <a:schemeClr val="accent1">
                    <a:lumMod val="50000"/>
                  </a:schemeClr>
                </a:solidFill>
                <a:latin typeface="Courier New" panose="02070309020205020404" pitchFamily="49" charset="0"/>
                <a:cs typeface="Courier New" panose="02070309020205020404" pitchFamily="49" charset="0"/>
              </a:rPr>
              <a:t>x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X_train</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Para cada punto determino la distancia a cada     	centroide y la guardo en un vector</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(x-centroide[k])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np.argmin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dists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grupo[</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centroide_id</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append</a:t>
            </a:r>
            <a:r>
              <a:rPr lang="es-ES" sz="1400" dirty="0">
                <a:solidFill>
                  <a:schemeClr val="accent1">
                    <a:lumMod val="50000"/>
                  </a:schemeClr>
                </a:solidFill>
                <a:latin typeface="Courier New" panose="02070309020205020404" pitchFamily="49" charset="0"/>
                <a:cs typeface="Courier New" panose="02070309020205020404" pitchFamily="49" charset="0"/>
              </a:rPr>
              <a:t>(x)</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Actualizo el valor de cada centroide</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centroide.copy</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Calculo la media en cada </a:t>
            </a:r>
            <a:r>
              <a:rPr lang="es-ES" sz="1400" dirty="0" err="1">
                <a:solidFill>
                  <a:schemeClr val="accent2">
                    <a:lumMod val="50000"/>
                  </a:schemeClr>
                </a:solidFill>
                <a:latin typeface="Courier New" panose="02070309020205020404" pitchFamily="49" charset="0"/>
                <a:cs typeface="Courier New" panose="02070309020205020404" pitchFamily="49" charset="0"/>
              </a:rPr>
              <a:t>dimension</a:t>
            </a:r>
            <a:r>
              <a:rPr lang="es-ES" sz="1400" dirty="0">
                <a:solidFill>
                  <a:schemeClr val="accent2">
                    <a:lumMod val="50000"/>
                  </a:schemeClr>
                </a:solidFill>
                <a:latin typeface="Courier New" panose="02070309020205020404" pitchFamily="49" charset="0"/>
                <a:cs typeface="Courier New" panose="02070309020205020404" pitchFamily="49" charset="0"/>
              </a:rPr>
              <a:t> para cada 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k,grupo_k</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a:solidFill>
                  <a:schemeClr val="accent6">
                    <a:lumMod val="75000"/>
                  </a:schemeClr>
                </a:solidFill>
                <a:latin typeface="Courier New" panose="02070309020205020404" pitchFamily="49" charset="0"/>
                <a:cs typeface="Courier New" panose="02070309020205020404" pitchFamily="49" charset="0"/>
              </a:rPr>
              <a:t>in </a:t>
            </a:r>
            <a:r>
              <a:rPr lang="es-ES" sz="1400" b="1" dirty="0" err="1">
                <a:solidFill>
                  <a:schemeClr val="accent6">
                    <a:lumMod val="75000"/>
                  </a:schemeClr>
                </a:solidFill>
                <a:latin typeface="Courier New" panose="02070309020205020404" pitchFamily="49" charset="0"/>
                <a:cs typeface="Courier New" panose="02070309020205020404" pitchFamily="49" charset="0"/>
              </a:rPr>
              <a:t>enumerate</a:t>
            </a:r>
            <a:r>
              <a:rPr lang="es-ES" sz="1400" dirty="0">
                <a:solidFill>
                  <a:schemeClr val="accent1">
                    <a:lumMod val="50000"/>
                  </a:schemeClr>
                </a:solidFill>
                <a:latin typeface="Courier New" panose="02070309020205020404" pitchFamily="49" charset="0"/>
                <a:cs typeface="Courier New" panose="02070309020205020404" pitchFamily="49" charset="0"/>
              </a:rPr>
              <a:t>(grupo):</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len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)&gt;0: centroide[k] = </a:t>
            </a:r>
            <a:r>
              <a:rPr lang="es-ES" sz="1400" dirty="0" err="1">
                <a:solidFill>
                  <a:schemeClr val="accent1">
                    <a:lumMod val="50000"/>
                  </a:schemeClr>
                </a:solidFill>
                <a:latin typeface="Courier New" panose="02070309020205020404" pitchFamily="49" charset="0"/>
                <a:cs typeface="Courier New" panose="02070309020205020404" pitchFamily="49" charset="0"/>
              </a:rPr>
              <a:t>np.mean</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grupo_k</a:t>
            </a:r>
            <a:r>
              <a:rPr lang="es-ES" sz="1400" dirty="0">
                <a:solidFill>
                  <a:schemeClr val="accent1">
                    <a:lumMod val="50000"/>
                  </a:schemeClr>
                </a:solidFill>
                <a:latin typeface="Courier New" panose="02070309020205020404" pitchFamily="49" charset="0"/>
                <a:cs typeface="Courier New" panose="02070309020205020404" pitchFamily="49" charset="0"/>
              </a:rPr>
              <a:t>, 					axis=0)</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a:solidFill>
                  <a:schemeClr val="accent2">
                    <a:lumMod val="50000"/>
                  </a:schemeClr>
                </a:solidFill>
                <a:latin typeface="Courier New" panose="02070309020205020404" pitchFamily="49" charset="0"/>
                <a:cs typeface="Courier New" panose="02070309020205020404" pitchFamily="49" charset="0"/>
              </a:rPr>
              <a:t># Compruebo convergencia</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1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i_iter</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max_iter</a:t>
            </a:r>
            <a:r>
              <a:rPr lang="es-ES" sz="1400" dirty="0">
                <a:solidFill>
                  <a:schemeClr val="accent1">
                    <a:lumMod val="50000"/>
                  </a:schemeClr>
                </a:solidFill>
                <a:latin typeface="Courier New" panose="02070309020205020404" pitchFamily="49" charset="0"/>
                <a:cs typeface="Courier New" panose="02070309020205020404" pitchFamily="49" charset="0"/>
              </a:rPr>
              <a:t>: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r>
              <a:rPr lang="es-ES" sz="1400" dirty="0">
                <a:solidFill>
                  <a:schemeClr val="accent1">
                    <a:lumMod val="50000"/>
                  </a:schemeClr>
                </a:solidFill>
                <a:latin typeface="Courier New" panose="02070309020205020404" pitchFamily="49" charset="0"/>
                <a:cs typeface="Courier New" panose="02070309020205020404" pitchFamily="49" charset="0"/>
              </a:rPr>
              <a:t>    </a:t>
            </a: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np.linalg.norm</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old_centroide</a:t>
            </a:r>
            <a:r>
              <a:rPr lang="es-ES" sz="1400" dirty="0">
                <a:solidFill>
                  <a:schemeClr val="accent1">
                    <a:lumMod val="50000"/>
                  </a:schemeClr>
                </a:solidFill>
                <a:latin typeface="Courier New" panose="02070309020205020404" pitchFamily="49" charset="0"/>
                <a:cs typeface="Courier New" panose="02070309020205020404" pitchFamily="49" charset="0"/>
              </a:rPr>
              <a:t>[k]-	centroide[k]) </a:t>
            </a:r>
            <a:r>
              <a:rPr lang="es-ES" sz="1400" b="1" dirty="0" err="1">
                <a:solidFill>
                  <a:schemeClr val="accent6">
                    <a:lumMod val="75000"/>
                  </a:schemeClr>
                </a:solidFill>
                <a:latin typeface="Courier New" panose="02070309020205020404" pitchFamily="49" charset="0"/>
                <a:cs typeface="Courier New" panose="02070309020205020404" pitchFamily="49" charset="0"/>
              </a:rPr>
              <a:t>for</a:t>
            </a:r>
            <a:r>
              <a:rPr lang="es-ES" sz="1400" dirty="0">
                <a:solidFill>
                  <a:schemeClr val="accent1">
                    <a:lumMod val="50000"/>
                  </a:schemeClr>
                </a:solidFill>
                <a:latin typeface="Courier New" panose="02070309020205020404" pitchFamily="49" charset="0"/>
                <a:cs typeface="Courier New" panose="02070309020205020404" pitchFamily="49" charset="0"/>
              </a:rPr>
              <a:t> k </a:t>
            </a:r>
            <a:r>
              <a:rPr lang="es-ES" sz="1400" b="1" dirty="0">
                <a:solidFill>
                  <a:schemeClr val="accent6">
                    <a:lumMod val="75000"/>
                  </a:schemeClr>
                </a:solidFill>
                <a:latin typeface="Courier New" panose="02070309020205020404" pitchFamily="49" charset="0"/>
                <a:cs typeface="Courier New" panose="02070309020205020404" pitchFamily="49" charset="0"/>
              </a:rPr>
              <a:t>in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range</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num_clusters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if</a:t>
            </a:r>
            <a:r>
              <a:rPr lang="es-ES" sz="1400" b="1"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max</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difer_centroide</a:t>
            </a:r>
            <a:r>
              <a:rPr lang="es-ES" sz="1400" dirty="0">
                <a:solidFill>
                  <a:schemeClr val="accent1">
                    <a:lumMod val="50000"/>
                  </a:schemeClr>
                </a:solidFill>
                <a:latin typeface="Courier New" panose="02070309020205020404" pitchFamily="49" charset="0"/>
                <a:cs typeface="Courier New" panose="02070309020205020404" pitchFamily="49" charset="0"/>
              </a:rPr>
              <a:t>)&lt;0.00001: final = </a:t>
            </a:r>
            <a:r>
              <a:rPr lang="es-ES" sz="1400" b="1" dirty="0">
                <a:solidFill>
                  <a:schemeClr val="accent6">
                    <a:lumMod val="75000"/>
                  </a:schemeClr>
                </a:solidFill>
                <a:latin typeface="Courier New" panose="02070309020205020404" pitchFamily="49" charset="0"/>
                <a:cs typeface="Courier New" panose="02070309020205020404" pitchFamily="49" charset="0"/>
              </a:rPr>
              <a:t>True</a:t>
            </a:r>
          </a:p>
        </p:txBody>
      </p:sp>
      <p:sp>
        <p:nvSpPr>
          <p:cNvPr id="5" name="CuadroTexto 4">
            <a:extLst>
              <a:ext uri="{FF2B5EF4-FFF2-40B4-BE49-F238E27FC236}">
                <a16:creationId xmlns:a16="http://schemas.microsoft.com/office/drawing/2014/main" id="{D1235197-5E5C-109D-C1B5-DB77E3BDFFB4}"/>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6" name="Rectángulo 5"/>
          <p:cNvSpPr/>
          <p:nvPr/>
        </p:nvSpPr>
        <p:spPr>
          <a:xfrm>
            <a:off x="185533" y="211733"/>
            <a:ext cx="5650002" cy="2185214"/>
          </a:xfrm>
          <a:prstGeom prst="rect">
            <a:avLst/>
          </a:prstGeom>
        </p:spPr>
        <p:txBody>
          <a:bodyPr wrap="square">
            <a:spAutoFit/>
          </a:bodyPr>
          <a:lstStyle/>
          <a:p>
            <a:pPr marL="285750" indent="-285750">
              <a:buFont typeface="Arial" panose="020B0604020202020204" pitchFamily="34" charset="0"/>
              <a:buChar char="•"/>
            </a:pP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desde</a:t>
            </a:r>
            <a:r>
              <a:rPr lang="en-US" sz="2000" b="1" dirty="0">
                <a:solidFill>
                  <a:schemeClr val="accent1">
                    <a:lumMod val="50000"/>
                  </a:schemeClr>
                </a:solidFill>
              </a:rPr>
              <a:t> Scratch.</a:t>
            </a:r>
          </a:p>
          <a:p>
            <a:pPr marL="285750" indent="-285750">
              <a:buFont typeface="Arial" panose="020B0604020202020204" pitchFamily="34" charset="0"/>
              <a:buChar char="•"/>
            </a:pPr>
            <a:endParaRPr lang="en-US" sz="2000" b="1" dirty="0">
              <a:solidFill>
                <a:schemeClr val="accent1">
                  <a:lumMod val="50000"/>
                </a:schemeClr>
              </a:solidFill>
            </a:endParaRPr>
          </a:p>
          <a:p>
            <a:r>
              <a:rPr lang="en-US" sz="1600" dirty="0" err="1">
                <a:solidFill>
                  <a:schemeClr val="accent1">
                    <a:lumMod val="50000"/>
                  </a:schemeClr>
                </a:solidFill>
              </a:rPr>
              <a:t>En</a:t>
            </a:r>
            <a:r>
              <a:rPr lang="en-US" sz="1600" dirty="0">
                <a:solidFill>
                  <a:schemeClr val="accent1">
                    <a:lumMod val="50000"/>
                  </a:schemeClr>
                </a:solidFill>
              </a:rPr>
              <a:t> el </a:t>
            </a:r>
            <a:r>
              <a:rPr lang="en-US" sz="1600" dirty="0" err="1">
                <a:solidFill>
                  <a:schemeClr val="accent1">
                    <a:lumMod val="50000"/>
                  </a:schemeClr>
                </a:solidFill>
              </a:rPr>
              <a:t>proceso</a:t>
            </a:r>
            <a:r>
              <a:rPr lang="en-US" sz="1600" dirty="0">
                <a:solidFill>
                  <a:schemeClr val="accent1">
                    <a:lumMod val="50000"/>
                  </a:schemeClr>
                </a:solidFill>
              </a:rPr>
              <a:t> </a:t>
            </a:r>
            <a:r>
              <a:rPr lang="en-US" sz="1600" dirty="0" err="1">
                <a:solidFill>
                  <a:schemeClr val="accent1">
                    <a:lumMod val="50000"/>
                  </a:schemeClr>
                </a:solidFill>
              </a:rPr>
              <a:t>iterativo</a:t>
            </a:r>
            <a:r>
              <a:rPr lang="en-US" sz="1600"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Asigno</a:t>
            </a:r>
            <a:r>
              <a:rPr lang="en-US" sz="1600" dirty="0">
                <a:solidFill>
                  <a:schemeClr val="accent1">
                    <a:lumMod val="50000"/>
                  </a:schemeClr>
                </a:solidFill>
              </a:rPr>
              <a:t>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punto</a:t>
            </a:r>
            <a:r>
              <a:rPr lang="en-US" sz="1600" dirty="0">
                <a:solidFill>
                  <a:schemeClr val="accent1">
                    <a:lumMod val="50000"/>
                  </a:schemeClr>
                </a:solidFill>
              </a:rPr>
              <a:t> a </a:t>
            </a:r>
            <a:r>
              <a:rPr lang="en-US" sz="1600" dirty="0" err="1">
                <a:solidFill>
                  <a:schemeClr val="accent1">
                    <a:lumMod val="50000"/>
                  </a:schemeClr>
                </a:solidFill>
              </a:rPr>
              <a:t>su</a:t>
            </a:r>
            <a:r>
              <a:rPr lang="en-US" sz="1600" dirty="0">
                <a:solidFill>
                  <a:schemeClr val="accent1">
                    <a:lumMod val="50000"/>
                  </a:schemeClr>
                </a:solidFill>
              </a:rPr>
              <a:t> </a:t>
            </a:r>
            <a:r>
              <a:rPr lang="en-US" sz="1600" dirty="0" err="1">
                <a:solidFill>
                  <a:schemeClr val="accent1">
                    <a:lumMod val="50000"/>
                  </a:schemeClr>
                </a:solidFill>
              </a:rPr>
              <a:t>centroide</a:t>
            </a:r>
            <a:r>
              <a:rPr lang="en-US" sz="1600" dirty="0">
                <a:solidFill>
                  <a:schemeClr val="accent1">
                    <a:lumMod val="50000"/>
                  </a:schemeClr>
                </a:solidFill>
              </a:rPr>
              <a:t> </a:t>
            </a:r>
            <a:r>
              <a:rPr lang="en-US" sz="1600" dirty="0" err="1">
                <a:solidFill>
                  <a:schemeClr val="accent1">
                    <a:lumMod val="50000"/>
                  </a:schemeClr>
                </a:solidFill>
              </a:rPr>
              <a:t>más</a:t>
            </a:r>
            <a:r>
              <a:rPr lang="en-US" sz="1600" dirty="0">
                <a:solidFill>
                  <a:schemeClr val="accent1">
                    <a:lumMod val="50000"/>
                  </a:schemeClr>
                </a:solidFill>
              </a:rPr>
              <a:t> </a:t>
            </a:r>
            <a:r>
              <a:rPr lang="en-US" sz="1600" dirty="0" err="1">
                <a:solidFill>
                  <a:schemeClr val="accent1">
                    <a:lumMod val="50000"/>
                  </a:schemeClr>
                </a:solidFill>
              </a:rPr>
              <a:t>cercano</a:t>
            </a:r>
            <a:r>
              <a:rPr lang="en-US" sz="1600" dirty="0">
                <a:solidFill>
                  <a:schemeClr val="accent1">
                    <a:lumMod val="50000"/>
                  </a:schemeClr>
                </a:solidFill>
              </a:rPr>
              <a:t>.</a:t>
            </a:r>
          </a:p>
          <a:p>
            <a:pPr marL="285750" indent="-285750">
              <a:buFont typeface="Arial" panose="020B0604020202020204" pitchFamily="34" charset="0"/>
              <a:buChar char="•"/>
            </a:pPr>
            <a:r>
              <a:rPr lang="en-US" sz="1600" dirty="0" err="1">
                <a:solidFill>
                  <a:schemeClr val="accent1">
                    <a:lumMod val="50000"/>
                  </a:schemeClr>
                </a:solidFill>
              </a:rPr>
              <a:t>Calculo</a:t>
            </a:r>
            <a:r>
              <a:rPr lang="en-US" sz="1600" dirty="0">
                <a:solidFill>
                  <a:schemeClr val="accent1">
                    <a:lumMod val="50000"/>
                  </a:schemeClr>
                </a:solidFill>
              </a:rPr>
              <a:t> la </a:t>
            </a:r>
            <a:r>
              <a:rPr lang="en-US" sz="1600" dirty="0" err="1">
                <a:solidFill>
                  <a:schemeClr val="accent1">
                    <a:lumMod val="50000"/>
                  </a:schemeClr>
                </a:solidFill>
              </a:rPr>
              <a:t>posición</a:t>
            </a:r>
            <a:r>
              <a:rPr lang="en-US" sz="1600" dirty="0">
                <a:solidFill>
                  <a:schemeClr val="accent1">
                    <a:lumMod val="50000"/>
                  </a:schemeClr>
                </a:solidFill>
              </a:rPr>
              <a:t> de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centroide</a:t>
            </a:r>
            <a:r>
              <a:rPr lang="en-US" sz="1600" dirty="0">
                <a:solidFill>
                  <a:schemeClr val="accent1">
                    <a:lumMod val="50000"/>
                  </a:schemeClr>
                </a:solidFill>
              </a:rPr>
              <a:t> </a:t>
            </a:r>
            <a:r>
              <a:rPr lang="en-US" sz="1600" dirty="0" err="1">
                <a:solidFill>
                  <a:schemeClr val="accent1">
                    <a:lumMod val="50000"/>
                  </a:schemeClr>
                </a:solidFill>
              </a:rPr>
              <a:t>como</a:t>
            </a:r>
            <a:r>
              <a:rPr lang="en-US" sz="1600" dirty="0">
                <a:solidFill>
                  <a:schemeClr val="accent1">
                    <a:lumMod val="50000"/>
                  </a:schemeClr>
                </a:solidFill>
              </a:rPr>
              <a:t> la media de </a:t>
            </a:r>
            <a:r>
              <a:rPr lang="en-US" sz="1600" dirty="0" err="1">
                <a:solidFill>
                  <a:schemeClr val="accent1">
                    <a:lumMod val="50000"/>
                  </a:schemeClr>
                </a:solidFill>
              </a:rPr>
              <a:t>los</a:t>
            </a:r>
            <a:r>
              <a:rPr lang="en-US" sz="1600" dirty="0">
                <a:solidFill>
                  <a:schemeClr val="accent1">
                    <a:lumMod val="50000"/>
                  </a:schemeClr>
                </a:solidFill>
              </a:rPr>
              <a:t> </a:t>
            </a:r>
            <a:r>
              <a:rPr lang="en-US" sz="1600" dirty="0" err="1">
                <a:solidFill>
                  <a:schemeClr val="accent1">
                    <a:lumMod val="50000"/>
                  </a:schemeClr>
                </a:solidFill>
              </a:rPr>
              <a:t>puntos</a:t>
            </a:r>
            <a:r>
              <a:rPr lang="en-US" sz="1600" dirty="0">
                <a:solidFill>
                  <a:schemeClr val="accent1">
                    <a:lumMod val="50000"/>
                  </a:schemeClr>
                </a:solidFill>
              </a:rPr>
              <a:t> </a:t>
            </a:r>
            <a:r>
              <a:rPr lang="en-US" sz="1600" dirty="0" err="1">
                <a:solidFill>
                  <a:schemeClr val="accent1">
                    <a:lumMod val="50000"/>
                  </a:schemeClr>
                </a:solidFill>
              </a:rPr>
              <a:t>asignados</a:t>
            </a:r>
            <a:r>
              <a:rPr lang="en-US" sz="1600" dirty="0">
                <a:solidFill>
                  <a:schemeClr val="accent1">
                    <a:lumMod val="50000"/>
                  </a:schemeClr>
                </a:solidFill>
              </a:rPr>
              <a:t> </a:t>
            </a:r>
            <a:r>
              <a:rPr lang="en-US" sz="1600" dirty="0" err="1">
                <a:solidFill>
                  <a:schemeClr val="accent1">
                    <a:lumMod val="50000"/>
                  </a:schemeClr>
                </a:solidFill>
              </a:rPr>
              <a:t>en</a:t>
            </a:r>
            <a:r>
              <a:rPr lang="en-US" sz="1600" dirty="0">
                <a:solidFill>
                  <a:schemeClr val="accent1">
                    <a:lumMod val="50000"/>
                  </a:schemeClr>
                </a:solidFill>
              </a:rPr>
              <a:t> </a:t>
            </a:r>
            <a:r>
              <a:rPr lang="en-US" sz="1600" dirty="0" err="1">
                <a:solidFill>
                  <a:schemeClr val="accent1">
                    <a:lumMod val="50000"/>
                  </a:schemeClr>
                </a:solidFill>
              </a:rPr>
              <a:t>cada</a:t>
            </a:r>
            <a:r>
              <a:rPr lang="en-US" sz="1600" dirty="0">
                <a:solidFill>
                  <a:schemeClr val="accent1">
                    <a:lumMod val="50000"/>
                  </a:schemeClr>
                </a:solidFill>
              </a:rPr>
              <a:t> </a:t>
            </a:r>
            <a:r>
              <a:rPr lang="en-US" sz="1600" dirty="0" err="1">
                <a:solidFill>
                  <a:schemeClr val="accent1">
                    <a:lumMod val="50000"/>
                  </a:schemeClr>
                </a:solidFill>
              </a:rPr>
              <a:t>coordenada</a:t>
            </a:r>
            <a:r>
              <a:rPr lang="en-US" sz="1600" dirty="0">
                <a:solidFill>
                  <a:schemeClr val="accent1">
                    <a:lumMod val="50000"/>
                  </a:schemeClr>
                </a:solidFill>
              </a:rPr>
              <a:t>.</a:t>
            </a:r>
          </a:p>
          <a:p>
            <a:pPr marL="285750" indent="-285750">
              <a:buFont typeface="Arial" panose="020B0604020202020204" pitchFamily="34" charset="0"/>
              <a:buChar char="•"/>
            </a:pPr>
            <a:r>
              <a:rPr lang="en-US" sz="1600" b="1" dirty="0" err="1">
                <a:solidFill>
                  <a:schemeClr val="accent1">
                    <a:lumMod val="50000"/>
                  </a:schemeClr>
                </a:solidFill>
              </a:rPr>
              <a:t>Evaluo</a:t>
            </a:r>
            <a:r>
              <a:rPr lang="en-US" sz="1600" b="1" dirty="0">
                <a:solidFill>
                  <a:schemeClr val="accent1">
                    <a:lumMod val="50000"/>
                  </a:schemeClr>
                </a:solidFill>
              </a:rPr>
              <a:t> la </a:t>
            </a:r>
            <a:r>
              <a:rPr lang="en-US" sz="1600" b="1" dirty="0" err="1">
                <a:solidFill>
                  <a:schemeClr val="accent1">
                    <a:lumMod val="50000"/>
                  </a:schemeClr>
                </a:solidFill>
              </a:rPr>
              <a:t>convergencia</a:t>
            </a:r>
            <a:r>
              <a:rPr lang="en-US" sz="1600" b="1" dirty="0">
                <a:solidFill>
                  <a:schemeClr val="accent1">
                    <a:lumMod val="50000"/>
                  </a:schemeClr>
                </a:solidFill>
              </a:rPr>
              <a:t> del </a:t>
            </a:r>
            <a:r>
              <a:rPr lang="en-US" sz="1600" b="1" dirty="0" err="1">
                <a:solidFill>
                  <a:schemeClr val="accent1">
                    <a:lumMod val="50000"/>
                  </a:schemeClr>
                </a:solidFill>
              </a:rPr>
              <a:t>proceso</a:t>
            </a:r>
            <a:r>
              <a:rPr lang="en-US" sz="1600" b="1" dirty="0">
                <a:solidFill>
                  <a:schemeClr val="accent1">
                    <a:lumMod val="50000"/>
                  </a:schemeClr>
                </a:solidFill>
              </a:rPr>
              <a:t> (</a:t>
            </a:r>
            <a:r>
              <a:rPr lang="en-US" sz="1600" b="1" dirty="0" err="1">
                <a:solidFill>
                  <a:schemeClr val="accent1">
                    <a:lumMod val="50000"/>
                  </a:schemeClr>
                </a:solidFill>
              </a:rPr>
              <a:t>según</a:t>
            </a:r>
            <a:r>
              <a:rPr lang="en-US" sz="1600" b="1" dirty="0">
                <a:solidFill>
                  <a:schemeClr val="accent1">
                    <a:lumMod val="50000"/>
                  </a:schemeClr>
                </a:solidFill>
              </a:rPr>
              <a:t> la </a:t>
            </a:r>
            <a:r>
              <a:rPr lang="en-US" sz="1600" b="1" dirty="0" err="1">
                <a:solidFill>
                  <a:schemeClr val="accent1">
                    <a:lumMod val="50000"/>
                  </a:schemeClr>
                </a:solidFill>
              </a:rPr>
              <a:t>variación</a:t>
            </a:r>
            <a:r>
              <a:rPr lang="en-US" sz="1600" b="1" dirty="0">
                <a:solidFill>
                  <a:schemeClr val="accent1">
                    <a:lumMod val="50000"/>
                  </a:schemeClr>
                </a:solidFill>
              </a:rPr>
              <a:t> de </a:t>
            </a:r>
            <a:r>
              <a:rPr lang="en-US" sz="1600" b="1" dirty="0" err="1">
                <a:solidFill>
                  <a:schemeClr val="accent1">
                    <a:lumMod val="50000"/>
                  </a:schemeClr>
                </a:solidFill>
              </a:rPr>
              <a:t>posición</a:t>
            </a:r>
            <a:r>
              <a:rPr lang="en-US" sz="1600" b="1" dirty="0">
                <a:solidFill>
                  <a:schemeClr val="accent1">
                    <a:lumMod val="50000"/>
                  </a:schemeClr>
                </a:solidFill>
              </a:rPr>
              <a:t> de </a:t>
            </a:r>
            <a:r>
              <a:rPr lang="en-US" sz="1600" b="1" dirty="0" err="1">
                <a:solidFill>
                  <a:schemeClr val="accent1">
                    <a:lumMod val="50000"/>
                  </a:schemeClr>
                </a:solidFill>
              </a:rPr>
              <a:t>los</a:t>
            </a:r>
            <a:r>
              <a:rPr lang="en-US" sz="1600" b="1" dirty="0">
                <a:solidFill>
                  <a:schemeClr val="accent1">
                    <a:lumMod val="50000"/>
                  </a:schemeClr>
                </a:solidFill>
              </a:rPr>
              <a:t> </a:t>
            </a:r>
            <a:r>
              <a:rPr lang="en-US" sz="1600" b="1" dirty="0" err="1">
                <a:solidFill>
                  <a:schemeClr val="accent1">
                    <a:lumMod val="50000"/>
                  </a:schemeClr>
                </a:solidFill>
              </a:rPr>
              <a:t>centroides</a:t>
            </a:r>
            <a:r>
              <a:rPr lang="en-US" sz="1600" b="1" dirty="0">
                <a:solidFill>
                  <a:schemeClr val="accent1">
                    <a:lumMod val="50000"/>
                  </a:schemeClr>
                </a:solidFill>
              </a:rPr>
              <a:t>)</a:t>
            </a:r>
          </a:p>
        </p:txBody>
      </p:sp>
    </p:spTree>
    <p:extLst>
      <p:ext uri="{BB962C8B-B14F-4D97-AF65-F5344CB8AC3E}">
        <p14:creationId xmlns:p14="http://schemas.microsoft.com/office/powerpoint/2010/main" val="42738493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43EF5A0B-45CA-2419-7B65-6A8233E6F6B8}"/>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13</a:t>
            </a:fld>
            <a:endParaRPr lang="es-ES">
              <a:solidFill>
                <a:prstClr val="black">
                  <a:tint val="75000"/>
                </a:prstClr>
              </a:solidFill>
            </a:endParaRPr>
          </a:p>
        </p:txBody>
      </p:sp>
      <p:pic>
        <p:nvPicPr>
          <p:cNvPr id="4098" name="Picture 2">
            <a:extLst>
              <a:ext uri="{FF2B5EF4-FFF2-40B4-BE49-F238E27FC236}">
                <a16:creationId xmlns:a16="http://schemas.microsoft.com/office/drawing/2014/main" id="{D2CEA8E1-4BA4-DB89-985D-EF593AB3E8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6134" y="1281336"/>
            <a:ext cx="6094466" cy="4599796"/>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Tree>
    <p:extLst>
      <p:ext uri="{BB962C8B-B14F-4D97-AF65-F5344CB8AC3E}">
        <p14:creationId xmlns:p14="http://schemas.microsoft.com/office/powerpoint/2010/main" val="39810500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31" name="Picture 11">
            <a:extLst>
              <a:ext uri="{FF2B5EF4-FFF2-40B4-BE49-F238E27FC236}">
                <a16:creationId xmlns:a16="http://schemas.microsoft.com/office/drawing/2014/main" id="{2071F4D8-4C05-27F1-406D-636B542BCF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2200" y="907925"/>
            <a:ext cx="4140000" cy="3124663"/>
          </a:xfrm>
          <a:prstGeom prst="rect">
            <a:avLst/>
          </a:prstGeom>
          <a:noFill/>
          <a:extLst>
            <a:ext uri="{909E8E84-426E-40DD-AFC4-6F175D3DCCD1}">
              <a14:hiddenFill xmlns:a14="http://schemas.microsoft.com/office/drawing/2010/main">
                <a:solidFill>
                  <a:srgbClr val="FFFFFF"/>
                </a:solidFill>
              </a14:hiddenFill>
            </a:ext>
          </a:extLst>
        </p:spPr>
      </p:pic>
      <p:pic>
        <p:nvPicPr>
          <p:cNvPr id="5129" name="Picture 9">
            <a:extLst>
              <a:ext uri="{FF2B5EF4-FFF2-40B4-BE49-F238E27FC236}">
                <a16:creationId xmlns:a16="http://schemas.microsoft.com/office/drawing/2014/main" id="{9AD1FB89-3734-89B5-8DB5-5D5F6ED27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6747" y="907925"/>
            <a:ext cx="4140000" cy="3124663"/>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número de diapositiva 1">
            <a:extLst>
              <a:ext uri="{FF2B5EF4-FFF2-40B4-BE49-F238E27FC236}">
                <a16:creationId xmlns:a16="http://schemas.microsoft.com/office/drawing/2014/main" id="{43EF5A0B-45CA-2419-7B65-6A8233E6F6B8}"/>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14</a:t>
            </a:fld>
            <a:endParaRPr lang="es-ES">
              <a:solidFill>
                <a:prstClr val="black">
                  <a:tint val="75000"/>
                </a:prstClr>
              </a:solidFill>
            </a:endParaRPr>
          </a:p>
        </p:txBody>
      </p:sp>
      <p:sp>
        <p:nvSpPr>
          <p:cNvPr id="4" name="CuadroTexto 3">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5" name="CuadroTexto 4">
            <a:extLst>
              <a:ext uri="{FF2B5EF4-FFF2-40B4-BE49-F238E27FC236}">
                <a16:creationId xmlns:a16="http://schemas.microsoft.com/office/drawing/2014/main" id="{FDE3E1D8-ECD5-C2E1-DDFD-48925AD95E0F}"/>
              </a:ext>
            </a:extLst>
          </p:cNvPr>
          <p:cNvSpPr txBox="1"/>
          <p:nvPr/>
        </p:nvSpPr>
        <p:spPr>
          <a:xfrm>
            <a:off x="368990" y="320934"/>
            <a:ext cx="3285258" cy="461665"/>
          </a:xfrm>
          <a:prstGeom prst="rect">
            <a:avLst/>
          </a:prstGeom>
          <a:noFill/>
        </p:spPr>
        <p:txBody>
          <a:bodyPr wrap="none" rtlCol="0">
            <a:spAutoFit/>
          </a:bodyPr>
          <a:lstStyle/>
          <a:p>
            <a:r>
              <a:rPr lang="es-ES" sz="2400" b="1" dirty="0">
                <a:solidFill>
                  <a:schemeClr val="accent1">
                    <a:lumMod val="50000"/>
                  </a:schemeClr>
                </a:solidFill>
              </a:rPr>
              <a:t>Soluciones sub-óptimas.</a:t>
            </a:r>
          </a:p>
        </p:txBody>
      </p:sp>
      <p:sp>
        <p:nvSpPr>
          <p:cNvPr id="6" name="Rectángulo: esquinas redondeadas 5">
            <a:extLst>
              <a:ext uri="{FF2B5EF4-FFF2-40B4-BE49-F238E27FC236}">
                <a16:creationId xmlns:a16="http://schemas.microsoft.com/office/drawing/2014/main" id="{EB936E78-28D9-1C53-FAF8-012D71CEDD91}"/>
              </a:ext>
            </a:extLst>
          </p:cNvPr>
          <p:cNvSpPr/>
          <p:nvPr/>
        </p:nvSpPr>
        <p:spPr>
          <a:xfrm>
            <a:off x="237364" y="4032588"/>
            <a:ext cx="11598765" cy="2570730"/>
          </a:xfrm>
          <a:prstGeom prst="roundRect">
            <a:avLst>
              <a:gd name="adj" fmla="val 4718"/>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600" dirty="0">
                <a:solidFill>
                  <a:schemeClr val="accent1">
                    <a:lumMod val="50000"/>
                  </a:schemeClr>
                </a:solidFill>
              </a:rPr>
              <a:t>Una fallida inicialización de los centroides puede llevar a encontrar soluciones que minimizan localmente el criterio WCSS pero que no son soluciones óptimas del problema.</a:t>
            </a:r>
          </a:p>
          <a:p>
            <a:endParaRPr lang="es-ES" sz="1600" dirty="0">
              <a:solidFill>
                <a:schemeClr val="accent1">
                  <a:lumMod val="50000"/>
                </a:schemeClr>
              </a:solidFill>
            </a:endParaRPr>
          </a:p>
          <a:p>
            <a:r>
              <a:rPr lang="es-ES" sz="1600" dirty="0">
                <a:solidFill>
                  <a:schemeClr val="accent1">
                    <a:lumMod val="50000"/>
                  </a:schemeClr>
                </a:solidFill>
              </a:rPr>
              <a:t>Matemáticamente tiene que ver con el hecho de que la función de coste que estamos considerando, el criterio WCSS, no es una función convexa, así que el proceso de búsqueda no garantiza que encontremos el mínimo global.</a:t>
            </a:r>
          </a:p>
          <a:p>
            <a:endParaRPr lang="es-ES" sz="1600" dirty="0">
              <a:solidFill>
                <a:schemeClr val="accent1">
                  <a:lumMod val="50000"/>
                </a:schemeClr>
              </a:solidFill>
            </a:endParaRPr>
          </a:p>
          <a:p>
            <a:r>
              <a:rPr lang="es-ES" sz="1600" dirty="0">
                <a:solidFill>
                  <a:schemeClr val="accent1">
                    <a:lumMod val="50000"/>
                  </a:schemeClr>
                </a:solidFill>
              </a:rPr>
              <a:t>Soluciones:</a:t>
            </a:r>
          </a:p>
          <a:p>
            <a:pPr marL="285750" indent="-285750">
              <a:buFont typeface="Arial" panose="020B0604020202020204" pitchFamily="34" charset="0"/>
              <a:buChar char="•"/>
            </a:pPr>
            <a:r>
              <a:rPr lang="es-ES" sz="1600" dirty="0">
                <a:solidFill>
                  <a:schemeClr val="accent1">
                    <a:lumMod val="50000"/>
                  </a:schemeClr>
                </a:solidFill>
              </a:rPr>
              <a:t>Usar </a:t>
            </a:r>
            <a:r>
              <a:rPr lang="es-ES" sz="1600" dirty="0" err="1">
                <a:solidFill>
                  <a:schemeClr val="accent1">
                    <a:lumMod val="50000"/>
                  </a:schemeClr>
                </a:solidFill>
              </a:rPr>
              <a:t>kmeans</a:t>
            </a:r>
            <a:r>
              <a:rPr lang="es-ES" sz="1600" dirty="0">
                <a:solidFill>
                  <a:schemeClr val="accent1">
                    <a:lumMod val="50000"/>
                  </a:schemeClr>
                </a:solidFill>
              </a:rPr>
              <a:t>++ para inicializar los </a:t>
            </a:r>
            <a:r>
              <a:rPr lang="es-ES" sz="1600" dirty="0" err="1">
                <a:solidFill>
                  <a:schemeClr val="accent1">
                    <a:lumMod val="50000"/>
                  </a:schemeClr>
                </a:solidFill>
              </a:rPr>
              <a:t>centroides</a:t>
            </a:r>
            <a:r>
              <a:rPr lang="es-ES" sz="1600" dirty="0">
                <a:solidFill>
                  <a:schemeClr val="accent1">
                    <a:lumMod val="50000"/>
                  </a:schemeClr>
                </a:solidFill>
              </a:rPr>
              <a:t> (</a:t>
            </a:r>
            <a:r>
              <a:rPr lang="es-ES" sz="1600" dirty="0" err="1">
                <a:solidFill>
                  <a:schemeClr val="accent1">
                    <a:lumMod val="50000"/>
                  </a:schemeClr>
                </a:solidFill>
              </a:rPr>
              <a:t>Sklearn</a:t>
            </a:r>
            <a:r>
              <a:rPr lang="es-ES" sz="1600" dirty="0">
                <a:solidFill>
                  <a:schemeClr val="accent1">
                    <a:lumMod val="50000"/>
                  </a:schemeClr>
                </a:solidFill>
              </a:rPr>
              <a:t>).</a:t>
            </a:r>
          </a:p>
          <a:p>
            <a:pPr marL="285750" indent="-285750">
              <a:buFont typeface="Arial" panose="020B0604020202020204" pitchFamily="34" charset="0"/>
              <a:buChar char="•"/>
            </a:pPr>
            <a:r>
              <a:rPr lang="es-ES" sz="1600" dirty="0">
                <a:solidFill>
                  <a:schemeClr val="accent1">
                    <a:lumMod val="50000"/>
                  </a:schemeClr>
                </a:solidFill>
              </a:rPr>
              <a:t>Ejecutar el algoritmo varias veces con diferentes centroides iniciales y quedarnos con la mejor solución (Menor WCSS)</a:t>
            </a:r>
          </a:p>
        </p:txBody>
      </p:sp>
      <p:cxnSp>
        <p:nvCxnSpPr>
          <p:cNvPr id="7" name="Conector recto de flecha 6">
            <a:extLst>
              <a:ext uri="{FF2B5EF4-FFF2-40B4-BE49-F238E27FC236}">
                <a16:creationId xmlns:a16="http://schemas.microsoft.com/office/drawing/2014/main" id="{3C33CD57-F71F-B0A7-ADE1-C728BD27D594}"/>
              </a:ext>
            </a:extLst>
          </p:cNvPr>
          <p:cNvCxnSpPr>
            <a:cxnSpLocks/>
          </p:cNvCxnSpPr>
          <p:nvPr/>
        </p:nvCxnSpPr>
        <p:spPr>
          <a:xfrm flipV="1">
            <a:off x="4993370" y="2896623"/>
            <a:ext cx="192321" cy="301313"/>
          </a:xfrm>
          <a:prstGeom prst="straightConnector1">
            <a:avLst/>
          </a:prstGeom>
          <a:ln w="31750">
            <a:solidFill>
              <a:schemeClr val="accent3">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F4797262-650E-AF03-6B8B-52B16881F3B2}"/>
              </a:ext>
            </a:extLst>
          </p:cNvPr>
          <p:cNvCxnSpPr>
            <a:cxnSpLocks/>
          </p:cNvCxnSpPr>
          <p:nvPr/>
        </p:nvCxnSpPr>
        <p:spPr>
          <a:xfrm flipH="1" flipV="1">
            <a:off x="7039039" y="1761294"/>
            <a:ext cx="224053" cy="708962"/>
          </a:xfrm>
          <a:prstGeom prst="straightConnector1">
            <a:avLst/>
          </a:prstGeom>
          <a:ln w="31750">
            <a:solidFill>
              <a:schemeClr val="accent3">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5127" name="Picture 7">
            <a:extLst>
              <a:ext uri="{FF2B5EF4-FFF2-40B4-BE49-F238E27FC236}">
                <a16:creationId xmlns:a16="http://schemas.microsoft.com/office/drawing/2014/main" id="{0FC25F8D-DDCF-0736-4B06-083900247C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07925"/>
            <a:ext cx="4140000" cy="3124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5610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15</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10644325" y="136523"/>
            <a:ext cx="1452247" cy="461665"/>
          </a:xfrm>
          <a:prstGeom prst="rect">
            <a:avLst/>
          </a:prstGeom>
          <a:noFill/>
        </p:spPr>
        <p:txBody>
          <a:bodyPr wrap="square" rtlCol="0">
            <a:spAutoFit/>
          </a:bodyPr>
          <a:lstStyle/>
          <a:p>
            <a:r>
              <a:rPr lang="es-ES" sz="2400" b="1">
                <a:solidFill>
                  <a:schemeClr val="accent1">
                    <a:lumMod val="50000"/>
                  </a:schemeClr>
                </a:solidFill>
              </a:rPr>
              <a:t>K-Means</a:t>
            </a:r>
            <a:endParaRPr lang="es-ES" sz="8800" b="1" dirty="0">
              <a:solidFill>
                <a:schemeClr val="accent1">
                  <a:lumMod val="50000"/>
                </a:scheme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1705814" y="1037194"/>
            <a:ext cx="9876881" cy="45550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b="1" dirty="0" err="1">
                <a:solidFill>
                  <a:schemeClr val="accent5">
                    <a:lumMod val="20000"/>
                    <a:lumOff val="80000"/>
                  </a:schemeClr>
                </a:solidFill>
              </a:rPr>
              <a:t>Algoritmo</a:t>
            </a:r>
            <a:r>
              <a:rPr lang="en-US" sz="2400" b="1" dirty="0">
                <a:solidFill>
                  <a:schemeClr val="accent5">
                    <a:lumMod val="20000"/>
                    <a:lumOff val="80000"/>
                  </a:schemeClr>
                </a:solidFill>
              </a:rPr>
              <a:t> </a:t>
            </a:r>
            <a:r>
              <a:rPr lang="en-US" sz="2400" b="1" dirty="0" err="1">
                <a:solidFill>
                  <a:schemeClr val="accent5">
                    <a:lumMod val="20000"/>
                    <a:lumOff val="80000"/>
                  </a:schemeClr>
                </a:solidFill>
              </a:rPr>
              <a:t>Completo</a:t>
            </a:r>
            <a:r>
              <a:rPr lang="en-US" sz="2400" b="1" dirty="0">
                <a:solidFill>
                  <a:schemeClr val="accent5">
                    <a:lumMod val="20000"/>
                    <a:lumOff val="80000"/>
                  </a:schemeClr>
                </a:solidFill>
              </a:rPr>
              <a:t> de K-means.</a:t>
            </a:r>
          </a:p>
          <a:p>
            <a:pPr marL="742950" lvl="1" indent="-285750">
              <a:buFont typeface="Arial" panose="020B0604020202020204" pitchFamily="34" charset="0"/>
              <a:buChar char="•"/>
            </a:pPr>
            <a:r>
              <a:rPr lang="en-US" sz="2000" b="1" dirty="0" err="1">
                <a:solidFill>
                  <a:schemeClr val="accent5">
                    <a:lumMod val="20000"/>
                    <a:lumOff val="80000"/>
                  </a:schemeClr>
                </a:solidFill>
              </a:rPr>
              <a:t>Implementación</a:t>
            </a:r>
            <a:r>
              <a:rPr lang="en-US" sz="2000" b="1" dirty="0">
                <a:solidFill>
                  <a:schemeClr val="accent5">
                    <a:lumMod val="20000"/>
                    <a:lumOff val="80000"/>
                  </a:schemeClr>
                </a:solidFill>
              </a:rPr>
              <a:t> </a:t>
            </a:r>
            <a:r>
              <a:rPr lang="en-US" sz="2000" b="1" dirty="0" err="1">
                <a:solidFill>
                  <a:schemeClr val="accent5">
                    <a:lumMod val="20000"/>
                    <a:lumOff val="80000"/>
                  </a:schemeClr>
                </a:solidFill>
              </a:rPr>
              <a:t>desde</a:t>
            </a:r>
            <a:r>
              <a:rPr lang="en-US" sz="2000" b="1" dirty="0">
                <a:solidFill>
                  <a:schemeClr val="accent5">
                    <a:lumMod val="20000"/>
                    <a:lumOff val="80000"/>
                  </a:schemeClr>
                </a:solidFill>
              </a:rPr>
              <a:t> Scratch.</a:t>
            </a:r>
          </a:p>
          <a:p>
            <a:pPr marL="742950" lvl="1" indent="-285750">
              <a:buFont typeface="Arial" panose="020B0604020202020204" pitchFamily="34" charset="0"/>
              <a:buChar char="•"/>
            </a:pPr>
            <a:r>
              <a:rPr lang="en-US" sz="2000" b="1" dirty="0" err="1">
                <a:solidFill>
                  <a:schemeClr val="accent5">
                    <a:lumMod val="20000"/>
                    <a:lumOff val="80000"/>
                  </a:schemeClr>
                </a:solidFill>
              </a:rPr>
              <a:t>Soluciones</a:t>
            </a:r>
            <a:r>
              <a:rPr lang="en-US" sz="2000" b="1" dirty="0">
                <a:solidFill>
                  <a:schemeClr val="accent5">
                    <a:lumMod val="20000"/>
                    <a:lumOff val="80000"/>
                  </a:schemeClr>
                </a:solidFill>
              </a:rPr>
              <a:t> </a:t>
            </a:r>
            <a:r>
              <a:rPr lang="en-US" sz="2000" b="1" dirty="0" err="1">
                <a:solidFill>
                  <a:schemeClr val="accent5">
                    <a:lumMod val="20000"/>
                    <a:lumOff val="80000"/>
                  </a:schemeClr>
                </a:solidFill>
              </a:rPr>
              <a:t>subóptimas</a:t>
            </a:r>
            <a:r>
              <a:rPr lang="en-US" sz="2000" b="1" dirty="0">
                <a:solidFill>
                  <a:schemeClr val="accent5">
                    <a:lumMod val="20000"/>
                    <a:lumOff val="80000"/>
                  </a:schemeClr>
                </a:solidFill>
              </a:rPr>
              <a:t>.</a:t>
            </a:r>
          </a:p>
          <a:p>
            <a:pPr marL="285750" indent="-285750">
              <a:lnSpc>
                <a:spcPct val="150000"/>
              </a:lnSpc>
              <a:buFont typeface="Arial" panose="020B0604020202020204" pitchFamily="34" charset="0"/>
              <a:buChar char="•"/>
            </a:pPr>
            <a:r>
              <a:rPr lang="es-ES" sz="2400" b="1" dirty="0">
                <a:solidFill>
                  <a:schemeClr val="accent1">
                    <a:lumMod val="50000"/>
                  </a:schemeClr>
                </a:solidFill>
              </a:rPr>
              <a:t>Implementación en </a:t>
            </a:r>
            <a:r>
              <a:rPr lang="es-ES" sz="2400" b="1" dirty="0" err="1">
                <a:solidFill>
                  <a:schemeClr val="accent1">
                    <a:lumMod val="50000"/>
                  </a:schemeClr>
                </a:solidFill>
              </a:rPr>
              <a:t>Sklearn</a:t>
            </a:r>
            <a:r>
              <a:rPr lang="es-ES" sz="2400" b="1" dirty="0">
                <a:solidFill>
                  <a:schemeClr val="accent1">
                    <a:lumMod val="50000"/>
                  </a:schemeClr>
                </a:solidFill>
              </a:rPr>
              <a:t>.</a:t>
            </a:r>
          </a:p>
          <a:p>
            <a:pPr marL="742950" lvl="1" indent="-285750">
              <a:buFont typeface="Arial" panose="020B0604020202020204" pitchFamily="34" charset="0"/>
              <a:buChar char="•"/>
            </a:pPr>
            <a:r>
              <a:rPr lang="es-ES" sz="2000" b="1" dirty="0">
                <a:solidFill>
                  <a:schemeClr val="accent1">
                    <a:lumMod val="50000"/>
                  </a:schemeClr>
                </a:solidFill>
              </a:rPr>
              <a:t>Parámetros.</a:t>
            </a:r>
          </a:p>
          <a:p>
            <a:pPr marL="285750" indent="-285750">
              <a:lnSpc>
                <a:spcPct val="150000"/>
              </a:lnSpc>
              <a:buFont typeface="Arial" panose="020B0604020202020204" pitchFamily="34" charset="0"/>
              <a:buChar char="•"/>
            </a:pPr>
            <a:r>
              <a:rPr lang="es-ES" sz="2400" b="1" dirty="0" err="1">
                <a:solidFill>
                  <a:schemeClr val="accent5">
                    <a:lumMod val="20000"/>
                    <a:lumOff val="80000"/>
                  </a:schemeClr>
                </a:solidFill>
              </a:rPr>
              <a:t>Preprocesamiento</a:t>
            </a:r>
            <a:r>
              <a:rPr lang="es-ES" sz="2400" b="1" dirty="0">
                <a:solidFill>
                  <a:schemeClr val="accent5">
                    <a:lumMod val="20000"/>
                    <a:lumOff val="80000"/>
                  </a:schemeClr>
                </a:solidFill>
              </a:rPr>
              <a:t>. Escalado.</a:t>
            </a:r>
          </a:p>
          <a:p>
            <a:pPr marL="285750" indent="-285750">
              <a:lnSpc>
                <a:spcPct val="150000"/>
              </a:lnSpc>
              <a:buFont typeface="Arial" panose="020B0604020202020204" pitchFamily="34" charset="0"/>
              <a:buChar char="•"/>
            </a:pPr>
            <a:r>
              <a:rPr lang="es-ES" sz="2400" b="1" dirty="0">
                <a:solidFill>
                  <a:schemeClr val="accent5">
                    <a:lumMod val="20000"/>
                    <a:lumOff val="80000"/>
                  </a:schemeClr>
                </a:solidFill>
              </a:rPr>
              <a:t>Número óptimo de </a:t>
            </a:r>
            <a:r>
              <a:rPr lang="es-ES" sz="2400" b="1" i="1" dirty="0">
                <a:solidFill>
                  <a:schemeClr val="accent5">
                    <a:lumMod val="20000"/>
                    <a:lumOff val="80000"/>
                  </a:schemeClr>
                </a:solidFill>
              </a:rPr>
              <a:t>clústeres.</a:t>
            </a:r>
            <a:endParaRPr lang="es-ES" sz="2400" b="1" dirty="0">
              <a:solidFill>
                <a:schemeClr val="accent5">
                  <a:lumMod val="20000"/>
                  <a:lumOff val="80000"/>
                </a:schemeClr>
              </a:solidFill>
            </a:endParaRPr>
          </a:p>
          <a:p>
            <a:pPr marL="742950" lvl="1" indent="-285750">
              <a:buFont typeface="Arial" panose="020B0604020202020204" pitchFamily="34" charset="0"/>
              <a:buChar char="•"/>
            </a:pPr>
            <a:r>
              <a:rPr lang="es-ES" sz="2000" b="1" dirty="0">
                <a:solidFill>
                  <a:schemeClr val="accent5">
                    <a:lumMod val="20000"/>
                    <a:lumOff val="80000"/>
                  </a:schemeClr>
                </a:solidFill>
              </a:rPr>
              <a:t>Método del codo.</a:t>
            </a:r>
          </a:p>
          <a:p>
            <a:pPr marL="742950" lvl="1" indent="-285750">
              <a:buFont typeface="Arial" panose="020B0604020202020204" pitchFamily="34" charset="0"/>
              <a:buChar char="•"/>
            </a:pPr>
            <a:r>
              <a:rPr lang="es-ES" sz="2000" b="1" dirty="0">
                <a:solidFill>
                  <a:schemeClr val="accent5">
                    <a:lumMod val="20000"/>
                    <a:lumOff val="80000"/>
                  </a:schemeClr>
                </a:solidFill>
              </a:rPr>
              <a:t>Método de la silueta.</a:t>
            </a:r>
          </a:p>
          <a:p>
            <a:pPr marL="285750" indent="-285750">
              <a:lnSpc>
                <a:spcPct val="150000"/>
              </a:lnSpc>
              <a:buFont typeface="Arial" panose="020B0604020202020204" pitchFamily="34" charset="0"/>
              <a:buChar char="•"/>
            </a:pPr>
            <a:r>
              <a:rPr lang="es-ES" sz="2400" b="1" dirty="0">
                <a:solidFill>
                  <a:schemeClr val="accent5">
                    <a:lumMod val="20000"/>
                    <a:lumOff val="80000"/>
                  </a:schemeClr>
                </a:solidFill>
              </a:rPr>
              <a:t>Ventajas e inconvenientes de K-</a:t>
            </a:r>
            <a:r>
              <a:rPr lang="es-ES" sz="2400" b="1" dirty="0" err="1">
                <a:solidFill>
                  <a:schemeClr val="accent5">
                    <a:lumMod val="20000"/>
                    <a:lumOff val="80000"/>
                  </a:schemeClr>
                </a:solidFill>
              </a:rPr>
              <a:t>Means</a:t>
            </a:r>
            <a:r>
              <a:rPr lang="es-ES" sz="2400" b="1" dirty="0">
                <a:solidFill>
                  <a:schemeClr val="accent5">
                    <a:lumMod val="20000"/>
                    <a:lumOff val="80000"/>
                  </a:schemeClr>
                </a:solidFill>
              </a:rPr>
              <a:t>.</a:t>
            </a:r>
          </a:p>
        </p:txBody>
      </p:sp>
    </p:spTree>
    <p:extLst>
      <p:ext uri="{BB962C8B-B14F-4D97-AF65-F5344CB8AC3E}">
        <p14:creationId xmlns:p14="http://schemas.microsoft.com/office/powerpoint/2010/main" val="14851942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43EF5A0B-45CA-2419-7B65-6A8233E6F6B8}"/>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16</a:t>
            </a:fld>
            <a:endParaRPr lang="es-ES">
              <a:solidFill>
                <a:prstClr val="black">
                  <a:tint val="75000"/>
                </a:prstClr>
              </a:solidFill>
            </a:endParaRPr>
          </a:p>
        </p:txBody>
      </p:sp>
      <p:sp>
        <p:nvSpPr>
          <p:cNvPr id="4" name="CuadroTexto 3">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5" name="CuadroTexto 4">
            <a:extLst>
              <a:ext uri="{FF2B5EF4-FFF2-40B4-BE49-F238E27FC236}">
                <a16:creationId xmlns:a16="http://schemas.microsoft.com/office/drawing/2014/main" id="{FDE3E1D8-ECD5-C2E1-DDFD-48925AD95E0F}"/>
              </a:ext>
            </a:extLst>
          </p:cNvPr>
          <p:cNvSpPr txBox="1"/>
          <p:nvPr/>
        </p:nvSpPr>
        <p:spPr>
          <a:xfrm>
            <a:off x="368990" y="320934"/>
            <a:ext cx="3782317" cy="461665"/>
          </a:xfrm>
          <a:prstGeom prst="rect">
            <a:avLst/>
          </a:prstGeom>
          <a:noFill/>
        </p:spPr>
        <p:txBody>
          <a:bodyPr wrap="none" rtlCol="0">
            <a:spAutoFit/>
          </a:bodyPr>
          <a:lstStyle/>
          <a:p>
            <a:r>
              <a:rPr lang="es-ES" sz="2400" b="1" dirty="0">
                <a:solidFill>
                  <a:schemeClr val="accent1">
                    <a:lumMod val="50000"/>
                  </a:schemeClr>
                </a:solidFill>
              </a:rPr>
              <a:t>Implementación en </a:t>
            </a:r>
            <a:r>
              <a:rPr lang="es-ES" sz="2400" b="1" dirty="0" err="1">
                <a:solidFill>
                  <a:schemeClr val="accent1">
                    <a:lumMod val="50000"/>
                  </a:schemeClr>
                </a:solidFill>
              </a:rPr>
              <a:t>SKlearn</a:t>
            </a:r>
            <a:r>
              <a:rPr lang="es-ES" sz="2400" b="1" dirty="0">
                <a:solidFill>
                  <a:schemeClr val="accent1">
                    <a:lumMod val="50000"/>
                  </a:schemeClr>
                </a:solidFill>
              </a:rPr>
              <a:t>.</a:t>
            </a:r>
          </a:p>
        </p:txBody>
      </p:sp>
      <p:sp>
        <p:nvSpPr>
          <p:cNvPr id="6" name="Rectángulo: esquinas redondeadas 5">
            <a:extLst>
              <a:ext uri="{FF2B5EF4-FFF2-40B4-BE49-F238E27FC236}">
                <a16:creationId xmlns:a16="http://schemas.microsoft.com/office/drawing/2014/main" id="{EB936E78-28D9-1C53-FAF8-012D71CEDD91}"/>
              </a:ext>
            </a:extLst>
          </p:cNvPr>
          <p:cNvSpPr/>
          <p:nvPr/>
        </p:nvSpPr>
        <p:spPr>
          <a:xfrm>
            <a:off x="206679" y="3582737"/>
            <a:ext cx="11598765" cy="568564"/>
          </a:xfrm>
          <a:prstGeom prst="roundRect">
            <a:avLst>
              <a:gd name="adj" fmla="val 4718"/>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dirty="0" err="1">
                <a:solidFill>
                  <a:schemeClr val="accent1">
                    <a:lumMod val="50000"/>
                  </a:schemeClr>
                </a:solidFill>
                <a:latin typeface="Courier New" panose="02070309020205020404" pitchFamily="49" charset="0"/>
                <a:cs typeface="Courier New" panose="02070309020205020404" pitchFamily="49" charset="0"/>
              </a:rPr>
              <a:t>init</a:t>
            </a:r>
            <a:r>
              <a:rPr lang="es-ES" dirty="0">
                <a:solidFill>
                  <a:schemeClr val="accent1">
                    <a:lumMod val="50000"/>
                  </a:schemeClr>
                </a:solidFill>
                <a:latin typeface="Courier New" panose="02070309020205020404" pitchFamily="49" charset="0"/>
                <a:cs typeface="Courier New" panose="02070309020205020404" pitchFamily="49" charset="0"/>
              </a:rPr>
              <a:t>=</a:t>
            </a:r>
            <a:r>
              <a:rPr lang="es-ES" b="1" dirty="0">
                <a:solidFill>
                  <a:srgbClr val="C00000"/>
                </a:solidFill>
                <a:latin typeface="Courier New" panose="02070309020205020404" pitchFamily="49" charset="0"/>
                <a:cs typeface="Courier New" panose="02070309020205020404" pitchFamily="49" charset="0"/>
              </a:rPr>
              <a:t>'k-</a:t>
            </a:r>
            <a:r>
              <a:rPr lang="es-ES" b="1" dirty="0" err="1">
                <a:solidFill>
                  <a:srgbClr val="C00000"/>
                </a:solidFill>
                <a:latin typeface="Courier New" panose="02070309020205020404" pitchFamily="49" charset="0"/>
                <a:cs typeface="Courier New" panose="02070309020205020404" pitchFamily="49" charset="0"/>
              </a:rPr>
              <a:t>means</a:t>
            </a:r>
            <a:r>
              <a:rPr lang="es-ES" b="1" dirty="0">
                <a:solidFill>
                  <a:srgbClr val="C00000"/>
                </a:solidFill>
                <a:latin typeface="Courier New" panose="02070309020205020404" pitchFamily="49" charset="0"/>
                <a:cs typeface="Courier New" panose="02070309020205020404" pitchFamily="49" charset="0"/>
              </a:rPr>
              <a:t>++’</a:t>
            </a:r>
            <a:r>
              <a:rPr lang="es-ES" b="1"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rPr>
              <a:t>Es la opción por defecto para inicializar los </a:t>
            </a:r>
            <a:r>
              <a:rPr lang="es-ES" dirty="0" err="1">
                <a:solidFill>
                  <a:schemeClr val="accent1">
                    <a:lumMod val="50000"/>
                  </a:schemeClr>
                </a:solidFill>
              </a:rPr>
              <a:t>centroides</a:t>
            </a:r>
            <a:r>
              <a:rPr lang="es-ES" dirty="0">
                <a:solidFill>
                  <a:schemeClr val="accent1">
                    <a:lumMod val="50000"/>
                  </a:schemeClr>
                </a:solidFill>
              </a:rPr>
              <a:t>.</a:t>
            </a:r>
            <a:r>
              <a:rPr lang="en-US" dirty="0">
                <a:solidFill>
                  <a:schemeClr val="accent1">
                    <a:lumMod val="50000"/>
                  </a:schemeClr>
                </a:solidFill>
              </a:rPr>
              <a:t> </a:t>
            </a:r>
            <a:r>
              <a:rPr lang="en-US" dirty="0" err="1">
                <a:solidFill>
                  <a:schemeClr val="accent1">
                    <a:lumMod val="50000"/>
                  </a:schemeClr>
                </a:solidFill>
              </a:rPr>
              <a:t>Seleccionamos</a:t>
            </a:r>
            <a:r>
              <a:rPr lang="en-US" dirty="0">
                <a:solidFill>
                  <a:schemeClr val="accent1">
                    <a:lumMod val="50000"/>
                  </a:schemeClr>
                </a:solidFill>
              </a:rPr>
              <a:t> </a:t>
            </a:r>
            <a:r>
              <a:rPr lang="en-US" dirty="0" err="1">
                <a:solidFill>
                  <a:schemeClr val="accent1">
                    <a:lumMod val="50000"/>
                  </a:schemeClr>
                </a:solidFill>
              </a:rPr>
              <a:t>aleatoriamente</a:t>
            </a:r>
            <a:r>
              <a:rPr lang="en-US" dirty="0">
                <a:solidFill>
                  <a:schemeClr val="accent1">
                    <a:lumMod val="50000"/>
                  </a:schemeClr>
                </a:solidFill>
              </a:rPr>
              <a:t> el primer </a:t>
            </a:r>
            <a:r>
              <a:rPr lang="en-US" dirty="0" err="1">
                <a:solidFill>
                  <a:schemeClr val="accent1">
                    <a:lumMod val="50000"/>
                  </a:schemeClr>
                </a:solidFill>
              </a:rPr>
              <a:t>centroide</a:t>
            </a:r>
            <a:r>
              <a:rPr lang="en-US" dirty="0">
                <a:solidFill>
                  <a:schemeClr val="accent1">
                    <a:lumMod val="50000"/>
                  </a:schemeClr>
                </a:solidFill>
              </a:rPr>
              <a:t>. El resto se </a:t>
            </a:r>
            <a:r>
              <a:rPr lang="en-US" dirty="0" err="1">
                <a:solidFill>
                  <a:schemeClr val="accent1">
                    <a:lumMod val="50000"/>
                  </a:schemeClr>
                </a:solidFill>
              </a:rPr>
              <a:t>calculan</a:t>
            </a:r>
            <a:r>
              <a:rPr lang="en-US" dirty="0">
                <a:solidFill>
                  <a:schemeClr val="accent1">
                    <a:lumMod val="50000"/>
                  </a:schemeClr>
                </a:solidFill>
              </a:rPr>
              <a:t> de forma que </a:t>
            </a:r>
            <a:r>
              <a:rPr lang="en-US" dirty="0" err="1">
                <a:solidFill>
                  <a:schemeClr val="accent1">
                    <a:lumMod val="50000"/>
                  </a:schemeClr>
                </a:solidFill>
              </a:rPr>
              <a:t>su</a:t>
            </a:r>
            <a:r>
              <a:rPr lang="en-US" dirty="0">
                <a:solidFill>
                  <a:schemeClr val="accent1">
                    <a:lumMod val="50000"/>
                  </a:schemeClr>
                </a:solidFill>
              </a:rPr>
              <a:t> </a:t>
            </a:r>
            <a:r>
              <a:rPr lang="en-US" dirty="0" err="1">
                <a:solidFill>
                  <a:schemeClr val="accent1">
                    <a:lumMod val="50000"/>
                  </a:schemeClr>
                </a:solidFill>
              </a:rPr>
              <a:t>distancia</a:t>
            </a:r>
            <a:r>
              <a:rPr lang="en-US" dirty="0">
                <a:solidFill>
                  <a:schemeClr val="accent1">
                    <a:lumMod val="50000"/>
                  </a:schemeClr>
                </a:solidFill>
              </a:rPr>
              <a:t> a </a:t>
            </a:r>
            <a:r>
              <a:rPr lang="en-US" dirty="0" err="1">
                <a:solidFill>
                  <a:schemeClr val="accent1">
                    <a:lumMod val="50000"/>
                  </a:schemeClr>
                </a:solidFill>
              </a:rPr>
              <a:t>los</a:t>
            </a:r>
            <a:r>
              <a:rPr lang="en-US" dirty="0">
                <a:solidFill>
                  <a:schemeClr val="accent1">
                    <a:lumMod val="50000"/>
                  </a:schemeClr>
                </a:solidFill>
              </a:rPr>
              <a:t> </a:t>
            </a:r>
            <a:r>
              <a:rPr lang="en-US" dirty="0" err="1">
                <a:solidFill>
                  <a:schemeClr val="accent1">
                    <a:lumMod val="50000"/>
                  </a:schemeClr>
                </a:solidFill>
              </a:rPr>
              <a:t>centroides</a:t>
            </a:r>
            <a:r>
              <a:rPr lang="en-US" dirty="0">
                <a:solidFill>
                  <a:schemeClr val="accent1">
                    <a:lumMod val="50000"/>
                  </a:schemeClr>
                </a:solidFill>
              </a:rPr>
              <a:t> </a:t>
            </a:r>
            <a:r>
              <a:rPr lang="en-US" dirty="0" err="1">
                <a:solidFill>
                  <a:schemeClr val="accent1">
                    <a:lumMod val="50000"/>
                  </a:schemeClr>
                </a:solidFill>
              </a:rPr>
              <a:t>existentes</a:t>
            </a:r>
            <a:r>
              <a:rPr lang="en-US" dirty="0">
                <a:solidFill>
                  <a:schemeClr val="accent1">
                    <a:lumMod val="50000"/>
                  </a:schemeClr>
                </a:solidFill>
              </a:rPr>
              <a:t> se </a:t>
            </a:r>
            <a:r>
              <a:rPr lang="en-US" dirty="0" err="1">
                <a:solidFill>
                  <a:schemeClr val="accent1">
                    <a:lumMod val="50000"/>
                  </a:schemeClr>
                </a:solidFill>
              </a:rPr>
              <a:t>distribuya</a:t>
            </a:r>
            <a:r>
              <a:rPr lang="en-US" dirty="0">
                <a:solidFill>
                  <a:schemeClr val="accent1">
                    <a:lumMod val="50000"/>
                  </a:schemeClr>
                </a:solidFill>
              </a:rPr>
              <a:t> </a:t>
            </a:r>
            <a:r>
              <a:rPr lang="en-US" dirty="0" err="1">
                <a:solidFill>
                  <a:schemeClr val="accent1">
                    <a:lumMod val="50000"/>
                  </a:schemeClr>
                </a:solidFill>
              </a:rPr>
              <a:t>uniformemente</a:t>
            </a:r>
            <a:r>
              <a:rPr lang="en-US" dirty="0">
                <a:solidFill>
                  <a:schemeClr val="accent1">
                    <a:lumMod val="50000"/>
                  </a:schemeClr>
                </a:solidFill>
              </a:rPr>
              <a:t>.</a:t>
            </a:r>
          </a:p>
          <a:p>
            <a:endParaRPr lang="es-ES" dirty="0">
              <a:solidFill>
                <a:schemeClr val="accent1">
                  <a:lumMod val="50000"/>
                </a:schemeClr>
              </a:solidFill>
            </a:endParaRPr>
          </a:p>
        </p:txBody>
      </p:sp>
      <p:sp>
        <p:nvSpPr>
          <p:cNvPr id="10" name="Rectángulo: esquinas redondeadas 9">
            <a:extLst>
              <a:ext uri="{FF2B5EF4-FFF2-40B4-BE49-F238E27FC236}">
                <a16:creationId xmlns:a16="http://schemas.microsoft.com/office/drawing/2014/main" id="{F367520B-F947-2678-6EAB-027B8A95BC94}"/>
              </a:ext>
            </a:extLst>
          </p:cNvPr>
          <p:cNvSpPr/>
          <p:nvPr/>
        </p:nvSpPr>
        <p:spPr>
          <a:xfrm>
            <a:off x="484576" y="882736"/>
            <a:ext cx="10869224" cy="2520819"/>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sklearn.datasets</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make_blobs</a:t>
            </a:r>
            <a:endParaRPr lang="es-ES" sz="1600" dirty="0">
              <a:solidFill>
                <a:schemeClr val="accent1">
                  <a:lumMod val="50000"/>
                </a:schemeClr>
              </a:solidFill>
              <a:latin typeface="Courier New" panose="02070309020205020404" pitchFamily="49" charset="0"/>
              <a:cs typeface="Courier New" panose="02070309020205020404" pitchFamily="49" charset="0"/>
            </a:endParaRPr>
          </a:p>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sklearn.cluster</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KMeans</a:t>
            </a:r>
            <a:endParaRPr lang="es-ES" sz="1600" dirty="0">
              <a:solidFill>
                <a:schemeClr val="accent1">
                  <a:lumMod val="50000"/>
                </a:schemeClr>
              </a:solidFill>
              <a:latin typeface="Courier New" panose="02070309020205020404" pitchFamily="49" charset="0"/>
              <a:cs typeface="Courier New" panose="02070309020205020404" pitchFamily="49" charset="0"/>
            </a:endParaRPr>
          </a:p>
          <a:p>
            <a:endParaRPr lang="es-ES" sz="1600" b="1" dirty="0">
              <a:solidFill>
                <a:schemeClr val="accent6">
                  <a:lumMod val="75000"/>
                </a:schemeClr>
              </a:solidFill>
              <a:latin typeface="Courier New" panose="02070309020205020404" pitchFamily="49" charset="0"/>
              <a:cs typeface="Courier New" panose="02070309020205020404" pitchFamily="49" charset="0"/>
            </a:endParaRPr>
          </a:p>
          <a:p>
            <a:r>
              <a:rPr lang="es-ES" sz="1600" dirty="0">
                <a:solidFill>
                  <a:schemeClr val="accent2">
                    <a:lumMod val="50000"/>
                  </a:schemeClr>
                </a:solidFill>
                <a:latin typeface="Courier New" panose="02070309020205020404" pitchFamily="49" charset="0"/>
                <a:cs typeface="Courier New" panose="02070309020205020404" pitchFamily="49" charset="0"/>
              </a:rPr>
              <a:t># Generar datos</a:t>
            </a:r>
          </a:p>
          <a:p>
            <a:r>
              <a:rPr lang="es-ES" sz="1600" dirty="0" err="1">
                <a:solidFill>
                  <a:schemeClr val="accent1">
                    <a:lumMod val="50000"/>
                  </a:schemeClr>
                </a:solidFill>
                <a:latin typeface="Courier New" panose="02070309020205020404" pitchFamily="49" charset="0"/>
                <a:cs typeface="Courier New" panose="02070309020205020404" pitchFamily="49" charset="0"/>
              </a:rPr>
              <a:t>X_train</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true_labels</a:t>
            </a:r>
            <a:r>
              <a:rPr lang="es-ES" sz="1600" dirty="0">
                <a:solidFill>
                  <a:schemeClr val="accent1">
                    <a:lumMod val="50000"/>
                  </a:schemeClr>
                </a:solidFill>
                <a:latin typeface="Courier New" panose="02070309020205020404" pitchFamily="49" charset="0"/>
                <a:cs typeface="Courier New" panose="02070309020205020404" pitchFamily="49" charset="0"/>
              </a:rPr>
              <a:t> = </a:t>
            </a:r>
            <a:r>
              <a:rPr lang="es-ES" sz="1600" dirty="0" err="1">
                <a:solidFill>
                  <a:schemeClr val="accent1">
                    <a:lumMod val="50000"/>
                  </a:schemeClr>
                </a:solidFill>
                <a:latin typeface="Courier New" panose="02070309020205020404" pitchFamily="49" charset="0"/>
                <a:cs typeface="Courier New" panose="02070309020205020404" pitchFamily="49" charset="0"/>
              </a:rPr>
              <a:t>make_blobs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err="1">
                <a:solidFill>
                  <a:schemeClr val="accent1">
                    <a:lumMod val="50000"/>
                  </a:schemeClr>
                </a:solidFill>
                <a:latin typeface="Courier New" panose="02070309020205020404" pitchFamily="49" charset="0"/>
                <a:cs typeface="Courier New" panose="02070309020205020404" pitchFamily="49" charset="0"/>
              </a:rPr>
              <a:t>n_samples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10</a:t>
            </a:r>
            <a:r>
              <a:rPr lang="es-ES" sz="1600" dirty="0">
                <a:solidFill>
                  <a:schemeClr val="accent1">
                    <a:lumMod val="50000"/>
                  </a:schemeClr>
                </a:solidFill>
                <a:latin typeface="Courier New" panose="02070309020205020404" pitchFamily="49" charset="0"/>
                <a:cs typeface="Courier New" panose="02070309020205020404" pitchFamily="49" charset="0"/>
              </a:rPr>
              <a:t>, centers=</a:t>
            </a:r>
            <a:r>
              <a:rPr lang="es-ES" sz="1600" b="1" dirty="0">
                <a:solidFill>
                  <a:schemeClr val="accent6">
                    <a:lumMod val="75000"/>
                  </a:schemeClr>
                </a:solidFill>
                <a:latin typeface="Courier New" panose="02070309020205020404" pitchFamily="49" charset="0"/>
                <a:cs typeface="Courier New" panose="02070309020205020404" pitchFamily="49" charset="0"/>
              </a:rPr>
              <a:t>2</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random_state</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142</a:t>
            </a:r>
            <a:r>
              <a:rPr lang="es-ES" sz="1600" dirty="0">
                <a:solidFill>
                  <a:schemeClr val="accent1">
                    <a:lumMod val="50000"/>
                  </a:schemeClr>
                </a:solidFill>
                <a:latin typeface="Courier New" panose="02070309020205020404" pitchFamily="49" charset="0"/>
                <a:cs typeface="Courier New" panose="02070309020205020404" pitchFamily="49" charset="0"/>
              </a:rPr>
              <a:t>)</a:t>
            </a:r>
          </a:p>
          <a:p>
            <a:endParaRPr lang="es-ES" sz="1600" dirty="0">
              <a:solidFill>
                <a:schemeClr val="accent1">
                  <a:lumMod val="50000"/>
                </a:schemeClr>
              </a:solidFill>
              <a:latin typeface="Courier New" panose="02070309020205020404" pitchFamily="49" charset="0"/>
              <a:cs typeface="Courier New" panose="02070309020205020404" pitchFamily="49" charset="0"/>
            </a:endParaRPr>
          </a:p>
          <a:p>
            <a:r>
              <a:rPr lang="es-ES" sz="1600" dirty="0">
                <a:solidFill>
                  <a:schemeClr val="accent2">
                    <a:lumMod val="50000"/>
                  </a:schemeClr>
                </a:solidFill>
                <a:latin typeface="Courier New" panose="02070309020205020404" pitchFamily="49" charset="0"/>
                <a:cs typeface="Courier New" panose="02070309020205020404" pitchFamily="49" charset="0"/>
              </a:rPr>
              <a:t># Aplicar </a:t>
            </a:r>
            <a:r>
              <a:rPr lang="es-ES" sz="1600" dirty="0" err="1">
                <a:solidFill>
                  <a:schemeClr val="accent2">
                    <a:lumMod val="50000"/>
                  </a:schemeClr>
                </a:solidFill>
                <a:latin typeface="Courier New" panose="02070309020205020404" pitchFamily="49" charset="0"/>
                <a:cs typeface="Courier New" panose="02070309020205020404" pitchFamily="49" charset="0"/>
              </a:rPr>
              <a:t>KMeans</a:t>
            </a:r>
            <a:endParaRPr lang="es-ES" sz="1600" dirty="0">
              <a:solidFill>
                <a:schemeClr val="accent2">
                  <a:lumMod val="50000"/>
                </a:schemeClr>
              </a:solidFill>
              <a:latin typeface="Courier New" panose="02070309020205020404" pitchFamily="49" charset="0"/>
              <a:cs typeface="Courier New" panose="02070309020205020404" pitchFamily="49" charset="0"/>
            </a:endParaRPr>
          </a:p>
          <a:p>
            <a:r>
              <a:rPr lang="es-ES" sz="1600" dirty="0" err="1">
                <a:solidFill>
                  <a:schemeClr val="accent1">
                    <a:lumMod val="50000"/>
                  </a:schemeClr>
                </a:solidFill>
                <a:latin typeface="Courier New" panose="02070309020205020404" pitchFamily="49" charset="0"/>
                <a:cs typeface="Courier New" panose="02070309020205020404" pitchFamily="49" charset="0"/>
              </a:rPr>
              <a:t>kmeans</a:t>
            </a:r>
            <a:r>
              <a:rPr lang="es-ES" sz="1600" dirty="0">
                <a:solidFill>
                  <a:schemeClr val="accent1">
                    <a:lumMod val="50000"/>
                  </a:schemeClr>
                </a:solidFill>
                <a:latin typeface="Courier New" panose="02070309020205020404" pitchFamily="49" charset="0"/>
                <a:cs typeface="Courier New" panose="02070309020205020404" pitchFamily="49" charset="0"/>
              </a:rPr>
              <a:t> = </a:t>
            </a:r>
            <a:r>
              <a:rPr lang="es-ES" sz="1600" dirty="0" err="1">
                <a:solidFill>
                  <a:schemeClr val="accent1">
                    <a:lumMod val="50000"/>
                  </a:schemeClr>
                </a:solidFill>
                <a:latin typeface="Courier New" panose="02070309020205020404" pitchFamily="49" charset="0"/>
                <a:cs typeface="Courier New" panose="02070309020205020404" pitchFamily="49" charset="0"/>
              </a:rPr>
              <a:t>KMeans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err="1">
                <a:solidFill>
                  <a:schemeClr val="accent1">
                    <a:lumMod val="50000"/>
                  </a:schemeClr>
                </a:solidFill>
                <a:latin typeface="Courier New" panose="02070309020205020404" pitchFamily="49" charset="0"/>
                <a:cs typeface="Courier New" panose="02070309020205020404" pitchFamily="49" charset="0"/>
              </a:rPr>
              <a:t>n_clusters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2</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init</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rgbClr val="C00000"/>
                </a:solidFill>
                <a:latin typeface="Courier New" panose="02070309020205020404" pitchFamily="49" charset="0"/>
                <a:cs typeface="Courier New" panose="02070309020205020404" pitchFamily="49" charset="0"/>
              </a:rPr>
              <a:t>'k-</a:t>
            </a:r>
            <a:r>
              <a:rPr lang="es-ES" sz="1600" b="1" dirty="0" err="1">
                <a:solidFill>
                  <a:srgbClr val="C00000"/>
                </a:solidFill>
                <a:latin typeface="Courier New" panose="02070309020205020404" pitchFamily="49" charset="0"/>
                <a:cs typeface="Courier New" panose="02070309020205020404" pitchFamily="49" charset="0"/>
              </a:rPr>
              <a:t>means</a:t>
            </a:r>
            <a:r>
              <a:rPr lang="es-ES" sz="1600" b="1" dirty="0">
                <a:solidFill>
                  <a:srgbClr val="C00000"/>
                </a:solidFill>
                <a:latin typeface="Courier New" panose="02070309020205020404" pitchFamily="49" charset="0"/>
                <a:cs typeface="Courier New" panose="02070309020205020404" pitchFamily="49" charset="0"/>
              </a:rPr>
              <a:t>++'</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max_iter</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50</a:t>
            </a:r>
            <a:r>
              <a:rPr lang="es-ES" sz="1600" dirty="0">
                <a:solidFill>
                  <a:schemeClr val="accent1">
                    <a:lumMod val="50000"/>
                  </a:schemeClr>
                </a:solidFill>
                <a:latin typeface="Courier New" panose="02070309020205020404" pitchFamily="49" charset="0"/>
                <a:cs typeface="Courier New" panose="02070309020205020404" pitchFamily="49" charset="0"/>
              </a:rPr>
              <a:t>)</a:t>
            </a:r>
          </a:p>
          <a:p>
            <a:r>
              <a:rPr lang="es-ES" sz="1600" dirty="0" err="1">
                <a:solidFill>
                  <a:schemeClr val="accent1">
                    <a:lumMod val="50000"/>
                  </a:schemeClr>
                </a:solidFill>
                <a:latin typeface="Courier New" panose="02070309020205020404" pitchFamily="49" charset="0"/>
                <a:cs typeface="Courier New" panose="02070309020205020404" pitchFamily="49" charset="0"/>
              </a:rPr>
              <a:t>labels</a:t>
            </a:r>
            <a:r>
              <a:rPr lang="es-ES" sz="1600" dirty="0">
                <a:solidFill>
                  <a:schemeClr val="accent1">
                    <a:lumMod val="50000"/>
                  </a:schemeClr>
                </a:solidFill>
                <a:latin typeface="Courier New" panose="02070309020205020404" pitchFamily="49" charset="0"/>
                <a:cs typeface="Courier New" panose="02070309020205020404" pitchFamily="49" charset="0"/>
              </a:rPr>
              <a:t> = </a:t>
            </a:r>
            <a:r>
              <a:rPr lang="es-ES" sz="1600" dirty="0" err="1">
                <a:solidFill>
                  <a:schemeClr val="accent1">
                    <a:lumMod val="50000"/>
                  </a:schemeClr>
                </a:solidFill>
                <a:latin typeface="Courier New" panose="02070309020205020404" pitchFamily="49" charset="0"/>
                <a:cs typeface="Courier New" panose="02070309020205020404" pitchFamily="49" charset="0"/>
              </a:rPr>
              <a:t>kmeans.fit_predict</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err="1">
                <a:solidFill>
                  <a:schemeClr val="accent1">
                    <a:lumMod val="50000"/>
                  </a:schemeClr>
                </a:solidFill>
                <a:latin typeface="Courier New" panose="02070309020205020404" pitchFamily="49" charset="0"/>
                <a:cs typeface="Courier New" panose="02070309020205020404" pitchFamily="49" charset="0"/>
              </a:rPr>
              <a:t>X_train</a:t>
            </a:r>
            <a:r>
              <a:rPr lang="es-ES" sz="1600" dirty="0">
                <a:solidFill>
                  <a:schemeClr val="accent1">
                    <a:lumMod val="50000"/>
                  </a:schemeClr>
                </a:solidFill>
                <a:latin typeface="Courier New" panose="02070309020205020404" pitchFamily="49" charset="0"/>
                <a:cs typeface="Courier New" panose="02070309020205020404" pitchFamily="49" charset="0"/>
              </a:rPr>
              <a:t>)</a:t>
            </a:r>
          </a:p>
        </p:txBody>
      </p:sp>
      <p:sp>
        <p:nvSpPr>
          <p:cNvPr id="11" name="Rectángulo: esquinas redondeadas 10">
            <a:extLst>
              <a:ext uri="{FF2B5EF4-FFF2-40B4-BE49-F238E27FC236}">
                <a16:creationId xmlns:a16="http://schemas.microsoft.com/office/drawing/2014/main" id="{7715AA95-C547-4282-481D-B394EF7A6B98}"/>
              </a:ext>
            </a:extLst>
          </p:cNvPr>
          <p:cNvSpPr/>
          <p:nvPr/>
        </p:nvSpPr>
        <p:spPr>
          <a:xfrm>
            <a:off x="484576" y="4155392"/>
            <a:ext cx="10869224" cy="889777"/>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600" dirty="0">
                <a:solidFill>
                  <a:schemeClr val="accent2">
                    <a:lumMod val="50000"/>
                  </a:schemeClr>
                </a:solidFill>
                <a:latin typeface="Courier New" panose="02070309020205020404" pitchFamily="49" charset="0"/>
                <a:cs typeface="Courier New" panose="02070309020205020404" pitchFamily="49" charset="0"/>
              </a:rPr>
              <a:t># Aplicar </a:t>
            </a:r>
            <a:r>
              <a:rPr lang="es-ES" sz="1600" dirty="0" err="1">
                <a:solidFill>
                  <a:schemeClr val="accent2">
                    <a:lumMod val="50000"/>
                  </a:schemeClr>
                </a:solidFill>
                <a:latin typeface="Courier New" panose="02070309020205020404" pitchFamily="49" charset="0"/>
                <a:cs typeface="Courier New" panose="02070309020205020404" pitchFamily="49" charset="0"/>
              </a:rPr>
              <a:t>KMeans</a:t>
            </a:r>
            <a:endParaRPr lang="es-ES" sz="1600" dirty="0">
              <a:solidFill>
                <a:schemeClr val="accent2">
                  <a:lumMod val="50000"/>
                </a:schemeClr>
              </a:solidFill>
              <a:latin typeface="Courier New" panose="02070309020205020404" pitchFamily="49" charset="0"/>
              <a:cs typeface="Courier New" panose="02070309020205020404" pitchFamily="49" charset="0"/>
            </a:endParaRPr>
          </a:p>
          <a:p>
            <a:r>
              <a:rPr lang="es-ES" sz="1600" dirty="0" err="1">
                <a:solidFill>
                  <a:schemeClr val="accent1">
                    <a:lumMod val="50000"/>
                  </a:schemeClr>
                </a:solidFill>
                <a:latin typeface="Courier New" panose="02070309020205020404" pitchFamily="49" charset="0"/>
                <a:cs typeface="Courier New" panose="02070309020205020404" pitchFamily="49" charset="0"/>
              </a:rPr>
              <a:t>kmeans</a:t>
            </a:r>
            <a:r>
              <a:rPr lang="es-ES" sz="1600" dirty="0">
                <a:solidFill>
                  <a:schemeClr val="accent1">
                    <a:lumMod val="50000"/>
                  </a:schemeClr>
                </a:solidFill>
                <a:latin typeface="Courier New" panose="02070309020205020404" pitchFamily="49" charset="0"/>
                <a:cs typeface="Courier New" panose="02070309020205020404" pitchFamily="49" charset="0"/>
              </a:rPr>
              <a:t> = </a:t>
            </a:r>
            <a:r>
              <a:rPr lang="es-ES" sz="1600" dirty="0" err="1">
                <a:solidFill>
                  <a:schemeClr val="accent1">
                    <a:lumMod val="50000"/>
                  </a:schemeClr>
                </a:solidFill>
                <a:latin typeface="Courier New" panose="02070309020205020404" pitchFamily="49" charset="0"/>
                <a:cs typeface="Courier New" panose="02070309020205020404" pitchFamily="49" charset="0"/>
              </a:rPr>
              <a:t>KMeans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err="1">
                <a:solidFill>
                  <a:schemeClr val="accent1">
                    <a:lumMod val="50000"/>
                  </a:schemeClr>
                </a:solidFill>
                <a:latin typeface="Courier New" panose="02070309020205020404" pitchFamily="49" charset="0"/>
                <a:cs typeface="Courier New" panose="02070309020205020404" pitchFamily="49" charset="0"/>
              </a:rPr>
              <a:t>n_clusters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2</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init</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rgbClr val="C00000"/>
                </a:solidFill>
                <a:latin typeface="Courier New" panose="02070309020205020404" pitchFamily="49" charset="0"/>
                <a:cs typeface="Courier New" panose="02070309020205020404" pitchFamily="49" charset="0"/>
              </a:rPr>
              <a:t>‘</a:t>
            </a:r>
            <a:r>
              <a:rPr lang="es-ES" sz="1600" b="1" dirty="0" err="1">
                <a:solidFill>
                  <a:srgbClr val="C00000"/>
                </a:solidFill>
                <a:latin typeface="Courier New" panose="02070309020205020404" pitchFamily="49" charset="0"/>
                <a:cs typeface="Courier New" panose="02070309020205020404" pitchFamily="49" charset="0"/>
              </a:rPr>
              <a:t>random</a:t>
            </a:r>
            <a:r>
              <a:rPr lang="es-ES" sz="1600" b="1" dirty="0">
                <a:solidFill>
                  <a:srgbClr val="C00000"/>
                </a:solidFill>
                <a:latin typeface="Courier New" panose="02070309020205020404" pitchFamily="49" charset="0"/>
                <a:cs typeface="Courier New" panose="02070309020205020404" pitchFamily="49" charset="0"/>
              </a:rPr>
              <a:t>’</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n_init</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rgbClr val="C00000"/>
                </a:solidFill>
                <a:latin typeface="Courier New" panose="02070309020205020404" pitchFamily="49" charset="0"/>
                <a:cs typeface="Courier New" panose="02070309020205020404" pitchFamily="49" charset="0"/>
              </a:rPr>
              <a:t>‘auto’,</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max_iter</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50</a:t>
            </a:r>
            <a:r>
              <a:rPr lang="es-ES" sz="1600" dirty="0">
                <a:solidFill>
                  <a:schemeClr val="accent1">
                    <a:lumMod val="50000"/>
                  </a:schemeClr>
                </a:solidFill>
                <a:latin typeface="Courier New" panose="02070309020205020404" pitchFamily="49" charset="0"/>
                <a:cs typeface="Courier New" panose="02070309020205020404" pitchFamily="49" charset="0"/>
              </a:rPr>
              <a:t>)</a:t>
            </a:r>
          </a:p>
          <a:p>
            <a:r>
              <a:rPr lang="es-ES" sz="1600" dirty="0" err="1">
                <a:solidFill>
                  <a:schemeClr val="accent1">
                    <a:lumMod val="50000"/>
                  </a:schemeClr>
                </a:solidFill>
                <a:latin typeface="Courier New" panose="02070309020205020404" pitchFamily="49" charset="0"/>
                <a:cs typeface="Courier New" panose="02070309020205020404" pitchFamily="49" charset="0"/>
              </a:rPr>
              <a:t>labels</a:t>
            </a:r>
            <a:r>
              <a:rPr lang="es-ES" sz="1600" dirty="0">
                <a:solidFill>
                  <a:schemeClr val="accent1">
                    <a:lumMod val="50000"/>
                  </a:schemeClr>
                </a:solidFill>
                <a:latin typeface="Courier New" panose="02070309020205020404" pitchFamily="49" charset="0"/>
                <a:cs typeface="Courier New" panose="02070309020205020404" pitchFamily="49" charset="0"/>
              </a:rPr>
              <a:t> = </a:t>
            </a:r>
            <a:r>
              <a:rPr lang="es-ES" sz="1600" dirty="0" err="1">
                <a:solidFill>
                  <a:schemeClr val="accent1">
                    <a:lumMod val="50000"/>
                  </a:schemeClr>
                </a:solidFill>
                <a:latin typeface="Courier New" panose="02070309020205020404" pitchFamily="49" charset="0"/>
                <a:cs typeface="Courier New" panose="02070309020205020404" pitchFamily="49" charset="0"/>
              </a:rPr>
              <a:t>kmeans.fit_predict</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err="1">
                <a:solidFill>
                  <a:schemeClr val="accent1">
                    <a:lumMod val="50000"/>
                  </a:schemeClr>
                </a:solidFill>
                <a:latin typeface="Courier New" panose="02070309020205020404" pitchFamily="49" charset="0"/>
                <a:cs typeface="Courier New" panose="02070309020205020404" pitchFamily="49" charset="0"/>
              </a:rPr>
              <a:t>X_train</a:t>
            </a:r>
            <a:r>
              <a:rPr lang="es-ES" sz="1600" dirty="0">
                <a:solidFill>
                  <a:schemeClr val="accent1">
                    <a:lumMod val="50000"/>
                  </a:schemeClr>
                </a:solidFill>
                <a:latin typeface="Courier New" panose="02070309020205020404" pitchFamily="49" charset="0"/>
                <a:cs typeface="Courier New" panose="02070309020205020404" pitchFamily="49" charset="0"/>
              </a:rPr>
              <a:t>)</a:t>
            </a:r>
          </a:p>
        </p:txBody>
      </p:sp>
      <p:sp>
        <p:nvSpPr>
          <p:cNvPr id="12" name="Rectángulo: esquinas redondeadas 11">
            <a:extLst>
              <a:ext uri="{FF2B5EF4-FFF2-40B4-BE49-F238E27FC236}">
                <a16:creationId xmlns:a16="http://schemas.microsoft.com/office/drawing/2014/main" id="{5464E03C-5DCD-DE34-05A2-20D9B57CDABE}"/>
              </a:ext>
            </a:extLst>
          </p:cNvPr>
          <p:cNvSpPr/>
          <p:nvPr/>
        </p:nvSpPr>
        <p:spPr>
          <a:xfrm>
            <a:off x="206679" y="5205595"/>
            <a:ext cx="11598765" cy="568564"/>
          </a:xfrm>
          <a:prstGeom prst="roundRect">
            <a:avLst>
              <a:gd name="adj" fmla="val 4718"/>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dirty="0">
                <a:solidFill>
                  <a:schemeClr val="accent1">
                    <a:lumMod val="50000"/>
                  </a:schemeClr>
                </a:solidFill>
                <a:cs typeface="Courier New" panose="02070309020205020404" pitchFamily="49" charset="0"/>
              </a:rPr>
              <a:t>Si se emplea </a:t>
            </a:r>
            <a:r>
              <a:rPr lang="es-ES" dirty="0" err="1">
                <a:solidFill>
                  <a:schemeClr val="accent1">
                    <a:lumMod val="50000"/>
                  </a:schemeClr>
                </a:solidFill>
                <a:latin typeface="Courier New" panose="02070309020205020404" pitchFamily="49" charset="0"/>
                <a:cs typeface="Courier New" panose="02070309020205020404" pitchFamily="49" charset="0"/>
              </a:rPr>
              <a:t>init</a:t>
            </a:r>
            <a:r>
              <a:rPr lang="es-ES" dirty="0">
                <a:solidFill>
                  <a:schemeClr val="accent1">
                    <a:lumMod val="50000"/>
                  </a:schemeClr>
                </a:solidFill>
                <a:latin typeface="Courier New" panose="02070309020205020404" pitchFamily="49" charset="0"/>
                <a:cs typeface="Courier New" panose="02070309020205020404" pitchFamily="49" charset="0"/>
              </a:rPr>
              <a:t>=</a:t>
            </a:r>
            <a:r>
              <a:rPr lang="es-ES" b="1" dirty="0">
                <a:solidFill>
                  <a:srgbClr val="C00000"/>
                </a:solidFill>
                <a:latin typeface="Courier New" panose="02070309020205020404" pitchFamily="49" charset="0"/>
                <a:cs typeface="Courier New" panose="02070309020205020404" pitchFamily="49" charset="0"/>
              </a:rPr>
              <a:t>‘</a:t>
            </a:r>
            <a:r>
              <a:rPr lang="es-ES" b="1" dirty="0" err="1">
                <a:solidFill>
                  <a:srgbClr val="C00000"/>
                </a:solidFill>
                <a:latin typeface="Courier New" panose="02070309020205020404" pitchFamily="49" charset="0"/>
                <a:cs typeface="Courier New" panose="02070309020205020404" pitchFamily="49" charset="0"/>
              </a:rPr>
              <a:t>random</a:t>
            </a:r>
            <a:r>
              <a:rPr lang="es-ES" b="1" dirty="0">
                <a:solidFill>
                  <a:srgbClr val="C00000"/>
                </a:solidFill>
                <a:latin typeface="Courier New" panose="02070309020205020404" pitchFamily="49" charset="0"/>
                <a:cs typeface="Courier New" panose="02070309020205020404" pitchFamily="49" charset="0"/>
              </a:rPr>
              <a:t>’</a:t>
            </a:r>
            <a:r>
              <a:rPr lang="es-ES" b="1" dirty="0">
                <a:solidFill>
                  <a:schemeClr val="accent1">
                    <a:lumMod val="50000"/>
                  </a:schemeClr>
                </a:solidFill>
                <a:latin typeface="Courier New" panose="02070309020205020404" pitchFamily="49" charset="0"/>
                <a:cs typeface="Courier New" panose="02070309020205020404" pitchFamily="49" charset="0"/>
              </a:rPr>
              <a:t> , </a:t>
            </a:r>
            <a:r>
              <a:rPr lang="es-ES" dirty="0" err="1">
                <a:solidFill>
                  <a:schemeClr val="accent1">
                    <a:lumMod val="50000"/>
                  </a:schemeClr>
                </a:solidFill>
                <a:latin typeface="Courier New" panose="02070309020205020404" pitchFamily="49" charset="0"/>
                <a:cs typeface="Courier New" panose="02070309020205020404" pitchFamily="49" charset="0"/>
              </a:rPr>
              <a:t>n_init</a:t>
            </a:r>
            <a:r>
              <a:rPr lang="es-ES"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rPr>
              <a:t>es el número de veces que ejecutamos el método con centroides diferentes. La opción por defecto es </a:t>
            </a:r>
            <a:r>
              <a:rPr lang="es-ES" dirty="0" err="1">
                <a:solidFill>
                  <a:schemeClr val="accent1">
                    <a:lumMod val="50000"/>
                  </a:schemeClr>
                </a:solidFill>
                <a:latin typeface="Courier New" panose="02070309020205020404" pitchFamily="49" charset="0"/>
                <a:cs typeface="Courier New" panose="02070309020205020404" pitchFamily="49" charset="0"/>
              </a:rPr>
              <a:t>n_init</a:t>
            </a:r>
            <a:r>
              <a:rPr lang="es-ES" dirty="0">
                <a:solidFill>
                  <a:schemeClr val="accent1">
                    <a:lumMod val="50000"/>
                  </a:schemeClr>
                </a:solidFill>
                <a:latin typeface="Courier New" panose="02070309020205020404" pitchFamily="49" charset="0"/>
                <a:cs typeface="Courier New" panose="02070309020205020404" pitchFamily="49" charset="0"/>
              </a:rPr>
              <a:t>=</a:t>
            </a:r>
            <a:r>
              <a:rPr lang="es-ES" b="1" dirty="0">
                <a:solidFill>
                  <a:srgbClr val="C00000"/>
                </a:solidFill>
                <a:latin typeface="Courier New" panose="02070309020205020404" pitchFamily="49" charset="0"/>
                <a:cs typeface="Courier New" panose="02070309020205020404" pitchFamily="49" charset="0"/>
              </a:rPr>
              <a:t>‘auto’</a:t>
            </a:r>
            <a:r>
              <a:rPr lang="es-ES"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rPr>
              <a:t>que implica 10 ejecuciones.</a:t>
            </a:r>
          </a:p>
        </p:txBody>
      </p:sp>
      <p:sp>
        <p:nvSpPr>
          <p:cNvPr id="13" name="Rectángulo: esquinas redondeadas 12">
            <a:extLst>
              <a:ext uri="{FF2B5EF4-FFF2-40B4-BE49-F238E27FC236}">
                <a16:creationId xmlns:a16="http://schemas.microsoft.com/office/drawing/2014/main" id="{20D7F627-250A-A234-E084-1180669E6937}"/>
              </a:ext>
            </a:extLst>
          </p:cNvPr>
          <p:cNvSpPr/>
          <p:nvPr/>
        </p:nvSpPr>
        <p:spPr>
          <a:xfrm>
            <a:off x="484576" y="5827072"/>
            <a:ext cx="10869224" cy="889777"/>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600" dirty="0">
                <a:solidFill>
                  <a:schemeClr val="accent2">
                    <a:lumMod val="50000"/>
                  </a:schemeClr>
                </a:solidFill>
                <a:latin typeface="Courier New" panose="02070309020205020404" pitchFamily="49" charset="0"/>
                <a:cs typeface="Courier New" panose="02070309020205020404" pitchFamily="49" charset="0"/>
              </a:rPr>
              <a:t># Aplicar </a:t>
            </a:r>
            <a:r>
              <a:rPr lang="es-ES" sz="1600" dirty="0" err="1">
                <a:solidFill>
                  <a:schemeClr val="accent2">
                    <a:lumMod val="50000"/>
                  </a:schemeClr>
                </a:solidFill>
                <a:latin typeface="Courier New" panose="02070309020205020404" pitchFamily="49" charset="0"/>
                <a:cs typeface="Courier New" panose="02070309020205020404" pitchFamily="49" charset="0"/>
              </a:rPr>
              <a:t>KMeans</a:t>
            </a:r>
            <a:endParaRPr lang="es-ES" sz="1600" dirty="0">
              <a:solidFill>
                <a:schemeClr val="accent2">
                  <a:lumMod val="50000"/>
                </a:schemeClr>
              </a:solidFill>
              <a:latin typeface="Courier New" panose="02070309020205020404" pitchFamily="49" charset="0"/>
              <a:cs typeface="Courier New" panose="02070309020205020404" pitchFamily="49" charset="0"/>
            </a:endParaRPr>
          </a:p>
          <a:p>
            <a:r>
              <a:rPr lang="es-ES" sz="1600" dirty="0" err="1">
                <a:solidFill>
                  <a:schemeClr val="accent1">
                    <a:lumMod val="50000"/>
                  </a:schemeClr>
                </a:solidFill>
                <a:latin typeface="Courier New" panose="02070309020205020404" pitchFamily="49" charset="0"/>
                <a:cs typeface="Courier New" panose="02070309020205020404" pitchFamily="49" charset="0"/>
              </a:rPr>
              <a:t>kmeans</a:t>
            </a:r>
            <a:r>
              <a:rPr lang="es-ES" sz="1600" dirty="0">
                <a:solidFill>
                  <a:schemeClr val="accent1">
                    <a:lumMod val="50000"/>
                  </a:schemeClr>
                </a:solidFill>
                <a:latin typeface="Courier New" panose="02070309020205020404" pitchFamily="49" charset="0"/>
                <a:cs typeface="Courier New" panose="02070309020205020404" pitchFamily="49" charset="0"/>
              </a:rPr>
              <a:t> = </a:t>
            </a:r>
            <a:r>
              <a:rPr lang="es-ES" sz="1600" dirty="0" err="1">
                <a:solidFill>
                  <a:schemeClr val="accent1">
                    <a:lumMod val="50000"/>
                  </a:schemeClr>
                </a:solidFill>
                <a:latin typeface="Courier New" panose="02070309020205020404" pitchFamily="49" charset="0"/>
                <a:cs typeface="Courier New" panose="02070309020205020404" pitchFamily="49" charset="0"/>
              </a:rPr>
              <a:t>KMeans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err="1">
                <a:solidFill>
                  <a:schemeClr val="accent1">
                    <a:lumMod val="50000"/>
                  </a:schemeClr>
                </a:solidFill>
                <a:latin typeface="Courier New" panose="02070309020205020404" pitchFamily="49" charset="0"/>
                <a:cs typeface="Courier New" panose="02070309020205020404" pitchFamily="49" charset="0"/>
              </a:rPr>
              <a:t>n_clusters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2</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init</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rgbClr val="C00000"/>
                </a:solidFill>
                <a:latin typeface="Courier New" panose="02070309020205020404" pitchFamily="49" charset="0"/>
                <a:cs typeface="Courier New" panose="02070309020205020404" pitchFamily="49" charset="0"/>
              </a:rPr>
              <a:t>‘</a:t>
            </a:r>
            <a:r>
              <a:rPr lang="es-ES" sz="1600" b="1" dirty="0" err="1">
                <a:solidFill>
                  <a:srgbClr val="C00000"/>
                </a:solidFill>
                <a:latin typeface="Courier New" panose="02070309020205020404" pitchFamily="49" charset="0"/>
                <a:cs typeface="Courier New" panose="02070309020205020404" pitchFamily="49" charset="0"/>
              </a:rPr>
              <a:t>random</a:t>
            </a:r>
            <a:r>
              <a:rPr lang="es-ES" sz="1600" b="1" dirty="0">
                <a:solidFill>
                  <a:srgbClr val="C00000"/>
                </a:solidFill>
                <a:latin typeface="Courier New" panose="02070309020205020404" pitchFamily="49" charset="0"/>
                <a:cs typeface="Courier New" panose="02070309020205020404" pitchFamily="49" charset="0"/>
              </a:rPr>
              <a:t>’</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n_init</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b="1" dirty="0">
                <a:solidFill>
                  <a:schemeClr val="accent6">
                    <a:lumMod val="75000"/>
                  </a:schemeClr>
                </a:solidFill>
                <a:latin typeface="Courier New" panose="02070309020205020404" pitchFamily="49" charset="0"/>
                <a:cs typeface="Courier New" panose="02070309020205020404" pitchFamily="49" charset="0"/>
              </a:rPr>
              <a:t>15</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max_iter</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50</a:t>
            </a:r>
            <a:r>
              <a:rPr lang="es-ES" sz="1600" dirty="0">
                <a:solidFill>
                  <a:schemeClr val="accent1">
                    <a:lumMod val="50000"/>
                  </a:schemeClr>
                </a:solidFill>
                <a:latin typeface="Courier New" panose="02070309020205020404" pitchFamily="49" charset="0"/>
                <a:cs typeface="Courier New" panose="02070309020205020404" pitchFamily="49" charset="0"/>
              </a:rPr>
              <a:t>)</a:t>
            </a:r>
          </a:p>
          <a:p>
            <a:r>
              <a:rPr lang="es-ES" sz="1600" dirty="0" err="1">
                <a:solidFill>
                  <a:schemeClr val="accent1">
                    <a:lumMod val="50000"/>
                  </a:schemeClr>
                </a:solidFill>
                <a:latin typeface="Courier New" panose="02070309020205020404" pitchFamily="49" charset="0"/>
                <a:cs typeface="Courier New" panose="02070309020205020404" pitchFamily="49" charset="0"/>
              </a:rPr>
              <a:t>labels</a:t>
            </a:r>
            <a:r>
              <a:rPr lang="es-ES" sz="1600" dirty="0">
                <a:solidFill>
                  <a:schemeClr val="accent1">
                    <a:lumMod val="50000"/>
                  </a:schemeClr>
                </a:solidFill>
                <a:latin typeface="Courier New" panose="02070309020205020404" pitchFamily="49" charset="0"/>
                <a:cs typeface="Courier New" panose="02070309020205020404" pitchFamily="49" charset="0"/>
              </a:rPr>
              <a:t> = </a:t>
            </a:r>
            <a:r>
              <a:rPr lang="es-ES" sz="1600" dirty="0" err="1">
                <a:solidFill>
                  <a:schemeClr val="accent1">
                    <a:lumMod val="50000"/>
                  </a:schemeClr>
                </a:solidFill>
                <a:latin typeface="Courier New" panose="02070309020205020404" pitchFamily="49" charset="0"/>
                <a:cs typeface="Courier New" panose="02070309020205020404" pitchFamily="49" charset="0"/>
              </a:rPr>
              <a:t>kmeans.fit_predict</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err="1">
                <a:solidFill>
                  <a:schemeClr val="accent1">
                    <a:lumMod val="50000"/>
                  </a:schemeClr>
                </a:solidFill>
                <a:latin typeface="Courier New" panose="02070309020205020404" pitchFamily="49" charset="0"/>
                <a:cs typeface="Courier New" panose="02070309020205020404" pitchFamily="49" charset="0"/>
              </a:rPr>
              <a:t>X_train</a:t>
            </a:r>
            <a:r>
              <a:rPr lang="es-ES" sz="1600" dirty="0">
                <a:solidFill>
                  <a:schemeClr val="accent1">
                    <a:lumMod val="50000"/>
                  </a:schemeClr>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913608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43EF5A0B-45CA-2419-7B65-6A8233E6F6B8}"/>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17</a:t>
            </a:fld>
            <a:endParaRPr lang="es-ES">
              <a:solidFill>
                <a:prstClr val="black">
                  <a:tint val="75000"/>
                </a:prstClr>
              </a:solidFill>
            </a:endParaRPr>
          </a:p>
        </p:txBody>
      </p:sp>
      <p:sp>
        <p:nvSpPr>
          <p:cNvPr id="4" name="CuadroTexto 3">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5" name="CuadroTexto 4">
            <a:extLst>
              <a:ext uri="{FF2B5EF4-FFF2-40B4-BE49-F238E27FC236}">
                <a16:creationId xmlns:a16="http://schemas.microsoft.com/office/drawing/2014/main" id="{FDE3E1D8-ECD5-C2E1-DDFD-48925AD95E0F}"/>
              </a:ext>
            </a:extLst>
          </p:cNvPr>
          <p:cNvSpPr txBox="1"/>
          <p:nvPr/>
        </p:nvSpPr>
        <p:spPr>
          <a:xfrm>
            <a:off x="368990" y="320934"/>
            <a:ext cx="3782317" cy="461665"/>
          </a:xfrm>
          <a:prstGeom prst="rect">
            <a:avLst/>
          </a:prstGeom>
          <a:noFill/>
        </p:spPr>
        <p:txBody>
          <a:bodyPr wrap="none" rtlCol="0">
            <a:spAutoFit/>
          </a:bodyPr>
          <a:lstStyle/>
          <a:p>
            <a:r>
              <a:rPr lang="es-ES" sz="2400" b="1" dirty="0">
                <a:solidFill>
                  <a:schemeClr val="accent1">
                    <a:lumMod val="50000"/>
                  </a:schemeClr>
                </a:solidFill>
              </a:rPr>
              <a:t>Implementación en </a:t>
            </a:r>
            <a:r>
              <a:rPr lang="es-ES" sz="2400" b="1" dirty="0" err="1">
                <a:solidFill>
                  <a:schemeClr val="accent1">
                    <a:lumMod val="50000"/>
                  </a:schemeClr>
                </a:solidFill>
              </a:rPr>
              <a:t>SKlearn</a:t>
            </a:r>
            <a:r>
              <a:rPr lang="es-ES" sz="2400" b="1" dirty="0">
                <a:solidFill>
                  <a:schemeClr val="accent1">
                    <a:lumMod val="50000"/>
                  </a:schemeClr>
                </a:solidFill>
              </a:rPr>
              <a:t>.</a:t>
            </a:r>
          </a:p>
        </p:txBody>
      </p:sp>
      <p:sp>
        <p:nvSpPr>
          <p:cNvPr id="10" name="Rectángulo: esquinas redondeadas 9">
            <a:extLst>
              <a:ext uri="{FF2B5EF4-FFF2-40B4-BE49-F238E27FC236}">
                <a16:creationId xmlns:a16="http://schemas.microsoft.com/office/drawing/2014/main" id="{F367520B-F947-2678-6EAB-027B8A95BC94}"/>
              </a:ext>
            </a:extLst>
          </p:cNvPr>
          <p:cNvSpPr/>
          <p:nvPr/>
        </p:nvSpPr>
        <p:spPr>
          <a:xfrm>
            <a:off x="484576" y="882736"/>
            <a:ext cx="10869224" cy="3401697"/>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sklearn.datasets</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make_blobs</a:t>
            </a:r>
            <a:endParaRPr lang="es-ES" sz="1600" dirty="0">
              <a:solidFill>
                <a:schemeClr val="accent1">
                  <a:lumMod val="50000"/>
                </a:schemeClr>
              </a:solidFill>
              <a:latin typeface="Courier New" panose="02070309020205020404" pitchFamily="49" charset="0"/>
              <a:cs typeface="Courier New" panose="02070309020205020404" pitchFamily="49" charset="0"/>
            </a:endParaRPr>
          </a:p>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sklearn.cluster</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Kmeans</a:t>
            </a:r>
            <a:endParaRPr lang="es-ES" sz="1600" dirty="0">
              <a:solidFill>
                <a:schemeClr val="accent1">
                  <a:lumMod val="50000"/>
                </a:schemeClr>
              </a:solidFill>
              <a:latin typeface="Courier New" panose="02070309020205020404" pitchFamily="49" charset="0"/>
              <a:cs typeface="Courier New" panose="02070309020205020404" pitchFamily="49" charset="0"/>
            </a:endParaRPr>
          </a:p>
          <a:p>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seaborn</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b="1" dirty="0">
                <a:solidFill>
                  <a:schemeClr val="accent6">
                    <a:lumMod val="75000"/>
                  </a:schemeClr>
                </a:solidFill>
                <a:latin typeface="Courier New" panose="02070309020205020404" pitchFamily="49" charset="0"/>
                <a:cs typeface="Courier New" panose="02070309020205020404" pitchFamily="49" charset="0"/>
              </a:rPr>
              <a:t>as</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sns</a:t>
            </a:r>
            <a:endParaRPr lang="es-ES" sz="1600" dirty="0">
              <a:solidFill>
                <a:schemeClr val="accent1">
                  <a:lumMod val="50000"/>
                </a:schemeClr>
              </a:solidFill>
              <a:latin typeface="Courier New" panose="02070309020205020404" pitchFamily="49" charset="0"/>
              <a:cs typeface="Courier New" panose="02070309020205020404" pitchFamily="49" charset="0"/>
            </a:endParaRPr>
          </a:p>
          <a:p>
            <a:endParaRPr lang="es-ES" sz="1600" b="1" dirty="0">
              <a:solidFill>
                <a:schemeClr val="accent6">
                  <a:lumMod val="75000"/>
                </a:schemeClr>
              </a:solidFill>
              <a:latin typeface="Courier New" panose="02070309020205020404" pitchFamily="49" charset="0"/>
              <a:cs typeface="Courier New" panose="02070309020205020404" pitchFamily="49" charset="0"/>
            </a:endParaRPr>
          </a:p>
          <a:p>
            <a:r>
              <a:rPr lang="es-ES" sz="1600" dirty="0">
                <a:solidFill>
                  <a:schemeClr val="accent2">
                    <a:lumMod val="50000"/>
                  </a:schemeClr>
                </a:solidFill>
                <a:latin typeface="Courier New" panose="02070309020205020404" pitchFamily="49" charset="0"/>
                <a:cs typeface="Courier New" panose="02070309020205020404" pitchFamily="49" charset="0"/>
              </a:rPr>
              <a:t># Generar datos</a:t>
            </a:r>
          </a:p>
          <a:p>
            <a:r>
              <a:rPr lang="es-ES" sz="1600" dirty="0" err="1">
                <a:solidFill>
                  <a:schemeClr val="accent1">
                    <a:lumMod val="50000"/>
                  </a:schemeClr>
                </a:solidFill>
                <a:latin typeface="Courier New" panose="02070309020205020404" pitchFamily="49" charset="0"/>
                <a:cs typeface="Courier New" panose="02070309020205020404" pitchFamily="49" charset="0"/>
              </a:rPr>
              <a:t>X_train</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true_labels</a:t>
            </a:r>
            <a:r>
              <a:rPr lang="es-ES" sz="1600" dirty="0">
                <a:solidFill>
                  <a:schemeClr val="accent1">
                    <a:lumMod val="50000"/>
                  </a:schemeClr>
                </a:solidFill>
                <a:latin typeface="Courier New" panose="02070309020205020404" pitchFamily="49" charset="0"/>
                <a:cs typeface="Courier New" panose="02070309020205020404" pitchFamily="49" charset="0"/>
              </a:rPr>
              <a:t> = </a:t>
            </a:r>
            <a:r>
              <a:rPr lang="es-ES" sz="1600" dirty="0" err="1">
                <a:solidFill>
                  <a:schemeClr val="accent1">
                    <a:lumMod val="50000"/>
                  </a:schemeClr>
                </a:solidFill>
                <a:latin typeface="Courier New" panose="02070309020205020404" pitchFamily="49" charset="0"/>
                <a:cs typeface="Courier New" panose="02070309020205020404" pitchFamily="49" charset="0"/>
              </a:rPr>
              <a:t>make_blobs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err="1">
                <a:solidFill>
                  <a:schemeClr val="accent1">
                    <a:lumMod val="50000"/>
                  </a:schemeClr>
                </a:solidFill>
                <a:latin typeface="Courier New" panose="02070309020205020404" pitchFamily="49" charset="0"/>
                <a:cs typeface="Courier New" panose="02070309020205020404" pitchFamily="49" charset="0"/>
              </a:rPr>
              <a:t>n_samples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10</a:t>
            </a:r>
            <a:r>
              <a:rPr lang="es-ES" sz="1600" dirty="0">
                <a:solidFill>
                  <a:schemeClr val="accent1">
                    <a:lumMod val="50000"/>
                  </a:schemeClr>
                </a:solidFill>
                <a:latin typeface="Courier New" panose="02070309020205020404" pitchFamily="49" charset="0"/>
                <a:cs typeface="Courier New" panose="02070309020205020404" pitchFamily="49" charset="0"/>
              </a:rPr>
              <a:t>, centers=</a:t>
            </a:r>
            <a:r>
              <a:rPr lang="es-ES" sz="1600" b="1" dirty="0">
                <a:solidFill>
                  <a:schemeClr val="accent6">
                    <a:lumMod val="75000"/>
                  </a:schemeClr>
                </a:solidFill>
                <a:latin typeface="Courier New" panose="02070309020205020404" pitchFamily="49" charset="0"/>
                <a:cs typeface="Courier New" panose="02070309020205020404" pitchFamily="49" charset="0"/>
              </a:rPr>
              <a:t>2</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random_state</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142</a:t>
            </a:r>
            <a:r>
              <a:rPr lang="es-ES" sz="1600" dirty="0">
                <a:solidFill>
                  <a:schemeClr val="accent1">
                    <a:lumMod val="50000"/>
                  </a:schemeClr>
                </a:solidFill>
                <a:latin typeface="Courier New" panose="02070309020205020404" pitchFamily="49" charset="0"/>
                <a:cs typeface="Courier New" panose="02070309020205020404" pitchFamily="49" charset="0"/>
              </a:rPr>
              <a:t>)</a:t>
            </a:r>
          </a:p>
          <a:p>
            <a:endParaRPr lang="es-ES" sz="1600" dirty="0">
              <a:solidFill>
                <a:schemeClr val="accent1">
                  <a:lumMod val="50000"/>
                </a:schemeClr>
              </a:solidFill>
              <a:latin typeface="Courier New" panose="02070309020205020404" pitchFamily="49" charset="0"/>
              <a:cs typeface="Courier New" panose="02070309020205020404" pitchFamily="49" charset="0"/>
            </a:endParaRPr>
          </a:p>
          <a:p>
            <a:r>
              <a:rPr lang="es-ES" sz="1600" dirty="0">
                <a:solidFill>
                  <a:schemeClr val="accent2">
                    <a:lumMod val="50000"/>
                  </a:schemeClr>
                </a:solidFill>
                <a:latin typeface="Courier New" panose="02070309020205020404" pitchFamily="49" charset="0"/>
                <a:cs typeface="Courier New" panose="02070309020205020404" pitchFamily="49" charset="0"/>
              </a:rPr>
              <a:t># Aplicar </a:t>
            </a:r>
            <a:r>
              <a:rPr lang="es-ES" sz="1600" dirty="0" err="1">
                <a:solidFill>
                  <a:schemeClr val="accent2">
                    <a:lumMod val="50000"/>
                  </a:schemeClr>
                </a:solidFill>
                <a:latin typeface="Courier New" panose="02070309020205020404" pitchFamily="49" charset="0"/>
                <a:cs typeface="Courier New" panose="02070309020205020404" pitchFamily="49" charset="0"/>
              </a:rPr>
              <a:t>KMeans</a:t>
            </a:r>
            <a:endParaRPr lang="es-ES" sz="1600" dirty="0">
              <a:solidFill>
                <a:schemeClr val="accent2">
                  <a:lumMod val="50000"/>
                </a:schemeClr>
              </a:solidFill>
              <a:latin typeface="Courier New" panose="02070309020205020404" pitchFamily="49" charset="0"/>
              <a:cs typeface="Courier New" panose="02070309020205020404" pitchFamily="49" charset="0"/>
            </a:endParaRPr>
          </a:p>
          <a:p>
            <a:r>
              <a:rPr lang="es-ES" sz="1600" dirty="0" err="1">
                <a:solidFill>
                  <a:schemeClr val="accent1">
                    <a:lumMod val="50000"/>
                  </a:schemeClr>
                </a:solidFill>
                <a:latin typeface="Courier New" panose="02070309020205020404" pitchFamily="49" charset="0"/>
                <a:cs typeface="Courier New" panose="02070309020205020404" pitchFamily="49" charset="0"/>
              </a:rPr>
              <a:t>kmeans</a:t>
            </a:r>
            <a:r>
              <a:rPr lang="es-ES" sz="1600" dirty="0">
                <a:solidFill>
                  <a:schemeClr val="accent1">
                    <a:lumMod val="50000"/>
                  </a:schemeClr>
                </a:solidFill>
                <a:latin typeface="Courier New" panose="02070309020205020404" pitchFamily="49" charset="0"/>
                <a:cs typeface="Courier New" panose="02070309020205020404" pitchFamily="49" charset="0"/>
              </a:rPr>
              <a:t> = </a:t>
            </a:r>
            <a:r>
              <a:rPr lang="es-ES" sz="1600" dirty="0" err="1">
                <a:solidFill>
                  <a:schemeClr val="accent1">
                    <a:lumMod val="50000"/>
                  </a:schemeClr>
                </a:solidFill>
                <a:latin typeface="Courier New" panose="02070309020205020404" pitchFamily="49" charset="0"/>
                <a:cs typeface="Courier New" panose="02070309020205020404" pitchFamily="49" charset="0"/>
              </a:rPr>
              <a:t>KMeans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err="1">
                <a:solidFill>
                  <a:schemeClr val="accent1">
                    <a:lumMod val="50000"/>
                  </a:schemeClr>
                </a:solidFill>
                <a:latin typeface="Courier New" panose="02070309020205020404" pitchFamily="49" charset="0"/>
                <a:cs typeface="Courier New" panose="02070309020205020404" pitchFamily="49" charset="0"/>
              </a:rPr>
              <a:t>n_clusters</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2</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init</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rgbClr val="C00000"/>
                </a:solidFill>
                <a:latin typeface="Courier New" panose="02070309020205020404" pitchFamily="49" charset="0"/>
                <a:cs typeface="Courier New" panose="02070309020205020404" pitchFamily="49" charset="0"/>
              </a:rPr>
              <a:t>'k-</a:t>
            </a:r>
            <a:r>
              <a:rPr lang="es-ES" sz="1600" b="1" dirty="0" err="1">
                <a:solidFill>
                  <a:srgbClr val="C00000"/>
                </a:solidFill>
                <a:latin typeface="Courier New" panose="02070309020205020404" pitchFamily="49" charset="0"/>
                <a:cs typeface="Courier New" panose="02070309020205020404" pitchFamily="49" charset="0"/>
              </a:rPr>
              <a:t>means</a:t>
            </a:r>
            <a:r>
              <a:rPr lang="es-ES" sz="1600" b="1" dirty="0">
                <a:solidFill>
                  <a:srgbClr val="C00000"/>
                </a:solidFill>
                <a:latin typeface="Courier New" panose="02070309020205020404" pitchFamily="49" charset="0"/>
                <a:cs typeface="Courier New" panose="02070309020205020404" pitchFamily="49" charset="0"/>
              </a:rPr>
              <a:t>++'</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max_iter</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50</a:t>
            </a:r>
            <a:r>
              <a:rPr lang="es-ES" sz="1600" dirty="0">
                <a:solidFill>
                  <a:schemeClr val="accent1">
                    <a:lumMod val="50000"/>
                  </a:schemeClr>
                </a:solidFill>
                <a:latin typeface="Courier New" panose="02070309020205020404" pitchFamily="49" charset="0"/>
                <a:cs typeface="Courier New" panose="02070309020205020404" pitchFamily="49" charset="0"/>
              </a:rPr>
              <a:t>)</a:t>
            </a:r>
          </a:p>
          <a:p>
            <a:r>
              <a:rPr lang="es-ES" sz="1600" dirty="0" err="1">
                <a:solidFill>
                  <a:schemeClr val="accent1">
                    <a:lumMod val="50000"/>
                  </a:schemeClr>
                </a:solidFill>
                <a:latin typeface="Courier New" panose="02070309020205020404" pitchFamily="49" charset="0"/>
                <a:cs typeface="Courier New" panose="02070309020205020404" pitchFamily="49" charset="0"/>
              </a:rPr>
              <a:t>labels</a:t>
            </a:r>
            <a:r>
              <a:rPr lang="es-ES" sz="1600" dirty="0">
                <a:solidFill>
                  <a:schemeClr val="accent1">
                    <a:lumMod val="50000"/>
                  </a:schemeClr>
                </a:solidFill>
                <a:latin typeface="Courier New" panose="02070309020205020404" pitchFamily="49" charset="0"/>
                <a:cs typeface="Courier New" panose="02070309020205020404" pitchFamily="49" charset="0"/>
              </a:rPr>
              <a:t> = </a:t>
            </a:r>
            <a:r>
              <a:rPr lang="es-ES" sz="1600" dirty="0" err="1">
                <a:solidFill>
                  <a:schemeClr val="accent1">
                    <a:lumMod val="50000"/>
                  </a:schemeClr>
                </a:solidFill>
                <a:latin typeface="Courier New" panose="02070309020205020404" pitchFamily="49" charset="0"/>
                <a:cs typeface="Courier New" panose="02070309020205020404" pitchFamily="49" charset="0"/>
              </a:rPr>
              <a:t>kmeans.fit_predict</a:t>
            </a:r>
            <a:r>
              <a:rPr lang="es-ES" sz="1600" dirty="0">
                <a:solidFill>
                  <a:schemeClr val="accent1">
                    <a:lumMod val="50000"/>
                  </a:schemeClr>
                </a:solidFill>
                <a:latin typeface="Courier New" panose="02070309020205020404" pitchFamily="49" charset="0"/>
                <a:cs typeface="Courier New" panose="02070309020205020404" pitchFamily="49" charset="0"/>
              </a:rPr>
              <a:t>(</a:t>
            </a:r>
            <a:r>
              <a:rPr lang="es-ES" sz="1600" dirty="0" err="1">
                <a:solidFill>
                  <a:schemeClr val="accent1">
                    <a:lumMod val="50000"/>
                  </a:schemeClr>
                </a:solidFill>
                <a:latin typeface="Courier New" panose="02070309020205020404" pitchFamily="49" charset="0"/>
                <a:cs typeface="Courier New" panose="02070309020205020404" pitchFamily="49" charset="0"/>
              </a:rPr>
              <a:t>X_train</a:t>
            </a:r>
            <a:r>
              <a:rPr lang="es-ES" sz="1600" dirty="0">
                <a:solidFill>
                  <a:schemeClr val="accent1">
                    <a:lumMod val="50000"/>
                  </a:schemeClr>
                </a:solidFill>
                <a:latin typeface="Courier New" panose="02070309020205020404" pitchFamily="49" charset="0"/>
                <a:cs typeface="Courier New" panose="02070309020205020404" pitchFamily="49" charset="0"/>
              </a:rPr>
              <a:t>)</a:t>
            </a:r>
          </a:p>
          <a:p>
            <a:endParaRPr lang="es-ES" sz="1600" dirty="0">
              <a:solidFill>
                <a:schemeClr val="accent1">
                  <a:lumMod val="50000"/>
                </a:schemeClr>
              </a:solidFill>
              <a:latin typeface="Courier New" panose="02070309020205020404" pitchFamily="49" charset="0"/>
              <a:cs typeface="Courier New" panose="02070309020205020404" pitchFamily="49" charset="0"/>
            </a:endParaRPr>
          </a:p>
          <a:p>
            <a:r>
              <a:rPr lang="es-ES" sz="1600" dirty="0" err="1">
                <a:solidFill>
                  <a:schemeClr val="accent1">
                    <a:lumMod val="50000"/>
                  </a:schemeClr>
                </a:solidFill>
                <a:latin typeface="Courier New" panose="02070309020205020404" pitchFamily="49" charset="0"/>
                <a:cs typeface="Courier New" panose="02070309020205020404" pitchFamily="49" charset="0"/>
              </a:rPr>
              <a:t>sns.scatterplot</a:t>
            </a:r>
            <a:r>
              <a:rPr lang="es-ES" sz="1600" dirty="0">
                <a:solidFill>
                  <a:schemeClr val="accent1">
                    <a:lumMod val="50000"/>
                  </a:schemeClr>
                </a:solidFill>
                <a:latin typeface="Courier New" panose="02070309020205020404" pitchFamily="49" charset="0"/>
                <a:cs typeface="Courier New" panose="02070309020205020404" pitchFamily="49" charset="0"/>
              </a:rPr>
              <a:t>(x=[X[0] </a:t>
            </a:r>
            <a:r>
              <a:rPr lang="es-ES" sz="1600" b="1" dirty="0" err="1">
                <a:solidFill>
                  <a:schemeClr val="accent6">
                    <a:lumMod val="75000"/>
                  </a:schemeClr>
                </a:solidFill>
                <a:latin typeface="Courier New" panose="02070309020205020404" pitchFamily="49" charset="0"/>
                <a:cs typeface="Courier New" panose="02070309020205020404" pitchFamily="49" charset="0"/>
              </a:rPr>
              <a:t>for</a:t>
            </a:r>
            <a:r>
              <a:rPr lang="es-ES" sz="1600" dirty="0">
                <a:solidFill>
                  <a:schemeClr val="accent1">
                    <a:lumMod val="50000"/>
                  </a:schemeClr>
                </a:solidFill>
                <a:latin typeface="Courier New" panose="02070309020205020404" pitchFamily="49" charset="0"/>
                <a:cs typeface="Courier New" panose="02070309020205020404" pitchFamily="49" charset="0"/>
              </a:rPr>
              <a:t> X </a:t>
            </a:r>
            <a:r>
              <a:rPr lang="es-ES" sz="1600" b="1" dirty="0">
                <a:solidFill>
                  <a:schemeClr val="accent6">
                    <a:lumMod val="75000"/>
                  </a:schemeClr>
                </a:solidFill>
                <a:latin typeface="Courier New" panose="02070309020205020404" pitchFamily="49" charset="0"/>
                <a:cs typeface="Courier New" panose="02070309020205020404" pitchFamily="49" charset="0"/>
              </a:rPr>
              <a:t>in</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X_train</a:t>
            </a:r>
            <a:r>
              <a:rPr lang="es-ES" sz="1600" dirty="0">
                <a:solidFill>
                  <a:schemeClr val="accent1">
                    <a:lumMod val="50000"/>
                  </a:schemeClr>
                </a:solidFill>
                <a:latin typeface="Courier New" panose="02070309020205020404" pitchFamily="49" charset="0"/>
                <a:cs typeface="Courier New" panose="02070309020205020404" pitchFamily="49" charset="0"/>
              </a:rPr>
              <a:t>],y=[X[1] </a:t>
            </a:r>
            <a:r>
              <a:rPr lang="es-ES" sz="1600" b="1" dirty="0" err="1">
                <a:solidFill>
                  <a:schemeClr val="accent6">
                    <a:lumMod val="75000"/>
                  </a:schemeClr>
                </a:solidFill>
                <a:latin typeface="Courier New" panose="02070309020205020404" pitchFamily="49" charset="0"/>
                <a:cs typeface="Courier New" panose="02070309020205020404" pitchFamily="49" charset="0"/>
              </a:rPr>
              <a:t>for</a:t>
            </a:r>
            <a:r>
              <a:rPr lang="es-ES" sz="1600" dirty="0">
                <a:solidFill>
                  <a:schemeClr val="accent1">
                    <a:lumMod val="50000"/>
                  </a:schemeClr>
                </a:solidFill>
                <a:latin typeface="Courier New" panose="02070309020205020404" pitchFamily="49" charset="0"/>
                <a:cs typeface="Courier New" panose="02070309020205020404" pitchFamily="49" charset="0"/>
              </a:rPr>
              <a:t> X </a:t>
            </a:r>
            <a:r>
              <a:rPr lang="es-ES" sz="1600" b="1" dirty="0">
                <a:solidFill>
                  <a:schemeClr val="accent6">
                    <a:lumMod val="75000"/>
                  </a:schemeClr>
                </a:solidFill>
                <a:latin typeface="Courier New" panose="02070309020205020404" pitchFamily="49" charset="0"/>
                <a:cs typeface="Courier New" panose="02070309020205020404" pitchFamily="49" charset="0"/>
              </a:rPr>
              <a:t>in</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X_train</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b="1" dirty="0" err="1">
                <a:solidFill>
                  <a:schemeClr val="accent1">
                    <a:lumMod val="50000"/>
                  </a:schemeClr>
                </a:solidFill>
                <a:latin typeface="Courier New" panose="02070309020205020404" pitchFamily="49" charset="0"/>
                <a:cs typeface="Courier New" panose="02070309020205020404" pitchFamily="49" charset="0"/>
              </a:rPr>
              <a:t>hue</a:t>
            </a:r>
            <a:r>
              <a:rPr lang="es-ES" sz="1600" b="1" dirty="0">
                <a:solidFill>
                  <a:schemeClr val="accent1">
                    <a:lumMod val="50000"/>
                  </a:schemeClr>
                </a:solidFill>
                <a:latin typeface="Courier New" panose="02070309020205020404" pitchFamily="49" charset="0"/>
                <a:cs typeface="Courier New" panose="02070309020205020404" pitchFamily="49" charset="0"/>
              </a:rPr>
              <a:t>=</a:t>
            </a:r>
            <a:r>
              <a:rPr lang="es-ES" sz="1600" b="1" dirty="0" err="1">
                <a:solidFill>
                  <a:schemeClr val="accent1">
                    <a:lumMod val="50000"/>
                  </a:schemeClr>
                </a:solidFill>
                <a:latin typeface="Courier New" panose="02070309020205020404" pitchFamily="49" charset="0"/>
                <a:cs typeface="Courier New" panose="02070309020205020404" pitchFamily="49" charset="0"/>
              </a:rPr>
              <a:t>labels</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palette</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b="1" dirty="0" err="1">
                <a:solidFill>
                  <a:srgbClr val="C00000"/>
                </a:solidFill>
                <a:latin typeface="Courier New" panose="02070309020205020404" pitchFamily="49" charset="0"/>
                <a:cs typeface="Courier New" panose="02070309020205020404" pitchFamily="49" charset="0"/>
              </a:rPr>
              <a:t>deep</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dirty="0" err="1">
                <a:solidFill>
                  <a:schemeClr val="accent1">
                    <a:lumMod val="50000"/>
                  </a:schemeClr>
                </a:solidFill>
                <a:latin typeface="Courier New" panose="02070309020205020404" pitchFamily="49" charset="0"/>
                <a:cs typeface="Courier New" panose="02070309020205020404" pitchFamily="49" charset="0"/>
              </a:rPr>
              <a:t>legend</a:t>
            </a:r>
            <a:r>
              <a:rPr lang="es-ES" sz="1600" dirty="0">
                <a:solidFill>
                  <a:schemeClr val="accent1">
                    <a:lumMod val="50000"/>
                  </a:schemeClr>
                </a:solidFill>
                <a:latin typeface="Courier New" panose="02070309020205020404" pitchFamily="49" charset="0"/>
                <a:cs typeface="Courier New" panose="02070309020205020404" pitchFamily="49" charset="0"/>
              </a:rPr>
              <a:t> </a:t>
            </a:r>
            <a:r>
              <a:rPr lang="es-ES" sz="1600" b="1" dirty="0">
                <a:solidFill>
                  <a:schemeClr val="accent6">
                    <a:lumMod val="75000"/>
                  </a:schemeClr>
                </a:solidFill>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None</a:t>
            </a:r>
            <a:r>
              <a:rPr lang="es-ES" sz="1600" dirty="0">
                <a:solidFill>
                  <a:schemeClr val="accent1">
                    <a:lumMod val="50000"/>
                  </a:schemeClr>
                </a:solidFill>
                <a:latin typeface="Courier New" panose="02070309020205020404" pitchFamily="49" charset="0"/>
                <a:cs typeface="Courier New" panose="02070309020205020404" pitchFamily="49" charset="0"/>
              </a:rPr>
              <a:t>)</a:t>
            </a:r>
          </a:p>
        </p:txBody>
      </p:sp>
      <p:sp>
        <p:nvSpPr>
          <p:cNvPr id="3" name="Rectángulo 2"/>
          <p:cNvSpPr/>
          <p:nvPr/>
        </p:nvSpPr>
        <p:spPr>
          <a:xfrm>
            <a:off x="129719" y="4645827"/>
            <a:ext cx="11830633" cy="923330"/>
          </a:xfrm>
          <a:prstGeom prst="rect">
            <a:avLst/>
          </a:prstGeom>
        </p:spPr>
        <p:txBody>
          <a:bodyPr wrap="square">
            <a:spAutoFit/>
          </a:bodyPr>
          <a:lstStyle/>
          <a:p>
            <a:r>
              <a:rPr lang="es-ES" dirty="0" err="1">
                <a:solidFill>
                  <a:schemeClr val="accent1">
                    <a:lumMod val="50000"/>
                  </a:schemeClr>
                </a:solidFill>
                <a:latin typeface="Courier New" panose="02070309020205020404" pitchFamily="49" charset="0"/>
                <a:cs typeface="Courier New" panose="02070309020205020404" pitchFamily="49" charset="0"/>
              </a:rPr>
              <a:t>labels</a:t>
            </a:r>
            <a:r>
              <a:rPr lang="es-ES"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rPr>
              <a:t>es un objeto de tipo </a:t>
            </a:r>
            <a:r>
              <a:rPr lang="es-ES" dirty="0" err="1">
                <a:solidFill>
                  <a:schemeClr val="accent1">
                    <a:lumMod val="50000"/>
                  </a:schemeClr>
                </a:solidFill>
                <a:latin typeface="Courier New" panose="02070309020205020404" pitchFamily="49" charset="0"/>
                <a:cs typeface="Courier New" panose="02070309020205020404" pitchFamily="49" charset="0"/>
              </a:rPr>
              <a:t>numpy.ndarray</a:t>
            </a:r>
            <a:r>
              <a:rPr lang="es-ES" dirty="0">
                <a:solidFill>
                  <a:schemeClr val="accent1">
                    <a:lumMod val="50000"/>
                  </a:schemeClr>
                </a:solidFill>
              </a:rPr>
              <a:t> con el índice del grupo al que se asigna cada una de las entradas.</a:t>
            </a:r>
          </a:p>
          <a:p>
            <a:endParaRPr lang="es-ES" dirty="0">
              <a:solidFill>
                <a:schemeClr val="accent1">
                  <a:lumMod val="50000"/>
                </a:schemeClr>
              </a:solidFill>
            </a:endParaRPr>
          </a:p>
          <a:p>
            <a:r>
              <a:rPr lang="es-ES" dirty="0" err="1">
                <a:solidFill>
                  <a:schemeClr val="accent1">
                    <a:lumMod val="50000"/>
                  </a:schemeClr>
                </a:solidFill>
                <a:latin typeface="Courier New" panose="02070309020205020404" pitchFamily="49" charset="0"/>
                <a:cs typeface="Courier New" panose="02070309020205020404" pitchFamily="49" charset="0"/>
              </a:rPr>
              <a:t>hue</a:t>
            </a:r>
            <a:r>
              <a:rPr lang="es-ES" dirty="0">
                <a:solidFill>
                  <a:schemeClr val="accent1">
                    <a:lumMod val="50000"/>
                  </a:schemeClr>
                </a:solidFill>
                <a:latin typeface="Courier New" panose="02070309020205020404" pitchFamily="49" charset="0"/>
                <a:cs typeface="Courier New" panose="02070309020205020404" pitchFamily="49" charset="0"/>
              </a:rPr>
              <a:t>=</a:t>
            </a:r>
            <a:r>
              <a:rPr lang="es-ES" dirty="0" err="1">
                <a:solidFill>
                  <a:schemeClr val="accent1">
                    <a:lumMod val="50000"/>
                  </a:schemeClr>
                </a:solidFill>
                <a:latin typeface="Courier New" panose="02070309020205020404" pitchFamily="49" charset="0"/>
                <a:cs typeface="Courier New" panose="02070309020205020404" pitchFamily="49" charset="0"/>
              </a:rPr>
              <a:t>labels</a:t>
            </a:r>
            <a:r>
              <a:rPr lang="es-ES"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rPr>
              <a:t>indica que los datos se agrupan por el valor de </a:t>
            </a:r>
            <a:r>
              <a:rPr lang="es-ES" dirty="0" err="1">
                <a:solidFill>
                  <a:schemeClr val="accent1">
                    <a:lumMod val="50000"/>
                  </a:schemeClr>
                </a:solidFill>
                <a:latin typeface="Courier New" panose="02070309020205020404" pitchFamily="49" charset="0"/>
                <a:cs typeface="Courier New" panose="02070309020205020404" pitchFamily="49" charset="0"/>
              </a:rPr>
              <a:t>labels</a:t>
            </a:r>
            <a:r>
              <a:rPr lang="es-ES" dirty="0">
                <a:solidFill>
                  <a:schemeClr val="accent1">
                    <a:lumMod val="50000"/>
                  </a:schemeClr>
                </a:solidFill>
                <a:latin typeface="Courier New" panose="02070309020205020404" pitchFamily="49" charset="0"/>
                <a:cs typeface="Courier New" panose="02070309020205020404" pitchFamily="49" charset="0"/>
              </a:rPr>
              <a:t> </a:t>
            </a:r>
            <a:r>
              <a:rPr lang="es-ES" dirty="0">
                <a:solidFill>
                  <a:schemeClr val="accent1">
                    <a:lumMod val="50000"/>
                  </a:schemeClr>
                </a:solidFill>
              </a:rPr>
              <a:t>para representarlos de diferentes colores. </a:t>
            </a:r>
            <a:endParaRPr lang="es-ES" dirty="0"/>
          </a:p>
        </p:txBody>
      </p:sp>
    </p:spTree>
    <p:extLst>
      <p:ext uri="{BB962C8B-B14F-4D97-AF65-F5344CB8AC3E}">
        <p14:creationId xmlns:p14="http://schemas.microsoft.com/office/powerpoint/2010/main" val="24969438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43EF5A0B-45CA-2419-7B65-6A8233E6F6B8}"/>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18</a:t>
            </a:fld>
            <a:endParaRPr lang="es-ES">
              <a:solidFill>
                <a:prstClr val="black">
                  <a:tint val="75000"/>
                </a:prstClr>
              </a:solidFill>
            </a:endParaRPr>
          </a:p>
        </p:txBody>
      </p:sp>
      <p:sp>
        <p:nvSpPr>
          <p:cNvPr id="4" name="CuadroTexto 3">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5" name="CuadroTexto 4">
            <a:extLst>
              <a:ext uri="{FF2B5EF4-FFF2-40B4-BE49-F238E27FC236}">
                <a16:creationId xmlns:a16="http://schemas.microsoft.com/office/drawing/2014/main" id="{FDE3E1D8-ECD5-C2E1-DDFD-48925AD95E0F}"/>
              </a:ext>
            </a:extLst>
          </p:cNvPr>
          <p:cNvSpPr txBox="1"/>
          <p:nvPr/>
        </p:nvSpPr>
        <p:spPr>
          <a:xfrm>
            <a:off x="368990" y="320934"/>
            <a:ext cx="3782317" cy="461665"/>
          </a:xfrm>
          <a:prstGeom prst="rect">
            <a:avLst/>
          </a:prstGeom>
          <a:noFill/>
        </p:spPr>
        <p:txBody>
          <a:bodyPr wrap="none" rtlCol="0">
            <a:spAutoFit/>
          </a:bodyPr>
          <a:lstStyle/>
          <a:p>
            <a:r>
              <a:rPr lang="es-ES" sz="2400" b="1" dirty="0">
                <a:solidFill>
                  <a:schemeClr val="accent1">
                    <a:lumMod val="50000"/>
                  </a:schemeClr>
                </a:solidFill>
              </a:rPr>
              <a:t>Implementación en </a:t>
            </a:r>
            <a:r>
              <a:rPr lang="es-ES" sz="2400" b="1" dirty="0" err="1">
                <a:solidFill>
                  <a:schemeClr val="accent1">
                    <a:lumMod val="50000"/>
                  </a:schemeClr>
                </a:solidFill>
              </a:rPr>
              <a:t>SKlearn</a:t>
            </a:r>
            <a:r>
              <a:rPr lang="es-ES" sz="2400" b="1" dirty="0">
                <a:solidFill>
                  <a:schemeClr val="accent1">
                    <a:lumMod val="50000"/>
                  </a:schemeClr>
                </a:solidFill>
              </a:rPr>
              <a:t>.</a:t>
            </a:r>
          </a:p>
        </p:txBody>
      </p:sp>
      <p:pic>
        <p:nvPicPr>
          <p:cNvPr id="6" name="Imagen 5"/>
          <p:cNvPicPr>
            <a:picLocks noChangeAspect="1"/>
          </p:cNvPicPr>
          <p:nvPr/>
        </p:nvPicPr>
        <p:blipFill>
          <a:blip r:embed="rId2"/>
          <a:stretch>
            <a:fillRect/>
          </a:stretch>
        </p:blipFill>
        <p:spPr>
          <a:xfrm>
            <a:off x="102983" y="1270002"/>
            <a:ext cx="6553200" cy="5086350"/>
          </a:xfrm>
          <a:prstGeom prst="rect">
            <a:avLst/>
          </a:prstGeom>
        </p:spPr>
      </p:pic>
      <p:sp>
        <p:nvSpPr>
          <p:cNvPr id="7" name="Rectángulo 6"/>
          <p:cNvSpPr/>
          <p:nvPr/>
        </p:nvSpPr>
        <p:spPr>
          <a:xfrm>
            <a:off x="6533804" y="1424399"/>
            <a:ext cx="5550130" cy="5047536"/>
          </a:xfrm>
          <a:prstGeom prst="rect">
            <a:avLst/>
          </a:prstGeom>
        </p:spPr>
        <p:txBody>
          <a:bodyPr wrap="square">
            <a:spAutoFit/>
          </a:bodyPr>
          <a:lstStyle/>
          <a:p>
            <a:r>
              <a:rPr lang="es-ES" sz="1400" dirty="0" err="1">
                <a:solidFill>
                  <a:srgbClr val="0000FF"/>
                </a:solidFill>
                <a:latin typeface="Consolas" panose="020B0609020204030204" pitchFamily="49" charset="0"/>
              </a:rPr>
              <a:t>import</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numpy</a:t>
            </a:r>
            <a:r>
              <a:rPr lang="es-ES" sz="1400" dirty="0">
                <a:solidFill>
                  <a:srgbClr val="000000"/>
                </a:solidFill>
                <a:latin typeface="Consolas" panose="020B0609020204030204" pitchFamily="49" charset="0"/>
              </a:rPr>
              <a:t> </a:t>
            </a:r>
            <a:r>
              <a:rPr lang="es-ES" sz="1400" dirty="0">
                <a:solidFill>
                  <a:srgbClr val="0000FF"/>
                </a:solidFill>
                <a:latin typeface="Consolas" panose="020B0609020204030204" pitchFamily="49" charset="0"/>
              </a:rPr>
              <a:t>as</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np</a:t>
            </a:r>
            <a:endParaRPr lang="es-ES" sz="1400" dirty="0">
              <a:solidFill>
                <a:srgbClr val="000000"/>
              </a:solidFill>
              <a:latin typeface="Consolas" panose="020B0609020204030204" pitchFamily="49" charset="0"/>
            </a:endParaRPr>
          </a:p>
          <a:p>
            <a:r>
              <a:rPr lang="es-ES" sz="1400" dirty="0" err="1">
                <a:solidFill>
                  <a:srgbClr val="0000FF"/>
                </a:solidFill>
                <a:latin typeface="Consolas" panose="020B0609020204030204" pitchFamily="49" charset="0"/>
              </a:rPr>
              <a:t>import</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matplotlib.pyplot</a:t>
            </a:r>
            <a:r>
              <a:rPr lang="es-ES" sz="1400" dirty="0">
                <a:solidFill>
                  <a:srgbClr val="000000"/>
                </a:solidFill>
                <a:latin typeface="Consolas" panose="020B0609020204030204" pitchFamily="49" charset="0"/>
              </a:rPr>
              <a:t> </a:t>
            </a:r>
            <a:r>
              <a:rPr lang="es-ES" sz="1400" dirty="0">
                <a:solidFill>
                  <a:srgbClr val="0000FF"/>
                </a:solidFill>
                <a:latin typeface="Consolas" panose="020B0609020204030204" pitchFamily="49" charset="0"/>
              </a:rPr>
              <a:t>as</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plt</a:t>
            </a:r>
            <a:endParaRPr lang="es-ES" sz="1400" dirty="0">
              <a:solidFill>
                <a:srgbClr val="000000"/>
              </a:solidFill>
              <a:latin typeface="Consolas" panose="020B0609020204030204" pitchFamily="49" charset="0"/>
            </a:endParaRPr>
          </a:p>
          <a:p>
            <a:r>
              <a:rPr lang="es-ES" sz="1400" dirty="0" err="1">
                <a:solidFill>
                  <a:srgbClr val="0000FF"/>
                </a:solidFill>
                <a:latin typeface="Consolas" panose="020B0609020204030204" pitchFamily="49" charset="0"/>
              </a:rPr>
              <a:t>import</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seaborn</a:t>
            </a:r>
            <a:r>
              <a:rPr lang="es-ES" sz="1400" dirty="0">
                <a:solidFill>
                  <a:srgbClr val="000000"/>
                </a:solidFill>
                <a:latin typeface="Consolas" panose="020B0609020204030204" pitchFamily="49" charset="0"/>
              </a:rPr>
              <a:t> </a:t>
            </a:r>
            <a:r>
              <a:rPr lang="es-ES" sz="1400" dirty="0">
                <a:solidFill>
                  <a:srgbClr val="0000FF"/>
                </a:solidFill>
                <a:latin typeface="Consolas" panose="020B0609020204030204" pitchFamily="49" charset="0"/>
              </a:rPr>
              <a:t>as</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sns</a:t>
            </a:r>
            <a:endParaRPr lang="es-ES" sz="1400" dirty="0">
              <a:solidFill>
                <a:srgbClr val="000000"/>
              </a:solidFill>
              <a:latin typeface="Consolas" panose="020B0609020204030204" pitchFamily="49" charset="0"/>
            </a:endParaRPr>
          </a:p>
          <a:p>
            <a:r>
              <a:rPr lang="es-ES" sz="1400" dirty="0" err="1">
                <a:solidFill>
                  <a:srgbClr val="0000FF"/>
                </a:solidFill>
                <a:latin typeface="Consolas" panose="020B0609020204030204" pitchFamily="49" charset="0"/>
              </a:rPr>
              <a:t>from</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sklearn.datasets</a:t>
            </a:r>
            <a:r>
              <a:rPr lang="es-ES" sz="1400" dirty="0">
                <a:solidFill>
                  <a:srgbClr val="000000"/>
                </a:solidFill>
                <a:latin typeface="Consolas" panose="020B0609020204030204" pitchFamily="49" charset="0"/>
              </a:rPr>
              <a:t> </a:t>
            </a:r>
            <a:r>
              <a:rPr lang="es-ES" sz="1400" dirty="0" err="1">
                <a:solidFill>
                  <a:srgbClr val="0000FF"/>
                </a:solidFill>
                <a:latin typeface="Consolas" panose="020B0609020204030204" pitchFamily="49" charset="0"/>
              </a:rPr>
              <a:t>import</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make_blobs</a:t>
            </a:r>
            <a:endParaRPr lang="es-ES" sz="1400" dirty="0">
              <a:solidFill>
                <a:srgbClr val="000000"/>
              </a:solidFill>
              <a:latin typeface="Consolas" panose="020B0609020204030204" pitchFamily="49" charset="0"/>
            </a:endParaRPr>
          </a:p>
          <a:p>
            <a:r>
              <a:rPr lang="es-ES" sz="1400" dirty="0" err="1">
                <a:solidFill>
                  <a:srgbClr val="0000FF"/>
                </a:solidFill>
                <a:latin typeface="Consolas" panose="020B0609020204030204" pitchFamily="49" charset="0"/>
              </a:rPr>
              <a:t>from</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sklearn.cluster</a:t>
            </a:r>
            <a:r>
              <a:rPr lang="es-ES" sz="1400" dirty="0">
                <a:solidFill>
                  <a:srgbClr val="000000"/>
                </a:solidFill>
                <a:latin typeface="Consolas" panose="020B0609020204030204" pitchFamily="49" charset="0"/>
              </a:rPr>
              <a:t> </a:t>
            </a:r>
            <a:r>
              <a:rPr lang="es-ES" sz="1400" dirty="0" err="1">
                <a:solidFill>
                  <a:srgbClr val="0000FF"/>
                </a:solidFill>
                <a:latin typeface="Consolas" panose="020B0609020204030204" pitchFamily="49" charset="0"/>
              </a:rPr>
              <a:t>import</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KMeans</a:t>
            </a:r>
            <a:endParaRPr lang="es-ES" sz="1400" dirty="0">
              <a:solidFill>
                <a:srgbClr val="000000"/>
              </a:solidFill>
              <a:latin typeface="Consolas" panose="020B0609020204030204" pitchFamily="49" charset="0"/>
            </a:endParaRPr>
          </a:p>
          <a:p>
            <a:r>
              <a:rPr lang="es-ES" sz="1400" dirty="0">
                <a:solidFill>
                  <a:srgbClr val="000000"/>
                </a:solidFill>
                <a:latin typeface="Consolas" panose="020B0609020204030204" pitchFamily="49" charset="0"/>
              </a:rPr>
              <a:t/>
            </a:r>
            <a:br>
              <a:rPr lang="es-ES" sz="1400" dirty="0">
                <a:solidFill>
                  <a:srgbClr val="000000"/>
                </a:solidFill>
                <a:latin typeface="Consolas" panose="020B0609020204030204" pitchFamily="49" charset="0"/>
              </a:rPr>
            </a:br>
            <a:r>
              <a:rPr lang="es-ES" sz="1400" dirty="0">
                <a:solidFill>
                  <a:srgbClr val="008000"/>
                </a:solidFill>
                <a:latin typeface="Consolas" panose="020B0609020204030204" pitchFamily="49" charset="0"/>
              </a:rPr>
              <a:t># Generar datos</a:t>
            </a:r>
            <a:endParaRPr lang="es-ES" sz="1400" dirty="0">
              <a:solidFill>
                <a:srgbClr val="000000"/>
              </a:solidFill>
              <a:latin typeface="Consolas" panose="020B0609020204030204" pitchFamily="49" charset="0"/>
            </a:endParaRPr>
          </a:p>
          <a:p>
            <a:r>
              <a:rPr lang="es-ES" sz="1400" dirty="0" err="1">
                <a:solidFill>
                  <a:srgbClr val="000000"/>
                </a:solidFill>
                <a:latin typeface="Consolas" panose="020B0609020204030204" pitchFamily="49" charset="0"/>
              </a:rPr>
              <a:t>n_clusteres</a:t>
            </a:r>
            <a:r>
              <a:rPr lang="es-ES" sz="1400" dirty="0">
                <a:solidFill>
                  <a:srgbClr val="000000"/>
                </a:solidFill>
                <a:latin typeface="Consolas" panose="020B0609020204030204" pitchFamily="49" charset="0"/>
              </a:rPr>
              <a:t> = </a:t>
            </a:r>
            <a:r>
              <a:rPr lang="es-ES" sz="1400" dirty="0">
                <a:solidFill>
                  <a:srgbClr val="098658"/>
                </a:solidFill>
                <a:latin typeface="Consolas" panose="020B0609020204030204" pitchFamily="49" charset="0"/>
              </a:rPr>
              <a:t>2</a:t>
            </a:r>
            <a:endParaRPr lang="es-ES" sz="1400" dirty="0">
              <a:solidFill>
                <a:srgbClr val="000000"/>
              </a:solidFill>
              <a:latin typeface="Consolas" panose="020B0609020204030204" pitchFamily="49" charset="0"/>
            </a:endParaRPr>
          </a:p>
          <a:p>
            <a:r>
              <a:rPr lang="es-ES" sz="1400" dirty="0" err="1">
                <a:solidFill>
                  <a:srgbClr val="000000"/>
                </a:solidFill>
                <a:latin typeface="Consolas" panose="020B0609020204030204" pitchFamily="49" charset="0"/>
              </a:rPr>
              <a:t>X_train</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true_labels</a:t>
            </a:r>
            <a:r>
              <a:rPr lang="es-ES" sz="1400" dirty="0">
                <a:solidFill>
                  <a:srgbClr val="000000"/>
                </a:solidFill>
                <a:latin typeface="Consolas" panose="020B0609020204030204" pitchFamily="49" charset="0"/>
              </a:rPr>
              <a:t> = </a:t>
            </a:r>
            <a:r>
              <a:rPr lang="es-ES" sz="1400" dirty="0" err="1">
                <a:solidFill>
                  <a:srgbClr val="000000"/>
                </a:solidFill>
                <a:latin typeface="Consolas" panose="020B0609020204030204" pitchFamily="49" charset="0"/>
              </a:rPr>
              <a:t>make_blobs</a:t>
            </a:r>
            <a:r>
              <a:rPr lang="es-ES" sz="1400" dirty="0">
                <a:solidFill>
                  <a:srgbClr val="000000"/>
                </a:solidFill>
                <a:latin typeface="Consolas" panose="020B0609020204030204" pitchFamily="49" charset="0"/>
              </a:rPr>
              <a:t>(</a:t>
            </a:r>
            <a:r>
              <a:rPr lang="es-ES" sz="1400" dirty="0" err="1">
                <a:solidFill>
                  <a:srgbClr val="000000"/>
                </a:solidFill>
                <a:latin typeface="Consolas" panose="020B0609020204030204" pitchFamily="49" charset="0"/>
              </a:rPr>
              <a:t>n_samples</a:t>
            </a:r>
            <a:r>
              <a:rPr lang="es-ES" sz="1400" dirty="0">
                <a:solidFill>
                  <a:srgbClr val="000000"/>
                </a:solidFill>
                <a:latin typeface="Consolas" panose="020B0609020204030204" pitchFamily="49" charset="0"/>
              </a:rPr>
              <a:t>=</a:t>
            </a:r>
            <a:r>
              <a:rPr lang="es-ES" sz="1400" dirty="0">
                <a:solidFill>
                  <a:srgbClr val="098658"/>
                </a:solidFill>
                <a:latin typeface="Consolas" panose="020B0609020204030204" pitchFamily="49" charset="0"/>
              </a:rPr>
              <a:t>100</a:t>
            </a:r>
            <a:r>
              <a:rPr lang="es-ES" sz="1400" dirty="0">
                <a:solidFill>
                  <a:srgbClr val="000000"/>
                </a:solidFill>
                <a:latin typeface="Consolas" panose="020B0609020204030204" pitchFamily="49" charset="0"/>
              </a:rPr>
              <a:t>, 			      centers=</a:t>
            </a:r>
            <a:r>
              <a:rPr lang="es-ES" sz="1400" dirty="0" err="1">
                <a:solidFill>
                  <a:srgbClr val="000000"/>
                </a:solidFill>
                <a:latin typeface="Consolas" panose="020B0609020204030204" pitchFamily="49" charset="0"/>
              </a:rPr>
              <a:t>n_clusteres</a:t>
            </a:r>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random_state</a:t>
            </a:r>
            <a:r>
              <a:rPr lang="es-ES" sz="1400" dirty="0">
                <a:solidFill>
                  <a:srgbClr val="000000"/>
                </a:solidFill>
                <a:latin typeface="Consolas" panose="020B0609020204030204" pitchFamily="49" charset="0"/>
              </a:rPr>
              <a:t>=</a:t>
            </a:r>
            <a:r>
              <a:rPr lang="es-ES" sz="1400" dirty="0">
                <a:solidFill>
                  <a:srgbClr val="098658"/>
                </a:solidFill>
                <a:latin typeface="Consolas" panose="020B0609020204030204" pitchFamily="49" charset="0"/>
              </a:rPr>
              <a:t>342</a:t>
            </a:r>
            <a:r>
              <a:rPr lang="es-ES" sz="1400" dirty="0">
                <a:solidFill>
                  <a:srgbClr val="000000"/>
                </a:solidFill>
                <a:latin typeface="Consolas" panose="020B0609020204030204" pitchFamily="49" charset="0"/>
              </a:rPr>
              <a:t>)</a:t>
            </a:r>
          </a:p>
          <a:p>
            <a:endParaRPr lang="es-ES" sz="1400" dirty="0">
              <a:solidFill>
                <a:srgbClr val="000000"/>
              </a:solidFill>
              <a:latin typeface="Consolas" panose="020B0609020204030204" pitchFamily="49" charset="0"/>
            </a:endParaRPr>
          </a:p>
          <a:p>
            <a:r>
              <a:rPr lang="es-ES" sz="1400" dirty="0">
                <a:solidFill>
                  <a:srgbClr val="008000"/>
                </a:solidFill>
                <a:latin typeface="Consolas" panose="020B0609020204030204" pitchFamily="49" charset="0"/>
              </a:rPr>
              <a:t># Aplicar </a:t>
            </a:r>
            <a:r>
              <a:rPr lang="es-ES" sz="1400" dirty="0" err="1">
                <a:solidFill>
                  <a:srgbClr val="008000"/>
                </a:solidFill>
                <a:latin typeface="Consolas" panose="020B0609020204030204" pitchFamily="49" charset="0"/>
              </a:rPr>
              <a:t>KMeans</a:t>
            </a:r>
            <a:endParaRPr lang="es-ES" sz="1400" dirty="0">
              <a:solidFill>
                <a:srgbClr val="000000"/>
              </a:solidFill>
              <a:latin typeface="Consolas" panose="020B0609020204030204" pitchFamily="49" charset="0"/>
            </a:endParaRPr>
          </a:p>
          <a:p>
            <a:r>
              <a:rPr lang="es-ES" sz="1400" dirty="0" err="1">
                <a:solidFill>
                  <a:srgbClr val="000000"/>
                </a:solidFill>
                <a:latin typeface="Consolas" panose="020B0609020204030204" pitchFamily="49" charset="0"/>
              </a:rPr>
              <a:t>kmeans</a:t>
            </a:r>
            <a:r>
              <a:rPr lang="es-ES" sz="1400" dirty="0">
                <a:solidFill>
                  <a:srgbClr val="000000"/>
                </a:solidFill>
                <a:latin typeface="Consolas" panose="020B0609020204030204" pitchFamily="49" charset="0"/>
              </a:rPr>
              <a:t> = </a:t>
            </a:r>
            <a:r>
              <a:rPr lang="es-ES" sz="1400" dirty="0" err="1">
                <a:solidFill>
                  <a:srgbClr val="000000"/>
                </a:solidFill>
                <a:latin typeface="Consolas" panose="020B0609020204030204" pitchFamily="49" charset="0"/>
              </a:rPr>
              <a:t>KMeans</a:t>
            </a:r>
            <a:r>
              <a:rPr lang="es-ES" sz="1400" dirty="0">
                <a:solidFill>
                  <a:srgbClr val="000000"/>
                </a:solidFill>
                <a:latin typeface="Consolas" panose="020B0609020204030204" pitchFamily="49" charset="0"/>
              </a:rPr>
              <a:t>(</a:t>
            </a:r>
            <a:r>
              <a:rPr lang="es-ES" sz="1400" dirty="0" err="1">
                <a:solidFill>
                  <a:srgbClr val="000000"/>
                </a:solidFill>
                <a:latin typeface="Consolas" panose="020B0609020204030204" pitchFamily="49" charset="0"/>
              </a:rPr>
              <a:t>n_clusters</a:t>
            </a:r>
            <a:r>
              <a:rPr lang="es-ES" sz="1400" dirty="0">
                <a:solidFill>
                  <a:srgbClr val="000000"/>
                </a:solidFill>
                <a:latin typeface="Consolas" panose="020B0609020204030204" pitchFamily="49" charset="0"/>
              </a:rPr>
              <a:t>=</a:t>
            </a:r>
            <a:r>
              <a:rPr lang="es-ES" sz="1400" dirty="0" err="1">
                <a:solidFill>
                  <a:srgbClr val="000000"/>
                </a:solidFill>
                <a:latin typeface="Consolas" panose="020B0609020204030204" pitchFamily="49" charset="0"/>
              </a:rPr>
              <a:t>n_clusteres</a:t>
            </a:r>
            <a:r>
              <a:rPr lang="es-ES" sz="1400" dirty="0">
                <a:solidFill>
                  <a:srgbClr val="000000"/>
                </a:solidFill>
                <a:latin typeface="Consolas" panose="020B0609020204030204" pitchFamily="49" charset="0"/>
              </a:rPr>
              <a:t>, </a:t>
            </a:r>
          </a:p>
          <a:p>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init</a:t>
            </a:r>
            <a:r>
              <a:rPr lang="es-ES" sz="1400" dirty="0">
                <a:solidFill>
                  <a:srgbClr val="000000"/>
                </a:solidFill>
                <a:latin typeface="Consolas" panose="020B0609020204030204" pitchFamily="49" charset="0"/>
              </a:rPr>
              <a:t>=</a:t>
            </a:r>
            <a:r>
              <a:rPr lang="es-ES" sz="1400" dirty="0">
                <a:solidFill>
                  <a:srgbClr val="A31515"/>
                </a:solidFill>
                <a:latin typeface="Consolas" panose="020B0609020204030204" pitchFamily="49" charset="0"/>
              </a:rPr>
              <a:t>'</a:t>
            </a:r>
            <a:r>
              <a:rPr lang="es-ES" sz="1400" dirty="0" err="1">
                <a:solidFill>
                  <a:srgbClr val="A31515"/>
                </a:solidFill>
                <a:latin typeface="Consolas" panose="020B0609020204030204" pitchFamily="49" charset="0"/>
              </a:rPr>
              <a:t>random</a:t>
            </a:r>
            <a:r>
              <a:rPr lang="es-ES" sz="1400" dirty="0">
                <a:solidFill>
                  <a:srgbClr val="A31515"/>
                </a:solidFill>
                <a:latin typeface="Consolas" panose="020B0609020204030204" pitchFamily="49" charset="0"/>
              </a:rPr>
              <a:t>'</a:t>
            </a:r>
            <a:r>
              <a:rPr lang="es-ES" sz="1400" dirty="0">
                <a:solidFill>
                  <a:srgbClr val="000000"/>
                </a:solidFill>
                <a:latin typeface="Consolas" panose="020B0609020204030204" pitchFamily="49" charset="0"/>
              </a:rPr>
              <a:t>, </a:t>
            </a:r>
          </a:p>
          <a:p>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n_init</a:t>
            </a:r>
            <a:r>
              <a:rPr lang="es-ES" sz="1400" dirty="0">
                <a:solidFill>
                  <a:srgbClr val="000000"/>
                </a:solidFill>
                <a:latin typeface="Consolas" panose="020B0609020204030204" pitchFamily="49" charset="0"/>
              </a:rPr>
              <a:t>=</a:t>
            </a:r>
            <a:r>
              <a:rPr lang="es-ES" sz="1400" dirty="0">
                <a:solidFill>
                  <a:srgbClr val="098658"/>
                </a:solidFill>
                <a:latin typeface="Consolas" panose="020B0609020204030204" pitchFamily="49" charset="0"/>
              </a:rPr>
              <a:t>15</a:t>
            </a:r>
            <a:r>
              <a:rPr lang="es-ES" sz="1400" dirty="0">
                <a:solidFill>
                  <a:srgbClr val="000000"/>
                </a:solidFill>
                <a:latin typeface="Consolas" panose="020B0609020204030204" pitchFamily="49" charset="0"/>
              </a:rPr>
              <a:t>, </a:t>
            </a:r>
          </a:p>
          <a:p>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max_iter</a:t>
            </a:r>
            <a:r>
              <a:rPr lang="es-ES" sz="1400" dirty="0">
                <a:solidFill>
                  <a:srgbClr val="000000"/>
                </a:solidFill>
                <a:latin typeface="Consolas" panose="020B0609020204030204" pitchFamily="49" charset="0"/>
              </a:rPr>
              <a:t>=</a:t>
            </a:r>
            <a:r>
              <a:rPr lang="es-ES" sz="1400" dirty="0">
                <a:solidFill>
                  <a:srgbClr val="098658"/>
                </a:solidFill>
                <a:latin typeface="Consolas" panose="020B0609020204030204" pitchFamily="49" charset="0"/>
              </a:rPr>
              <a:t>50</a:t>
            </a:r>
            <a:r>
              <a:rPr lang="es-ES" sz="1400" dirty="0">
                <a:solidFill>
                  <a:srgbClr val="000000"/>
                </a:solidFill>
                <a:latin typeface="Consolas" panose="020B0609020204030204" pitchFamily="49" charset="0"/>
              </a:rPr>
              <a:t>)</a:t>
            </a:r>
          </a:p>
          <a:p>
            <a:endParaRPr lang="es-ES" sz="1400" dirty="0">
              <a:solidFill>
                <a:srgbClr val="000000"/>
              </a:solidFill>
              <a:latin typeface="Consolas" panose="020B0609020204030204" pitchFamily="49" charset="0"/>
            </a:endParaRPr>
          </a:p>
          <a:p>
            <a:r>
              <a:rPr lang="es-ES" sz="1400" dirty="0">
                <a:solidFill>
                  <a:srgbClr val="008000"/>
                </a:solidFill>
                <a:latin typeface="Consolas" panose="020B0609020204030204" pitchFamily="49" charset="0"/>
              </a:rPr>
              <a:t>#</a:t>
            </a:r>
            <a:r>
              <a:rPr lang="es-ES" sz="1400" dirty="0" err="1">
                <a:solidFill>
                  <a:srgbClr val="008000"/>
                </a:solidFill>
                <a:latin typeface="Consolas" panose="020B0609020204030204" pitchFamily="49" charset="0"/>
              </a:rPr>
              <a:t>kmeans</a:t>
            </a:r>
            <a:r>
              <a:rPr lang="es-ES" sz="1400" dirty="0">
                <a:solidFill>
                  <a:srgbClr val="008000"/>
                </a:solidFill>
                <a:latin typeface="Consolas" panose="020B0609020204030204" pitchFamily="49" charset="0"/>
              </a:rPr>
              <a:t> = </a:t>
            </a:r>
            <a:r>
              <a:rPr lang="es-ES" sz="1400" dirty="0" err="1">
                <a:solidFill>
                  <a:srgbClr val="008000"/>
                </a:solidFill>
                <a:latin typeface="Consolas" panose="020B0609020204030204" pitchFamily="49" charset="0"/>
              </a:rPr>
              <a:t>KMeans</a:t>
            </a:r>
            <a:r>
              <a:rPr lang="es-ES" sz="1400" dirty="0">
                <a:solidFill>
                  <a:srgbClr val="008000"/>
                </a:solidFill>
                <a:latin typeface="Consolas" panose="020B0609020204030204" pitchFamily="49" charset="0"/>
              </a:rPr>
              <a:t>(</a:t>
            </a:r>
            <a:r>
              <a:rPr lang="es-ES" sz="1400" dirty="0" err="1">
                <a:solidFill>
                  <a:srgbClr val="008000"/>
                </a:solidFill>
                <a:latin typeface="Consolas" panose="020B0609020204030204" pitchFamily="49" charset="0"/>
              </a:rPr>
              <a:t>n_clusters</a:t>
            </a:r>
            <a:r>
              <a:rPr lang="es-ES" sz="1400" dirty="0">
                <a:solidFill>
                  <a:srgbClr val="008000"/>
                </a:solidFill>
                <a:latin typeface="Consolas" panose="020B0609020204030204" pitchFamily="49" charset="0"/>
              </a:rPr>
              <a:t>=</a:t>
            </a:r>
            <a:r>
              <a:rPr lang="es-ES" sz="1400" dirty="0" err="1">
                <a:solidFill>
                  <a:srgbClr val="008000"/>
                </a:solidFill>
                <a:latin typeface="Consolas" panose="020B0609020204030204" pitchFamily="49" charset="0"/>
              </a:rPr>
              <a:t>n_clusteres</a:t>
            </a:r>
            <a:r>
              <a:rPr lang="es-ES" sz="1400" dirty="0">
                <a:solidFill>
                  <a:srgbClr val="008000"/>
                </a:solidFill>
                <a:latin typeface="Consolas" panose="020B0609020204030204" pitchFamily="49" charset="0"/>
              </a:rPr>
              <a:t>, </a:t>
            </a:r>
            <a:r>
              <a:rPr lang="es-ES" sz="1400" dirty="0" err="1">
                <a:solidFill>
                  <a:srgbClr val="008000"/>
                </a:solidFill>
                <a:latin typeface="Consolas" panose="020B0609020204030204" pitchFamily="49" charset="0"/>
              </a:rPr>
              <a:t>init</a:t>
            </a:r>
            <a:r>
              <a:rPr lang="es-ES" sz="1400" dirty="0">
                <a:solidFill>
                  <a:srgbClr val="008000"/>
                </a:solidFill>
                <a:latin typeface="Consolas" panose="020B0609020204030204" pitchFamily="49" charset="0"/>
              </a:rPr>
              <a:t>='k-</a:t>
            </a:r>
            <a:r>
              <a:rPr lang="es-ES" sz="1400" dirty="0" err="1">
                <a:solidFill>
                  <a:srgbClr val="008000"/>
                </a:solidFill>
                <a:latin typeface="Consolas" panose="020B0609020204030204" pitchFamily="49" charset="0"/>
              </a:rPr>
              <a:t>means</a:t>
            </a:r>
            <a:r>
              <a:rPr lang="es-ES" sz="1400" dirty="0">
                <a:solidFill>
                  <a:srgbClr val="008000"/>
                </a:solidFill>
                <a:latin typeface="Consolas" panose="020B0609020204030204" pitchFamily="49" charset="0"/>
              </a:rPr>
              <a:t>++',  </a:t>
            </a:r>
            <a:r>
              <a:rPr lang="es-ES" sz="1400" dirty="0" err="1">
                <a:solidFill>
                  <a:srgbClr val="008000"/>
                </a:solidFill>
                <a:latin typeface="Consolas" panose="020B0609020204030204" pitchFamily="49" charset="0"/>
              </a:rPr>
              <a:t>max_iter</a:t>
            </a:r>
            <a:r>
              <a:rPr lang="es-ES" sz="1400" dirty="0">
                <a:solidFill>
                  <a:srgbClr val="008000"/>
                </a:solidFill>
                <a:latin typeface="Consolas" panose="020B0609020204030204" pitchFamily="49" charset="0"/>
              </a:rPr>
              <a:t>=50)</a:t>
            </a:r>
          </a:p>
          <a:p>
            <a:endParaRPr lang="es-ES" sz="1400" dirty="0">
              <a:solidFill>
                <a:srgbClr val="000000"/>
              </a:solidFill>
              <a:latin typeface="Consolas" panose="020B0609020204030204" pitchFamily="49" charset="0"/>
            </a:endParaRPr>
          </a:p>
          <a:p>
            <a:r>
              <a:rPr lang="es-ES" sz="1400" dirty="0" err="1">
                <a:solidFill>
                  <a:srgbClr val="000000"/>
                </a:solidFill>
                <a:latin typeface="Consolas" panose="020B0609020204030204" pitchFamily="49" charset="0"/>
              </a:rPr>
              <a:t>labels</a:t>
            </a:r>
            <a:r>
              <a:rPr lang="es-ES" sz="1400" dirty="0">
                <a:solidFill>
                  <a:srgbClr val="000000"/>
                </a:solidFill>
                <a:latin typeface="Consolas" panose="020B0609020204030204" pitchFamily="49" charset="0"/>
              </a:rPr>
              <a:t> = </a:t>
            </a:r>
            <a:r>
              <a:rPr lang="es-ES" sz="1400" dirty="0" err="1">
                <a:solidFill>
                  <a:srgbClr val="000000"/>
                </a:solidFill>
                <a:latin typeface="Consolas" panose="020B0609020204030204" pitchFamily="49" charset="0"/>
              </a:rPr>
              <a:t>kmeans.fit_predict</a:t>
            </a:r>
            <a:r>
              <a:rPr lang="es-ES" sz="1400" dirty="0">
                <a:solidFill>
                  <a:srgbClr val="000000"/>
                </a:solidFill>
                <a:latin typeface="Consolas" panose="020B0609020204030204" pitchFamily="49" charset="0"/>
              </a:rPr>
              <a:t>(</a:t>
            </a:r>
            <a:r>
              <a:rPr lang="es-ES" sz="1400" dirty="0" err="1">
                <a:solidFill>
                  <a:srgbClr val="000000"/>
                </a:solidFill>
                <a:latin typeface="Consolas" panose="020B0609020204030204" pitchFamily="49" charset="0"/>
              </a:rPr>
              <a:t>X_train</a:t>
            </a:r>
            <a:r>
              <a:rPr lang="es-ES" sz="1400" dirty="0">
                <a:solidFill>
                  <a:srgbClr val="000000"/>
                </a:solidFill>
                <a:latin typeface="Consolas" panose="020B0609020204030204" pitchFamily="49" charset="0"/>
              </a:rPr>
              <a:t>)</a:t>
            </a:r>
          </a:p>
          <a:p>
            <a:endParaRPr lang="es-ES" sz="14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634435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19</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10644325" y="136523"/>
            <a:ext cx="1452247" cy="461665"/>
          </a:xfrm>
          <a:prstGeom prst="rect">
            <a:avLst/>
          </a:prstGeom>
          <a:noFill/>
        </p:spPr>
        <p:txBody>
          <a:bodyPr wrap="square" rtlCol="0">
            <a:spAutoFit/>
          </a:bodyPr>
          <a:lstStyle/>
          <a:p>
            <a:r>
              <a:rPr lang="es-ES" sz="2400" b="1">
                <a:solidFill>
                  <a:schemeClr val="accent1">
                    <a:lumMod val="50000"/>
                  </a:schemeClr>
                </a:solidFill>
              </a:rPr>
              <a:t>K-Means</a:t>
            </a:r>
            <a:endParaRPr lang="es-ES" sz="8800" b="1" dirty="0">
              <a:solidFill>
                <a:schemeClr val="accent1">
                  <a:lumMod val="50000"/>
                </a:scheme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1705814" y="1037194"/>
            <a:ext cx="9876881" cy="45550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b="1" dirty="0" err="1">
                <a:solidFill>
                  <a:schemeClr val="accent5">
                    <a:lumMod val="20000"/>
                    <a:lumOff val="80000"/>
                  </a:schemeClr>
                </a:solidFill>
              </a:rPr>
              <a:t>Algoritmo</a:t>
            </a:r>
            <a:r>
              <a:rPr lang="en-US" sz="2400" b="1" dirty="0">
                <a:solidFill>
                  <a:schemeClr val="accent5">
                    <a:lumMod val="20000"/>
                    <a:lumOff val="80000"/>
                  </a:schemeClr>
                </a:solidFill>
              </a:rPr>
              <a:t> </a:t>
            </a:r>
            <a:r>
              <a:rPr lang="en-US" sz="2400" b="1" dirty="0" err="1">
                <a:solidFill>
                  <a:schemeClr val="accent5">
                    <a:lumMod val="20000"/>
                    <a:lumOff val="80000"/>
                  </a:schemeClr>
                </a:solidFill>
              </a:rPr>
              <a:t>Completo</a:t>
            </a:r>
            <a:r>
              <a:rPr lang="en-US" sz="2400" b="1" dirty="0">
                <a:solidFill>
                  <a:schemeClr val="accent5">
                    <a:lumMod val="20000"/>
                    <a:lumOff val="80000"/>
                  </a:schemeClr>
                </a:solidFill>
              </a:rPr>
              <a:t> de K-means.</a:t>
            </a:r>
          </a:p>
          <a:p>
            <a:pPr marL="742950" lvl="1" indent="-285750">
              <a:buFont typeface="Arial" panose="020B0604020202020204" pitchFamily="34" charset="0"/>
              <a:buChar char="•"/>
            </a:pPr>
            <a:r>
              <a:rPr lang="en-US" sz="2000" b="1" dirty="0" err="1">
                <a:solidFill>
                  <a:schemeClr val="accent5">
                    <a:lumMod val="20000"/>
                    <a:lumOff val="80000"/>
                  </a:schemeClr>
                </a:solidFill>
              </a:rPr>
              <a:t>Implementación</a:t>
            </a:r>
            <a:r>
              <a:rPr lang="en-US" sz="2000" b="1" dirty="0">
                <a:solidFill>
                  <a:schemeClr val="accent5">
                    <a:lumMod val="20000"/>
                    <a:lumOff val="80000"/>
                  </a:schemeClr>
                </a:solidFill>
              </a:rPr>
              <a:t> </a:t>
            </a:r>
            <a:r>
              <a:rPr lang="en-US" sz="2000" b="1" dirty="0" err="1">
                <a:solidFill>
                  <a:schemeClr val="accent5">
                    <a:lumMod val="20000"/>
                    <a:lumOff val="80000"/>
                  </a:schemeClr>
                </a:solidFill>
              </a:rPr>
              <a:t>desde</a:t>
            </a:r>
            <a:r>
              <a:rPr lang="en-US" sz="2000" b="1" dirty="0">
                <a:solidFill>
                  <a:schemeClr val="accent5">
                    <a:lumMod val="20000"/>
                    <a:lumOff val="80000"/>
                  </a:schemeClr>
                </a:solidFill>
              </a:rPr>
              <a:t> Scratch.</a:t>
            </a:r>
          </a:p>
          <a:p>
            <a:pPr marL="742950" lvl="1" indent="-285750">
              <a:buFont typeface="Arial" panose="020B0604020202020204" pitchFamily="34" charset="0"/>
              <a:buChar char="•"/>
            </a:pPr>
            <a:r>
              <a:rPr lang="en-US" sz="2000" b="1" dirty="0" err="1">
                <a:solidFill>
                  <a:schemeClr val="accent5">
                    <a:lumMod val="20000"/>
                    <a:lumOff val="80000"/>
                  </a:schemeClr>
                </a:solidFill>
              </a:rPr>
              <a:t>Soluciones</a:t>
            </a:r>
            <a:r>
              <a:rPr lang="en-US" sz="2000" b="1" dirty="0">
                <a:solidFill>
                  <a:schemeClr val="accent5">
                    <a:lumMod val="20000"/>
                    <a:lumOff val="80000"/>
                  </a:schemeClr>
                </a:solidFill>
              </a:rPr>
              <a:t> </a:t>
            </a:r>
            <a:r>
              <a:rPr lang="en-US" sz="2000" b="1" dirty="0" err="1">
                <a:solidFill>
                  <a:schemeClr val="accent5">
                    <a:lumMod val="20000"/>
                    <a:lumOff val="80000"/>
                  </a:schemeClr>
                </a:solidFill>
              </a:rPr>
              <a:t>subóptimas</a:t>
            </a:r>
            <a:r>
              <a:rPr lang="en-US" sz="2000" b="1" dirty="0">
                <a:solidFill>
                  <a:schemeClr val="accent5">
                    <a:lumMod val="20000"/>
                    <a:lumOff val="80000"/>
                  </a:schemeClr>
                </a:solidFill>
              </a:rPr>
              <a:t>.</a:t>
            </a:r>
          </a:p>
          <a:p>
            <a:pPr marL="285750" indent="-285750">
              <a:lnSpc>
                <a:spcPct val="150000"/>
              </a:lnSpc>
              <a:buFont typeface="Arial" panose="020B0604020202020204" pitchFamily="34" charset="0"/>
              <a:buChar char="•"/>
            </a:pPr>
            <a:r>
              <a:rPr lang="es-ES" sz="2400" b="1" dirty="0">
                <a:solidFill>
                  <a:schemeClr val="accent5">
                    <a:lumMod val="20000"/>
                    <a:lumOff val="80000"/>
                  </a:schemeClr>
                </a:solidFill>
              </a:rPr>
              <a:t>Implementación en </a:t>
            </a:r>
            <a:r>
              <a:rPr lang="es-ES" sz="2400" b="1" dirty="0" err="1">
                <a:solidFill>
                  <a:schemeClr val="accent5">
                    <a:lumMod val="20000"/>
                    <a:lumOff val="80000"/>
                  </a:schemeClr>
                </a:solidFill>
              </a:rPr>
              <a:t>Sklearn</a:t>
            </a:r>
            <a:r>
              <a:rPr lang="es-ES" sz="2400" b="1" dirty="0">
                <a:solidFill>
                  <a:schemeClr val="accent5">
                    <a:lumMod val="20000"/>
                    <a:lumOff val="80000"/>
                  </a:schemeClr>
                </a:solidFill>
              </a:rPr>
              <a:t>.</a:t>
            </a:r>
          </a:p>
          <a:p>
            <a:pPr marL="742950" lvl="1" indent="-285750">
              <a:buFont typeface="Arial" panose="020B0604020202020204" pitchFamily="34" charset="0"/>
              <a:buChar char="•"/>
            </a:pPr>
            <a:r>
              <a:rPr lang="es-ES" sz="2000" b="1" dirty="0">
                <a:solidFill>
                  <a:schemeClr val="accent5">
                    <a:lumMod val="20000"/>
                    <a:lumOff val="80000"/>
                  </a:schemeClr>
                </a:solidFill>
              </a:rPr>
              <a:t>Parámetros.</a:t>
            </a:r>
          </a:p>
          <a:p>
            <a:pPr marL="285750" indent="-285750">
              <a:lnSpc>
                <a:spcPct val="150000"/>
              </a:lnSpc>
              <a:buFont typeface="Arial" panose="020B0604020202020204" pitchFamily="34" charset="0"/>
              <a:buChar char="•"/>
            </a:pPr>
            <a:r>
              <a:rPr lang="es-ES" sz="2400" b="1" dirty="0" err="1">
                <a:solidFill>
                  <a:schemeClr val="accent1">
                    <a:lumMod val="50000"/>
                  </a:schemeClr>
                </a:solidFill>
              </a:rPr>
              <a:t>Preprocesamiento</a:t>
            </a:r>
            <a:r>
              <a:rPr lang="es-ES" sz="2400" b="1" dirty="0">
                <a:solidFill>
                  <a:schemeClr val="accent1">
                    <a:lumMod val="50000"/>
                  </a:schemeClr>
                </a:solidFill>
              </a:rPr>
              <a:t>. Escalado.</a:t>
            </a:r>
          </a:p>
          <a:p>
            <a:pPr marL="285750" indent="-285750">
              <a:lnSpc>
                <a:spcPct val="150000"/>
              </a:lnSpc>
              <a:buFont typeface="Arial" panose="020B0604020202020204" pitchFamily="34" charset="0"/>
              <a:buChar char="•"/>
            </a:pPr>
            <a:r>
              <a:rPr lang="es-ES" sz="2400" b="1" dirty="0">
                <a:solidFill>
                  <a:schemeClr val="accent5">
                    <a:lumMod val="20000"/>
                    <a:lumOff val="80000"/>
                  </a:schemeClr>
                </a:solidFill>
              </a:rPr>
              <a:t>Número óptimo de </a:t>
            </a:r>
            <a:r>
              <a:rPr lang="es-ES" sz="2400" b="1" i="1" dirty="0">
                <a:solidFill>
                  <a:schemeClr val="accent5">
                    <a:lumMod val="20000"/>
                    <a:lumOff val="80000"/>
                  </a:schemeClr>
                </a:solidFill>
              </a:rPr>
              <a:t>clústeres.</a:t>
            </a:r>
            <a:endParaRPr lang="es-ES" sz="2400" b="1" dirty="0">
              <a:solidFill>
                <a:schemeClr val="accent5">
                  <a:lumMod val="20000"/>
                  <a:lumOff val="80000"/>
                </a:schemeClr>
              </a:solidFill>
            </a:endParaRPr>
          </a:p>
          <a:p>
            <a:pPr marL="742950" lvl="1" indent="-285750">
              <a:buFont typeface="Arial" panose="020B0604020202020204" pitchFamily="34" charset="0"/>
              <a:buChar char="•"/>
            </a:pPr>
            <a:r>
              <a:rPr lang="es-ES" sz="2000" b="1" dirty="0">
                <a:solidFill>
                  <a:schemeClr val="accent5">
                    <a:lumMod val="20000"/>
                    <a:lumOff val="80000"/>
                  </a:schemeClr>
                </a:solidFill>
              </a:rPr>
              <a:t>Método del codo.</a:t>
            </a:r>
          </a:p>
          <a:p>
            <a:pPr marL="742950" lvl="1" indent="-285750">
              <a:buFont typeface="Arial" panose="020B0604020202020204" pitchFamily="34" charset="0"/>
              <a:buChar char="•"/>
            </a:pPr>
            <a:r>
              <a:rPr lang="es-ES" sz="2000" b="1" dirty="0">
                <a:solidFill>
                  <a:schemeClr val="accent5">
                    <a:lumMod val="20000"/>
                    <a:lumOff val="80000"/>
                  </a:schemeClr>
                </a:solidFill>
              </a:rPr>
              <a:t>Método de la silueta.</a:t>
            </a:r>
          </a:p>
          <a:p>
            <a:pPr marL="285750" indent="-285750">
              <a:lnSpc>
                <a:spcPct val="150000"/>
              </a:lnSpc>
              <a:buFont typeface="Arial" panose="020B0604020202020204" pitchFamily="34" charset="0"/>
              <a:buChar char="•"/>
            </a:pPr>
            <a:r>
              <a:rPr lang="es-ES" sz="2400" b="1" dirty="0">
                <a:solidFill>
                  <a:schemeClr val="accent5">
                    <a:lumMod val="20000"/>
                    <a:lumOff val="80000"/>
                  </a:schemeClr>
                </a:solidFill>
              </a:rPr>
              <a:t>Ventajas e inconvenientes de K-</a:t>
            </a:r>
            <a:r>
              <a:rPr lang="es-ES" sz="2400" b="1" dirty="0" err="1">
                <a:solidFill>
                  <a:schemeClr val="accent5">
                    <a:lumMod val="20000"/>
                    <a:lumOff val="80000"/>
                  </a:schemeClr>
                </a:solidFill>
              </a:rPr>
              <a:t>Means</a:t>
            </a:r>
            <a:r>
              <a:rPr lang="es-ES" sz="2400" b="1" dirty="0">
                <a:solidFill>
                  <a:schemeClr val="accent5">
                    <a:lumMod val="20000"/>
                    <a:lumOff val="80000"/>
                  </a:schemeClr>
                </a:solidFill>
              </a:rPr>
              <a:t>.</a:t>
            </a:r>
          </a:p>
        </p:txBody>
      </p:sp>
    </p:spTree>
    <p:extLst>
      <p:ext uri="{BB962C8B-B14F-4D97-AF65-F5344CB8AC3E}">
        <p14:creationId xmlns:p14="http://schemas.microsoft.com/office/powerpoint/2010/main" val="17043647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a:picLocks noChangeAspect="1"/>
          </p:cNvPicPr>
          <p:nvPr/>
        </p:nvPicPr>
        <p:blipFill>
          <a:blip r:embed="rId2"/>
          <a:stretch>
            <a:fillRect/>
          </a:stretch>
        </p:blipFill>
        <p:spPr>
          <a:xfrm>
            <a:off x="227198" y="1040842"/>
            <a:ext cx="9036000" cy="2831659"/>
          </a:xfrm>
          <a:prstGeom prst="rect">
            <a:avLst/>
          </a:prstGeom>
        </p:spPr>
      </p:pic>
      <p:pic>
        <p:nvPicPr>
          <p:cNvPr id="10" name="Imagen 9"/>
          <p:cNvPicPr>
            <a:picLocks noChangeAspect="1"/>
          </p:cNvPicPr>
          <p:nvPr/>
        </p:nvPicPr>
        <p:blipFill>
          <a:blip r:embed="rId3"/>
          <a:stretch>
            <a:fillRect/>
          </a:stretch>
        </p:blipFill>
        <p:spPr>
          <a:xfrm>
            <a:off x="227198" y="3876817"/>
            <a:ext cx="9000000" cy="2943257"/>
          </a:xfrm>
          <a:prstGeom prst="rect">
            <a:avLst/>
          </a:prstGeom>
        </p:spPr>
      </p:pic>
      <p:sp>
        <p:nvSpPr>
          <p:cNvPr id="2" name="Marcador de número de diapositiva 1">
            <a:extLst>
              <a:ext uri="{FF2B5EF4-FFF2-40B4-BE49-F238E27FC236}">
                <a16:creationId xmlns:a16="http://schemas.microsoft.com/office/drawing/2014/main" id="{43EF5A0B-45CA-2419-7B65-6A8233E6F6B8}"/>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20</a:t>
            </a:fld>
            <a:endParaRPr lang="es-ES">
              <a:solidFill>
                <a:prstClr val="black">
                  <a:tint val="75000"/>
                </a:prstClr>
              </a:solidFill>
            </a:endParaRPr>
          </a:p>
        </p:txBody>
      </p:sp>
      <p:sp>
        <p:nvSpPr>
          <p:cNvPr id="4" name="CuadroTexto 3">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5" name="CuadroTexto 4">
            <a:extLst>
              <a:ext uri="{FF2B5EF4-FFF2-40B4-BE49-F238E27FC236}">
                <a16:creationId xmlns:a16="http://schemas.microsoft.com/office/drawing/2014/main" id="{FDE3E1D8-ECD5-C2E1-DDFD-48925AD95E0F}"/>
              </a:ext>
            </a:extLst>
          </p:cNvPr>
          <p:cNvSpPr txBox="1"/>
          <p:nvPr/>
        </p:nvSpPr>
        <p:spPr>
          <a:xfrm>
            <a:off x="368990" y="320934"/>
            <a:ext cx="2975815" cy="461665"/>
          </a:xfrm>
          <a:prstGeom prst="rect">
            <a:avLst/>
          </a:prstGeom>
          <a:noFill/>
        </p:spPr>
        <p:txBody>
          <a:bodyPr wrap="none" rtlCol="0">
            <a:spAutoFit/>
          </a:bodyPr>
          <a:lstStyle/>
          <a:p>
            <a:r>
              <a:rPr lang="es-ES" sz="2400" b="1" dirty="0">
                <a:solidFill>
                  <a:schemeClr val="accent1">
                    <a:lumMod val="50000"/>
                  </a:schemeClr>
                </a:solidFill>
              </a:rPr>
              <a:t>Escalado de los datos.</a:t>
            </a:r>
          </a:p>
        </p:txBody>
      </p:sp>
      <p:sp>
        <p:nvSpPr>
          <p:cNvPr id="6" name="CuadroTexto 5">
            <a:extLst>
              <a:ext uri="{FF2B5EF4-FFF2-40B4-BE49-F238E27FC236}">
                <a16:creationId xmlns:a16="http://schemas.microsoft.com/office/drawing/2014/main" id="{D4286E82-FF38-1057-622F-02244AD16F2B}"/>
              </a:ext>
            </a:extLst>
          </p:cNvPr>
          <p:cNvSpPr txBox="1"/>
          <p:nvPr/>
        </p:nvSpPr>
        <p:spPr>
          <a:xfrm>
            <a:off x="9227199" y="1028820"/>
            <a:ext cx="2731822" cy="3693319"/>
          </a:xfrm>
          <a:prstGeom prst="rect">
            <a:avLst/>
          </a:prstGeom>
          <a:noFill/>
        </p:spPr>
        <p:txBody>
          <a:bodyPr wrap="square" rtlCol="0">
            <a:spAutoFit/>
          </a:bodyPr>
          <a:lstStyle/>
          <a:p>
            <a:r>
              <a:rPr lang="es-ES" dirty="0">
                <a:solidFill>
                  <a:schemeClr val="accent1">
                    <a:lumMod val="50000"/>
                  </a:schemeClr>
                </a:solidFill>
              </a:rPr>
              <a:t>El método K-</a:t>
            </a:r>
            <a:r>
              <a:rPr lang="es-ES" dirty="0" err="1">
                <a:solidFill>
                  <a:schemeClr val="accent1">
                    <a:lumMod val="50000"/>
                  </a:schemeClr>
                </a:solidFill>
              </a:rPr>
              <a:t>means</a:t>
            </a:r>
            <a:r>
              <a:rPr lang="es-ES" dirty="0">
                <a:solidFill>
                  <a:schemeClr val="accent1">
                    <a:lumMod val="50000"/>
                  </a:schemeClr>
                </a:solidFill>
              </a:rPr>
              <a:t> es un algoritmo que funciona muy bien identificando estructuras globulares concentradas alrededor de un </a:t>
            </a:r>
            <a:r>
              <a:rPr lang="es-ES" dirty="0" err="1">
                <a:solidFill>
                  <a:schemeClr val="accent1">
                    <a:lumMod val="50000"/>
                  </a:schemeClr>
                </a:solidFill>
              </a:rPr>
              <a:t>centroide</a:t>
            </a:r>
            <a:r>
              <a:rPr lang="es-ES" dirty="0">
                <a:solidFill>
                  <a:schemeClr val="accent1">
                    <a:lumMod val="50000"/>
                  </a:schemeClr>
                </a:solidFill>
              </a:rPr>
              <a:t>. Si los datos de entrada contienen variables con valores en rangos muy diferentes, aquellas características con escalas mayores tendrán un impacto mayor en la definición de distancia.</a:t>
            </a:r>
          </a:p>
        </p:txBody>
      </p:sp>
      <p:sp>
        <p:nvSpPr>
          <p:cNvPr id="8" name="CuadroTexto 7">
            <a:extLst>
              <a:ext uri="{FF2B5EF4-FFF2-40B4-BE49-F238E27FC236}">
                <a16:creationId xmlns:a16="http://schemas.microsoft.com/office/drawing/2014/main" id="{D4286E82-FF38-1057-622F-02244AD16F2B}"/>
              </a:ext>
            </a:extLst>
          </p:cNvPr>
          <p:cNvSpPr txBox="1"/>
          <p:nvPr/>
        </p:nvSpPr>
        <p:spPr>
          <a:xfrm>
            <a:off x="9227198" y="5615584"/>
            <a:ext cx="2053715" cy="923330"/>
          </a:xfrm>
          <a:prstGeom prst="rect">
            <a:avLst/>
          </a:prstGeom>
          <a:noFill/>
        </p:spPr>
        <p:txBody>
          <a:bodyPr wrap="square" rtlCol="0">
            <a:spAutoFit/>
          </a:bodyPr>
          <a:lstStyle/>
          <a:p>
            <a:r>
              <a:rPr lang="es-ES" dirty="0">
                <a:solidFill>
                  <a:schemeClr val="accent1">
                    <a:lumMod val="50000"/>
                  </a:schemeClr>
                </a:solidFill>
              </a:rPr>
              <a:t>Resultados sin re-escalar los datos de entrada </a:t>
            </a:r>
          </a:p>
        </p:txBody>
      </p:sp>
    </p:spTree>
    <p:extLst>
      <p:ext uri="{BB962C8B-B14F-4D97-AF65-F5344CB8AC3E}">
        <p14:creationId xmlns:p14="http://schemas.microsoft.com/office/powerpoint/2010/main" val="27292772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43EF5A0B-45CA-2419-7B65-6A8233E6F6B8}"/>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21</a:t>
            </a:fld>
            <a:endParaRPr lang="es-ES">
              <a:solidFill>
                <a:prstClr val="black">
                  <a:tint val="75000"/>
                </a:prstClr>
              </a:solidFill>
            </a:endParaRPr>
          </a:p>
        </p:txBody>
      </p:sp>
      <p:sp>
        <p:nvSpPr>
          <p:cNvPr id="4" name="CuadroTexto 3">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5" name="CuadroTexto 4">
            <a:extLst>
              <a:ext uri="{FF2B5EF4-FFF2-40B4-BE49-F238E27FC236}">
                <a16:creationId xmlns:a16="http://schemas.microsoft.com/office/drawing/2014/main" id="{FDE3E1D8-ECD5-C2E1-DDFD-48925AD95E0F}"/>
              </a:ext>
            </a:extLst>
          </p:cNvPr>
          <p:cNvSpPr txBox="1"/>
          <p:nvPr/>
        </p:nvSpPr>
        <p:spPr>
          <a:xfrm>
            <a:off x="368990" y="320934"/>
            <a:ext cx="2975815" cy="461665"/>
          </a:xfrm>
          <a:prstGeom prst="rect">
            <a:avLst/>
          </a:prstGeom>
          <a:noFill/>
        </p:spPr>
        <p:txBody>
          <a:bodyPr wrap="none" rtlCol="0">
            <a:spAutoFit/>
          </a:bodyPr>
          <a:lstStyle/>
          <a:p>
            <a:r>
              <a:rPr lang="es-ES" sz="2400" b="1" dirty="0">
                <a:solidFill>
                  <a:schemeClr val="accent1">
                    <a:lumMod val="50000"/>
                  </a:schemeClr>
                </a:solidFill>
              </a:rPr>
              <a:t>Escalado de los datos.</a:t>
            </a:r>
          </a:p>
        </p:txBody>
      </p:sp>
      <p:sp>
        <p:nvSpPr>
          <p:cNvPr id="8" name="CuadroTexto 7">
            <a:extLst>
              <a:ext uri="{FF2B5EF4-FFF2-40B4-BE49-F238E27FC236}">
                <a16:creationId xmlns:a16="http://schemas.microsoft.com/office/drawing/2014/main" id="{D4286E82-FF38-1057-622F-02244AD16F2B}"/>
              </a:ext>
            </a:extLst>
          </p:cNvPr>
          <p:cNvSpPr txBox="1"/>
          <p:nvPr/>
        </p:nvSpPr>
        <p:spPr>
          <a:xfrm>
            <a:off x="6568751" y="1504223"/>
            <a:ext cx="5697894" cy="830997"/>
          </a:xfrm>
          <a:prstGeom prst="rect">
            <a:avLst/>
          </a:prstGeom>
          <a:noFill/>
        </p:spPr>
        <p:txBody>
          <a:bodyPr wrap="square" rtlCol="0">
            <a:spAutoFit/>
          </a:bodyPr>
          <a:lstStyle/>
          <a:p>
            <a:r>
              <a:rPr lang="es-ES" sz="1600" dirty="0">
                <a:solidFill>
                  <a:schemeClr val="accent1">
                    <a:lumMod val="50000"/>
                  </a:schemeClr>
                </a:solidFill>
              </a:rPr>
              <a:t>Resultados utilizando estandarización para que todas las características de los datos de entrada tengan media 0 y desviación típica 1.</a:t>
            </a:r>
          </a:p>
        </p:txBody>
      </p:sp>
      <p:pic>
        <p:nvPicPr>
          <p:cNvPr id="7" name="Imagen 6"/>
          <p:cNvPicPr>
            <a:picLocks noChangeAspect="1"/>
          </p:cNvPicPr>
          <p:nvPr/>
        </p:nvPicPr>
        <p:blipFill>
          <a:blip r:embed="rId2"/>
          <a:stretch>
            <a:fillRect/>
          </a:stretch>
        </p:blipFill>
        <p:spPr>
          <a:xfrm>
            <a:off x="0" y="1222475"/>
            <a:ext cx="6265323" cy="5066358"/>
          </a:xfrm>
          <a:prstGeom prst="rect">
            <a:avLst/>
          </a:prstGeom>
        </p:spPr>
      </p:pic>
      <p:sp>
        <p:nvSpPr>
          <p:cNvPr id="15" name="Rectángulo: esquinas redondeadas 9">
            <a:extLst>
              <a:ext uri="{FF2B5EF4-FFF2-40B4-BE49-F238E27FC236}">
                <a16:creationId xmlns:a16="http://schemas.microsoft.com/office/drawing/2014/main" id="{F367520B-F947-2678-6EAB-027B8A95BC94}"/>
              </a:ext>
            </a:extLst>
          </p:cNvPr>
          <p:cNvSpPr/>
          <p:nvPr/>
        </p:nvSpPr>
        <p:spPr>
          <a:xfrm>
            <a:off x="6568751" y="2939955"/>
            <a:ext cx="5530436" cy="3037923"/>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400" b="1" dirty="0" err="1">
                <a:solidFill>
                  <a:schemeClr val="accent6">
                    <a:lumMod val="75000"/>
                  </a:schemeClr>
                </a:solidFill>
                <a:latin typeface="Courier New" panose="02070309020205020404" pitchFamily="49" charset="0"/>
                <a:cs typeface="Courier New" panose="02070309020205020404" pitchFamily="49" charset="0"/>
              </a:rPr>
              <a:t>from</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sklearn.datasets</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make_blobs</a:t>
            </a:r>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b="1" dirty="0" err="1">
                <a:solidFill>
                  <a:schemeClr val="accent6">
                    <a:lumMod val="75000"/>
                  </a:schemeClr>
                </a:solidFill>
                <a:latin typeface="Courier New" panose="02070309020205020404" pitchFamily="49" charset="0"/>
                <a:cs typeface="Courier New" panose="02070309020205020404" pitchFamily="49" charset="0"/>
              </a:rPr>
              <a:t>from</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sklearn.cluster</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Kmeans</a:t>
            </a:r>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b="1" dirty="0" err="1">
                <a:solidFill>
                  <a:schemeClr val="accent6">
                    <a:lumMod val="75000"/>
                  </a:schemeClr>
                </a:solidFill>
                <a:latin typeface="Courier New" panose="02070309020205020404" pitchFamily="49" charset="0"/>
                <a:cs typeface="Courier New" panose="02070309020205020404" pitchFamily="49" charset="0"/>
              </a:rPr>
              <a:t>from</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sklearn.preprocessing</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StandardScaler</a:t>
            </a:r>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seaborn</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b="1" dirty="0">
                <a:solidFill>
                  <a:schemeClr val="accent6">
                    <a:lumMod val="75000"/>
                  </a:schemeClr>
                </a:solidFill>
                <a:latin typeface="Courier New" panose="02070309020205020404" pitchFamily="49" charset="0"/>
                <a:cs typeface="Courier New" panose="02070309020205020404" pitchFamily="49" charset="0"/>
              </a:rPr>
              <a:t>as</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sns</a:t>
            </a:r>
            <a:endParaRPr lang="es-ES" sz="1400" dirty="0">
              <a:solidFill>
                <a:schemeClr val="accent1">
                  <a:lumMod val="50000"/>
                </a:schemeClr>
              </a:solidFill>
              <a:latin typeface="Courier New" panose="02070309020205020404" pitchFamily="49" charset="0"/>
              <a:cs typeface="Courier New" panose="02070309020205020404" pitchFamily="49" charset="0"/>
            </a:endParaRPr>
          </a:p>
          <a:p>
            <a:endParaRPr lang="es-ES" sz="1400" b="1" dirty="0">
              <a:solidFill>
                <a:schemeClr val="accent6">
                  <a:lumMod val="75000"/>
                </a:schemeClr>
              </a:solidFill>
              <a:latin typeface="Courier New" panose="02070309020205020404" pitchFamily="49" charset="0"/>
              <a:cs typeface="Courier New" panose="02070309020205020404" pitchFamily="49" charset="0"/>
            </a:endParaRPr>
          </a:p>
          <a:p>
            <a:r>
              <a:rPr lang="es-ES" sz="1400" b="1" dirty="0">
                <a:solidFill>
                  <a:schemeClr val="accent6">
                    <a:lumMod val="75000"/>
                  </a:schemeClr>
                </a:solidFill>
                <a:latin typeface="Courier New" panose="02070309020205020404" pitchFamily="49" charset="0"/>
                <a:cs typeface="Courier New" panose="02070309020205020404" pitchFamily="49" charset="0"/>
              </a:rPr>
              <a:t>…</a:t>
            </a:r>
          </a:p>
          <a:p>
            <a:endParaRPr lang="es-ES" sz="1400" b="1" dirty="0">
              <a:solidFill>
                <a:schemeClr val="accent6">
                  <a:lumMod val="75000"/>
                </a:schemeClr>
              </a:solidFill>
              <a:latin typeface="Courier New" panose="02070309020205020404" pitchFamily="49" charset="0"/>
              <a:cs typeface="Courier New" panose="02070309020205020404" pitchFamily="49" charset="0"/>
            </a:endParaRPr>
          </a:p>
          <a:p>
            <a:r>
              <a:rPr lang="es-ES" sz="1400" dirty="0">
                <a:solidFill>
                  <a:schemeClr val="accent2">
                    <a:lumMod val="50000"/>
                  </a:schemeClr>
                </a:solidFill>
                <a:latin typeface="Courier New" panose="02070309020205020404" pitchFamily="49" charset="0"/>
                <a:cs typeface="Courier New" panose="02070309020205020404" pitchFamily="49" charset="0"/>
              </a:rPr>
              <a:t># Escalado de los datos de entrada</a:t>
            </a:r>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1">
                    <a:lumMod val="50000"/>
                  </a:schemeClr>
                </a:solidFill>
                <a:latin typeface="Courier New" panose="02070309020205020404" pitchFamily="49" charset="0"/>
                <a:cs typeface="Courier New" panose="02070309020205020404" pitchFamily="49" charset="0"/>
              </a:rPr>
              <a:t>X = </a:t>
            </a:r>
            <a:r>
              <a:rPr lang="es-ES" sz="1400" dirty="0" err="1">
                <a:solidFill>
                  <a:schemeClr val="accent1">
                    <a:lumMod val="50000"/>
                  </a:schemeClr>
                </a:solidFill>
                <a:latin typeface="Courier New" panose="02070309020205020404" pitchFamily="49" charset="0"/>
                <a:cs typeface="Courier New" panose="02070309020205020404" pitchFamily="49" charset="0"/>
              </a:rPr>
              <a:t>StandardScaler</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fit_transform</a:t>
            </a:r>
            <a:r>
              <a:rPr lang="es-ES" sz="1400" dirty="0">
                <a:solidFill>
                  <a:schemeClr val="accent1">
                    <a:lumMod val="50000"/>
                  </a:schemeClr>
                </a:solidFill>
                <a:latin typeface="Courier New" panose="02070309020205020404" pitchFamily="49" charset="0"/>
                <a:cs typeface="Courier New" panose="02070309020205020404" pitchFamily="49" charset="0"/>
              </a:rPr>
              <a:t>(X)</a:t>
            </a:r>
          </a:p>
          <a:p>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a:solidFill>
                  <a:schemeClr val="accent2">
                    <a:lumMod val="50000"/>
                  </a:schemeClr>
                </a:solidFill>
                <a:latin typeface="Courier New" panose="02070309020205020404" pitchFamily="49" charset="0"/>
                <a:cs typeface="Courier New" panose="02070309020205020404" pitchFamily="49" charset="0"/>
              </a:rPr>
              <a:t># Aplicar </a:t>
            </a:r>
            <a:r>
              <a:rPr lang="es-ES" sz="1400" dirty="0" err="1">
                <a:solidFill>
                  <a:schemeClr val="accent2">
                    <a:lumMod val="50000"/>
                  </a:schemeClr>
                </a:solidFill>
                <a:latin typeface="Courier New" panose="02070309020205020404" pitchFamily="49" charset="0"/>
                <a:cs typeface="Courier New" panose="02070309020205020404" pitchFamily="49" charset="0"/>
              </a:rPr>
              <a:t>KMeans</a:t>
            </a:r>
            <a:endParaRPr lang="es-ES" sz="1400" dirty="0">
              <a:solidFill>
                <a:schemeClr val="accent1">
                  <a:lumMod val="50000"/>
                </a:schemeClr>
              </a:solidFill>
              <a:latin typeface="Courier New" panose="02070309020205020404" pitchFamily="49" charset="0"/>
              <a:cs typeface="Courier New" panose="02070309020205020404" pitchFamily="49" charset="0"/>
            </a:endParaRPr>
          </a:p>
          <a:p>
            <a:r>
              <a:rPr lang="es-ES" sz="1400" dirty="0" err="1">
                <a:solidFill>
                  <a:schemeClr val="accent1">
                    <a:lumMod val="50000"/>
                  </a:schemeClr>
                </a:solidFill>
                <a:latin typeface="Courier New" panose="02070309020205020404" pitchFamily="49" charset="0"/>
                <a:cs typeface="Courier New" panose="02070309020205020404" pitchFamily="49" charset="0"/>
              </a:rPr>
              <a:t>kmeans</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KMeans</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dirty="0" err="1">
                <a:solidFill>
                  <a:schemeClr val="accent1">
                    <a:lumMod val="50000"/>
                  </a:schemeClr>
                </a:solidFill>
                <a:latin typeface="Courier New" panose="02070309020205020404" pitchFamily="49" charset="0"/>
                <a:cs typeface="Courier New" panose="02070309020205020404" pitchFamily="49" charset="0"/>
              </a:rPr>
              <a:t>n_clusters</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b="1" dirty="0">
                <a:solidFill>
                  <a:schemeClr val="accent6">
                    <a:lumMod val="75000"/>
                  </a:schemeClr>
                </a:solidFill>
                <a:latin typeface="Courier New" panose="02070309020205020404" pitchFamily="49" charset="0"/>
                <a:cs typeface="Courier New" panose="02070309020205020404" pitchFamily="49" charset="0"/>
              </a:rPr>
              <a:t>3</a:t>
            </a:r>
            <a:r>
              <a:rPr lang="es-ES" sz="1400" dirty="0">
                <a:solidFill>
                  <a:schemeClr val="accent1">
                    <a:lumMod val="50000"/>
                  </a:schemeClr>
                </a:solidFill>
                <a:latin typeface="Courier New" panose="02070309020205020404" pitchFamily="49" charset="0"/>
                <a:cs typeface="Courier New" panose="02070309020205020404" pitchFamily="49" charset="0"/>
              </a:rPr>
              <a:t>, </a:t>
            </a:r>
            <a:r>
              <a:rPr lang="es-ES" sz="1400" dirty="0" err="1">
                <a:solidFill>
                  <a:schemeClr val="accent1">
                    <a:lumMod val="50000"/>
                  </a:schemeClr>
                </a:solidFill>
                <a:latin typeface="Courier New" panose="02070309020205020404" pitchFamily="49" charset="0"/>
                <a:cs typeface="Courier New" panose="02070309020205020404" pitchFamily="49" charset="0"/>
              </a:rPr>
              <a:t>max_iter</a:t>
            </a:r>
            <a:r>
              <a:rPr lang="es-ES" sz="1400" dirty="0">
                <a:solidFill>
                  <a:schemeClr val="accent1">
                    <a:lumMod val="50000"/>
                  </a:schemeClr>
                </a:solidFill>
                <a:latin typeface="Courier New" panose="02070309020205020404" pitchFamily="49" charset="0"/>
                <a:cs typeface="Courier New" panose="02070309020205020404" pitchFamily="49" charset="0"/>
              </a:rPr>
              <a:t>=</a:t>
            </a:r>
            <a:r>
              <a:rPr lang="es-ES" sz="1400" b="1" dirty="0">
                <a:solidFill>
                  <a:schemeClr val="accent6">
                    <a:lumMod val="75000"/>
                  </a:schemeClr>
                </a:solidFill>
                <a:latin typeface="Courier New" panose="02070309020205020404" pitchFamily="49" charset="0"/>
                <a:cs typeface="Courier New" panose="02070309020205020404" pitchFamily="49" charset="0"/>
              </a:rPr>
              <a:t>50</a:t>
            </a:r>
            <a:r>
              <a:rPr lang="es-ES" sz="1400" dirty="0">
                <a:solidFill>
                  <a:schemeClr val="accent1">
                    <a:lumMod val="50000"/>
                  </a:schemeClr>
                </a:solidFill>
                <a:latin typeface="Courier New" panose="02070309020205020404" pitchFamily="49" charset="0"/>
                <a:cs typeface="Courier New" panose="02070309020205020404" pitchFamily="49" charset="0"/>
              </a:rPr>
              <a:t>)</a:t>
            </a:r>
          </a:p>
          <a:p>
            <a:r>
              <a:rPr lang="es-ES" sz="1400" dirty="0" err="1">
                <a:solidFill>
                  <a:schemeClr val="accent1">
                    <a:lumMod val="50000"/>
                  </a:schemeClr>
                </a:solidFill>
                <a:latin typeface="Courier New" panose="02070309020205020404" pitchFamily="49" charset="0"/>
                <a:cs typeface="Courier New" panose="02070309020205020404" pitchFamily="49" charset="0"/>
              </a:rPr>
              <a:t>labels</a:t>
            </a:r>
            <a:r>
              <a:rPr lang="es-ES" sz="1400" dirty="0">
                <a:solidFill>
                  <a:schemeClr val="accent1">
                    <a:lumMod val="50000"/>
                  </a:schemeClr>
                </a:solidFill>
                <a:latin typeface="Courier New" panose="02070309020205020404" pitchFamily="49" charset="0"/>
                <a:cs typeface="Courier New" panose="02070309020205020404" pitchFamily="49" charset="0"/>
              </a:rPr>
              <a:t> = </a:t>
            </a:r>
            <a:r>
              <a:rPr lang="es-ES" sz="1400" dirty="0" err="1">
                <a:solidFill>
                  <a:schemeClr val="accent1">
                    <a:lumMod val="50000"/>
                  </a:schemeClr>
                </a:solidFill>
                <a:latin typeface="Courier New" panose="02070309020205020404" pitchFamily="49" charset="0"/>
                <a:cs typeface="Courier New" panose="02070309020205020404" pitchFamily="49" charset="0"/>
              </a:rPr>
              <a:t>kmeans.fit_predict</a:t>
            </a:r>
            <a:r>
              <a:rPr lang="es-ES" sz="1400" dirty="0">
                <a:solidFill>
                  <a:schemeClr val="accent1">
                    <a:lumMod val="50000"/>
                  </a:schemeClr>
                </a:solidFill>
                <a:latin typeface="Courier New" panose="02070309020205020404" pitchFamily="49" charset="0"/>
                <a:cs typeface="Courier New" panose="02070309020205020404" pitchFamily="49" charset="0"/>
              </a:rPr>
              <a:t>(X)</a:t>
            </a:r>
          </a:p>
        </p:txBody>
      </p:sp>
    </p:spTree>
    <p:extLst>
      <p:ext uri="{BB962C8B-B14F-4D97-AF65-F5344CB8AC3E}">
        <p14:creationId xmlns:p14="http://schemas.microsoft.com/office/powerpoint/2010/main" val="25989130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22</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10644325" y="136523"/>
            <a:ext cx="1452247" cy="461665"/>
          </a:xfrm>
          <a:prstGeom prst="rect">
            <a:avLst/>
          </a:prstGeom>
          <a:noFill/>
        </p:spPr>
        <p:txBody>
          <a:bodyPr wrap="square" rtlCol="0">
            <a:spAutoFit/>
          </a:bodyPr>
          <a:lstStyle/>
          <a:p>
            <a:r>
              <a:rPr lang="es-ES" sz="2400" b="1">
                <a:solidFill>
                  <a:schemeClr val="accent1">
                    <a:lumMod val="50000"/>
                  </a:schemeClr>
                </a:solidFill>
              </a:rPr>
              <a:t>K-Means</a:t>
            </a:r>
            <a:endParaRPr lang="es-ES" sz="8800" b="1" dirty="0">
              <a:solidFill>
                <a:schemeClr val="accent1">
                  <a:lumMod val="50000"/>
                </a:scheme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1705814" y="1037194"/>
            <a:ext cx="9876881" cy="45550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b="1" dirty="0" err="1">
                <a:solidFill>
                  <a:schemeClr val="accent5">
                    <a:lumMod val="20000"/>
                    <a:lumOff val="80000"/>
                  </a:schemeClr>
                </a:solidFill>
              </a:rPr>
              <a:t>Algoritmo</a:t>
            </a:r>
            <a:r>
              <a:rPr lang="en-US" sz="2400" b="1" dirty="0">
                <a:solidFill>
                  <a:schemeClr val="accent5">
                    <a:lumMod val="20000"/>
                    <a:lumOff val="80000"/>
                  </a:schemeClr>
                </a:solidFill>
              </a:rPr>
              <a:t> </a:t>
            </a:r>
            <a:r>
              <a:rPr lang="en-US" sz="2400" b="1" dirty="0" err="1">
                <a:solidFill>
                  <a:schemeClr val="accent5">
                    <a:lumMod val="20000"/>
                    <a:lumOff val="80000"/>
                  </a:schemeClr>
                </a:solidFill>
              </a:rPr>
              <a:t>Completo</a:t>
            </a:r>
            <a:r>
              <a:rPr lang="en-US" sz="2400" b="1" dirty="0">
                <a:solidFill>
                  <a:schemeClr val="accent5">
                    <a:lumMod val="20000"/>
                    <a:lumOff val="80000"/>
                  </a:schemeClr>
                </a:solidFill>
              </a:rPr>
              <a:t> de K-means.</a:t>
            </a:r>
          </a:p>
          <a:p>
            <a:pPr marL="742950" lvl="1" indent="-285750">
              <a:buFont typeface="Arial" panose="020B0604020202020204" pitchFamily="34" charset="0"/>
              <a:buChar char="•"/>
            </a:pPr>
            <a:r>
              <a:rPr lang="en-US" sz="2000" b="1" dirty="0" err="1">
                <a:solidFill>
                  <a:schemeClr val="accent5">
                    <a:lumMod val="20000"/>
                    <a:lumOff val="80000"/>
                  </a:schemeClr>
                </a:solidFill>
              </a:rPr>
              <a:t>Implementación</a:t>
            </a:r>
            <a:r>
              <a:rPr lang="en-US" sz="2000" b="1" dirty="0">
                <a:solidFill>
                  <a:schemeClr val="accent5">
                    <a:lumMod val="20000"/>
                    <a:lumOff val="80000"/>
                  </a:schemeClr>
                </a:solidFill>
              </a:rPr>
              <a:t> </a:t>
            </a:r>
            <a:r>
              <a:rPr lang="en-US" sz="2000" b="1" dirty="0" err="1">
                <a:solidFill>
                  <a:schemeClr val="accent5">
                    <a:lumMod val="20000"/>
                    <a:lumOff val="80000"/>
                  </a:schemeClr>
                </a:solidFill>
              </a:rPr>
              <a:t>desde</a:t>
            </a:r>
            <a:r>
              <a:rPr lang="en-US" sz="2000" b="1" dirty="0">
                <a:solidFill>
                  <a:schemeClr val="accent5">
                    <a:lumMod val="20000"/>
                    <a:lumOff val="80000"/>
                  </a:schemeClr>
                </a:solidFill>
              </a:rPr>
              <a:t> Scratch.</a:t>
            </a:r>
          </a:p>
          <a:p>
            <a:pPr marL="742950" lvl="1" indent="-285750">
              <a:buFont typeface="Arial" panose="020B0604020202020204" pitchFamily="34" charset="0"/>
              <a:buChar char="•"/>
            </a:pPr>
            <a:r>
              <a:rPr lang="en-US" sz="2000" b="1" dirty="0" err="1">
                <a:solidFill>
                  <a:schemeClr val="accent5">
                    <a:lumMod val="20000"/>
                    <a:lumOff val="80000"/>
                  </a:schemeClr>
                </a:solidFill>
              </a:rPr>
              <a:t>Soluciones</a:t>
            </a:r>
            <a:r>
              <a:rPr lang="en-US" sz="2000" b="1" dirty="0">
                <a:solidFill>
                  <a:schemeClr val="accent5">
                    <a:lumMod val="20000"/>
                    <a:lumOff val="80000"/>
                  </a:schemeClr>
                </a:solidFill>
              </a:rPr>
              <a:t> </a:t>
            </a:r>
            <a:r>
              <a:rPr lang="en-US" sz="2000" b="1" dirty="0" err="1">
                <a:solidFill>
                  <a:schemeClr val="accent5">
                    <a:lumMod val="20000"/>
                    <a:lumOff val="80000"/>
                  </a:schemeClr>
                </a:solidFill>
              </a:rPr>
              <a:t>subóptimas</a:t>
            </a:r>
            <a:r>
              <a:rPr lang="en-US" sz="2000" b="1" dirty="0">
                <a:solidFill>
                  <a:schemeClr val="accent5">
                    <a:lumMod val="20000"/>
                    <a:lumOff val="80000"/>
                  </a:schemeClr>
                </a:solidFill>
              </a:rPr>
              <a:t>.</a:t>
            </a:r>
          </a:p>
          <a:p>
            <a:pPr marL="285750" indent="-285750">
              <a:lnSpc>
                <a:spcPct val="150000"/>
              </a:lnSpc>
              <a:buFont typeface="Arial" panose="020B0604020202020204" pitchFamily="34" charset="0"/>
              <a:buChar char="•"/>
            </a:pPr>
            <a:r>
              <a:rPr lang="es-ES" sz="2400" b="1" dirty="0">
                <a:solidFill>
                  <a:schemeClr val="accent5">
                    <a:lumMod val="20000"/>
                    <a:lumOff val="80000"/>
                  </a:schemeClr>
                </a:solidFill>
              </a:rPr>
              <a:t>Implementación en </a:t>
            </a:r>
            <a:r>
              <a:rPr lang="es-ES" sz="2400" b="1" dirty="0" err="1">
                <a:solidFill>
                  <a:schemeClr val="accent5">
                    <a:lumMod val="20000"/>
                    <a:lumOff val="80000"/>
                  </a:schemeClr>
                </a:solidFill>
              </a:rPr>
              <a:t>Sklearn</a:t>
            </a:r>
            <a:r>
              <a:rPr lang="es-ES" sz="2400" b="1" dirty="0">
                <a:solidFill>
                  <a:schemeClr val="accent5">
                    <a:lumMod val="20000"/>
                    <a:lumOff val="80000"/>
                  </a:schemeClr>
                </a:solidFill>
              </a:rPr>
              <a:t>.</a:t>
            </a:r>
          </a:p>
          <a:p>
            <a:pPr marL="742950" lvl="1" indent="-285750">
              <a:buFont typeface="Arial" panose="020B0604020202020204" pitchFamily="34" charset="0"/>
              <a:buChar char="•"/>
            </a:pPr>
            <a:r>
              <a:rPr lang="es-ES" sz="2000" b="1" dirty="0">
                <a:solidFill>
                  <a:schemeClr val="accent5">
                    <a:lumMod val="20000"/>
                    <a:lumOff val="80000"/>
                  </a:schemeClr>
                </a:solidFill>
              </a:rPr>
              <a:t>Parámetros.</a:t>
            </a:r>
          </a:p>
          <a:p>
            <a:pPr marL="285750" indent="-285750">
              <a:lnSpc>
                <a:spcPct val="150000"/>
              </a:lnSpc>
              <a:buFont typeface="Arial" panose="020B0604020202020204" pitchFamily="34" charset="0"/>
              <a:buChar char="•"/>
            </a:pPr>
            <a:r>
              <a:rPr lang="es-ES" sz="2400" b="1" dirty="0" err="1">
                <a:solidFill>
                  <a:schemeClr val="accent5">
                    <a:lumMod val="20000"/>
                    <a:lumOff val="80000"/>
                  </a:schemeClr>
                </a:solidFill>
              </a:rPr>
              <a:t>Preprocesamiento</a:t>
            </a:r>
            <a:r>
              <a:rPr lang="es-ES" sz="2400" b="1" dirty="0">
                <a:solidFill>
                  <a:schemeClr val="accent5">
                    <a:lumMod val="20000"/>
                    <a:lumOff val="80000"/>
                  </a:schemeClr>
                </a:solidFill>
              </a:rPr>
              <a:t>. Escalado.</a:t>
            </a:r>
          </a:p>
          <a:p>
            <a:pPr marL="285750" indent="-285750">
              <a:lnSpc>
                <a:spcPct val="150000"/>
              </a:lnSpc>
              <a:buFont typeface="Arial" panose="020B0604020202020204" pitchFamily="34" charset="0"/>
              <a:buChar char="•"/>
            </a:pPr>
            <a:r>
              <a:rPr lang="es-ES" sz="2400" b="1" dirty="0">
                <a:solidFill>
                  <a:schemeClr val="accent1">
                    <a:lumMod val="50000"/>
                  </a:schemeClr>
                </a:solidFill>
              </a:rPr>
              <a:t>Número óptimo de </a:t>
            </a:r>
            <a:r>
              <a:rPr lang="es-ES" sz="2400" b="1" i="1" dirty="0">
                <a:solidFill>
                  <a:schemeClr val="accent1">
                    <a:lumMod val="50000"/>
                  </a:schemeClr>
                </a:solidFill>
              </a:rPr>
              <a:t>clústeres.</a:t>
            </a:r>
            <a:endParaRPr lang="es-ES" sz="2400" b="1" dirty="0">
              <a:solidFill>
                <a:schemeClr val="accent1">
                  <a:lumMod val="50000"/>
                </a:schemeClr>
              </a:solidFill>
            </a:endParaRPr>
          </a:p>
          <a:p>
            <a:pPr marL="742950" lvl="1" indent="-285750">
              <a:buFont typeface="Arial" panose="020B0604020202020204" pitchFamily="34" charset="0"/>
              <a:buChar char="•"/>
            </a:pPr>
            <a:r>
              <a:rPr lang="es-ES" sz="2000" b="1" dirty="0">
                <a:solidFill>
                  <a:schemeClr val="accent1">
                    <a:lumMod val="50000"/>
                  </a:schemeClr>
                </a:solidFill>
              </a:rPr>
              <a:t>Método del codo.</a:t>
            </a:r>
          </a:p>
          <a:p>
            <a:pPr marL="742950" lvl="1" indent="-285750">
              <a:buFont typeface="Arial" panose="020B0604020202020204" pitchFamily="34" charset="0"/>
              <a:buChar char="•"/>
            </a:pPr>
            <a:r>
              <a:rPr lang="es-ES" sz="2000" b="1" dirty="0">
                <a:solidFill>
                  <a:schemeClr val="accent1">
                    <a:lumMod val="50000"/>
                  </a:schemeClr>
                </a:solidFill>
              </a:rPr>
              <a:t>Método de la silueta.</a:t>
            </a:r>
          </a:p>
          <a:p>
            <a:pPr marL="285750" indent="-285750">
              <a:lnSpc>
                <a:spcPct val="150000"/>
              </a:lnSpc>
              <a:buFont typeface="Arial" panose="020B0604020202020204" pitchFamily="34" charset="0"/>
              <a:buChar char="•"/>
            </a:pPr>
            <a:r>
              <a:rPr lang="es-ES" sz="2400" b="1" dirty="0">
                <a:solidFill>
                  <a:schemeClr val="accent5">
                    <a:lumMod val="20000"/>
                    <a:lumOff val="80000"/>
                  </a:schemeClr>
                </a:solidFill>
              </a:rPr>
              <a:t>Ventajas e inconvenientes de K-</a:t>
            </a:r>
            <a:r>
              <a:rPr lang="es-ES" sz="2400" b="1" dirty="0" err="1">
                <a:solidFill>
                  <a:schemeClr val="accent5">
                    <a:lumMod val="20000"/>
                    <a:lumOff val="80000"/>
                  </a:schemeClr>
                </a:solidFill>
              </a:rPr>
              <a:t>Means</a:t>
            </a:r>
            <a:r>
              <a:rPr lang="es-ES" sz="2400" b="1" dirty="0">
                <a:solidFill>
                  <a:schemeClr val="accent5">
                    <a:lumMod val="20000"/>
                    <a:lumOff val="80000"/>
                  </a:schemeClr>
                </a:solidFill>
              </a:rPr>
              <a:t>.</a:t>
            </a:r>
          </a:p>
        </p:txBody>
      </p:sp>
    </p:spTree>
    <p:extLst>
      <p:ext uri="{BB962C8B-B14F-4D97-AF65-F5344CB8AC3E}">
        <p14:creationId xmlns:p14="http://schemas.microsoft.com/office/powerpoint/2010/main" val="24525446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5">
            <a:extLst>
              <a:ext uri="{FF2B5EF4-FFF2-40B4-BE49-F238E27FC236}">
                <a16:creationId xmlns:a16="http://schemas.microsoft.com/office/drawing/2014/main" id="{D4286E82-FF38-1057-622F-02244AD16F2B}"/>
              </a:ext>
            </a:extLst>
          </p:cNvPr>
          <p:cNvSpPr txBox="1"/>
          <p:nvPr/>
        </p:nvSpPr>
        <p:spPr>
          <a:xfrm>
            <a:off x="187128" y="1597610"/>
            <a:ext cx="5284329" cy="2308324"/>
          </a:xfrm>
          <a:prstGeom prst="rect">
            <a:avLst/>
          </a:prstGeom>
          <a:noFill/>
        </p:spPr>
        <p:txBody>
          <a:bodyPr wrap="square" rtlCol="0">
            <a:spAutoFit/>
          </a:bodyPr>
          <a:lstStyle/>
          <a:p>
            <a:pPr marL="285750" indent="-285750">
              <a:buFont typeface="Arial" panose="020B0604020202020204" pitchFamily="34" charset="0"/>
              <a:buChar char="•"/>
            </a:pPr>
            <a:r>
              <a:rPr lang="es-ES" sz="1600" dirty="0">
                <a:solidFill>
                  <a:schemeClr val="accent1">
                    <a:lumMod val="50000"/>
                  </a:schemeClr>
                </a:solidFill>
                <a:highlight>
                  <a:srgbClr val="FFFFFF"/>
                </a:highlight>
              </a:rPr>
              <a:t>Se calcula la distancia </a:t>
            </a:r>
            <a:r>
              <a:rPr lang="es-ES" sz="1600" dirty="0" err="1">
                <a:solidFill>
                  <a:schemeClr val="accent1">
                    <a:lumMod val="50000"/>
                  </a:schemeClr>
                </a:solidFill>
                <a:highlight>
                  <a:srgbClr val="FFFFFF"/>
                </a:highlight>
              </a:rPr>
              <a:t>intra-cluster</a:t>
            </a:r>
            <a:r>
              <a:rPr lang="es-ES" sz="1600" dirty="0">
                <a:solidFill>
                  <a:schemeClr val="accent1">
                    <a:lumMod val="50000"/>
                  </a:schemeClr>
                </a:solidFill>
                <a:highlight>
                  <a:srgbClr val="FFFFFF"/>
                </a:highlight>
              </a:rPr>
              <a:t> (WCSS) en cada grupo en función del número de grupos como:</a:t>
            </a:r>
          </a:p>
          <a:p>
            <a:endParaRPr lang="es-ES" sz="1600" dirty="0">
              <a:solidFill>
                <a:schemeClr val="accent1">
                  <a:lumMod val="50000"/>
                </a:schemeClr>
              </a:solidFill>
              <a:highlight>
                <a:srgbClr val="FFFFFF"/>
              </a:highlight>
            </a:endParaRPr>
          </a:p>
          <a:p>
            <a:endParaRPr lang="es-ES" sz="1600" dirty="0">
              <a:solidFill>
                <a:schemeClr val="accent1">
                  <a:lumMod val="50000"/>
                </a:schemeClr>
              </a:solidFill>
              <a:highlight>
                <a:srgbClr val="FFFFFF"/>
              </a:highlight>
            </a:endParaRPr>
          </a:p>
          <a:p>
            <a:endParaRPr lang="es-ES" sz="1600" dirty="0">
              <a:solidFill>
                <a:schemeClr val="accent1">
                  <a:lumMod val="50000"/>
                </a:schemeClr>
              </a:solidFill>
              <a:highlight>
                <a:srgbClr val="FFFFFF"/>
              </a:highlight>
            </a:endParaRPr>
          </a:p>
          <a:p>
            <a:endParaRPr lang="es-ES" sz="1600" dirty="0">
              <a:solidFill>
                <a:schemeClr val="accent1">
                  <a:lumMod val="50000"/>
                </a:schemeClr>
              </a:solidFill>
              <a:highlight>
                <a:srgbClr val="FFFFFF"/>
              </a:highlight>
            </a:endParaRPr>
          </a:p>
          <a:p>
            <a:r>
              <a:rPr lang="es-ES" sz="1600" dirty="0">
                <a:solidFill>
                  <a:schemeClr val="accent1">
                    <a:lumMod val="50000"/>
                  </a:schemeClr>
                </a:solidFill>
                <a:highlight>
                  <a:srgbClr val="FFFFFF"/>
                </a:highlight>
              </a:rPr>
              <a:t>Y representa la suma del cuadrado de las distancias entre cada punto de un grupo y el centroide de dicho grupo extendida a todos los grupos</a:t>
            </a:r>
            <a:endParaRPr lang="es-ES" sz="1600" dirty="0">
              <a:solidFill>
                <a:schemeClr val="accent1">
                  <a:lumMod val="50000"/>
                </a:schemeClr>
              </a:solidFill>
            </a:endParaRPr>
          </a:p>
        </p:txBody>
      </p:sp>
      <p:sp>
        <p:nvSpPr>
          <p:cNvPr id="15" name="Rectángulo: esquinas redondeadas 9">
            <a:extLst>
              <a:ext uri="{FF2B5EF4-FFF2-40B4-BE49-F238E27FC236}">
                <a16:creationId xmlns:a16="http://schemas.microsoft.com/office/drawing/2014/main" id="{F367520B-F947-2678-6EAB-027B8A95BC94}"/>
              </a:ext>
            </a:extLst>
          </p:cNvPr>
          <p:cNvSpPr/>
          <p:nvPr/>
        </p:nvSpPr>
        <p:spPr>
          <a:xfrm>
            <a:off x="358679" y="3905934"/>
            <a:ext cx="4897625" cy="2815543"/>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200" b="1" dirty="0" err="1">
                <a:solidFill>
                  <a:schemeClr val="accent6">
                    <a:lumMod val="75000"/>
                  </a:schemeClr>
                </a:solidFill>
                <a:latin typeface="Courier New" panose="02070309020205020404" pitchFamily="49" charset="0"/>
                <a:cs typeface="Courier New" panose="02070309020205020404" pitchFamily="49" charset="0"/>
              </a:rPr>
              <a:t>from</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sklearn.datasets</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make_blobs</a:t>
            </a:r>
            <a:endParaRPr lang="es-ES" sz="1200" dirty="0">
              <a:solidFill>
                <a:schemeClr val="accent1">
                  <a:lumMod val="50000"/>
                </a:schemeClr>
              </a:solidFill>
              <a:latin typeface="Courier New" panose="02070309020205020404" pitchFamily="49" charset="0"/>
              <a:cs typeface="Courier New" panose="02070309020205020404" pitchFamily="49" charset="0"/>
            </a:endParaRPr>
          </a:p>
          <a:p>
            <a:r>
              <a:rPr lang="es-ES" sz="1200" b="1" dirty="0" err="1">
                <a:solidFill>
                  <a:schemeClr val="accent6">
                    <a:lumMod val="75000"/>
                  </a:schemeClr>
                </a:solidFill>
                <a:latin typeface="Courier New" panose="02070309020205020404" pitchFamily="49" charset="0"/>
                <a:cs typeface="Courier New" panose="02070309020205020404" pitchFamily="49" charset="0"/>
              </a:rPr>
              <a:t>from</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sklearn.cluster</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endParaRPr lang="es-ES" sz="1200" dirty="0">
              <a:solidFill>
                <a:schemeClr val="accent1">
                  <a:lumMod val="50000"/>
                </a:schemeClr>
              </a:solidFill>
              <a:latin typeface="Courier New" panose="02070309020205020404" pitchFamily="49" charset="0"/>
              <a:cs typeface="Courier New" panose="02070309020205020404" pitchFamily="49" charset="0"/>
            </a:endParaRPr>
          </a:p>
          <a:p>
            <a:r>
              <a:rPr lang="es-ES" sz="1200" b="1" dirty="0" err="1">
                <a:solidFill>
                  <a:schemeClr val="accent6">
                    <a:lumMod val="75000"/>
                  </a:schemeClr>
                </a:solidFill>
                <a:latin typeface="Courier New" panose="02070309020205020404" pitchFamily="49" charset="0"/>
                <a:cs typeface="Courier New" panose="02070309020205020404" pitchFamily="49" charset="0"/>
              </a:rPr>
              <a:t>from</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sklearn.preprocessing</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StandardScaler</a:t>
            </a:r>
            <a:endParaRPr lang="es-ES" sz="1200" dirty="0">
              <a:solidFill>
                <a:schemeClr val="accent1">
                  <a:lumMod val="50000"/>
                </a:schemeClr>
              </a:solidFill>
              <a:latin typeface="Courier New" panose="02070309020205020404" pitchFamily="49" charset="0"/>
              <a:cs typeface="Courier New" panose="02070309020205020404" pitchFamily="49" charset="0"/>
            </a:endParaRPr>
          </a:p>
          <a:p>
            <a:r>
              <a:rPr lang="es-ES" sz="12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seaborn</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b="1" dirty="0">
                <a:solidFill>
                  <a:schemeClr val="accent6">
                    <a:lumMod val="75000"/>
                  </a:schemeClr>
                </a:solidFill>
                <a:latin typeface="Courier New" panose="02070309020205020404" pitchFamily="49" charset="0"/>
                <a:cs typeface="Courier New" panose="02070309020205020404" pitchFamily="49" charset="0"/>
              </a:rPr>
              <a:t>as</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sns</a:t>
            </a:r>
            <a:endParaRPr lang="es-ES" sz="1200" dirty="0">
              <a:solidFill>
                <a:schemeClr val="accent1">
                  <a:lumMod val="50000"/>
                </a:schemeClr>
              </a:solidFill>
              <a:latin typeface="Courier New" panose="02070309020205020404" pitchFamily="49" charset="0"/>
              <a:cs typeface="Courier New" panose="02070309020205020404" pitchFamily="49" charset="0"/>
            </a:endParaRPr>
          </a:p>
          <a:p>
            <a:endParaRPr lang="es-ES" sz="1200" b="1" dirty="0">
              <a:solidFill>
                <a:schemeClr val="accent6">
                  <a:lumMod val="75000"/>
                </a:schemeClr>
              </a:solidFill>
              <a:latin typeface="Courier New" panose="02070309020205020404" pitchFamily="49" charset="0"/>
              <a:cs typeface="Courier New" panose="02070309020205020404" pitchFamily="49" charset="0"/>
            </a:endParaRPr>
          </a:p>
          <a:p>
            <a:r>
              <a:rPr lang="es-ES" sz="1200" b="1" dirty="0">
                <a:solidFill>
                  <a:schemeClr val="accent6">
                    <a:lumMod val="75000"/>
                  </a:schemeClr>
                </a:solidFill>
                <a:latin typeface="Courier New" panose="02070309020205020404" pitchFamily="49" charset="0"/>
                <a:cs typeface="Courier New" panose="02070309020205020404" pitchFamily="49" charset="0"/>
              </a:rPr>
              <a:t>…</a:t>
            </a:r>
          </a:p>
          <a:p>
            <a:endParaRPr lang="es-ES" sz="1200" b="1" dirty="0">
              <a:solidFill>
                <a:schemeClr val="accent6">
                  <a:lumMod val="75000"/>
                </a:schemeClr>
              </a:solidFill>
              <a:latin typeface="Courier New" panose="02070309020205020404" pitchFamily="49" charset="0"/>
              <a:cs typeface="Courier New" panose="02070309020205020404" pitchFamily="49" charset="0"/>
            </a:endParaRPr>
          </a:p>
          <a:p>
            <a:r>
              <a:rPr lang="es-ES" sz="1200" dirty="0" err="1">
                <a:solidFill>
                  <a:schemeClr val="accent1">
                    <a:lumMod val="50000"/>
                  </a:schemeClr>
                </a:solidFill>
                <a:latin typeface="Courier New" panose="02070309020205020404" pitchFamily="49" charset="0"/>
                <a:cs typeface="Courier New" panose="02070309020205020404" pitchFamily="49" charset="0"/>
              </a:rPr>
              <a:t>num_cluster</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dirty="0" err="1">
                <a:solidFill>
                  <a:schemeClr val="accent1">
                    <a:lumMod val="50000"/>
                  </a:schemeClr>
                </a:solidFill>
                <a:latin typeface="Courier New" panose="02070309020205020404" pitchFamily="49" charset="0"/>
                <a:cs typeface="Courier New" panose="02070309020205020404" pitchFamily="49" charset="0"/>
              </a:rPr>
              <a:t>list</a:t>
            </a:r>
            <a:r>
              <a:rPr lang="es-ES" sz="1200" dirty="0">
                <a:solidFill>
                  <a:schemeClr val="accent1">
                    <a:lumMod val="50000"/>
                  </a:schemeClr>
                </a:solidFill>
                <a:latin typeface="Courier New" panose="02070309020205020404" pitchFamily="49" charset="0"/>
                <a:cs typeface="Courier New" panose="02070309020205020404" pitchFamily="49" charset="0"/>
              </a:rPr>
              <a:t>(</a:t>
            </a:r>
            <a:r>
              <a:rPr lang="es-ES" sz="1200" dirty="0" err="1">
                <a:solidFill>
                  <a:schemeClr val="accent1">
                    <a:lumMod val="50000"/>
                  </a:schemeClr>
                </a:solidFill>
                <a:latin typeface="Courier New" panose="02070309020205020404" pitchFamily="49" charset="0"/>
                <a:cs typeface="Courier New" panose="02070309020205020404" pitchFamily="49" charset="0"/>
              </a:rPr>
              <a:t>range</a:t>
            </a:r>
            <a:r>
              <a:rPr lang="es-ES" sz="1200" dirty="0">
                <a:solidFill>
                  <a:schemeClr val="accent1">
                    <a:lumMod val="50000"/>
                  </a:schemeClr>
                </a:solidFill>
                <a:latin typeface="Courier New" panose="02070309020205020404" pitchFamily="49" charset="0"/>
                <a:cs typeface="Courier New" panose="02070309020205020404" pitchFamily="49" charset="0"/>
              </a:rPr>
              <a:t>(</a:t>
            </a:r>
            <a:r>
              <a:rPr lang="es-ES" sz="1200" b="1" dirty="0">
                <a:solidFill>
                  <a:schemeClr val="accent6">
                    <a:lumMod val="75000"/>
                  </a:schemeClr>
                </a:solidFill>
                <a:latin typeface="Courier New" panose="02070309020205020404" pitchFamily="49" charset="0"/>
                <a:cs typeface="Courier New" panose="02070309020205020404" pitchFamily="49" charset="0"/>
              </a:rPr>
              <a:t>1,15</a:t>
            </a:r>
            <a:r>
              <a:rPr lang="es-ES" sz="1200" dirty="0">
                <a:solidFill>
                  <a:schemeClr val="accent1">
                    <a:lumMod val="50000"/>
                  </a:schemeClr>
                </a:solidFill>
                <a:latin typeface="Courier New" panose="02070309020205020404" pitchFamily="49" charset="0"/>
                <a:cs typeface="Courier New" panose="02070309020205020404" pitchFamily="49" charset="0"/>
              </a:rPr>
              <a:t>))</a:t>
            </a:r>
          </a:p>
          <a:p>
            <a:r>
              <a:rPr lang="es-ES" sz="1200" dirty="0" err="1">
                <a:solidFill>
                  <a:schemeClr val="accent1">
                    <a:lumMod val="50000"/>
                  </a:schemeClr>
                </a:solidFill>
                <a:latin typeface="Courier New" panose="02070309020205020404" pitchFamily="49" charset="0"/>
                <a:cs typeface="Courier New" panose="02070309020205020404" pitchFamily="49" charset="0"/>
              </a:rPr>
              <a:t>wcss</a:t>
            </a:r>
            <a:r>
              <a:rPr lang="es-ES" sz="1200" dirty="0">
                <a:solidFill>
                  <a:schemeClr val="accent1">
                    <a:lumMod val="50000"/>
                  </a:schemeClr>
                </a:solidFill>
                <a:latin typeface="Courier New" panose="02070309020205020404" pitchFamily="49" charset="0"/>
                <a:cs typeface="Courier New" panose="02070309020205020404" pitchFamily="49" charset="0"/>
              </a:rPr>
              <a:t> = [] </a:t>
            </a:r>
          </a:p>
          <a:p>
            <a:r>
              <a:rPr lang="es-ES" sz="1200" b="1" dirty="0" err="1">
                <a:solidFill>
                  <a:schemeClr val="accent6">
                    <a:lumMod val="75000"/>
                  </a:schemeClr>
                </a:solidFill>
                <a:latin typeface="Courier New" panose="02070309020205020404" pitchFamily="49" charset="0"/>
                <a:cs typeface="Courier New" panose="02070309020205020404" pitchFamily="49" charset="0"/>
              </a:rPr>
              <a:t>for</a:t>
            </a:r>
            <a:r>
              <a:rPr lang="es-ES" sz="1200" dirty="0">
                <a:solidFill>
                  <a:schemeClr val="accent1">
                    <a:lumMod val="50000"/>
                  </a:schemeClr>
                </a:solidFill>
                <a:latin typeface="Courier New" panose="02070309020205020404" pitchFamily="49" charset="0"/>
                <a:cs typeface="Courier New" panose="02070309020205020404" pitchFamily="49" charset="0"/>
              </a:rPr>
              <a:t> i </a:t>
            </a:r>
            <a:r>
              <a:rPr lang="es-ES" sz="1200" b="1" dirty="0">
                <a:solidFill>
                  <a:schemeClr val="accent6">
                    <a:lumMod val="75000"/>
                  </a:schemeClr>
                </a:solidFill>
                <a:latin typeface="Courier New" panose="02070309020205020404" pitchFamily="49" charset="0"/>
                <a:cs typeface="Courier New" panose="02070309020205020404" pitchFamily="49" charset="0"/>
              </a:rPr>
              <a:t>in</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num_cluster</a:t>
            </a:r>
            <a:r>
              <a:rPr lang="es-ES" sz="1200" dirty="0">
                <a:solidFill>
                  <a:schemeClr val="accent1">
                    <a:lumMod val="50000"/>
                  </a:schemeClr>
                </a:solidFill>
                <a:latin typeface="Courier New" panose="02070309020205020404" pitchFamily="49" charset="0"/>
                <a:cs typeface="Courier New" panose="02070309020205020404" pitchFamily="49" charset="0"/>
              </a:rPr>
              <a:t>:     </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r>
              <a:rPr lang="es-ES" sz="1200" dirty="0">
                <a:solidFill>
                  <a:schemeClr val="accent1">
                    <a:lumMod val="50000"/>
                  </a:schemeClr>
                </a:solidFill>
                <a:latin typeface="Courier New" panose="02070309020205020404" pitchFamily="49" charset="0"/>
                <a:cs typeface="Courier New" panose="02070309020205020404" pitchFamily="49" charset="0"/>
              </a:rPr>
              <a:t>(</a:t>
            </a:r>
            <a:r>
              <a:rPr lang="es-ES" sz="1200" dirty="0" err="1">
                <a:solidFill>
                  <a:schemeClr val="accent1">
                    <a:lumMod val="50000"/>
                  </a:schemeClr>
                </a:solidFill>
                <a:latin typeface="Courier New" panose="02070309020205020404" pitchFamily="49" charset="0"/>
                <a:cs typeface="Courier New" panose="02070309020205020404" pitchFamily="49" charset="0"/>
              </a:rPr>
              <a:t>n_clusters</a:t>
            </a:r>
            <a:r>
              <a:rPr lang="es-ES" sz="1200" dirty="0">
                <a:solidFill>
                  <a:schemeClr val="accent1">
                    <a:lumMod val="50000"/>
                  </a:schemeClr>
                </a:solidFill>
                <a:latin typeface="Courier New" panose="02070309020205020404" pitchFamily="49" charset="0"/>
                <a:cs typeface="Courier New" panose="02070309020205020404" pitchFamily="49" charset="0"/>
              </a:rPr>
              <a:t> = i, </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random_state</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b="1" dirty="0">
                <a:solidFill>
                  <a:schemeClr val="accent6">
                    <a:lumMod val="75000"/>
                  </a:schemeClr>
                </a:solidFill>
                <a:latin typeface="Courier New" panose="02070309020205020404" pitchFamily="49" charset="0"/>
                <a:cs typeface="Courier New" panose="02070309020205020404" pitchFamily="49" charset="0"/>
              </a:rPr>
              <a:t>42</a:t>
            </a:r>
            <a:r>
              <a:rPr lang="es-ES" sz="1200" dirty="0">
                <a:solidFill>
                  <a:schemeClr val="accent1">
                    <a:lumMod val="50000"/>
                  </a:schemeClr>
                </a:solidFill>
                <a:latin typeface="Courier New" panose="02070309020205020404" pitchFamily="49" charset="0"/>
                <a:cs typeface="Courier New" panose="02070309020205020404" pitchFamily="49" charset="0"/>
              </a:rPr>
              <a:t>)</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labels</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r>
              <a:rPr lang="es-ES" sz="1200" dirty="0" err="1">
                <a:solidFill>
                  <a:schemeClr val="tx1"/>
                </a:solidFill>
                <a:latin typeface="Courier New" panose="02070309020205020404" pitchFamily="49" charset="0"/>
                <a:cs typeface="Courier New" panose="02070309020205020404" pitchFamily="49" charset="0"/>
              </a:rPr>
              <a:t>.fit_predict</a:t>
            </a:r>
            <a:r>
              <a:rPr lang="es-ES" sz="1200" dirty="0">
                <a:solidFill>
                  <a:schemeClr val="accent1">
                    <a:lumMod val="50000"/>
                  </a:schemeClr>
                </a:solidFill>
                <a:latin typeface="Courier New" panose="02070309020205020404" pitchFamily="49" charset="0"/>
                <a:cs typeface="Courier New" panose="02070309020205020404" pitchFamily="49" charset="0"/>
              </a:rPr>
              <a:t>(data)     	</a:t>
            </a:r>
            <a:r>
              <a:rPr lang="es-ES" sz="1200" dirty="0" err="1">
                <a:solidFill>
                  <a:schemeClr val="accent1">
                    <a:lumMod val="50000"/>
                  </a:schemeClr>
                </a:solidFill>
                <a:latin typeface="Courier New" panose="02070309020205020404" pitchFamily="49" charset="0"/>
                <a:cs typeface="Courier New" panose="02070309020205020404" pitchFamily="49" charset="0"/>
              </a:rPr>
              <a:t>wcss.</a:t>
            </a:r>
            <a:r>
              <a:rPr lang="es-ES" sz="1200" dirty="0" err="1">
                <a:solidFill>
                  <a:schemeClr val="tx1"/>
                </a:solidFill>
                <a:latin typeface="Courier New" panose="02070309020205020404" pitchFamily="49" charset="0"/>
                <a:cs typeface="Courier New" panose="02070309020205020404" pitchFamily="49" charset="0"/>
              </a:rPr>
              <a:t>append</a:t>
            </a:r>
            <a:r>
              <a:rPr lang="es-ES" sz="1200" dirty="0">
                <a:solidFill>
                  <a:schemeClr val="accent1">
                    <a:lumMod val="50000"/>
                  </a:schemeClr>
                </a:solidFill>
                <a:latin typeface="Courier New" panose="02070309020205020404" pitchFamily="49" charset="0"/>
                <a:cs typeface="Courier New" panose="02070309020205020404" pitchFamily="49" charset="0"/>
              </a:rPr>
              <a:t>(</a:t>
            </a:r>
            <a:r>
              <a:rPr lang="es-ES" sz="1200" b="1" dirty="0" err="1">
                <a:solidFill>
                  <a:schemeClr val="accent1">
                    <a:lumMod val="50000"/>
                  </a:schemeClr>
                </a:solidFill>
                <a:latin typeface="Courier New" panose="02070309020205020404" pitchFamily="49" charset="0"/>
                <a:cs typeface="Courier New" panose="02070309020205020404" pitchFamily="49" charset="0"/>
              </a:rPr>
              <a:t>kmeans.inertia</a:t>
            </a:r>
            <a:r>
              <a:rPr lang="es-ES" sz="1200" b="1" dirty="0">
                <a:solidFill>
                  <a:schemeClr val="accent1">
                    <a:lumMod val="50000"/>
                  </a:schemeClr>
                </a:solidFill>
                <a:latin typeface="Courier New" panose="02070309020205020404" pitchFamily="49" charset="0"/>
                <a:cs typeface="Courier New" panose="02070309020205020404" pitchFamily="49" charset="0"/>
              </a:rPr>
              <a:t>_</a:t>
            </a:r>
            <a:r>
              <a:rPr lang="es-ES" sz="1200" dirty="0">
                <a:solidFill>
                  <a:schemeClr val="accent1">
                    <a:lumMod val="50000"/>
                  </a:schemeClr>
                </a:solidFill>
                <a:latin typeface="Courier New" panose="02070309020205020404" pitchFamily="49" charset="0"/>
                <a:cs typeface="Courier New" panose="02070309020205020404" pitchFamily="49" charset="0"/>
              </a:rPr>
              <a:t>)</a:t>
            </a:r>
          </a:p>
        </p:txBody>
      </p:sp>
      <p:pic>
        <p:nvPicPr>
          <p:cNvPr id="9" name="Imagen 8"/>
          <p:cNvPicPr>
            <a:picLocks noChangeAspect="1"/>
          </p:cNvPicPr>
          <p:nvPr/>
        </p:nvPicPr>
        <p:blipFill>
          <a:blip r:embed="rId2"/>
          <a:stretch>
            <a:fillRect/>
          </a:stretch>
        </p:blipFill>
        <p:spPr>
          <a:xfrm>
            <a:off x="9298405" y="1571368"/>
            <a:ext cx="2851760" cy="2158685"/>
          </a:xfrm>
          <a:prstGeom prst="rect">
            <a:avLst/>
          </a:prstGeom>
        </p:spPr>
      </p:pic>
      <p:sp>
        <p:nvSpPr>
          <p:cNvPr id="5" name="CuadroTexto 4">
            <a:extLst>
              <a:ext uri="{FF2B5EF4-FFF2-40B4-BE49-F238E27FC236}">
                <a16:creationId xmlns:a16="http://schemas.microsoft.com/office/drawing/2014/main" id="{D4286E82-FF38-1057-622F-02244AD16F2B}"/>
              </a:ext>
            </a:extLst>
          </p:cNvPr>
          <p:cNvSpPr txBox="1"/>
          <p:nvPr/>
        </p:nvSpPr>
        <p:spPr>
          <a:xfrm>
            <a:off x="300424" y="371039"/>
            <a:ext cx="11849741" cy="1200329"/>
          </a:xfrm>
          <a:prstGeom prst="rect">
            <a:avLst/>
          </a:prstGeom>
          <a:noFill/>
        </p:spPr>
        <p:txBody>
          <a:bodyPr wrap="square" rtlCol="0">
            <a:spAutoFit/>
          </a:bodyPr>
          <a:lstStyle/>
          <a:p>
            <a:r>
              <a:rPr lang="es-ES" sz="2000" dirty="0">
                <a:solidFill>
                  <a:schemeClr val="accent1">
                    <a:lumMod val="50000"/>
                  </a:schemeClr>
                </a:solidFill>
              </a:rPr>
              <a:t>Número óptimo de grupos:</a:t>
            </a:r>
          </a:p>
          <a:p>
            <a:endParaRPr lang="es-ES" sz="2000" dirty="0">
              <a:solidFill>
                <a:schemeClr val="accent1">
                  <a:lumMod val="50000"/>
                </a:schemeClr>
              </a:solidFill>
            </a:endParaRPr>
          </a:p>
          <a:p>
            <a:r>
              <a:rPr lang="es-ES" sz="1600" b="1" dirty="0">
                <a:solidFill>
                  <a:schemeClr val="accent1">
                    <a:lumMod val="50000"/>
                  </a:schemeClr>
                </a:solidFill>
                <a:highlight>
                  <a:srgbClr val="FFFFFF"/>
                </a:highlight>
              </a:rPr>
              <a:t>Método del Codo (</a:t>
            </a:r>
            <a:r>
              <a:rPr lang="es-ES" sz="1600" b="1" dirty="0" err="1">
                <a:solidFill>
                  <a:schemeClr val="accent1">
                    <a:lumMod val="50000"/>
                  </a:schemeClr>
                </a:solidFill>
                <a:highlight>
                  <a:srgbClr val="FFFFFF"/>
                </a:highlight>
              </a:rPr>
              <a:t>Elbow</a:t>
            </a:r>
            <a:r>
              <a:rPr lang="es-ES" sz="1600" b="1" dirty="0">
                <a:solidFill>
                  <a:schemeClr val="accent1">
                    <a:lumMod val="50000"/>
                  </a:schemeClr>
                </a:solidFill>
                <a:highlight>
                  <a:srgbClr val="FFFFFF"/>
                </a:highlight>
              </a:rPr>
              <a:t> </a:t>
            </a:r>
            <a:r>
              <a:rPr lang="es-ES" sz="1600" b="1" dirty="0" err="1">
                <a:solidFill>
                  <a:schemeClr val="accent1">
                    <a:lumMod val="50000"/>
                  </a:schemeClr>
                </a:solidFill>
                <a:highlight>
                  <a:srgbClr val="FFFFFF"/>
                </a:highlight>
              </a:rPr>
              <a:t>Method</a:t>
            </a:r>
            <a:r>
              <a:rPr lang="es-ES" sz="1600" b="1" dirty="0">
                <a:solidFill>
                  <a:schemeClr val="accent1">
                    <a:lumMod val="50000"/>
                  </a:schemeClr>
                </a:solidFill>
                <a:highlight>
                  <a:srgbClr val="FFFFFF"/>
                </a:highlight>
              </a:rPr>
              <a:t>): </a:t>
            </a:r>
            <a:r>
              <a:rPr lang="es-ES" sz="1600" dirty="0">
                <a:solidFill>
                  <a:schemeClr val="accent1">
                    <a:lumMod val="50000"/>
                  </a:schemeClr>
                </a:solidFill>
                <a:highlight>
                  <a:srgbClr val="FFFFFF"/>
                </a:highlight>
              </a:rPr>
              <a:t>El método consiste en calcular la varianza explicada en función del número de clústeres y elegir el "codo" de la curva como el número de clústeres a utilizar.</a:t>
            </a:r>
          </a:p>
        </p:txBody>
      </p:sp>
      <p:sp>
        <p:nvSpPr>
          <p:cNvPr id="4" name="Marcador de número de diapositiva 1">
            <a:extLst>
              <a:ext uri="{FF2B5EF4-FFF2-40B4-BE49-F238E27FC236}">
                <a16:creationId xmlns:a16="http://schemas.microsoft.com/office/drawing/2014/main" id="{2B676A0C-B311-06E8-FDDC-70C2E1F562AD}"/>
              </a:ext>
            </a:extLst>
          </p:cNvPr>
          <p:cNvSpPr>
            <a:spLocks noGrp="1"/>
          </p:cNvSpPr>
          <p:nvPr>
            <p:ph type="sldNum" sz="quarter" idx="12"/>
          </p:nvPr>
        </p:nvSpPr>
        <p:spPr>
          <a:xfrm>
            <a:off x="8610600" y="6356352"/>
            <a:ext cx="2743200" cy="365125"/>
          </a:xfrm>
        </p:spPr>
        <p:txBody>
          <a:bodyPr/>
          <a:lstStyle/>
          <a:p>
            <a:fld id="{5104FCC0-1602-4E53-A4A9-B84AD752D31B}" type="slidenum">
              <a:rPr lang="es-ES" smtClean="0">
                <a:solidFill>
                  <a:prstClr val="black">
                    <a:tint val="75000"/>
                  </a:prstClr>
                </a:solidFill>
              </a:rPr>
              <a:pPr/>
              <a:t>23</a:t>
            </a:fld>
            <a:endParaRPr lang="es-ES" dirty="0">
              <a:solidFill>
                <a:prstClr val="black">
                  <a:tint val="75000"/>
                </a:prstClr>
              </a:solidFill>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4623E108-A708-FF9B-B430-8CE62B49AD72}"/>
                  </a:ext>
                </a:extLst>
              </p:cNvPr>
              <p:cNvSpPr txBox="1"/>
              <p:nvPr/>
            </p:nvSpPr>
            <p:spPr>
              <a:xfrm>
                <a:off x="2173372" y="2258678"/>
                <a:ext cx="1581010" cy="7201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es-ES" sz="1600" i="1">
                              <a:solidFill>
                                <a:schemeClr val="accent1">
                                  <a:lumMod val="50000"/>
                                </a:schemeClr>
                              </a:solidFill>
                              <a:latin typeface="Cambria Math" panose="02040503050406030204" pitchFamily="18" charset="0"/>
                            </a:rPr>
                          </m:ctrlPr>
                        </m:naryPr>
                        <m:sub>
                          <m:r>
                            <m:rPr>
                              <m:brk m:alnAt="23"/>
                            </m:rPr>
                            <a:rPr lang="es-ES" sz="1600" i="1">
                              <a:solidFill>
                                <a:schemeClr val="accent1">
                                  <a:lumMod val="50000"/>
                                </a:schemeClr>
                              </a:solidFill>
                              <a:latin typeface="Cambria Math" panose="02040503050406030204" pitchFamily="18" charset="0"/>
                            </a:rPr>
                            <m:t>𝑗</m:t>
                          </m:r>
                          <m:r>
                            <a:rPr lang="es-ES" sz="1600" i="1">
                              <a:solidFill>
                                <a:schemeClr val="accent1">
                                  <a:lumMod val="50000"/>
                                </a:schemeClr>
                              </a:solidFill>
                              <a:latin typeface="Cambria Math" panose="02040503050406030204" pitchFamily="18" charset="0"/>
                            </a:rPr>
                            <m:t>=1</m:t>
                          </m:r>
                        </m:sub>
                        <m:sup>
                          <m:r>
                            <a:rPr lang="es-ES" sz="1600" i="1">
                              <a:solidFill>
                                <a:schemeClr val="accent1">
                                  <a:lumMod val="50000"/>
                                </a:schemeClr>
                              </a:solidFill>
                              <a:latin typeface="Cambria Math" panose="02040503050406030204" pitchFamily="18" charset="0"/>
                            </a:rPr>
                            <m:t>𝐾</m:t>
                          </m:r>
                        </m:sup>
                        <m:e>
                          <m:nary>
                            <m:naryPr>
                              <m:chr m:val="∑"/>
                              <m:ctrlPr>
                                <a:rPr lang="es-ES" sz="1600" i="1">
                                  <a:solidFill>
                                    <a:schemeClr val="accent1">
                                      <a:lumMod val="50000"/>
                                    </a:schemeClr>
                                  </a:solidFill>
                                  <a:latin typeface="Cambria Math" panose="02040503050406030204" pitchFamily="18" charset="0"/>
                                </a:rPr>
                              </m:ctrlPr>
                            </m:naryPr>
                            <m:sub>
                              <m:r>
                                <m:rPr>
                                  <m:brk m:alnAt="23"/>
                                </m:rPr>
                                <a:rPr lang="es-ES" sz="1600" i="1">
                                  <a:solidFill>
                                    <a:schemeClr val="accent1">
                                      <a:lumMod val="50000"/>
                                    </a:schemeClr>
                                  </a:solidFill>
                                  <a:latin typeface="Cambria Math" panose="02040503050406030204" pitchFamily="18" charset="0"/>
                                </a:rPr>
                                <m:t>𝑖</m:t>
                              </m:r>
                              <m:r>
                                <a:rPr lang="es-ES" sz="1600" i="1">
                                  <a:solidFill>
                                    <a:schemeClr val="accent1">
                                      <a:lumMod val="50000"/>
                                    </a:schemeClr>
                                  </a:solidFill>
                                  <a:latin typeface="Cambria Math" panose="02040503050406030204" pitchFamily="18" charset="0"/>
                                </a:rPr>
                                <m:t>=1</m:t>
                              </m:r>
                            </m:sub>
                            <m:sup>
                              <m:r>
                                <a:rPr lang="es-ES" sz="1600" i="1">
                                  <a:solidFill>
                                    <a:schemeClr val="accent1">
                                      <a:lumMod val="50000"/>
                                    </a:schemeClr>
                                  </a:solidFill>
                                  <a:latin typeface="Cambria Math" panose="02040503050406030204" pitchFamily="18" charset="0"/>
                                </a:rPr>
                                <m:t>𝑁</m:t>
                              </m:r>
                            </m:sup>
                            <m:e>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d>
                                    <m:dPr>
                                      <m:begChr m:val="‖"/>
                                      <m:endChr m:val="‖"/>
                                      <m:ctrlPr>
                                        <a:rPr lang="es-ES" sz="1600"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600" i="1">
                                              <a:solidFill>
                                                <a:schemeClr val="accent1">
                                                  <a:lumMod val="50000"/>
                                                </a:schemeClr>
                                              </a:solidFill>
                                              <a:latin typeface="Cambria Math" panose="02040503050406030204" pitchFamily="18" charset="0"/>
                                            </a:rPr>
                                          </m:ctrlPr>
                                        </m:sSupPr>
                                        <m:e>
                                          <m:r>
                                            <a:rPr lang="es-ES" sz="1600" b="1" i="1">
                                              <a:solidFill>
                                                <a:schemeClr val="accent1">
                                                  <a:lumMod val="50000"/>
                                                </a:schemeClr>
                                              </a:solidFill>
                                              <a:latin typeface="Cambria Math" panose="02040503050406030204" pitchFamily="18" charset="0"/>
                                            </a:rPr>
                                            <m:t>𝒙</m:t>
                                          </m:r>
                                        </m:e>
                                        <m:sup>
                                          <m:r>
                                            <a:rPr lang="es-ES" sz="1600" i="1">
                                              <a:solidFill>
                                                <a:schemeClr val="accent1">
                                                  <a:lumMod val="50000"/>
                                                </a:schemeClr>
                                              </a:solidFill>
                                              <a:latin typeface="Cambria Math" panose="02040503050406030204" pitchFamily="18" charset="0"/>
                                            </a:rPr>
                                            <m:t>𝑖</m:t>
                                          </m:r>
                                        </m:sup>
                                      </m:sSup>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b="1" i="1">
                                              <a:solidFill>
                                                <a:schemeClr val="accent1">
                                                  <a:lumMod val="50000"/>
                                                </a:schemeClr>
                                              </a:solidFill>
                                              <a:latin typeface="Cambria Math" panose="02040503050406030204" pitchFamily="18" charset="0"/>
                                              <a:ea typeface="Cambria Math" panose="02040503050406030204" pitchFamily="18" charset="0"/>
                                            </a:rPr>
                                            <m:t>𝝁</m:t>
                                          </m:r>
                                        </m:e>
                                        <m:sub>
                                          <m:r>
                                            <a:rPr lang="es-ES" sz="1600" i="1">
                                              <a:solidFill>
                                                <a:schemeClr val="accent1">
                                                  <a:lumMod val="50000"/>
                                                </a:schemeClr>
                                              </a:solidFill>
                                              <a:latin typeface="Cambria Math" panose="02040503050406030204" pitchFamily="18" charset="0"/>
                                              <a:ea typeface="Cambria Math" panose="02040503050406030204" pitchFamily="18" charset="0"/>
                                            </a:rPr>
                                            <m:t>𝑗</m:t>
                                          </m:r>
                                        </m:sub>
                                      </m:sSub>
                                    </m:e>
                                  </m:d>
                                </m:e>
                                <m:sup>
                                  <m:r>
                                    <a:rPr lang="es-ES" sz="1600" i="1">
                                      <a:solidFill>
                                        <a:schemeClr val="accent1">
                                          <a:lumMod val="50000"/>
                                        </a:schemeClr>
                                      </a:solidFill>
                                      <a:latin typeface="Cambria Math" panose="02040503050406030204" pitchFamily="18" charset="0"/>
                                      <a:ea typeface="Cambria Math" panose="02040503050406030204" pitchFamily="18" charset="0"/>
                                    </a:rPr>
                                    <m:t>2</m:t>
                                  </m:r>
                                </m:sup>
                              </m:sSup>
                            </m:e>
                          </m:nary>
                        </m:e>
                      </m:nary>
                    </m:oMath>
                  </m:oMathPara>
                </a14:m>
                <a:endParaRPr lang="es-ES" sz="1600" dirty="0"/>
              </a:p>
            </p:txBody>
          </p:sp>
        </mc:Choice>
        <mc:Fallback xmlns="">
          <p:sp>
            <p:nvSpPr>
              <p:cNvPr id="2" name="CuadroTexto 1">
                <a:extLst>
                  <a:ext uri="{FF2B5EF4-FFF2-40B4-BE49-F238E27FC236}">
                    <a16:creationId xmlns:a16="http://schemas.microsoft.com/office/drawing/2014/main" id="{4623E108-A708-FF9B-B430-8CE62B49AD72}"/>
                  </a:ext>
                </a:extLst>
              </p:cNvPr>
              <p:cNvSpPr txBox="1">
                <a:spLocks noRot="1" noChangeAspect="1" noMove="1" noResize="1" noEditPoints="1" noAdjustHandles="1" noChangeArrowheads="1" noChangeShapeType="1" noTextEdit="1"/>
              </p:cNvSpPr>
              <p:nvPr/>
            </p:nvSpPr>
            <p:spPr>
              <a:xfrm>
                <a:off x="2173372" y="2258678"/>
                <a:ext cx="1581010" cy="720197"/>
              </a:xfrm>
              <a:prstGeom prst="rect">
                <a:avLst/>
              </a:prstGeom>
              <a:blipFill>
                <a:blip r:embed="rId3"/>
                <a:stretch>
                  <a:fillRect/>
                </a:stretch>
              </a:blipFill>
            </p:spPr>
            <p:txBody>
              <a:bodyPr/>
              <a:lstStyle/>
              <a:p>
                <a:r>
                  <a:rPr lang="es-ES">
                    <a:noFill/>
                  </a:rPr>
                  <a:t> </a:t>
                </a:r>
              </a:p>
            </p:txBody>
          </p:sp>
        </mc:Fallback>
      </mc:AlternateContent>
      <p:sp>
        <p:nvSpPr>
          <p:cNvPr id="13" name="Flecha: hacia abajo 12">
            <a:extLst>
              <a:ext uri="{FF2B5EF4-FFF2-40B4-BE49-F238E27FC236}">
                <a16:creationId xmlns:a16="http://schemas.microsoft.com/office/drawing/2014/main" id="{9240881D-6C17-91C1-7307-F158374C448A}"/>
              </a:ext>
            </a:extLst>
          </p:cNvPr>
          <p:cNvSpPr/>
          <p:nvPr/>
        </p:nvSpPr>
        <p:spPr>
          <a:xfrm>
            <a:off x="10335199" y="2771697"/>
            <a:ext cx="215153" cy="567764"/>
          </a:xfrm>
          <a:prstGeom prst="downArrow">
            <a:avLst/>
          </a:prstGeom>
          <a:solidFill>
            <a:srgbClr val="00B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pic>
        <p:nvPicPr>
          <p:cNvPr id="8" name="Imagen 7"/>
          <p:cNvPicPr>
            <a:picLocks noChangeAspect="1"/>
          </p:cNvPicPr>
          <p:nvPr/>
        </p:nvPicPr>
        <p:blipFill>
          <a:blip r:embed="rId4"/>
          <a:stretch>
            <a:fillRect/>
          </a:stretch>
        </p:blipFill>
        <p:spPr>
          <a:xfrm>
            <a:off x="6313705" y="3730053"/>
            <a:ext cx="4593787" cy="2991424"/>
          </a:xfrm>
          <a:prstGeom prst="rect">
            <a:avLst/>
          </a:prstGeom>
        </p:spPr>
      </p:pic>
      <p:cxnSp>
        <p:nvCxnSpPr>
          <p:cNvPr id="28" name="Conector recto 27"/>
          <p:cNvCxnSpPr/>
          <p:nvPr/>
        </p:nvCxnSpPr>
        <p:spPr>
          <a:xfrm>
            <a:off x="4114800" y="6528975"/>
            <a:ext cx="163995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Conector recto 28"/>
          <p:cNvCxnSpPr/>
          <p:nvPr/>
        </p:nvCxnSpPr>
        <p:spPr>
          <a:xfrm>
            <a:off x="5754757" y="2607363"/>
            <a:ext cx="0" cy="393155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Conector recto 31"/>
          <p:cNvCxnSpPr/>
          <p:nvPr/>
        </p:nvCxnSpPr>
        <p:spPr>
          <a:xfrm>
            <a:off x="4472591" y="2607363"/>
            <a:ext cx="1283983" cy="0"/>
          </a:xfrm>
          <a:prstGeom prst="line">
            <a:avLst/>
          </a:prstGeom>
          <a:ln w="25400">
            <a:headEnd type="triangle" w="lg" len="lg"/>
          </a:ln>
        </p:spPr>
        <p:style>
          <a:lnRef idx="1">
            <a:schemeClr val="accent1"/>
          </a:lnRef>
          <a:fillRef idx="0">
            <a:schemeClr val="accent1"/>
          </a:fillRef>
          <a:effectRef idx="0">
            <a:schemeClr val="accent1"/>
          </a:effectRef>
          <a:fontRef idx="minor">
            <a:schemeClr val="tx1"/>
          </a:fontRef>
        </p:style>
      </p:cxnSp>
      <p:pic>
        <p:nvPicPr>
          <p:cNvPr id="34" name="Imagen 33"/>
          <p:cNvPicPr>
            <a:picLocks noChangeAspect="1"/>
          </p:cNvPicPr>
          <p:nvPr/>
        </p:nvPicPr>
        <p:blipFill>
          <a:blip r:embed="rId5"/>
          <a:stretch>
            <a:fillRect/>
          </a:stretch>
        </p:blipFill>
        <p:spPr>
          <a:xfrm>
            <a:off x="6321021" y="1480034"/>
            <a:ext cx="2833499" cy="2250019"/>
          </a:xfrm>
          <a:prstGeom prst="rect">
            <a:avLst/>
          </a:prstGeom>
        </p:spPr>
      </p:pic>
    </p:spTree>
    <p:extLst>
      <p:ext uri="{BB962C8B-B14F-4D97-AF65-F5344CB8AC3E}">
        <p14:creationId xmlns:p14="http://schemas.microsoft.com/office/powerpoint/2010/main" val="34879984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4286E82-FF38-1057-622F-02244AD16F2B}"/>
              </a:ext>
            </a:extLst>
          </p:cNvPr>
          <p:cNvSpPr txBox="1"/>
          <p:nvPr/>
        </p:nvSpPr>
        <p:spPr>
          <a:xfrm>
            <a:off x="300424" y="371039"/>
            <a:ext cx="11849741" cy="2431435"/>
          </a:xfrm>
          <a:prstGeom prst="rect">
            <a:avLst/>
          </a:prstGeom>
          <a:noFill/>
        </p:spPr>
        <p:txBody>
          <a:bodyPr wrap="square" rtlCol="0">
            <a:spAutoFit/>
          </a:bodyPr>
          <a:lstStyle/>
          <a:p>
            <a:r>
              <a:rPr lang="es-ES" sz="2000" dirty="0">
                <a:solidFill>
                  <a:schemeClr val="accent1">
                    <a:lumMod val="50000"/>
                  </a:schemeClr>
                </a:solidFill>
              </a:rPr>
              <a:t>Número óptimo de grupos:</a:t>
            </a:r>
          </a:p>
          <a:p>
            <a:endParaRPr lang="es-ES" sz="2000" dirty="0">
              <a:solidFill>
                <a:schemeClr val="accent1">
                  <a:lumMod val="50000"/>
                </a:schemeClr>
              </a:solidFill>
            </a:endParaRPr>
          </a:p>
          <a:p>
            <a:r>
              <a:rPr lang="es-ES" sz="1600" b="1" dirty="0">
                <a:solidFill>
                  <a:schemeClr val="accent1">
                    <a:lumMod val="50000"/>
                  </a:schemeClr>
                </a:solidFill>
              </a:rPr>
              <a:t>Método de la Silueta (</a:t>
            </a:r>
            <a:r>
              <a:rPr lang="es-ES" sz="1600" b="1" dirty="0" err="1">
                <a:solidFill>
                  <a:schemeClr val="accent1">
                    <a:lumMod val="50000"/>
                  </a:schemeClr>
                </a:solidFill>
              </a:rPr>
              <a:t>Silhouette</a:t>
            </a:r>
            <a:r>
              <a:rPr lang="es-ES" sz="1600" b="1" dirty="0">
                <a:solidFill>
                  <a:schemeClr val="accent1">
                    <a:lumMod val="50000"/>
                  </a:schemeClr>
                </a:solidFill>
              </a:rPr>
              <a:t> </a:t>
            </a:r>
            <a:r>
              <a:rPr lang="es-ES" sz="1600" b="1" dirty="0" err="1">
                <a:solidFill>
                  <a:schemeClr val="accent1">
                    <a:lumMod val="50000"/>
                  </a:schemeClr>
                </a:solidFill>
              </a:rPr>
              <a:t>Method</a:t>
            </a:r>
            <a:r>
              <a:rPr lang="es-ES" sz="1600" b="1" dirty="0">
                <a:solidFill>
                  <a:schemeClr val="accent1">
                    <a:lumMod val="50000"/>
                  </a:schemeClr>
                </a:solidFill>
              </a:rPr>
              <a:t>): </a:t>
            </a:r>
            <a:r>
              <a:rPr lang="es-ES" sz="1600" dirty="0">
                <a:solidFill>
                  <a:schemeClr val="accent1">
                    <a:lumMod val="50000"/>
                  </a:schemeClr>
                </a:solidFill>
              </a:rPr>
              <a:t>Este método mide la calidad de una agrupación. Es decir, determina qué tan bien se encuentra cada objeto dentro de su grupo. </a:t>
            </a:r>
          </a:p>
          <a:p>
            <a:endParaRPr lang="es-ES" sz="1600" dirty="0">
              <a:solidFill>
                <a:schemeClr val="accent1">
                  <a:lumMod val="50000"/>
                </a:schemeClr>
              </a:solidFill>
            </a:endParaRPr>
          </a:p>
          <a:p>
            <a:r>
              <a:rPr lang="es-ES" sz="1600" dirty="0">
                <a:solidFill>
                  <a:schemeClr val="accent1">
                    <a:lumMod val="50000"/>
                  </a:schemeClr>
                </a:solidFill>
              </a:rPr>
              <a:t>Para cada punto </a:t>
            </a:r>
            <a:r>
              <a:rPr lang="es-ES" sz="1600" i="1" dirty="0">
                <a:solidFill>
                  <a:schemeClr val="accent1">
                    <a:lumMod val="50000"/>
                  </a:schemeClr>
                </a:solidFill>
                <a:latin typeface="Cambria Math" panose="02040503050406030204" pitchFamily="18" charset="0"/>
              </a:rPr>
              <a:t>x</a:t>
            </a:r>
            <a:r>
              <a:rPr lang="es-ES" sz="1600" dirty="0">
                <a:solidFill>
                  <a:schemeClr val="accent1">
                    <a:lumMod val="50000"/>
                  </a:schemeClr>
                </a:solidFill>
              </a:rPr>
              <a:t> se calcula su </a:t>
            </a:r>
            <a:r>
              <a:rPr lang="es-ES" sz="1600" i="1" dirty="0" err="1">
                <a:solidFill>
                  <a:schemeClr val="accent1">
                    <a:lumMod val="50000"/>
                  </a:schemeClr>
                </a:solidFill>
              </a:rPr>
              <a:t>Silhouette</a:t>
            </a:r>
            <a:r>
              <a:rPr lang="es-ES" sz="1600" i="1" dirty="0">
                <a:solidFill>
                  <a:schemeClr val="accent1">
                    <a:lumMod val="50000"/>
                  </a:schemeClr>
                </a:solidFill>
              </a:rPr>
              <a:t> Score</a:t>
            </a:r>
            <a:r>
              <a:rPr lang="es-ES" sz="1600" dirty="0">
                <a:solidFill>
                  <a:schemeClr val="accent1">
                    <a:lumMod val="50000"/>
                  </a:schemeClr>
                </a:solidFill>
              </a:rPr>
              <a:t>:</a:t>
            </a:r>
          </a:p>
          <a:p>
            <a:endParaRPr lang="es-ES" sz="1600" dirty="0">
              <a:solidFill>
                <a:schemeClr val="accent1">
                  <a:lumMod val="50000"/>
                </a:schemeClr>
              </a:solidFill>
            </a:endParaRPr>
          </a:p>
          <a:p>
            <a:endParaRPr lang="es-ES" sz="1600" dirty="0">
              <a:solidFill>
                <a:schemeClr val="accent1">
                  <a:lumMod val="50000"/>
                </a:schemeClr>
              </a:solidFill>
              <a:highlight>
                <a:srgbClr val="FFFFFF"/>
              </a:highlight>
            </a:endParaRPr>
          </a:p>
          <a:p>
            <a:endParaRPr lang="es-ES" sz="1600" dirty="0">
              <a:solidFill>
                <a:schemeClr val="accent1">
                  <a:lumMod val="50000"/>
                </a:schemeClr>
              </a:solidFill>
              <a:highlight>
                <a:srgbClr val="FFFFFF"/>
              </a:highlight>
            </a:endParaRPr>
          </a:p>
        </p:txBody>
      </p:sp>
      <p:sp>
        <p:nvSpPr>
          <p:cNvPr id="4" name="Marcador de número de diapositiva 1">
            <a:extLst>
              <a:ext uri="{FF2B5EF4-FFF2-40B4-BE49-F238E27FC236}">
                <a16:creationId xmlns:a16="http://schemas.microsoft.com/office/drawing/2014/main" id="{2B676A0C-B311-06E8-FDDC-70C2E1F562AD}"/>
              </a:ext>
            </a:extLst>
          </p:cNvPr>
          <p:cNvSpPr>
            <a:spLocks noGrp="1"/>
          </p:cNvSpPr>
          <p:nvPr>
            <p:ph type="sldNum" sz="quarter" idx="12"/>
          </p:nvPr>
        </p:nvSpPr>
        <p:spPr>
          <a:xfrm>
            <a:off x="8610600" y="6356352"/>
            <a:ext cx="2743200" cy="365125"/>
          </a:xfrm>
        </p:spPr>
        <p:txBody>
          <a:bodyPr/>
          <a:lstStyle/>
          <a:p>
            <a:fld id="{5104FCC0-1602-4E53-A4A9-B84AD752D31B}" type="slidenum">
              <a:rPr lang="es-ES" smtClean="0">
                <a:solidFill>
                  <a:prstClr val="black">
                    <a:tint val="75000"/>
                  </a:prstClr>
                </a:solidFill>
              </a:rPr>
              <a:pPr/>
              <a:t>24</a:t>
            </a:fld>
            <a:endParaRPr lang="es-ES" dirty="0">
              <a:solidFill>
                <a:prstClr val="black">
                  <a:tint val="75000"/>
                </a:prstClr>
              </a:solidFill>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4623E108-A708-FF9B-B430-8CE62B49AD72}"/>
                  </a:ext>
                </a:extLst>
              </p:cNvPr>
              <p:cNvSpPr txBox="1"/>
              <p:nvPr/>
            </p:nvSpPr>
            <p:spPr>
              <a:xfrm>
                <a:off x="4452004" y="1668677"/>
                <a:ext cx="1378711" cy="5515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ES" sz="1600" b="0" i="0" smtClean="0">
                          <a:solidFill>
                            <a:schemeClr val="accent1">
                              <a:lumMod val="50000"/>
                            </a:schemeClr>
                          </a:solidFill>
                        </a:rPr>
                        <m:t>SSC</m:t>
                      </m:r>
                      <m:r>
                        <m:rPr>
                          <m:nor/>
                        </m:rPr>
                        <a:rPr lang="es-ES" sz="1600" b="0" i="0" smtClean="0">
                          <a:solidFill>
                            <a:schemeClr val="accent1">
                              <a:lumMod val="50000"/>
                            </a:schemeClr>
                          </a:solidFill>
                        </a:rPr>
                        <m:t> =</m:t>
                      </m:r>
                      <m:f>
                        <m:fPr>
                          <m:ctrlPr>
                            <a:rPr lang="es-ES" sz="1600" b="0" i="1" smtClean="0">
                              <a:solidFill>
                                <a:schemeClr val="accent1">
                                  <a:lumMod val="50000"/>
                                </a:schemeClr>
                              </a:solidFill>
                              <a:latin typeface="Cambria Math" panose="02040503050406030204" pitchFamily="18" charset="0"/>
                            </a:rPr>
                          </m:ctrlPr>
                        </m:fPr>
                        <m:num>
                          <m:r>
                            <a:rPr lang="es-ES" sz="1600" b="0" i="1" smtClean="0">
                              <a:solidFill>
                                <a:schemeClr val="accent1">
                                  <a:lumMod val="50000"/>
                                </a:schemeClr>
                              </a:solidFill>
                              <a:latin typeface="Cambria Math" panose="02040503050406030204" pitchFamily="18" charset="0"/>
                            </a:rPr>
                            <m:t>𝑝</m:t>
                          </m:r>
                          <m:r>
                            <a:rPr lang="es-ES" sz="1600" b="0" i="1" smtClean="0">
                              <a:solidFill>
                                <a:schemeClr val="accent1">
                                  <a:lumMod val="50000"/>
                                </a:schemeClr>
                              </a:solidFill>
                              <a:latin typeface="Cambria Math" panose="02040503050406030204" pitchFamily="18" charset="0"/>
                            </a:rPr>
                            <m:t>−</m:t>
                          </m:r>
                          <m:r>
                            <a:rPr lang="es-ES" sz="1600" b="0" i="1" smtClean="0">
                              <a:solidFill>
                                <a:schemeClr val="accent1">
                                  <a:lumMod val="50000"/>
                                </a:schemeClr>
                              </a:solidFill>
                              <a:latin typeface="Cambria Math" panose="02040503050406030204" pitchFamily="18" charset="0"/>
                            </a:rPr>
                            <m:t>𝑞</m:t>
                          </m:r>
                        </m:num>
                        <m:den>
                          <m:func>
                            <m:funcPr>
                              <m:ctrlPr>
                                <a:rPr lang="es-ES" sz="1600" b="0" i="1" smtClean="0">
                                  <a:solidFill>
                                    <a:schemeClr val="accent1">
                                      <a:lumMod val="50000"/>
                                    </a:schemeClr>
                                  </a:solidFill>
                                  <a:latin typeface="Cambria Math" panose="02040503050406030204" pitchFamily="18" charset="0"/>
                                </a:rPr>
                              </m:ctrlPr>
                            </m:funcPr>
                            <m:fName>
                              <m:limLow>
                                <m:limLowPr>
                                  <m:ctrlPr>
                                    <a:rPr lang="es-ES" sz="1600" b="0" i="1" smtClean="0">
                                      <a:solidFill>
                                        <a:schemeClr val="accent1">
                                          <a:lumMod val="50000"/>
                                        </a:schemeClr>
                                      </a:solidFill>
                                      <a:latin typeface="Cambria Math" panose="02040503050406030204" pitchFamily="18" charset="0"/>
                                    </a:rPr>
                                  </m:ctrlPr>
                                </m:limLowPr>
                                <m:e>
                                  <m:r>
                                    <m:rPr>
                                      <m:sty m:val="p"/>
                                    </m:rPr>
                                    <a:rPr lang="es-ES" sz="1600" b="0" i="0" smtClean="0">
                                      <a:solidFill>
                                        <a:schemeClr val="accent1">
                                          <a:lumMod val="50000"/>
                                        </a:schemeClr>
                                      </a:solidFill>
                                      <a:latin typeface="Cambria Math" panose="02040503050406030204" pitchFamily="18" charset="0"/>
                                    </a:rPr>
                                    <m:t>max</m:t>
                                  </m:r>
                                </m:e>
                                <m:lim/>
                              </m:limLow>
                            </m:fName>
                            <m:e>
                              <m:r>
                                <a:rPr lang="es-ES" sz="1600" b="0" i="1" smtClean="0">
                                  <a:solidFill>
                                    <a:schemeClr val="accent1">
                                      <a:lumMod val="50000"/>
                                    </a:schemeClr>
                                  </a:solidFill>
                                  <a:latin typeface="Cambria Math" panose="02040503050406030204" pitchFamily="18" charset="0"/>
                                </a:rPr>
                                <m:t>(</m:t>
                              </m:r>
                              <m:r>
                                <a:rPr lang="es-ES" sz="1600" b="0" i="1" smtClean="0">
                                  <a:solidFill>
                                    <a:schemeClr val="accent1">
                                      <a:lumMod val="50000"/>
                                    </a:schemeClr>
                                  </a:solidFill>
                                  <a:latin typeface="Cambria Math" panose="02040503050406030204" pitchFamily="18" charset="0"/>
                                </a:rPr>
                                <m:t>𝑝</m:t>
                              </m:r>
                              <m:r>
                                <a:rPr lang="es-ES" sz="1600" b="0" i="1" smtClean="0">
                                  <a:solidFill>
                                    <a:schemeClr val="accent1">
                                      <a:lumMod val="50000"/>
                                    </a:schemeClr>
                                  </a:solidFill>
                                  <a:latin typeface="Cambria Math" panose="02040503050406030204" pitchFamily="18" charset="0"/>
                                </a:rPr>
                                <m:t>,</m:t>
                              </m:r>
                              <m:r>
                                <a:rPr lang="es-ES" sz="1600" b="0" i="1" smtClean="0">
                                  <a:solidFill>
                                    <a:schemeClr val="accent1">
                                      <a:lumMod val="50000"/>
                                    </a:schemeClr>
                                  </a:solidFill>
                                  <a:latin typeface="Cambria Math" panose="02040503050406030204" pitchFamily="18" charset="0"/>
                                </a:rPr>
                                <m:t>𝑞</m:t>
                              </m:r>
                              <m:r>
                                <a:rPr lang="es-ES" sz="1600" b="0" i="1" smtClean="0">
                                  <a:solidFill>
                                    <a:schemeClr val="accent1">
                                      <a:lumMod val="50000"/>
                                    </a:schemeClr>
                                  </a:solidFill>
                                  <a:latin typeface="Cambria Math" panose="02040503050406030204" pitchFamily="18" charset="0"/>
                                </a:rPr>
                                <m:t>)</m:t>
                              </m:r>
                            </m:e>
                          </m:func>
                        </m:den>
                      </m:f>
                    </m:oMath>
                  </m:oMathPara>
                </a14:m>
                <a:endParaRPr lang="es-ES" sz="1600" dirty="0"/>
              </a:p>
            </p:txBody>
          </p:sp>
        </mc:Choice>
        <mc:Fallback xmlns="">
          <p:sp>
            <p:nvSpPr>
              <p:cNvPr id="2" name="CuadroTexto 1">
                <a:extLst>
                  <a:ext uri="{FF2B5EF4-FFF2-40B4-BE49-F238E27FC236}">
                    <a16:creationId xmlns:a16="http://schemas.microsoft.com/office/drawing/2014/main" id="{4623E108-A708-FF9B-B430-8CE62B49AD72}"/>
                  </a:ext>
                </a:extLst>
              </p:cNvPr>
              <p:cNvSpPr txBox="1">
                <a:spLocks noRot="1" noChangeAspect="1" noMove="1" noResize="1" noEditPoints="1" noAdjustHandles="1" noChangeArrowheads="1" noChangeShapeType="1" noTextEdit="1"/>
              </p:cNvSpPr>
              <p:nvPr/>
            </p:nvSpPr>
            <p:spPr>
              <a:xfrm>
                <a:off x="4452004" y="1668677"/>
                <a:ext cx="1378711" cy="551561"/>
              </a:xfrm>
              <a:prstGeom prst="rect">
                <a:avLst/>
              </a:prstGeom>
              <a:blipFill>
                <a:blip r:embed="rId3"/>
                <a:stretch>
                  <a:fillRect l="-3097" t="-2222" r="-48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16CE0A46-EF33-35B5-0086-8A1AE58ECE7D}"/>
                  </a:ext>
                </a:extLst>
              </p:cNvPr>
              <p:cNvSpPr txBox="1"/>
              <p:nvPr/>
            </p:nvSpPr>
            <p:spPr>
              <a:xfrm>
                <a:off x="5818768" y="1528958"/>
                <a:ext cx="6072808" cy="830997"/>
              </a:xfrm>
              <a:prstGeom prst="rect">
                <a:avLst/>
              </a:prstGeom>
              <a:noFill/>
            </p:spPr>
            <p:txBody>
              <a:bodyPr wrap="square">
                <a:spAutoFit/>
              </a:bodyPr>
              <a:lstStyle/>
              <a:p>
                <a:pPr marL="742950" lvl="1" indent="-285750">
                  <a:buFont typeface="Arial" panose="020B0604020202020204" pitchFamily="34" charset="0"/>
                  <a:buChar char="•"/>
                </a:pPr>
                <a14:m>
                  <m:oMath xmlns:m="http://schemas.openxmlformats.org/officeDocument/2006/math">
                    <m:r>
                      <a:rPr lang="es-ES" sz="1600" i="1">
                        <a:solidFill>
                          <a:schemeClr val="accent1">
                            <a:lumMod val="50000"/>
                          </a:schemeClr>
                        </a:solidFill>
                        <a:latin typeface="Cambria Math" panose="02040503050406030204" pitchFamily="18" charset="0"/>
                      </a:rPr>
                      <m:t>𝑝</m:t>
                    </m:r>
                  </m:oMath>
                </a14:m>
                <a:r>
                  <a:rPr lang="es-ES" sz="1600" dirty="0">
                    <a:solidFill>
                      <a:schemeClr val="accent1">
                        <a:lumMod val="50000"/>
                      </a:schemeClr>
                    </a:solidFill>
                  </a:rPr>
                  <a:t> es la distancia media de </a:t>
                </a:r>
                <a:r>
                  <a:rPr lang="es-ES" sz="1600" i="1" dirty="0">
                    <a:solidFill>
                      <a:schemeClr val="accent1">
                        <a:lumMod val="50000"/>
                      </a:schemeClr>
                    </a:solidFill>
                    <a:latin typeface="Cambria Math" panose="02040503050406030204" pitchFamily="18" charset="0"/>
                  </a:rPr>
                  <a:t>x</a:t>
                </a:r>
                <a:r>
                  <a:rPr lang="es-ES" sz="1600" dirty="0">
                    <a:solidFill>
                      <a:schemeClr val="accent1">
                        <a:lumMod val="50000"/>
                      </a:schemeClr>
                    </a:solidFill>
                  </a:rPr>
                  <a:t> a los puntos correspondientes al grupo más cercano que no es el suyo. </a:t>
                </a:r>
              </a:p>
              <a:p>
                <a:pPr marL="742950" lvl="1" indent="-285750">
                  <a:buFont typeface="Arial" panose="020B0604020202020204" pitchFamily="34" charset="0"/>
                  <a:buChar char="•"/>
                </a:pPr>
                <a14:m>
                  <m:oMath xmlns:m="http://schemas.openxmlformats.org/officeDocument/2006/math">
                    <m:r>
                      <a:rPr lang="es-ES" sz="1600" i="1">
                        <a:solidFill>
                          <a:schemeClr val="accent1">
                            <a:lumMod val="50000"/>
                          </a:schemeClr>
                        </a:solidFill>
                        <a:latin typeface="Cambria Math" panose="02040503050406030204" pitchFamily="18" charset="0"/>
                      </a:rPr>
                      <m:t>𝑞</m:t>
                    </m:r>
                  </m:oMath>
                </a14:m>
                <a:r>
                  <a:rPr lang="es-ES" sz="1600" dirty="0">
                    <a:solidFill>
                      <a:schemeClr val="accent1">
                        <a:lumMod val="50000"/>
                      </a:schemeClr>
                    </a:solidFill>
                  </a:rPr>
                  <a:t> es la distancia media de </a:t>
                </a:r>
                <a:r>
                  <a:rPr lang="es-ES" sz="1600" i="1" dirty="0">
                    <a:solidFill>
                      <a:schemeClr val="accent1">
                        <a:lumMod val="50000"/>
                      </a:schemeClr>
                    </a:solidFill>
                    <a:latin typeface="Cambria Math" panose="02040503050406030204" pitchFamily="18" charset="0"/>
                  </a:rPr>
                  <a:t>x</a:t>
                </a:r>
                <a:r>
                  <a:rPr lang="es-ES" sz="1600" dirty="0">
                    <a:solidFill>
                      <a:schemeClr val="accent1">
                        <a:lumMod val="50000"/>
                      </a:schemeClr>
                    </a:solidFill>
                  </a:rPr>
                  <a:t> a los puntos de su propio grupo.</a:t>
                </a:r>
              </a:p>
            </p:txBody>
          </p:sp>
        </mc:Choice>
        <mc:Fallback xmlns="">
          <p:sp>
            <p:nvSpPr>
              <p:cNvPr id="27" name="CuadroTexto 26">
                <a:extLst>
                  <a:ext uri="{FF2B5EF4-FFF2-40B4-BE49-F238E27FC236}">
                    <a16:creationId xmlns:a16="http://schemas.microsoft.com/office/drawing/2014/main" id="{16CE0A46-EF33-35B5-0086-8A1AE58ECE7D}"/>
                  </a:ext>
                </a:extLst>
              </p:cNvPr>
              <p:cNvSpPr txBox="1">
                <a:spLocks noRot="1" noChangeAspect="1" noMove="1" noResize="1" noEditPoints="1" noAdjustHandles="1" noChangeArrowheads="1" noChangeShapeType="1" noTextEdit="1"/>
              </p:cNvSpPr>
              <p:nvPr/>
            </p:nvSpPr>
            <p:spPr>
              <a:xfrm>
                <a:off x="5818768" y="1528958"/>
                <a:ext cx="6072808" cy="830997"/>
              </a:xfrm>
              <a:prstGeom prst="rect">
                <a:avLst/>
              </a:prstGeom>
              <a:blipFill>
                <a:blip r:embed="rId4"/>
                <a:stretch>
                  <a:fillRect t="-3676" b="-8824"/>
                </a:stretch>
              </a:blipFill>
            </p:spPr>
            <p:txBody>
              <a:bodyPr/>
              <a:lstStyle/>
              <a:p>
                <a:r>
                  <a:rPr lang="es-ES">
                    <a:noFill/>
                  </a:rPr>
                  <a:t> </a:t>
                </a:r>
              </a:p>
            </p:txBody>
          </p:sp>
        </mc:Fallback>
      </mc:AlternateContent>
      <p:sp>
        <p:nvSpPr>
          <p:cNvPr id="11" name="CuadroTexto 10">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pic>
        <p:nvPicPr>
          <p:cNvPr id="6" name="Imagen 5"/>
          <p:cNvPicPr>
            <a:picLocks noChangeAspect="1"/>
          </p:cNvPicPr>
          <p:nvPr/>
        </p:nvPicPr>
        <p:blipFill>
          <a:blip r:embed="rId5"/>
          <a:stretch>
            <a:fillRect/>
          </a:stretch>
        </p:blipFill>
        <p:spPr>
          <a:xfrm>
            <a:off x="173529" y="2802474"/>
            <a:ext cx="5064393" cy="3134315"/>
          </a:xfrm>
          <a:prstGeom prst="rect">
            <a:avLst/>
          </a:prstGeom>
        </p:spPr>
      </p:pic>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C4B0FCE2-519C-1B5A-AAB8-2C8B1396751C}"/>
                  </a:ext>
                </a:extLst>
              </p:cNvPr>
              <p:cNvSpPr txBox="1"/>
              <p:nvPr/>
            </p:nvSpPr>
            <p:spPr>
              <a:xfrm>
                <a:off x="5280992" y="2689604"/>
                <a:ext cx="6072808" cy="4031873"/>
              </a:xfrm>
              <a:prstGeom prst="rect">
                <a:avLst/>
              </a:prstGeom>
              <a:noFill/>
            </p:spPr>
            <p:txBody>
              <a:bodyPr wrap="square">
                <a:spAutoFit/>
              </a:bodyPr>
              <a:lstStyle/>
              <a:p>
                <a:pPr lvl="1"/>
                <a:r>
                  <a:rPr lang="es-ES" sz="1600" dirty="0">
                    <a:solidFill>
                      <a:schemeClr val="accent1">
                        <a:lumMod val="50000"/>
                      </a:schemeClr>
                    </a:solidFill>
                  </a:rPr>
                  <a:t>Se puede interpretar </a:t>
                </a:r>
                <a14:m>
                  <m:oMath xmlns:m="http://schemas.openxmlformats.org/officeDocument/2006/math">
                    <m:r>
                      <a:rPr lang="es-ES" sz="1600" b="0" i="1" smtClean="0">
                        <a:solidFill>
                          <a:schemeClr val="accent1">
                            <a:lumMod val="50000"/>
                          </a:schemeClr>
                        </a:solidFill>
                        <a:latin typeface="Cambria Math" panose="02040503050406030204" pitchFamily="18" charset="0"/>
                      </a:rPr>
                      <m:t>𝑞</m:t>
                    </m:r>
                  </m:oMath>
                </a14:m>
                <a:r>
                  <a:rPr lang="es-ES" sz="1600" dirty="0">
                    <a:solidFill>
                      <a:schemeClr val="accent1">
                        <a:lumMod val="50000"/>
                      </a:schemeClr>
                    </a:solidFill>
                  </a:rPr>
                  <a:t> como la cohesión de los puntos del grupo al que pertenece </a:t>
                </a:r>
                <a:r>
                  <a:rPr lang="es-ES" sz="1600" i="1" dirty="0">
                    <a:solidFill>
                      <a:schemeClr val="accent1">
                        <a:lumMod val="50000"/>
                      </a:schemeClr>
                    </a:solidFill>
                    <a:latin typeface="Cambria Math" panose="02040503050406030204" pitchFamily="18" charset="0"/>
                  </a:rPr>
                  <a:t>x </a:t>
                </a:r>
                <a:r>
                  <a:rPr lang="es-ES" sz="1600" dirty="0">
                    <a:solidFill>
                      <a:schemeClr val="accent1">
                        <a:lumMod val="50000"/>
                      </a:schemeClr>
                    </a:solidFill>
                  </a:rPr>
                  <a:t> y </a:t>
                </a:r>
                <a14:m>
                  <m:oMath xmlns:m="http://schemas.openxmlformats.org/officeDocument/2006/math">
                    <m:r>
                      <a:rPr lang="es-ES" sz="1600" i="1">
                        <a:solidFill>
                          <a:schemeClr val="accent1">
                            <a:lumMod val="50000"/>
                          </a:schemeClr>
                        </a:solidFill>
                        <a:latin typeface="Cambria Math" panose="02040503050406030204" pitchFamily="18" charset="0"/>
                      </a:rPr>
                      <m:t>𝑝</m:t>
                    </m:r>
                    <m:r>
                      <a:rPr lang="es-ES" sz="1600" i="1">
                        <a:solidFill>
                          <a:schemeClr val="accent1">
                            <a:lumMod val="50000"/>
                          </a:schemeClr>
                        </a:solidFill>
                        <a:latin typeface="Cambria Math" panose="02040503050406030204" pitchFamily="18" charset="0"/>
                      </a:rPr>
                      <m:t> </m:t>
                    </m:r>
                  </m:oMath>
                </a14:m>
                <a:r>
                  <a:rPr lang="es-ES" sz="1600" dirty="0">
                    <a:solidFill>
                      <a:schemeClr val="accent1">
                        <a:lumMod val="50000"/>
                      </a:schemeClr>
                    </a:solidFill>
                  </a:rPr>
                  <a:t> como la separación de dicho grupo del resto, en particular del más cercano. Se esperan valores bajos de </a:t>
                </a:r>
                <a14:m>
                  <m:oMath xmlns:m="http://schemas.openxmlformats.org/officeDocument/2006/math">
                    <m:r>
                      <a:rPr lang="es-ES" sz="1600" i="1">
                        <a:solidFill>
                          <a:schemeClr val="accent1">
                            <a:lumMod val="50000"/>
                          </a:schemeClr>
                        </a:solidFill>
                        <a:latin typeface="Cambria Math" panose="02040503050406030204" pitchFamily="18" charset="0"/>
                      </a:rPr>
                      <m:t>𝑞</m:t>
                    </m:r>
                  </m:oMath>
                </a14:m>
                <a:r>
                  <a:rPr lang="es-ES" sz="1600" dirty="0">
                    <a:solidFill>
                      <a:schemeClr val="accent1">
                        <a:lumMod val="50000"/>
                      </a:schemeClr>
                    </a:solidFill>
                  </a:rPr>
                  <a:t> frente a </a:t>
                </a:r>
                <a14:m>
                  <m:oMath xmlns:m="http://schemas.openxmlformats.org/officeDocument/2006/math">
                    <m:r>
                      <a:rPr lang="es-ES" sz="1600" b="0" i="1" smtClean="0">
                        <a:solidFill>
                          <a:schemeClr val="accent1">
                            <a:lumMod val="50000"/>
                          </a:schemeClr>
                        </a:solidFill>
                        <a:latin typeface="Cambria Math" panose="02040503050406030204" pitchFamily="18" charset="0"/>
                      </a:rPr>
                      <m:t>𝑝</m:t>
                    </m:r>
                  </m:oMath>
                </a14:m>
                <a:r>
                  <a:rPr lang="es-ES" sz="1600" dirty="0">
                    <a:solidFill>
                      <a:schemeClr val="accent1">
                        <a:lumMod val="50000"/>
                      </a:schemeClr>
                    </a:solidFill>
                  </a:rPr>
                  <a:t>.</a:t>
                </a:r>
              </a:p>
              <a:p>
                <a:pPr lvl="1"/>
                <a:endParaRPr lang="es-ES" sz="1600" dirty="0">
                  <a:solidFill>
                    <a:schemeClr val="accent1">
                      <a:lumMod val="50000"/>
                    </a:schemeClr>
                  </a:solidFill>
                </a:endParaRPr>
              </a:p>
              <a:p>
                <a:pPr lvl="1"/>
                <a:r>
                  <a:rPr lang="es-ES" sz="1600" dirty="0">
                    <a:solidFill>
                      <a:schemeClr val="accent1">
                        <a:lumMod val="50000"/>
                      </a:schemeClr>
                    </a:solidFill>
                  </a:rPr>
                  <a:t>De esa forma un punto en un conjunto bien separado del resto presentará un SSC donde </a:t>
                </a:r>
                <a14:m>
                  <m:oMath xmlns:m="http://schemas.openxmlformats.org/officeDocument/2006/math">
                    <m:r>
                      <a:rPr lang="es-ES" sz="1600" i="1">
                        <a:solidFill>
                          <a:schemeClr val="accent1">
                            <a:lumMod val="50000"/>
                          </a:schemeClr>
                        </a:solidFill>
                        <a:latin typeface="Cambria Math" panose="02040503050406030204" pitchFamily="18" charset="0"/>
                      </a:rPr>
                      <m:t>𝑝</m:t>
                    </m:r>
                    <m:r>
                      <a:rPr lang="es-ES" sz="1600" i="1">
                        <a:solidFill>
                          <a:schemeClr val="accent1">
                            <a:lumMod val="50000"/>
                          </a:schemeClr>
                        </a:solidFill>
                        <a:latin typeface="Cambria Math" panose="02040503050406030204" pitchFamily="18" charset="0"/>
                      </a:rPr>
                      <m:t> </m:t>
                    </m:r>
                  </m:oMath>
                </a14:m>
                <a:r>
                  <a:rPr lang="es-ES" sz="1600" dirty="0">
                    <a:solidFill>
                      <a:schemeClr val="accent1">
                        <a:lumMod val="50000"/>
                      </a:schemeClr>
                    </a:solidFill>
                  </a:rPr>
                  <a:t> dominará sobre </a:t>
                </a:r>
                <a14:m>
                  <m:oMath xmlns:m="http://schemas.openxmlformats.org/officeDocument/2006/math">
                    <m:r>
                      <a:rPr lang="es-ES" sz="1600" b="0" i="1" smtClean="0">
                        <a:solidFill>
                          <a:schemeClr val="accent1">
                            <a:lumMod val="50000"/>
                          </a:schemeClr>
                        </a:solidFill>
                        <a:latin typeface="Cambria Math" panose="02040503050406030204" pitchFamily="18" charset="0"/>
                      </a:rPr>
                      <m:t>𝑞</m:t>
                    </m:r>
                  </m:oMath>
                </a14:m>
                <a:r>
                  <a:rPr lang="es-ES" sz="1600" dirty="0">
                    <a:solidFill>
                      <a:schemeClr val="accent1">
                        <a:lumMod val="50000"/>
                      </a:schemeClr>
                    </a:solidFill>
                  </a:rPr>
                  <a:t> y por tanto el denominador será </a:t>
                </a:r>
                <a14:m>
                  <m:oMath xmlns:m="http://schemas.openxmlformats.org/officeDocument/2006/math">
                    <m:r>
                      <a:rPr lang="es-ES" sz="1600" i="1">
                        <a:solidFill>
                          <a:schemeClr val="accent1">
                            <a:lumMod val="50000"/>
                          </a:schemeClr>
                        </a:solidFill>
                        <a:latin typeface="Cambria Math" panose="02040503050406030204" pitchFamily="18" charset="0"/>
                      </a:rPr>
                      <m:t>𝑝</m:t>
                    </m:r>
                    <m:r>
                      <a:rPr lang="es-ES" sz="1600" i="1">
                        <a:solidFill>
                          <a:schemeClr val="accent1">
                            <a:lumMod val="50000"/>
                          </a:schemeClr>
                        </a:solidFill>
                        <a:latin typeface="Cambria Math" panose="02040503050406030204" pitchFamily="18" charset="0"/>
                      </a:rPr>
                      <m:t> </m:t>
                    </m:r>
                  </m:oMath>
                </a14:m>
                <a:r>
                  <a:rPr lang="es-ES" sz="1600" dirty="0">
                    <a:solidFill>
                      <a:schemeClr val="accent1">
                        <a:lumMod val="50000"/>
                      </a:schemeClr>
                    </a:solidFill>
                  </a:rPr>
                  <a:t>. El numerador tendrá un valor positivo y próximo a </a:t>
                </a:r>
                <a14:m>
                  <m:oMath xmlns:m="http://schemas.openxmlformats.org/officeDocument/2006/math">
                    <m:r>
                      <a:rPr lang="es-ES" sz="1600" b="0" i="1" smtClean="0">
                        <a:solidFill>
                          <a:schemeClr val="accent1">
                            <a:lumMod val="50000"/>
                          </a:schemeClr>
                        </a:solidFill>
                        <a:latin typeface="Cambria Math" panose="02040503050406030204" pitchFamily="18" charset="0"/>
                      </a:rPr>
                      <m:t>𝑝</m:t>
                    </m:r>
                  </m:oMath>
                </a14:m>
                <a:r>
                  <a:rPr lang="es-ES" sz="1600" dirty="0">
                    <a:solidFill>
                      <a:schemeClr val="accent1">
                        <a:lumMod val="50000"/>
                      </a:schemeClr>
                    </a:solidFill>
                  </a:rPr>
                  <a:t> de forma que SSC </a:t>
                </a:r>
                <a14:m>
                  <m:oMath xmlns:m="http://schemas.openxmlformats.org/officeDocument/2006/math">
                    <m:r>
                      <a:rPr lang="es-ES" sz="1600" i="1" smtClean="0">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1</m:t>
                    </m:r>
                  </m:oMath>
                </a14:m>
                <a:r>
                  <a:rPr lang="es-ES" sz="1600" dirty="0">
                    <a:solidFill>
                      <a:schemeClr val="accent1">
                        <a:lumMod val="50000"/>
                      </a:schemeClr>
                    </a:solidFill>
                  </a:rPr>
                  <a:t>. </a:t>
                </a:r>
              </a:p>
              <a:p>
                <a:pPr lvl="1"/>
                <a:endParaRPr lang="es-ES" sz="1600" dirty="0">
                  <a:solidFill>
                    <a:schemeClr val="accent1">
                      <a:lumMod val="50000"/>
                    </a:schemeClr>
                  </a:solidFill>
                </a:endParaRPr>
              </a:p>
              <a:p>
                <a:pPr lvl="1"/>
                <a:r>
                  <a:rPr lang="es-ES" sz="1600" dirty="0">
                    <a:solidFill>
                      <a:schemeClr val="accent1">
                        <a:lumMod val="50000"/>
                      </a:schemeClr>
                    </a:solidFill>
                  </a:rPr>
                  <a:t>En el caso contrario, si </a:t>
                </a:r>
                <a:r>
                  <a:rPr lang="es-ES" sz="1600" i="1" dirty="0">
                    <a:solidFill>
                      <a:schemeClr val="accent1">
                        <a:lumMod val="50000"/>
                      </a:schemeClr>
                    </a:solidFill>
                    <a:latin typeface="Cambria Math" panose="02040503050406030204" pitchFamily="18" charset="0"/>
                  </a:rPr>
                  <a:t>x  </a:t>
                </a:r>
                <a:r>
                  <a:rPr lang="es-ES" sz="1600" dirty="0">
                    <a:solidFill>
                      <a:schemeClr val="accent1">
                        <a:lumMod val="50000"/>
                      </a:schemeClr>
                    </a:solidFill>
                  </a:rPr>
                  <a:t> no está bien integrado en su grupo </a:t>
                </a:r>
                <a14:m>
                  <m:oMath xmlns:m="http://schemas.openxmlformats.org/officeDocument/2006/math">
                    <m:r>
                      <a:rPr lang="es-ES" sz="1600" i="1">
                        <a:solidFill>
                          <a:schemeClr val="accent1">
                            <a:lumMod val="50000"/>
                          </a:schemeClr>
                        </a:solidFill>
                        <a:latin typeface="Cambria Math" panose="02040503050406030204" pitchFamily="18" charset="0"/>
                      </a:rPr>
                      <m:t>𝑞</m:t>
                    </m:r>
                    <m:r>
                      <a:rPr lang="es-ES" sz="1600" i="1">
                        <a:solidFill>
                          <a:schemeClr val="accent1">
                            <a:lumMod val="50000"/>
                          </a:schemeClr>
                        </a:solidFill>
                        <a:latin typeface="Cambria Math" panose="02040503050406030204" pitchFamily="18" charset="0"/>
                      </a:rPr>
                      <m:t> </m:t>
                    </m:r>
                  </m:oMath>
                </a14:m>
                <a:r>
                  <a:rPr lang="es-ES" sz="1600" dirty="0">
                    <a:solidFill>
                      <a:schemeClr val="accent1">
                        <a:lumMod val="50000"/>
                      </a:schemeClr>
                    </a:solidFill>
                  </a:rPr>
                  <a:t>dominará sobre </a:t>
                </a:r>
                <a14:m>
                  <m:oMath xmlns:m="http://schemas.openxmlformats.org/officeDocument/2006/math">
                    <m:r>
                      <a:rPr lang="es-ES" sz="1600" i="1">
                        <a:solidFill>
                          <a:schemeClr val="accent1">
                            <a:lumMod val="50000"/>
                          </a:schemeClr>
                        </a:solidFill>
                        <a:latin typeface="Cambria Math" panose="02040503050406030204" pitchFamily="18" charset="0"/>
                      </a:rPr>
                      <m:t>𝑝</m:t>
                    </m:r>
                  </m:oMath>
                </a14:m>
                <a:r>
                  <a:rPr lang="es-ES" sz="1600" dirty="0">
                    <a:solidFill>
                      <a:schemeClr val="accent1">
                        <a:lumMod val="50000"/>
                      </a:schemeClr>
                    </a:solidFill>
                  </a:rPr>
                  <a:t> y por tanto el denominador será </a:t>
                </a:r>
                <a14:m>
                  <m:oMath xmlns:m="http://schemas.openxmlformats.org/officeDocument/2006/math">
                    <m:r>
                      <a:rPr lang="es-ES" sz="1600" i="1">
                        <a:solidFill>
                          <a:schemeClr val="accent1">
                            <a:lumMod val="50000"/>
                          </a:schemeClr>
                        </a:solidFill>
                        <a:latin typeface="Cambria Math" panose="02040503050406030204" pitchFamily="18" charset="0"/>
                      </a:rPr>
                      <m:t>𝑞</m:t>
                    </m:r>
                    <m:r>
                      <a:rPr lang="es-ES" sz="1600" i="1">
                        <a:solidFill>
                          <a:schemeClr val="accent1">
                            <a:lumMod val="50000"/>
                          </a:schemeClr>
                        </a:solidFill>
                        <a:latin typeface="Cambria Math" panose="02040503050406030204" pitchFamily="18" charset="0"/>
                      </a:rPr>
                      <m:t> . </m:t>
                    </m:r>
                  </m:oMath>
                </a14:m>
                <a:r>
                  <a:rPr lang="es-ES" sz="1600" dirty="0">
                    <a:solidFill>
                      <a:schemeClr val="accent1">
                        <a:lumMod val="50000"/>
                      </a:schemeClr>
                    </a:solidFill>
                  </a:rPr>
                  <a:t>El numerador será negativo y tan próximo a </a:t>
                </a:r>
                <a14:m>
                  <m:oMath xmlns:m="http://schemas.openxmlformats.org/officeDocument/2006/math">
                    <m:r>
                      <a:rPr lang="es-ES" sz="1600" b="0" i="1" smtClean="0">
                        <a:solidFill>
                          <a:schemeClr val="accent1">
                            <a:lumMod val="50000"/>
                          </a:schemeClr>
                        </a:solidFill>
                        <a:latin typeface="Cambria Math" panose="02040503050406030204" pitchFamily="18" charset="0"/>
                      </a:rPr>
                      <m:t>𝑞</m:t>
                    </m:r>
                  </m:oMath>
                </a14:m>
                <a:r>
                  <a:rPr lang="es-ES" sz="1600" dirty="0">
                    <a:solidFill>
                      <a:schemeClr val="accent1">
                        <a:lumMod val="50000"/>
                      </a:schemeClr>
                    </a:solidFill>
                  </a:rPr>
                  <a:t> como mayor el error en la asignación de grupo, así que SSC </a:t>
                </a:r>
                <a14:m>
                  <m:oMath xmlns:m="http://schemas.openxmlformats.org/officeDocument/2006/math">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1</m:t>
                    </m:r>
                  </m:oMath>
                </a14:m>
                <a:r>
                  <a:rPr lang="es-ES" sz="1600" dirty="0">
                    <a:solidFill>
                      <a:schemeClr val="accent1">
                        <a:lumMod val="50000"/>
                      </a:schemeClr>
                    </a:solidFill>
                  </a:rPr>
                  <a:t>. </a:t>
                </a:r>
              </a:p>
              <a:p>
                <a:pPr lvl="1"/>
                <a:endParaRPr lang="es-ES" sz="1600" dirty="0">
                  <a:solidFill>
                    <a:schemeClr val="accent1">
                      <a:lumMod val="50000"/>
                    </a:schemeClr>
                  </a:solidFill>
                </a:endParaRPr>
              </a:p>
              <a:p>
                <a:pPr lvl="1"/>
                <a:r>
                  <a:rPr lang="es-ES" sz="1600" dirty="0">
                    <a:solidFill>
                      <a:schemeClr val="accent1">
                        <a:lumMod val="50000"/>
                      </a:schemeClr>
                    </a:solidFill>
                  </a:rPr>
                  <a:t>SSC </a:t>
                </a:r>
                <a14:m>
                  <m:oMath xmlns:m="http://schemas.openxmlformats.org/officeDocument/2006/math">
                    <m:r>
                      <a:rPr lang="es-ES" sz="1600" i="1" smtClean="0">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0</m:t>
                    </m:r>
                  </m:oMath>
                </a14:m>
                <a:r>
                  <a:rPr lang="es-ES" sz="1600" dirty="0">
                    <a:solidFill>
                      <a:schemeClr val="accent1">
                        <a:lumMod val="50000"/>
                      </a:schemeClr>
                    </a:solidFill>
                  </a:rPr>
                  <a:t> indica solapamiento entre grupos.</a:t>
                </a:r>
              </a:p>
            </p:txBody>
          </p:sp>
        </mc:Choice>
        <mc:Fallback xmlns="">
          <p:sp>
            <p:nvSpPr>
              <p:cNvPr id="3" name="CuadroTexto 2">
                <a:extLst>
                  <a:ext uri="{FF2B5EF4-FFF2-40B4-BE49-F238E27FC236}">
                    <a16:creationId xmlns:a16="http://schemas.microsoft.com/office/drawing/2014/main" id="{C4B0FCE2-519C-1B5A-AAB8-2C8B1396751C}"/>
                  </a:ext>
                </a:extLst>
              </p:cNvPr>
              <p:cNvSpPr txBox="1">
                <a:spLocks noRot="1" noChangeAspect="1" noMove="1" noResize="1" noEditPoints="1" noAdjustHandles="1" noChangeArrowheads="1" noChangeShapeType="1" noTextEdit="1"/>
              </p:cNvSpPr>
              <p:nvPr/>
            </p:nvSpPr>
            <p:spPr>
              <a:xfrm>
                <a:off x="5280992" y="2689604"/>
                <a:ext cx="6072808" cy="4031873"/>
              </a:xfrm>
              <a:prstGeom prst="rect">
                <a:avLst/>
              </a:prstGeom>
              <a:blipFill>
                <a:blip r:embed="rId6"/>
                <a:stretch>
                  <a:fillRect t="-453" b="-906"/>
                </a:stretch>
              </a:blipFill>
            </p:spPr>
            <p:txBody>
              <a:bodyPr/>
              <a:lstStyle/>
              <a:p>
                <a:r>
                  <a:rPr lang="es-ES">
                    <a:noFill/>
                  </a:rPr>
                  <a:t> </a:t>
                </a:r>
              </a:p>
            </p:txBody>
          </p:sp>
        </mc:Fallback>
      </mc:AlternateContent>
    </p:spTree>
    <p:extLst>
      <p:ext uri="{BB962C8B-B14F-4D97-AF65-F5344CB8AC3E}">
        <p14:creationId xmlns:p14="http://schemas.microsoft.com/office/powerpoint/2010/main" val="40049766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69D85-C666-D7E2-42DB-ED0BBA2E92E2}"/>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D1A9F6D8-CD83-D388-4B4B-D63AEF311320}"/>
              </a:ext>
            </a:extLst>
          </p:cNvPr>
          <p:cNvSpPr txBox="1"/>
          <p:nvPr/>
        </p:nvSpPr>
        <p:spPr>
          <a:xfrm>
            <a:off x="300424" y="371039"/>
            <a:ext cx="11849741" cy="2431435"/>
          </a:xfrm>
          <a:prstGeom prst="rect">
            <a:avLst/>
          </a:prstGeom>
          <a:noFill/>
        </p:spPr>
        <p:txBody>
          <a:bodyPr wrap="square" rtlCol="0">
            <a:spAutoFit/>
          </a:bodyPr>
          <a:lstStyle/>
          <a:p>
            <a:r>
              <a:rPr lang="es-ES" sz="2000" dirty="0">
                <a:solidFill>
                  <a:schemeClr val="accent1">
                    <a:lumMod val="50000"/>
                  </a:schemeClr>
                </a:solidFill>
              </a:rPr>
              <a:t>Número óptimo de grupos:</a:t>
            </a:r>
          </a:p>
          <a:p>
            <a:endParaRPr lang="es-ES" sz="2000" dirty="0">
              <a:solidFill>
                <a:schemeClr val="accent1">
                  <a:lumMod val="50000"/>
                </a:schemeClr>
              </a:solidFill>
            </a:endParaRPr>
          </a:p>
          <a:p>
            <a:r>
              <a:rPr lang="es-ES" sz="1600" b="1" dirty="0">
                <a:solidFill>
                  <a:schemeClr val="accent1">
                    <a:lumMod val="50000"/>
                  </a:schemeClr>
                </a:solidFill>
              </a:rPr>
              <a:t>Método de la Silueta (</a:t>
            </a:r>
            <a:r>
              <a:rPr lang="es-ES" sz="1600" b="1" dirty="0" err="1">
                <a:solidFill>
                  <a:schemeClr val="accent1">
                    <a:lumMod val="50000"/>
                  </a:schemeClr>
                </a:solidFill>
              </a:rPr>
              <a:t>Silhouette</a:t>
            </a:r>
            <a:r>
              <a:rPr lang="es-ES" sz="1600" b="1" dirty="0">
                <a:solidFill>
                  <a:schemeClr val="accent1">
                    <a:lumMod val="50000"/>
                  </a:schemeClr>
                </a:solidFill>
              </a:rPr>
              <a:t> </a:t>
            </a:r>
            <a:r>
              <a:rPr lang="es-ES" sz="1600" b="1" dirty="0" err="1">
                <a:solidFill>
                  <a:schemeClr val="accent1">
                    <a:lumMod val="50000"/>
                  </a:schemeClr>
                </a:solidFill>
              </a:rPr>
              <a:t>Method</a:t>
            </a:r>
            <a:r>
              <a:rPr lang="es-ES" sz="1600" b="1" dirty="0">
                <a:solidFill>
                  <a:schemeClr val="accent1">
                    <a:lumMod val="50000"/>
                  </a:schemeClr>
                </a:solidFill>
              </a:rPr>
              <a:t>): </a:t>
            </a:r>
            <a:r>
              <a:rPr lang="es-ES" sz="1600" dirty="0">
                <a:solidFill>
                  <a:schemeClr val="accent1">
                    <a:lumMod val="50000"/>
                  </a:schemeClr>
                </a:solidFill>
              </a:rPr>
              <a:t>Este método mide la calidad de una agrupación. Es decir, determina qué tan bien se encuentra cada objeto dentro de su grupo. </a:t>
            </a:r>
          </a:p>
          <a:p>
            <a:endParaRPr lang="es-ES" sz="1600" dirty="0">
              <a:solidFill>
                <a:schemeClr val="accent1">
                  <a:lumMod val="50000"/>
                </a:schemeClr>
              </a:solidFill>
            </a:endParaRPr>
          </a:p>
          <a:p>
            <a:r>
              <a:rPr lang="es-ES" sz="1600" dirty="0">
                <a:solidFill>
                  <a:schemeClr val="accent1">
                    <a:lumMod val="50000"/>
                  </a:schemeClr>
                </a:solidFill>
              </a:rPr>
              <a:t>Para cada punto </a:t>
            </a:r>
            <a:r>
              <a:rPr lang="es-ES" sz="1600" i="1" dirty="0">
                <a:solidFill>
                  <a:schemeClr val="accent1">
                    <a:lumMod val="50000"/>
                  </a:schemeClr>
                </a:solidFill>
                <a:latin typeface="Cambria Math" panose="02040503050406030204" pitchFamily="18" charset="0"/>
              </a:rPr>
              <a:t>x</a:t>
            </a:r>
            <a:r>
              <a:rPr lang="es-ES" sz="1600" dirty="0">
                <a:solidFill>
                  <a:schemeClr val="accent1">
                    <a:lumMod val="50000"/>
                  </a:schemeClr>
                </a:solidFill>
              </a:rPr>
              <a:t> se calcula su </a:t>
            </a:r>
            <a:r>
              <a:rPr lang="es-ES" sz="1600" i="1" dirty="0" err="1">
                <a:solidFill>
                  <a:schemeClr val="accent1">
                    <a:lumMod val="50000"/>
                  </a:schemeClr>
                </a:solidFill>
              </a:rPr>
              <a:t>Silhouette</a:t>
            </a:r>
            <a:r>
              <a:rPr lang="es-ES" sz="1600" i="1" dirty="0">
                <a:solidFill>
                  <a:schemeClr val="accent1">
                    <a:lumMod val="50000"/>
                  </a:schemeClr>
                </a:solidFill>
              </a:rPr>
              <a:t> Score</a:t>
            </a:r>
            <a:r>
              <a:rPr lang="es-ES" sz="1600" dirty="0">
                <a:solidFill>
                  <a:schemeClr val="accent1">
                    <a:lumMod val="50000"/>
                  </a:schemeClr>
                </a:solidFill>
              </a:rPr>
              <a:t>:</a:t>
            </a:r>
          </a:p>
          <a:p>
            <a:endParaRPr lang="es-ES" sz="1600" dirty="0">
              <a:solidFill>
                <a:schemeClr val="accent1">
                  <a:lumMod val="50000"/>
                </a:schemeClr>
              </a:solidFill>
            </a:endParaRPr>
          </a:p>
          <a:p>
            <a:endParaRPr lang="es-ES" sz="1600" dirty="0">
              <a:solidFill>
                <a:schemeClr val="accent1">
                  <a:lumMod val="50000"/>
                </a:schemeClr>
              </a:solidFill>
              <a:highlight>
                <a:srgbClr val="FFFFFF"/>
              </a:highlight>
            </a:endParaRPr>
          </a:p>
          <a:p>
            <a:endParaRPr lang="es-ES" sz="1600" dirty="0">
              <a:solidFill>
                <a:schemeClr val="accent1">
                  <a:lumMod val="50000"/>
                </a:schemeClr>
              </a:solidFill>
              <a:highlight>
                <a:srgbClr val="FFFFFF"/>
              </a:highlight>
            </a:endParaRPr>
          </a:p>
        </p:txBody>
      </p:sp>
      <p:sp>
        <p:nvSpPr>
          <p:cNvPr id="4" name="Marcador de número de diapositiva 1">
            <a:extLst>
              <a:ext uri="{FF2B5EF4-FFF2-40B4-BE49-F238E27FC236}">
                <a16:creationId xmlns:a16="http://schemas.microsoft.com/office/drawing/2014/main" id="{C45B2727-6C34-CDF2-0BB4-3E93CE48FC84}"/>
              </a:ext>
            </a:extLst>
          </p:cNvPr>
          <p:cNvSpPr>
            <a:spLocks noGrp="1"/>
          </p:cNvSpPr>
          <p:nvPr>
            <p:ph type="sldNum" sz="quarter" idx="12"/>
          </p:nvPr>
        </p:nvSpPr>
        <p:spPr>
          <a:xfrm>
            <a:off x="8610600" y="6356352"/>
            <a:ext cx="2743200" cy="365125"/>
          </a:xfrm>
        </p:spPr>
        <p:txBody>
          <a:bodyPr/>
          <a:lstStyle/>
          <a:p>
            <a:fld id="{5104FCC0-1602-4E53-A4A9-B84AD752D31B}" type="slidenum">
              <a:rPr lang="es-ES" smtClean="0">
                <a:solidFill>
                  <a:prstClr val="black">
                    <a:tint val="75000"/>
                  </a:prstClr>
                </a:solidFill>
              </a:rPr>
              <a:pPr/>
              <a:t>25</a:t>
            </a:fld>
            <a:endParaRPr lang="es-ES" dirty="0">
              <a:solidFill>
                <a:prstClr val="black">
                  <a:tint val="75000"/>
                </a:prstClr>
              </a:solidFill>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8751A4F2-180B-5E63-09D4-E1D301340BFF}"/>
                  </a:ext>
                </a:extLst>
              </p:cNvPr>
              <p:cNvSpPr txBox="1"/>
              <p:nvPr/>
            </p:nvSpPr>
            <p:spPr>
              <a:xfrm>
                <a:off x="4452004" y="1668677"/>
                <a:ext cx="1378711" cy="5515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ES" sz="1600" b="0" i="0" smtClean="0">
                          <a:solidFill>
                            <a:schemeClr val="accent1">
                              <a:lumMod val="50000"/>
                            </a:schemeClr>
                          </a:solidFill>
                        </a:rPr>
                        <m:t>SSC</m:t>
                      </m:r>
                      <m:r>
                        <m:rPr>
                          <m:nor/>
                        </m:rPr>
                        <a:rPr lang="es-ES" sz="1600" b="0" i="0" smtClean="0">
                          <a:solidFill>
                            <a:schemeClr val="accent1">
                              <a:lumMod val="50000"/>
                            </a:schemeClr>
                          </a:solidFill>
                        </a:rPr>
                        <m:t> =</m:t>
                      </m:r>
                      <m:f>
                        <m:fPr>
                          <m:ctrlPr>
                            <a:rPr lang="es-ES" sz="1600" b="0" i="1" smtClean="0">
                              <a:solidFill>
                                <a:schemeClr val="accent1">
                                  <a:lumMod val="50000"/>
                                </a:schemeClr>
                              </a:solidFill>
                              <a:latin typeface="Cambria Math" panose="02040503050406030204" pitchFamily="18" charset="0"/>
                            </a:rPr>
                          </m:ctrlPr>
                        </m:fPr>
                        <m:num>
                          <m:r>
                            <a:rPr lang="es-ES" sz="1600" b="0" i="1" smtClean="0">
                              <a:solidFill>
                                <a:schemeClr val="accent1">
                                  <a:lumMod val="50000"/>
                                </a:schemeClr>
                              </a:solidFill>
                              <a:latin typeface="Cambria Math" panose="02040503050406030204" pitchFamily="18" charset="0"/>
                            </a:rPr>
                            <m:t>𝑝</m:t>
                          </m:r>
                          <m:r>
                            <a:rPr lang="es-ES" sz="1600" b="0" i="1" smtClean="0">
                              <a:solidFill>
                                <a:schemeClr val="accent1">
                                  <a:lumMod val="50000"/>
                                </a:schemeClr>
                              </a:solidFill>
                              <a:latin typeface="Cambria Math" panose="02040503050406030204" pitchFamily="18" charset="0"/>
                            </a:rPr>
                            <m:t>−</m:t>
                          </m:r>
                          <m:r>
                            <a:rPr lang="es-ES" sz="1600" b="0" i="1" smtClean="0">
                              <a:solidFill>
                                <a:schemeClr val="accent1">
                                  <a:lumMod val="50000"/>
                                </a:schemeClr>
                              </a:solidFill>
                              <a:latin typeface="Cambria Math" panose="02040503050406030204" pitchFamily="18" charset="0"/>
                            </a:rPr>
                            <m:t>𝑞</m:t>
                          </m:r>
                        </m:num>
                        <m:den>
                          <m:func>
                            <m:funcPr>
                              <m:ctrlPr>
                                <a:rPr lang="es-ES" sz="1600" b="0" i="1" smtClean="0">
                                  <a:solidFill>
                                    <a:schemeClr val="accent1">
                                      <a:lumMod val="50000"/>
                                    </a:schemeClr>
                                  </a:solidFill>
                                  <a:latin typeface="Cambria Math" panose="02040503050406030204" pitchFamily="18" charset="0"/>
                                </a:rPr>
                              </m:ctrlPr>
                            </m:funcPr>
                            <m:fName>
                              <m:limLow>
                                <m:limLowPr>
                                  <m:ctrlPr>
                                    <a:rPr lang="es-ES" sz="1600" b="0" i="1" smtClean="0">
                                      <a:solidFill>
                                        <a:schemeClr val="accent1">
                                          <a:lumMod val="50000"/>
                                        </a:schemeClr>
                                      </a:solidFill>
                                      <a:latin typeface="Cambria Math" panose="02040503050406030204" pitchFamily="18" charset="0"/>
                                    </a:rPr>
                                  </m:ctrlPr>
                                </m:limLowPr>
                                <m:e>
                                  <m:r>
                                    <m:rPr>
                                      <m:sty m:val="p"/>
                                    </m:rPr>
                                    <a:rPr lang="es-ES" sz="1600" b="0" i="0" smtClean="0">
                                      <a:solidFill>
                                        <a:schemeClr val="accent1">
                                          <a:lumMod val="50000"/>
                                        </a:schemeClr>
                                      </a:solidFill>
                                      <a:latin typeface="Cambria Math" panose="02040503050406030204" pitchFamily="18" charset="0"/>
                                    </a:rPr>
                                    <m:t>max</m:t>
                                  </m:r>
                                </m:e>
                                <m:lim/>
                              </m:limLow>
                            </m:fName>
                            <m:e>
                              <m:r>
                                <a:rPr lang="es-ES" sz="1600" b="0" i="1" smtClean="0">
                                  <a:solidFill>
                                    <a:schemeClr val="accent1">
                                      <a:lumMod val="50000"/>
                                    </a:schemeClr>
                                  </a:solidFill>
                                  <a:latin typeface="Cambria Math" panose="02040503050406030204" pitchFamily="18" charset="0"/>
                                </a:rPr>
                                <m:t>(</m:t>
                              </m:r>
                              <m:r>
                                <a:rPr lang="es-ES" sz="1600" b="0" i="1" smtClean="0">
                                  <a:solidFill>
                                    <a:schemeClr val="accent1">
                                      <a:lumMod val="50000"/>
                                    </a:schemeClr>
                                  </a:solidFill>
                                  <a:latin typeface="Cambria Math" panose="02040503050406030204" pitchFamily="18" charset="0"/>
                                </a:rPr>
                                <m:t>𝑝</m:t>
                              </m:r>
                              <m:r>
                                <a:rPr lang="es-ES" sz="1600" b="0" i="1" smtClean="0">
                                  <a:solidFill>
                                    <a:schemeClr val="accent1">
                                      <a:lumMod val="50000"/>
                                    </a:schemeClr>
                                  </a:solidFill>
                                  <a:latin typeface="Cambria Math" panose="02040503050406030204" pitchFamily="18" charset="0"/>
                                </a:rPr>
                                <m:t>,</m:t>
                              </m:r>
                              <m:r>
                                <a:rPr lang="es-ES" sz="1600" b="0" i="1" smtClean="0">
                                  <a:solidFill>
                                    <a:schemeClr val="accent1">
                                      <a:lumMod val="50000"/>
                                    </a:schemeClr>
                                  </a:solidFill>
                                  <a:latin typeface="Cambria Math" panose="02040503050406030204" pitchFamily="18" charset="0"/>
                                </a:rPr>
                                <m:t>𝑞</m:t>
                              </m:r>
                              <m:r>
                                <a:rPr lang="es-ES" sz="1600" b="0" i="1" smtClean="0">
                                  <a:solidFill>
                                    <a:schemeClr val="accent1">
                                      <a:lumMod val="50000"/>
                                    </a:schemeClr>
                                  </a:solidFill>
                                  <a:latin typeface="Cambria Math" panose="02040503050406030204" pitchFamily="18" charset="0"/>
                                </a:rPr>
                                <m:t>)</m:t>
                              </m:r>
                            </m:e>
                          </m:func>
                        </m:den>
                      </m:f>
                    </m:oMath>
                  </m:oMathPara>
                </a14:m>
                <a:endParaRPr lang="es-ES" sz="1600" dirty="0"/>
              </a:p>
            </p:txBody>
          </p:sp>
        </mc:Choice>
        <mc:Fallback xmlns="">
          <p:sp>
            <p:nvSpPr>
              <p:cNvPr id="2" name="CuadroTexto 1">
                <a:extLst>
                  <a:ext uri="{FF2B5EF4-FFF2-40B4-BE49-F238E27FC236}">
                    <a16:creationId xmlns:a16="http://schemas.microsoft.com/office/drawing/2014/main" id="{4623E108-A708-FF9B-B430-8CE62B49AD72}"/>
                  </a:ext>
                </a:extLst>
              </p:cNvPr>
              <p:cNvSpPr txBox="1">
                <a:spLocks noRot="1" noChangeAspect="1" noMove="1" noResize="1" noEditPoints="1" noAdjustHandles="1" noChangeArrowheads="1" noChangeShapeType="1" noTextEdit="1"/>
              </p:cNvSpPr>
              <p:nvPr/>
            </p:nvSpPr>
            <p:spPr>
              <a:xfrm>
                <a:off x="4452004" y="1668677"/>
                <a:ext cx="1378711" cy="551561"/>
              </a:xfrm>
              <a:prstGeom prst="rect">
                <a:avLst/>
              </a:prstGeom>
              <a:blipFill>
                <a:blip r:embed="rId3"/>
                <a:stretch>
                  <a:fillRect l="-3097" t="-2222" r="-48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3A04830C-2376-B75D-C4A1-28785E898CF5}"/>
                  </a:ext>
                </a:extLst>
              </p:cNvPr>
              <p:cNvSpPr txBox="1"/>
              <p:nvPr/>
            </p:nvSpPr>
            <p:spPr>
              <a:xfrm>
                <a:off x="5818768" y="1528958"/>
                <a:ext cx="6072808" cy="830997"/>
              </a:xfrm>
              <a:prstGeom prst="rect">
                <a:avLst/>
              </a:prstGeom>
              <a:noFill/>
            </p:spPr>
            <p:txBody>
              <a:bodyPr wrap="square">
                <a:spAutoFit/>
              </a:bodyPr>
              <a:lstStyle/>
              <a:p>
                <a:pPr marL="742950" lvl="1" indent="-285750">
                  <a:buFont typeface="Arial" panose="020B0604020202020204" pitchFamily="34" charset="0"/>
                  <a:buChar char="•"/>
                </a:pPr>
                <a14:m>
                  <m:oMath xmlns:m="http://schemas.openxmlformats.org/officeDocument/2006/math">
                    <m:r>
                      <a:rPr lang="es-ES" sz="1600" i="1">
                        <a:solidFill>
                          <a:schemeClr val="accent1">
                            <a:lumMod val="50000"/>
                          </a:schemeClr>
                        </a:solidFill>
                        <a:latin typeface="Cambria Math" panose="02040503050406030204" pitchFamily="18" charset="0"/>
                      </a:rPr>
                      <m:t>𝑝</m:t>
                    </m:r>
                  </m:oMath>
                </a14:m>
                <a:r>
                  <a:rPr lang="es-ES" sz="1600" dirty="0">
                    <a:solidFill>
                      <a:schemeClr val="accent1">
                        <a:lumMod val="50000"/>
                      </a:schemeClr>
                    </a:solidFill>
                  </a:rPr>
                  <a:t> es la distancia media de </a:t>
                </a:r>
                <a:r>
                  <a:rPr lang="es-ES" sz="1600" i="1" dirty="0">
                    <a:solidFill>
                      <a:schemeClr val="accent1">
                        <a:lumMod val="50000"/>
                      </a:schemeClr>
                    </a:solidFill>
                    <a:latin typeface="Cambria Math" panose="02040503050406030204" pitchFamily="18" charset="0"/>
                  </a:rPr>
                  <a:t>x</a:t>
                </a:r>
                <a:r>
                  <a:rPr lang="es-ES" sz="1600" dirty="0">
                    <a:solidFill>
                      <a:schemeClr val="accent1">
                        <a:lumMod val="50000"/>
                      </a:schemeClr>
                    </a:solidFill>
                  </a:rPr>
                  <a:t> a los puntos correspondientes al grupo más cercano que no es el suyo. </a:t>
                </a:r>
              </a:p>
              <a:p>
                <a:pPr marL="742950" lvl="1" indent="-285750">
                  <a:buFont typeface="Arial" panose="020B0604020202020204" pitchFamily="34" charset="0"/>
                  <a:buChar char="•"/>
                </a:pPr>
                <a14:m>
                  <m:oMath xmlns:m="http://schemas.openxmlformats.org/officeDocument/2006/math">
                    <m:r>
                      <a:rPr lang="es-ES" sz="1600" i="1">
                        <a:solidFill>
                          <a:schemeClr val="accent1">
                            <a:lumMod val="50000"/>
                          </a:schemeClr>
                        </a:solidFill>
                        <a:latin typeface="Cambria Math" panose="02040503050406030204" pitchFamily="18" charset="0"/>
                      </a:rPr>
                      <m:t>𝑞</m:t>
                    </m:r>
                  </m:oMath>
                </a14:m>
                <a:r>
                  <a:rPr lang="es-ES" sz="1600" dirty="0">
                    <a:solidFill>
                      <a:schemeClr val="accent1">
                        <a:lumMod val="50000"/>
                      </a:schemeClr>
                    </a:solidFill>
                  </a:rPr>
                  <a:t> es la distancia media de </a:t>
                </a:r>
                <a:r>
                  <a:rPr lang="es-ES" sz="1600" i="1" dirty="0">
                    <a:solidFill>
                      <a:schemeClr val="accent1">
                        <a:lumMod val="50000"/>
                      </a:schemeClr>
                    </a:solidFill>
                    <a:latin typeface="Cambria Math" panose="02040503050406030204" pitchFamily="18" charset="0"/>
                  </a:rPr>
                  <a:t>x</a:t>
                </a:r>
                <a:r>
                  <a:rPr lang="es-ES" sz="1600" dirty="0">
                    <a:solidFill>
                      <a:schemeClr val="accent1">
                        <a:lumMod val="50000"/>
                      </a:schemeClr>
                    </a:solidFill>
                  </a:rPr>
                  <a:t> a los puntos de su propio grupo.</a:t>
                </a:r>
              </a:p>
            </p:txBody>
          </p:sp>
        </mc:Choice>
        <mc:Fallback xmlns="">
          <p:sp>
            <p:nvSpPr>
              <p:cNvPr id="27" name="CuadroTexto 26">
                <a:extLst>
                  <a:ext uri="{FF2B5EF4-FFF2-40B4-BE49-F238E27FC236}">
                    <a16:creationId xmlns:a16="http://schemas.microsoft.com/office/drawing/2014/main" id="{16CE0A46-EF33-35B5-0086-8A1AE58ECE7D}"/>
                  </a:ext>
                </a:extLst>
              </p:cNvPr>
              <p:cNvSpPr txBox="1">
                <a:spLocks noRot="1" noChangeAspect="1" noMove="1" noResize="1" noEditPoints="1" noAdjustHandles="1" noChangeArrowheads="1" noChangeShapeType="1" noTextEdit="1"/>
              </p:cNvSpPr>
              <p:nvPr/>
            </p:nvSpPr>
            <p:spPr>
              <a:xfrm>
                <a:off x="5818768" y="1528958"/>
                <a:ext cx="6072808" cy="830997"/>
              </a:xfrm>
              <a:prstGeom prst="rect">
                <a:avLst/>
              </a:prstGeom>
              <a:blipFill>
                <a:blip r:embed="rId4"/>
                <a:stretch>
                  <a:fillRect t="-3676" b="-8824"/>
                </a:stretch>
              </a:blipFill>
            </p:spPr>
            <p:txBody>
              <a:bodyPr/>
              <a:lstStyle/>
              <a:p>
                <a:r>
                  <a:rPr lang="es-ES">
                    <a:noFill/>
                  </a:rPr>
                  <a:t> </a:t>
                </a:r>
              </a:p>
            </p:txBody>
          </p:sp>
        </mc:Fallback>
      </mc:AlternateContent>
      <p:sp>
        <p:nvSpPr>
          <p:cNvPr id="11" name="CuadroTexto 10">
            <a:extLst>
              <a:ext uri="{FF2B5EF4-FFF2-40B4-BE49-F238E27FC236}">
                <a16:creationId xmlns:a16="http://schemas.microsoft.com/office/drawing/2014/main" id="{EA3FF221-0A03-9A22-4158-2C3AA0727BB7}"/>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pic>
        <p:nvPicPr>
          <p:cNvPr id="6" name="Imagen 5">
            <a:extLst>
              <a:ext uri="{FF2B5EF4-FFF2-40B4-BE49-F238E27FC236}">
                <a16:creationId xmlns:a16="http://schemas.microsoft.com/office/drawing/2014/main" id="{E4B9AB6C-64CB-2AA2-C0B6-63E483C8EF21}"/>
              </a:ext>
            </a:extLst>
          </p:cNvPr>
          <p:cNvPicPr>
            <a:picLocks noChangeAspect="1"/>
          </p:cNvPicPr>
          <p:nvPr/>
        </p:nvPicPr>
        <p:blipFill>
          <a:blip r:embed="rId5"/>
          <a:stretch>
            <a:fillRect/>
          </a:stretch>
        </p:blipFill>
        <p:spPr>
          <a:xfrm>
            <a:off x="173529" y="2802474"/>
            <a:ext cx="5064393" cy="3134315"/>
          </a:xfrm>
          <a:prstGeom prst="rect">
            <a:avLst/>
          </a:prstGeom>
        </p:spPr>
      </p:pic>
      <p:sp>
        <p:nvSpPr>
          <p:cNvPr id="13" name="Rectángulo: esquinas redondeadas 9">
            <a:extLst>
              <a:ext uri="{FF2B5EF4-FFF2-40B4-BE49-F238E27FC236}">
                <a16:creationId xmlns:a16="http://schemas.microsoft.com/office/drawing/2014/main" id="{C3EA0E1B-549C-D016-DF0D-15896CB6101D}"/>
              </a:ext>
            </a:extLst>
          </p:cNvPr>
          <p:cNvSpPr/>
          <p:nvPr/>
        </p:nvSpPr>
        <p:spPr>
          <a:xfrm>
            <a:off x="5364817" y="2667448"/>
            <a:ext cx="6526759" cy="2524683"/>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200" b="1" dirty="0" err="1">
                <a:solidFill>
                  <a:schemeClr val="accent6">
                    <a:lumMod val="75000"/>
                  </a:schemeClr>
                </a:solidFill>
                <a:latin typeface="Courier New" panose="02070309020205020404" pitchFamily="49" charset="0"/>
                <a:cs typeface="Courier New" panose="02070309020205020404" pitchFamily="49" charset="0"/>
              </a:rPr>
              <a:t>from</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sklearn.cluster</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endParaRPr lang="es-ES" sz="1200" dirty="0">
              <a:solidFill>
                <a:schemeClr val="accent1">
                  <a:lumMod val="50000"/>
                </a:schemeClr>
              </a:solidFill>
              <a:latin typeface="Courier New" panose="02070309020205020404" pitchFamily="49" charset="0"/>
              <a:cs typeface="Courier New" panose="02070309020205020404" pitchFamily="49" charset="0"/>
            </a:endParaRPr>
          </a:p>
          <a:p>
            <a:r>
              <a:rPr lang="es-ES" sz="1200" b="1" dirty="0" err="1">
                <a:solidFill>
                  <a:schemeClr val="accent6">
                    <a:lumMod val="75000"/>
                  </a:schemeClr>
                </a:solidFill>
                <a:latin typeface="Courier New" panose="02070309020205020404" pitchFamily="49" charset="0"/>
                <a:cs typeface="Courier New" panose="02070309020205020404" pitchFamily="49" charset="0"/>
              </a:rPr>
              <a:t>from</a:t>
            </a:r>
            <a:r>
              <a:rPr lang="es-ES" sz="1200" b="1" dirty="0">
                <a:solidFill>
                  <a:schemeClr val="accent6">
                    <a:lumMod val="75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sklearn.metrics</a:t>
            </a:r>
            <a:r>
              <a:rPr lang="es-ES" sz="1200" b="1" dirty="0">
                <a:solidFill>
                  <a:schemeClr val="accent6">
                    <a:lumMod val="75000"/>
                  </a:schemeClr>
                </a:solidFill>
                <a:latin typeface="Courier New" panose="02070309020205020404" pitchFamily="49" charset="0"/>
                <a:cs typeface="Courier New" panose="02070309020205020404" pitchFamily="49" charset="0"/>
              </a:rPr>
              <a:t> </a:t>
            </a:r>
            <a:r>
              <a:rPr lang="es-ES" sz="12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200" b="1" dirty="0">
                <a:solidFill>
                  <a:schemeClr val="accent6">
                    <a:lumMod val="75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silhouette_samples</a:t>
            </a:r>
            <a:r>
              <a:rPr lang="es-ES" sz="1200" b="1" dirty="0">
                <a:solidFill>
                  <a:schemeClr val="accent6">
                    <a:lumMod val="75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silhouette_score</a:t>
            </a:r>
            <a:endParaRPr lang="es-ES" sz="1200" dirty="0">
              <a:solidFill>
                <a:schemeClr val="accent1">
                  <a:lumMod val="50000"/>
                </a:schemeClr>
              </a:solidFill>
              <a:latin typeface="Courier New" panose="02070309020205020404" pitchFamily="49" charset="0"/>
              <a:cs typeface="Courier New" panose="02070309020205020404" pitchFamily="49" charset="0"/>
            </a:endParaRPr>
          </a:p>
          <a:p>
            <a:r>
              <a:rPr lang="es-ES" sz="1200" b="1" dirty="0">
                <a:solidFill>
                  <a:schemeClr val="accent6">
                    <a:lumMod val="75000"/>
                  </a:schemeClr>
                </a:solidFill>
                <a:latin typeface="Courier New" panose="02070309020205020404" pitchFamily="49" charset="0"/>
                <a:cs typeface="Courier New" panose="02070309020205020404" pitchFamily="49" charset="0"/>
              </a:rPr>
              <a:t>…</a:t>
            </a:r>
          </a:p>
          <a:p>
            <a:endParaRPr lang="es-ES" sz="1200" b="1" dirty="0">
              <a:solidFill>
                <a:schemeClr val="accent6">
                  <a:lumMod val="75000"/>
                </a:schemeClr>
              </a:solidFill>
              <a:latin typeface="Courier New" panose="02070309020205020404" pitchFamily="49" charset="0"/>
              <a:cs typeface="Courier New" panose="02070309020205020404" pitchFamily="49" charset="0"/>
            </a:endParaRPr>
          </a:p>
          <a:p>
            <a:r>
              <a:rPr lang="es-ES" sz="1200" dirty="0" err="1">
                <a:solidFill>
                  <a:schemeClr val="accent1">
                    <a:lumMod val="50000"/>
                  </a:schemeClr>
                </a:solidFill>
                <a:latin typeface="Courier New" panose="02070309020205020404" pitchFamily="49" charset="0"/>
                <a:cs typeface="Courier New" panose="02070309020205020404" pitchFamily="49" charset="0"/>
              </a:rPr>
              <a:t>num_cluster</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dirty="0" err="1">
                <a:solidFill>
                  <a:schemeClr val="accent1">
                    <a:lumMod val="50000"/>
                  </a:schemeClr>
                </a:solidFill>
                <a:latin typeface="Courier New" panose="02070309020205020404" pitchFamily="49" charset="0"/>
                <a:cs typeface="Courier New" panose="02070309020205020404" pitchFamily="49" charset="0"/>
              </a:rPr>
              <a:t>list</a:t>
            </a:r>
            <a:r>
              <a:rPr lang="es-ES" sz="1200" dirty="0">
                <a:solidFill>
                  <a:schemeClr val="accent1">
                    <a:lumMod val="50000"/>
                  </a:schemeClr>
                </a:solidFill>
                <a:latin typeface="Courier New" panose="02070309020205020404" pitchFamily="49" charset="0"/>
                <a:cs typeface="Courier New" panose="02070309020205020404" pitchFamily="49" charset="0"/>
              </a:rPr>
              <a:t>(</a:t>
            </a:r>
            <a:r>
              <a:rPr lang="es-ES" sz="1200" dirty="0" err="1">
                <a:solidFill>
                  <a:schemeClr val="accent1">
                    <a:lumMod val="50000"/>
                  </a:schemeClr>
                </a:solidFill>
                <a:latin typeface="Courier New" panose="02070309020205020404" pitchFamily="49" charset="0"/>
                <a:cs typeface="Courier New" panose="02070309020205020404" pitchFamily="49" charset="0"/>
              </a:rPr>
              <a:t>range</a:t>
            </a:r>
            <a:r>
              <a:rPr lang="es-ES" sz="1200" dirty="0">
                <a:solidFill>
                  <a:schemeClr val="accent1">
                    <a:lumMod val="50000"/>
                  </a:schemeClr>
                </a:solidFill>
                <a:latin typeface="Courier New" panose="02070309020205020404" pitchFamily="49" charset="0"/>
                <a:cs typeface="Courier New" panose="02070309020205020404" pitchFamily="49" charset="0"/>
              </a:rPr>
              <a:t>(</a:t>
            </a:r>
            <a:r>
              <a:rPr lang="es-ES" sz="1200" b="1" dirty="0">
                <a:solidFill>
                  <a:schemeClr val="accent6">
                    <a:lumMod val="75000"/>
                  </a:schemeClr>
                </a:solidFill>
                <a:latin typeface="Courier New" panose="02070309020205020404" pitchFamily="49" charset="0"/>
                <a:cs typeface="Courier New" panose="02070309020205020404" pitchFamily="49" charset="0"/>
              </a:rPr>
              <a:t>1,15</a:t>
            </a:r>
            <a:r>
              <a:rPr lang="es-ES" sz="1200" dirty="0">
                <a:solidFill>
                  <a:schemeClr val="accent1">
                    <a:lumMod val="50000"/>
                  </a:schemeClr>
                </a:solidFill>
                <a:latin typeface="Courier New" panose="02070309020205020404" pitchFamily="49" charset="0"/>
                <a:cs typeface="Courier New" panose="02070309020205020404" pitchFamily="49" charset="0"/>
              </a:rPr>
              <a:t>))</a:t>
            </a:r>
          </a:p>
          <a:p>
            <a:r>
              <a:rPr lang="es-ES" sz="1200" dirty="0" err="1">
                <a:solidFill>
                  <a:schemeClr val="accent1">
                    <a:lumMod val="50000"/>
                  </a:schemeClr>
                </a:solidFill>
                <a:latin typeface="Courier New" panose="02070309020205020404" pitchFamily="49" charset="0"/>
                <a:cs typeface="Courier New" panose="02070309020205020404" pitchFamily="49" charset="0"/>
              </a:rPr>
              <a:t>wcss</a:t>
            </a:r>
            <a:r>
              <a:rPr lang="es-ES" sz="1200" dirty="0">
                <a:solidFill>
                  <a:schemeClr val="accent1">
                    <a:lumMod val="50000"/>
                  </a:schemeClr>
                </a:solidFill>
                <a:latin typeface="Courier New" panose="02070309020205020404" pitchFamily="49" charset="0"/>
                <a:cs typeface="Courier New" panose="02070309020205020404" pitchFamily="49" charset="0"/>
              </a:rPr>
              <a:t> = [] </a:t>
            </a:r>
          </a:p>
          <a:p>
            <a:r>
              <a:rPr lang="es-ES" sz="1200" b="1" dirty="0" err="1">
                <a:solidFill>
                  <a:schemeClr val="accent6">
                    <a:lumMod val="75000"/>
                  </a:schemeClr>
                </a:solidFill>
                <a:latin typeface="Courier New" panose="02070309020205020404" pitchFamily="49" charset="0"/>
                <a:cs typeface="Courier New" panose="02070309020205020404" pitchFamily="49" charset="0"/>
              </a:rPr>
              <a:t>for</a:t>
            </a:r>
            <a:r>
              <a:rPr lang="es-ES" sz="1200" dirty="0">
                <a:solidFill>
                  <a:schemeClr val="accent1">
                    <a:lumMod val="50000"/>
                  </a:schemeClr>
                </a:solidFill>
                <a:latin typeface="Courier New" panose="02070309020205020404" pitchFamily="49" charset="0"/>
                <a:cs typeface="Courier New" panose="02070309020205020404" pitchFamily="49" charset="0"/>
              </a:rPr>
              <a:t> i </a:t>
            </a:r>
            <a:r>
              <a:rPr lang="es-ES" sz="1200" b="1" dirty="0">
                <a:solidFill>
                  <a:schemeClr val="accent6">
                    <a:lumMod val="75000"/>
                  </a:schemeClr>
                </a:solidFill>
                <a:latin typeface="Courier New" panose="02070309020205020404" pitchFamily="49" charset="0"/>
                <a:cs typeface="Courier New" panose="02070309020205020404" pitchFamily="49" charset="0"/>
              </a:rPr>
              <a:t>in</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num_cluster</a:t>
            </a:r>
            <a:r>
              <a:rPr lang="es-ES" sz="1200" dirty="0">
                <a:solidFill>
                  <a:schemeClr val="accent1">
                    <a:lumMod val="50000"/>
                  </a:schemeClr>
                </a:solidFill>
                <a:latin typeface="Courier New" panose="02070309020205020404" pitchFamily="49" charset="0"/>
                <a:cs typeface="Courier New" panose="02070309020205020404" pitchFamily="49" charset="0"/>
              </a:rPr>
              <a:t>:     </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r>
              <a:rPr lang="es-ES" sz="1200" dirty="0">
                <a:solidFill>
                  <a:schemeClr val="accent1">
                    <a:lumMod val="50000"/>
                  </a:schemeClr>
                </a:solidFill>
                <a:latin typeface="Courier New" panose="02070309020205020404" pitchFamily="49" charset="0"/>
                <a:cs typeface="Courier New" panose="02070309020205020404" pitchFamily="49" charset="0"/>
              </a:rPr>
              <a:t>(</a:t>
            </a:r>
            <a:r>
              <a:rPr lang="es-ES" sz="1200" dirty="0" err="1">
                <a:solidFill>
                  <a:schemeClr val="accent1">
                    <a:lumMod val="50000"/>
                  </a:schemeClr>
                </a:solidFill>
                <a:latin typeface="Courier New" panose="02070309020205020404" pitchFamily="49" charset="0"/>
                <a:cs typeface="Courier New" panose="02070309020205020404" pitchFamily="49" charset="0"/>
              </a:rPr>
              <a:t>n_clusters</a:t>
            </a:r>
            <a:r>
              <a:rPr lang="es-ES" sz="1200" dirty="0">
                <a:solidFill>
                  <a:schemeClr val="accent1">
                    <a:lumMod val="50000"/>
                  </a:schemeClr>
                </a:solidFill>
                <a:latin typeface="Courier New" panose="02070309020205020404" pitchFamily="49" charset="0"/>
                <a:cs typeface="Courier New" panose="02070309020205020404" pitchFamily="49" charset="0"/>
              </a:rPr>
              <a:t> = i, </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random_state</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b="1" dirty="0">
                <a:solidFill>
                  <a:schemeClr val="accent6">
                    <a:lumMod val="75000"/>
                  </a:schemeClr>
                </a:solidFill>
                <a:latin typeface="Courier New" panose="02070309020205020404" pitchFamily="49" charset="0"/>
                <a:cs typeface="Courier New" panose="02070309020205020404" pitchFamily="49" charset="0"/>
              </a:rPr>
              <a:t>42</a:t>
            </a:r>
            <a:r>
              <a:rPr lang="es-ES" sz="1200" dirty="0">
                <a:solidFill>
                  <a:schemeClr val="accent1">
                    <a:lumMod val="50000"/>
                  </a:schemeClr>
                </a:solidFill>
                <a:latin typeface="Courier New" panose="02070309020205020404" pitchFamily="49" charset="0"/>
                <a:cs typeface="Courier New" panose="02070309020205020404" pitchFamily="49" charset="0"/>
              </a:rPr>
              <a:t>)</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labels</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r>
              <a:rPr lang="es-ES" sz="1200" dirty="0" err="1">
                <a:solidFill>
                  <a:schemeClr val="tx1"/>
                </a:solidFill>
                <a:latin typeface="Courier New" panose="02070309020205020404" pitchFamily="49" charset="0"/>
                <a:cs typeface="Courier New" panose="02070309020205020404" pitchFamily="49" charset="0"/>
              </a:rPr>
              <a:t>.fit_predict</a:t>
            </a:r>
            <a:r>
              <a:rPr lang="es-ES" sz="1200" dirty="0">
                <a:solidFill>
                  <a:schemeClr val="accent1">
                    <a:lumMod val="50000"/>
                  </a:schemeClr>
                </a:solidFill>
                <a:latin typeface="Courier New" panose="02070309020205020404" pitchFamily="49" charset="0"/>
                <a:cs typeface="Courier New" panose="02070309020205020404" pitchFamily="49" charset="0"/>
              </a:rPr>
              <a:t>(data)     	</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silhouette_avg</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b="1" dirty="0" err="1">
                <a:solidFill>
                  <a:schemeClr val="accent1">
                    <a:lumMod val="50000"/>
                  </a:schemeClr>
                </a:solidFill>
                <a:latin typeface="Courier New" panose="02070309020205020404" pitchFamily="49" charset="0"/>
                <a:cs typeface="Courier New" panose="02070309020205020404" pitchFamily="49" charset="0"/>
              </a:rPr>
              <a:t>silhouette_score</a:t>
            </a:r>
            <a:r>
              <a:rPr lang="es-ES" sz="1200" dirty="0">
                <a:solidFill>
                  <a:schemeClr val="accent1">
                    <a:lumMod val="50000"/>
                  </a:schemeClr>
                </a:solidFill>
                <a:latin typeface="Courier New" panose="02070309020205020404" pitchFamily="49" charset="0"/>
                <a:cs typeface="Courier New" panose="02070309020205020404" pitchFamily="49" charset="0"/>
              </a:rPr>
              <a:t>(X, </a:t>
            </a:r>
            <a:r>
              <a:rPr lang="es-ES" sz="1200" dirty="0" err="1">
                <a:solidFill>
                  <a:schemeClr val="accent1">
                    <a:lumMod val="50000"/>
                  </a:schemeClr>
                </a:solidFill>
                <a:latin typeface="Courier New" panose="02070309020205020404" pitchFamily="49" charset="0"/>
                <a:cs typeface="Courier New" panose="02070309020205020404" pitchFamily="49" charset="0"/>
              </a:rPr>
              <a:t>cluster_labels</a:t>
            </a:r>
            <a:r>
              <a:rPr lang="es-ES" sz="1200" dirty="0">
                <a:solidFill>
                  <a:schemeClr val="accent1">
                    <a:lumMod val="50000"/>
                  </a:schemeClr>
                </a:solidFill>
                <a:latin typeface="Courier New" panose="02070309020205020404" pitchFamily="49" charset="0"/>
                <a:cs typeface="Courier New" panose="02070309020205020404" pitchFamily="49" charset="0"/>
              </a:rPr>
              <a:t>)</a:t>
            </a:r>
          </a:p>
        </p:txBody>
      </p:sp>
      <p:sp>
        <p:nvSpPr>
          <p:cNvPr id="7" name="Rectángulo 6">
            <a:extLst>
              <a:ext uri="{FF2B5EF4-FFF2-40B4-BE49-F238E27FC236}">
                <a16:creationId xmlns:a16="http://schemas.microsoft.com/office/drawing/2014/main" id="{EB551712-5329-6D7F-F5CC-A3FC124DA27C}"/>
              </a:ext>
            </a:extLst>
          </p:cNvPr>
          <p:cNvSpPr/>
          <p:nvPr/>
        </p:nvSpPr>
        <p:spPr>
          <a:xfrm>
            <a:off x="5364817" y="5369363"/>
            <a:ext cx="6701287" cy="1323439"/>
          </a:xfrm>
          <a:prstGeom prst="rect">
            <a:avLst/>
          </a:prstGeom>
        </p:spPr>
        <p:txBody>
          <a:bodyPr wrap="square">
            <a:spAutoFit/>
          </a:bodyPr>
          <a:lstStyle/>
          <a:p>
            <a:pPr lvl="0" eaLnBrk="0" fontAlgn="base" hangingPunct="0">
              <a:spcBef>
                <a:spcPct val="0"/>
              </a:spcBef>
              <a:spcAft>
                <a:spcPct val="0"/>
              </a:spcAft>
            </a:pPr>
            <a:r>
              <a:rPr lang="es-ES" altLang="es-ES" sz="1600" dirty="0" err="1">
                <a:solidFill>
                  <a:schemeClr val="accent1">
                    <a:lumMod val="50000"/>
                  </a:schemeClr>
                </a:solidFill>
              </a:rPr>
              <a:t>For</a:t>
            </a:r>
            <a:r>
              <a:rPr lang="es-ES" altLang="es-ES" sz="1600" dirty="0">
                <a:solidFill>
                  <a:schemeClr val="accent1">
                    <a:lumMod val="50000"/>
                  </a:schemeClr>
                </a:solidFill>
              </a:rPr>
              <a:t> </a:t>
            </a:r>
            <a:r>
              <a:rPr lang="es-ES" altLang="es-ES" sz="1600" dirty="0" err="1">
                <a:solidFill>
                  <a:schemeClr val="accent1">
                    <a:lumMod val="50000"/>
                  </a:schemeClr>
                </a:solidFill>
              </a:rPr>
              <a:t>n_clusters</a:t>
            </a:r>
            <a:r>
              <a:rPr lang="es-ES" altLang="es-ES" sz="1600" dirty="0">
                <a:solidFill>
                  <a:schemeClr val="accent1">
                    <a:lumMod val="50000"/>
                  </a:schemeClr>
                </a:solidFill>
              </a:rPr>
              <a:t> = 2 </a:t>
            </a:r>
            <a:r>
              <a:rPr lang="es-ES" altLang="es-ES" sz="1600" dirty="0" err="1">
                <a:solidFill>
                  <a:schemeClr val="accent1">
                    <a:lumMod val="50000"/>
                  </a:schemeClr>
                </a:solidFill>
              </a:rPr>
              <a:t>The</a:t>
            </a:r>
            <a:r>
              <a:rPr lang="es-ES" altLang="es-ES" sz="1600" dirty="0">
                <a:solidFill>
                  <a:schemeClr val="accent1">
                    <a:lumMod val="50000"/>
                  </a:schemeClr>
                </a:solidFill>
              </a:rPr>
              <a:t> </a:t>
            </a:r>
            <a:r>
              <a:rPr lang="es-ES" altLang="es-ES" sz="1600" dirty="0" err="1">
                <a:solidFill>
                  <a:schemeClr val="accent1">
                    <a:lumMod val="50000"/>
                  </a:schemeClr>
                </a:solidFill>
              </a:rPr>
              <a:t>average</a:t>
            </a:r>
            <a:r>
              <a:rPr lang="es-ES" altLang="es-ES" sz="1600" dirty="0">
                <a:solidFill>
                  <a:schemeClr val="accent1">
                    <a:lumMod val="50000"/>
                  </a:schemeClr>
                </a:solidFill>
              </a:rPr>
              <a:t> </a:t>
            </a:r>
            <a:r>
              <a:rPr lang="es-ES" altLang="es-ES" sz="1600" dirty="0" err="1">
                <a:solidFill>
                  <a:schemeClr val="accent1">
                    <a:lumMod val="50000"/>
                  </a:schemeClr>
                </a:solidFill>
              </a:rPr>
              <a:t>silhouette_score</a:t>
            </a:r>
            <a:r>
              <a:rPr lang="es-ES" altLang="es-ES" sz="1600" dirty="0">
                <a:solidFill>
                  <a:schemeClr val="accent1">
                    <a:lumMod val="50000"/>
                  </a:schemeClr>
                </a:solidFill>
              </a:rPr>
              <a:t> </a:t>
            </a:r>
            <a:r>
              <a:rPr lang="es-ES" altLang="es-ES" sz="1600" dirty="0" err="1">
                <a:solidFill>
                  <a:schemeClr val="accent1">
                    <a:lumMod val="50000"/>
                  </a:schemeClr>
                </a:solidFill>
              </a:rPr>
              <a:t>is</a:t>
            </a:r>
            <a:r>
              <a:rPr lang="es-ES" altLang="es-ES" sz="1600" dirty="0">
                <a:solidFill>
                  <a:schemeClr val="accent1">
                    <a:lumMod val="50000"/>
                  </a:schemeClr>
                </a:solidFill>
              </a:rPr>
              <a:t> : 0.6768373972275579 </a:t>
            </a:r>
          </a:p>
          <a:p>
            <a:pPr lvl="0" eaLnBrk="0" fontAlgn="base" hangingPunct="0">
              <a:spcBef>
                <a:spcPct val="0"/>
              </a:spcBef>
              <a:spcAft>
                <a:spcPct val="0"/>
              </a:spcAft>
            </a:pPr>
            <a:r>
              <a:rPr lang="es-ES" altLang="es-ES" sz="1600" b="1" dirty="0" err="1">
                <a:solidFill>
                  <a:schemeClr val="accent1">
                    <a:lumMod val="50000"/>
                  </a:schemeClr>
                </a:solidFill>
              </a:rPr>
              <a:t>For</a:t>
            </a:r>
            <a:r>
              <a:rPr lang="es-ES" altLang="es-ES" sz="1600" b="1" dirty="0">
                <a:solidFill>
                  <a:schemeClr val="accent1">
                    <a:lumMod val="50000"/>
                  </a:schemeClr>
                </a:solidFill>
              </a:rPr>
              <a:t> </a:t>
            </a:r>
            <a:r>
              <a:rPr lang="es-ES" altLang="es-ES" sz="1600" b="1" dirty="0" err="1">
                <a:solidFill>
                  <a:schemeClr val="accent1">
                    <a:lumMod val="50000"/>
                  </a:schemeClr>
                </a:solidFill>
              </a:rPr>
              <a:t>n_clusters</a:t>
            </a:r>
            <a:r>
              <a:rPr lang="es-ES" altLang="es-ES" sz="1600" b="1" dirty="0">
                <a:solidFill>
                  <a:schemeClr val="accent1">
                    <a:lumMod val="50000"/>
                  </a:schemeClr>
                </a:solidFill>
              </a:rPr>
              <a:t> = 3 </a:t>
            </a:r>
            <a:r>
              <a:rPr lang="es-ES" altLang="es-ES" sz="1600" b="1" dirty="0" err="1">
                <a:solidFill>
                  <a:schemeClr val="accent1">
                    <a:lumMod val="50000"/>
                  </a:schemeClr>
                </a:solidFill>
              </a:rPr>
              <a:t>The</a:t>
            </a:r>
            <a:r>
              <a:rPr lang="es-ES" altLang="es-ES" sz="1600" b="1" dirty="0">
                <a:solidFill>
                  <a:schemeClr val="accent1">
                    <a:lumMod val="50000"/>
                  </a:schemeClr>
                </a:solidFill>
              </a:rPr>
              <a:t> </a:t>
            </a:r>
            <a:r>
              <a:rPr lang="es-ES" altLang="es-ES" sz="1600" b="1" dirty="0" err="1">
                <a:solidFill>
                  <a:schemeClr val="accent1">
                    <a:lumMod val="50000"/>
                  </a:schemeClr>
                </a:solidFill>
              </a:rPr>
              <a:t>average</a:t>
            </a:r>
            <a:r>
              <a:rPr lang="es-ES" altLang="es-ES" sz="1600" b="1" dirty="0">
                <a:solidFill>
                  <a:schemeClr val="accent1">
                    <a:lumMod val="50000"/>
                  </a:schemeClr>
                </a:solidFill>
              </a:rPr>
              <a:t> </a:t>
            </a:r>
            <a:r>
              <a:rPr lang="es-ES" altLang="es-ES" sz="1600" b="1" dirty="0" err="1">
                <a:solidFill>
                  <a:schemeClr val="accent1">
                    <a:lumMod val="50000"/>
                  </a:schemeClr>
                </a:solidFill>
              </a:rPr>
              <a:t>silhouette_score</a:t>
            </a:r>
            <a:r>
              <a:rPr lang="es-ES" altLang="es-ES" sz="1600" b="1" dirty="0">
                <a:solidFill>
                  <a:schemeClr val="accent1">
                    <a:lumMod val="50000"/>
                  </a:schemeClr>
                </a:solidFill>
              </a:rPr>
              <a:t> </a:t>
            </a:r>
            <a:r>
              <a:rPr lang="es-ES" altLang="es-ES" sz="1600" b="1" dirty="0" err="1">
                <a:solidFill>
                  <a:schemeClr val="accent1">
                    <a:lumMod val="50000"/>
                  </a:schemeClr>
                </a:solidFill>
              </a:rPr>
              <a:t>is</a:t>
            </a:r>
            <a:r>
              <a:rPr lang="es-ES" altLang="es-ES" sz="1600" b="1" dirty="0">
                <a:solidFill>
                  <a:schemeClr val="accent1">
                    <a:lumMod val="50000"/>
                  </a:schemeClr>
                </a:solidFill>
              </a:rPr>
              <a:t> : 0.7417215720827383 </a:t>
            </a:r>
          </a:p>
          <a:p>
            <a:pPr lvl="0" eaLnBrk="0" fontAlgn="base" hangingPunct="0">
              <a:spcBef>
                <a:spcPct val="0"/>
              </a:spcBef>
              <a:spcAft>
                <a:spcPct val="0"/>
              </a:spcAft>
            </a:pPr>
            <a:r>
              <a:rPr lang="es-ES" altLang="es-ES" sz="1600" dirty="0" err="1">
                <a:solidFill>
                  <a:schemeClr val="accent1">
                    <a:lumMod val="50000"/>
                  </a:schemeClr>
                </a:solidFill>
              </a:rPr>
              <a:t>For</a:t>
            </a:r>
            <a:r>
              <a:rPr lang="es-ES" altLang="es-ES" sz="1600" dirty="0">
                <a:solidFill>
                  <a:schemeClr val="accent1">
                    <a:lumMod val="50000"/>
                  </a:schemeClr>
                </a:solidFill>
              </a:rPr>
              <a:t> </a:t>
            </a:r>
            <a:r>
              <a:rPr lang="es-ES" altLang="es-ES" sz="1600" dirty="0" err="1">
                <a:solidFill>
                  <a:schemeClr val="accent1">
                    <a:lumMod val="50000"/>
                  </a:schemeClr>
                </a:solidFill>
              </a:rPr>
              <a:t>n_clusters</a:t>
            </a:r>
            <a:r>
              <a:rPr lang="es-ES" altLang="es-ES" sz="1600" dirty="0">
                <a:solidFill>
                  <a:schemeClr val="accent1">
                    <a:lumMod val="50000"/>
                  </a:schemeClr>
                </a:solidFill>
              </a:rPr>
              <a:t> = 4 </a:t>
            </a:r>
            <a:r>
              <a:rPr lang="es-ES" altLang="es-ES" sz="1600" dirty="0" err="1">
                <a:solidFill>
                  <a:schemeClr val="accent1">
                    <a:lumMod val="50000"/>
                  </a:schemeClr>
                </a:solidFill>
              </a:rPr>
              <a:t>The</a:t>
            </a:r>
            <a:r>
              <a:rPr lang="es-ES" altLang="es-ES" sz="1600" dirty="0">
                <a:solidFill>
                  <a:schemeClr val="accent1">
                    <a:lumMod val="50000"/>
                  </a:schemeClr>
                </a:solidFill>
              </a:rPr>
              <a:t> </a:t>
            </a:r>
            <a:r>
              <a:rPr lang="es-ES" altLang="es-ES" sz="1600" dirty="0" err="1">
                <a:solidFill>
                  <a:schemeClr val="accent1">
                    <a:lumMod val="50000"/>
                  </a:schemeClr>
                </a:solidFill>
              </a:rPr>
              <a:t>average</a:t>
            </a:r>
            <a:r>
              <a:rPr lang="es-ES" altLang="es-ES" sz="1600" dirty="0">
                <a:solidFill>
                  <a:schemeClr val="accent1">
                    <a:lumMod val="50000"/>
                  </a:schemeClr>
                </a:solidFill>
              </a:rPr>
              <a:t> </a:t>
            </a:r>
            <a:r>
              <a:rPr lang="es-ES" altLang="es-ES" sz="1600" dirty="0" err="1">
                <a:solidFill>
                  <a:schemeClr val="accent1">
                    <a:lumMod val="50000"/>
                  </a:schemeClr>
                </a:solidFill>
              </a:rPr>
              <a:t>silhouette_score</a:t>
            </a:r>
            <a:r>
              <a:rPr lang="es-ES" altLang="es-ES" sz="1600" dirty="0">
                <a:solidFill>
                  <a:schemeClr val="accent1">
                    <a:lumMod val="50000"/>
                  </a:schemeClr>
                </a:solidFill>
              </a:rPr>
              <a:t> </a:t>
            </a:r>
            <a:r>
              <a:rPr lang="es-ES" altLang="es-ES" sz="1600" dirty="0" err="1">
                <a:solidFill>
                  <a:schemeClr val="accent1">
                    <a:lumMod val="50000"/>
                  </a:schemeClr>
                </a:solidFill>
              </a:rPr>
              <a:t>is</a:t>
            </a:r>
            <a:r>
              <a:rPr lang="es-ES" altLang="es-ES" sz="1600" dirty="0">
                <a:solidFill>
                  <a:schemeClr val="accent1">
                    <a:lumMod val="50000"/>
                  </a:schemeClr>
                </a:solidFill>
              </a:rPr>
              <a:t> : 0.6463589049792018 </a:t>
            </a:r>
          </a:p>
          <a:p>
            <a:pPr lvl="0" eaLnBrk="0" fontAlgn="base" hangingPunct="0">
              <a:spcBef>
                <a:spcPct val="0"/>
              </a:spcBef>
              <a:spcAft>
                <a:spcPct val="0"/>
              </a:spcAft>
            </a:pPr>
            <a:r>
              <a:rPr lang="es-ES" altLang="es-ES" sz="1600" dirty="0" err="1">
                <a:solidFill>
                  <a:schemeClr val="accent1">
                    <a:lumMod val="50000"/>
                  </a:schemeClr>
                </a:solidFill>
              </a:rPr>
              <a:t>For</a:t>
            </a:r>
            <a:r>
              <a:rPr lang="es-ES" altLang="es-ES" sz="1600" dirty="0">
                <a:solidFill>
                  <a:schemeClr val="accent1">
                    <a:lumMod val="50000"/>
                  </a:schemeClr>
                </a:solidFill>
              </a:rPr>
              <a:t> </a:t>
            </a:r>
            <a:r>
              <a:rPr lang="es-ES" altLang="es-ES" sz="1600" dirty="0" err="1">
                <a:solidFill>
                  <a:schemeClr val="accent1">
                    <a:lumMod val="50000"/>
                  </a:schemeClr>
                </a:solidFill>
              </a:rPr>
              <a:t>n_clusters</a:t>
            </a:r>
            <a:r>
              <a:rPr lang="es-ES" altLang="es-ES" sz="1600" dirty="0">
                <a:solidFill>
                  <a:schemeClr val="accent1">
                    <a:lumMod val="50000"/>
                  </a:schemeClr>
                </a:solidFill>
              </a:rPr>
              <a:t> = 5 </a:t>
            </a:r>
            <a:r>
              <a:rPr lang="es-ES" altLang="es-ES" sz="1600" dirty="0" err="1">
                <a:solidFill>
                  <a:schemeClr val="accent1">
                    <a:lumMod val="50000"/>
                  </a:schemeClr>
                </a:solidFill>
              </a:rPr>
              <a:t>The</a:t>
            </a:r>
            <a:r>
              <a:rPr lang="es-ES" altLang="es-ES" sz="1600" dirty="0">
                <a:solidFill>
                  <a:schemeClr val="accent1">
                    <a:lumMod val="50000"/>
                  </a:schemeClr>
                </a:solidFill>
              </a:rPr>
              <a:t> </a:t>
            </a:r>
            <a:r>
              <a:rPr lang="es-ES" altLang="es-ES" sz="1600" dirty="0" err="1">
                <a:solidFill>
                  <a:schemeClr val="accent1">
                    <a:lumMod val="50000"/>
                  </a:schemeClr>
                </a:solidFill>
              </a:rPr>
              <a:t>average</a:t>
            </a:r>
            <a:r>
              <a:rPr lang="es-ES" altLang="es-ES" sz="1600" dirty="0">
                <a:solidFill>
                  <a:schemeClr val="accent1">
                    <a:lumMod val="50000"/>
                  </a:schemeClr>
                </a:solidFill>
              </a:rPr>
              <a:t> </a:t>
            </a:r>
            <a:r>
              <a:rPr lang="es-ES" altLang="es-ES" sz="1600" dirty="0" err="1">
                <a:solidFill>
                  <a:schemeClr val="accent1">
                    <a:lumMod val="50000"/>
                  </a:schemeClr>
                </a:solidFill>
              </a:rPr>
              <a:t>silhouette_score</a:t>
            </a:r>
            <a:r>
              <a:rPr lang="es-ES" altLang="es-ES" sz="1600" dirty="0">
                <a:solidFill>
                  <a:schemeClr val="accent1">
                    <a:lumMod val="50000"/>
                  </a:schemeClr>
                </a:solidFill>
              </a:rPr>
              <a:t> </a:t>
            </a:r>
            <a:r>
              <a:rPr lang="es-ES" altLang="es-ES" sz="1600" dirty="0" err="1">
                <a:solidFill>
                  <a:schemeClr val="accent1">
                    <a:lumMod val="50000"/>
                  </a:schemeClr>
                </a:solidFill>
              </a:rPr>
              <a:t>is</a:t>
            </a:r>
            <a:r>
              <a:rPr lang="es-ES" altLang="es-ES" sz="1600" dirty="0">
                <a:solidFill>
                  <a:schemeClr val="accent1">
                    <a:lumMod val="50000"/>
                  </a:schemeClr>
                </a:solidFill>
              </a:rPr>
              <a:t> : 0.5747041706492425 </a:t>
            </a:r>
          </a:p>
          <a:p>
            <a:pPr lvl="0" eaLnBrk="0" fontAlgn="base" hangingPunct="0">
              <a:spcBef>
                <a:spcPct val="0"/>
              </a:spcBef>
              <a:spcAft>
                <a:spcPct val="0"/>
              </a:spcAft>
            </a:pPr>
            <a:r>
              <a:rPr lang="es-ES" altLang="es-ES" sz="1600" dirty="0" err="1">
                <a:solidFill>
                  <a:schemeClr val="accent1">
                    <a:lumMod val="50000"/>
                  </a:schemeClr>
                </a:solidFill>
              </a:rPr>
              <a:t>For</a:t>
            </a:r>
            <a:r>
              <a:rPr lang="es-ES" altLang="es-ES" sz="1600" dirty="0">
                <a:solidFill>
                  <a:schemeClr val="accent1">
                    <a:lumMod val="50000"/>
                  </a:schemeClr>
                </a:solidFill>
              </a:rPr>
              <a:t> </a:t>
            </a:r>
            <a:r>
              <a:rPr lang="es-ES" altLang="es-ES" sz="1600" dirty="0" err="1">
                <a:solidFill>
                  <a:schemeClr val="accent1">
                    <a:lumMod val="50000"/>
                  </a:schemeClr>
                </a:solidFill>
              </a:rPr>
              <a:t>n_clusters</a:t>
            </a:r>
            <a:r>
              <a:rPr lang="es-ES" altLang="es-ES" sz="1600" dirty="0">
                <a:solidFill>
                  <a:schemeClr val="accent1">
                    <a:lumMod val="50000"/>
                  </a:schemeClr>
                </a:solidFill>
              </a:rPr>
              <a:t> = 6 </a:t>
            </a:r>
            <a:r>
              <a:rPr lang="es-ES" altLang="es-ES" sz="1600" dirty="0" err="1">
                <a:solidFill>
                  <a:schemeClr val="accent1">
                    <a:lumMod val="50000"/>
                  </a:schemeClr>
                </a:solidFill>
              </a:rPr>
              <a:t>The</a:t>
            </a:r>
            <a:r>
              <a:rPr lang="es-ES" altLang="es-ES" sz="1600" dirty="0">
                <a:solidFill>
                  <a:schemeClr val="accent1">
                    <a:lumMod val="50000"/>
                  </a:schemeClr>
                </a:solidFill>
              </a:rPr>
              <a:t> </a:t>
            </a:r>
            <a:r>
              <a:rPr lang="es-ES" altLang="es-ES" sz="1600" dirty="0" err="1">
                <a:solidFill>
                  <a:schemeClr val="accent1">
                    <a:lumMod val="50000"/>
                  </a:schemeClr>
                </a:solidFill>
              </a:rPr>
              <a:t>average</a:t>
            </a:r>
            <a:r>
              <a:rPr lang="es-ES" altLang="es-ES" sz="1600" dirty="0">
                <a:solidFill>
                  <a:schemeClr val="accent1">
                    <a:lumMod val="50000"/>
                  </a:schemeClr>
                </a:solidFill>
              </a:rPr>
              <a:t> </a:t>
            </a:r>
            <a:r>
              <a:rPr lang="es-ES" altLang="es-ES" sz="1600" dirty="0" err="1">
                <a:solidFill>
                  <a:schemeClr val="accent1">
                    <a:lumMod val="50000"/>
                  </a:schemeClr>
                </a:solidFill>
              </a:rPr>
              <a:t>silhouette_score</a:t>
            </a:r>
            <a:r>
              <a:rPr lang="es-ES" altLang="es-ES" sz="1600" dirty="0">
                <a:solidFill>
                  <a:schemeClr val="accent1">
                    <a:lumMod val="50000"/>
                  </a:schemeClr>
                </a:solidFill>
              </a:rPr>
              <a:t> </a:t>
            </a:r>
            <a:r>
              <a:rPr lang="es-ES" altLang="es-ES" sz="1600" dirty="0" err="1">
                <a:solidFill>
                  <a:schemeClr val="accent1">
                    <a:lumMod val="50000"/>
                  </a:schemeClr>
                </a:solidFill>
              </a:rPr>
              <a:t>is</a:t>
            </a:r>
            <a:r>
              <a:rPr lang="es-ES" altLang="es-ES" sz="1600" dirty="0">
                <a:solidFill>
                  <a:schemeClr val="accent1">
                    <a:lumMod val="50000"/>
                  </a:schemeClr>
                </a:solidFill>
              </a:rPr>
              <a:t> : 0.4572936810133809 </a:t>
            </a:r>
          </a:p>
        </p:txBody>
      </p:sp>
    </p:spTree>
    <p:extLst>
      <p:ext uri="{BB962C8B-B14F-4D97-AF65-F5344CB8AC3E}">
        <p14:creationId xmlns:p14="http://schemas.microsoft.com/office/powerpoint/2010/main" val="36987598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4286E82-FF38-1057-622F-02244AD16F2B}"/>
              </a:ext>
            </a:extLst>
          </p:cNvPr>
          <p:cNvSpPr txBox="1"/>
          <p:nvPr/>
        </p:nvSpPr>
        <p:spPr>
          <a:xfrm>
            <a:off x="300424" y="371039"/>
            <a:ext cx="11849741" cy="1446550"/>
          </a:xfrm>
          <a:prstGeom prst="rect">
            <a:avLst/>
          </a:prstGeom>
          <a:noFill/>
        </p:spPr>
        <p:txBody>
          <a:bodyPr wrap="square" rtlCol="0">
            <a:spAutoFit/>
          </a:bodyPr>
          <a:lstStyle/>
          <a:p>
            <a:r>
              <a:rPr lang="es-ES" sz="2000" dirty="0">
                <a:solidFill>
                  <a:schemeClr val="accent1">
                    <a:lumMod val="50000"/>
                  </a:schemeClr>
                </a:solidFill>
              </a:rPr>
              <a:t>Número óptimo de grupos:</a:t>
            </a:r>
          </a:p>
          <a:p>
            <a:endParaRPr lang="es-ES" sz="2000" dirty="0">
              <a:solidFill>
                <a:schemeClr val="accent1">
                  <a:lumMod val="50000"/>
                </a:schemeClr>
              </a:solidFill>
            </a:endParaRPr>
          </a:p>
          <a:p>
            <a:r>
              <a:rPr lang="es-ES" sz="1600" b="1" dirty="0">
                <a:solidFill>
                  <a:schemeClr val="accent1">
                    <a:lumMod val="50000"/>
                  </a:schemeClr>
                </a:solidFill>
              </a:rPr>
              <a:t>Método de la Silueta (</a:t>
            </a:r>
            <a:r>
              <a:rPr lang="es-ES" sz="1600" b="1" dirty="0" err="1">
                <a:solidFill>
                  <a:schemeClr val="accent1">
                    <a:lumMod val="50000"/>
                  </a:schemeClr>
                </a:solidFill>
              </a:rPr>
              <a:t>Silhouette</a:t>
            </a:r>
            <a:r>
              <a:rPr lang="es-ES" sz="1600" b="1" dirty="0">
                <a:solidFill>
                  <a:schemeClr val="accent1">
                    <a:lumMod val="50000"/>
                  </a:schemeClr>
                </a:solidFill>
              </a:rPr>
              <a:t> </a:t>
            </a:r>
            <a:r>
              <a:rPr lang="es-ES" sz="1600" b="1" dirty="0" err="1">
                <a:solidFill>
                  <a:schemeClr val="accent1">
                    <a:lumMod val="50000"/>
                  </a:schemeClr>
                </a:solidFill>
              </a:rPr>
              <a:t>Method</a:t>
            </a:r>
            <a:r>
              <a:rPr lang="es-ES" sz="1600" b="1" dirty="0">
                <a:solidFill>
                  <a:schemeClr val="accent1">
                    <a:lumMod val="50000"/>
                  </a:schemeClr>
                </a:solidFill>
              </a:rPr>
              <a:t>):</a:t>
            </a:r>
            <a:endParaRPr lang="es-ES" sz="1600" dirty="0">
              <a:solidFill>
                <a:schemeClr val="accent1">
                  <a:lumMod val="50000"/>
                </a:schemeClr>
              </a:solidFill>
            </a:endParaRPr>
          </a:p>
          <a:p>
            <a:endParaRPr lang="es-ES" sz="1600" dirty="0">
              <a:solidFill>
                <a:schemeClr val="accent1">
                  <a:lumMod val="50000"/>
                </a:schemeClr>
              </a:solidFill>
              <a:highlight>
                <a:srgbClr val="FFFFFF"/>
              </a:highlight>
            </a:endParaRPr>
          </a:p>
          <a:p>
            <a:endParaRPr lang="es-ES" sz="1600" dirty="0">
              <a:solidFill>
                <a:schemeClr val="accent1">
                  <a:lumMod val="50000"/>
                </a:schemeClr>
              </a:solidFill>
              <a:highlight>
                <a:srgbClr val="FFFFFF"/>
              </a:highlight>
            </a:endParaRPr>
          </a:p>
        </p:txBody>
      </p:sp>
      <p:sp>
        <p:nvSpPr>
          <p:cNvPr id="4" name="Marcador de número de diapositiva 1">
            <a:extLst>
              <a:ext uri="{FF2B5EF4-FFF2-40B4-BE49-F238E27FC236}">
                <a16:creationId xmlns:a16="http://schemas.microsoft.com/office/drawing/2014/main" id="{2B676A0C-B311-06E8-FDDC-70C2E1F562AD}"/>
              </a:ext>
            </a:extLst>
          </p:cNvPr>
          <p:cNvSpPr>
            <a:spLocks noGrp="1"/>
          </p:cNvSpPr>
          <p:nvPr>
            <p:ph type="sldNum" sz="quarter" idx="12"/>
          </p:nvPr>
        </p:nvSpPr>
        <p:spPr>
          <a:xfrm>
            <a:off x="8610600" y="6356352"/>
            <a:ext cx="2743200" cy="365125"/>
          </a:xfrm>
        </p:spPr>
        <p:txBody>
          <a:bodyPr/>
          <a:lstStyle/>
          <a:p>
            <a:fld id="{5104FCC0-1602-4E53-A4A9-B84AD752D31B}" type="slidenum">
              <a:rPr lang="es-ES" smtClean="0">
                <a:solidFill>
                  <a:prstClr val="black">
                    <a:tint val="75000"/>
                  </a:prstClr>
                </a:solidFill>
              </a:rPr>
              <a:pPr/>
              <a:t>26</a:t>
            </a:fld>
            <a:endParaRPr lang="es-ES" dirty="0">
              <a:solidFill>
                <a:prstClr val="black">
                  <a:tint val="75000"/>
                </a:prstClr>
              </a:solidFill>
            </a:endParaRPr>
          </a:p>
        </p:txBody>
      </p:sp>
      <p:sp>
        <p:nvSpPr>
          <p:cNvPr id="11" name="CuadroTexto 10">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13" name="Rectángulo: esquinas redondeadas 9">
            <a:extLst>
              <a:ext uri="{FF2B5EF4-FFF2-40B4-BE49-F238E27FC236}">
                <a16:creationId xmlns:a16="http://schemas.microsoft.com/office/drawing/2014/main" id="{F367520B-F947-2678-6EAB-027B8A95BC94}"/>
              </a:ext>
            </a:extLst>
          </p:cNvPr>
          <p:cNvSpPr/>
          <p:nvPr/>
        </p:nvSpPr>
        <p:spPr>
          <a:xfrm>
            <a:off x="258589" y="1372521"/>
            <a:ext cx="6708741" cy="2195627"/>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200" b="1" dirty="0" err="1">
                <a:solidFill>
                  <a:schemeClr val="accent6">
                    <a:lumMod val="75000"/>
                  </a:schemeClr>
                </a:solidFill>
                <a:latin typeface="Courier New" panose="02070309020205020404" pitchFamily="49" charset="0"/>
                <a:cs typeface="Courier New" panose="02070309020205020404" pitchFamily="49" charset="0"/>
              </a:rPr>
              <a:t>from</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sklearn.cluster</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endParaRPr lang="es-ES" sz="1200" dirty="0">
              <a:solidFill>
                <a:schemeClr val="accent1">
                  <a:lumMod val="50000"/>
                </a:schemeClr>
              </a:solidFill>
              <a:latin typeface="Courier New" panose="02070309020205020404" pitchFamily="49" charset="0"/>
              <a:cs typeface="Courier New" panose="02070309020205020404" pitchFamily="49" charset="0"/>
            </a:endParaRPr>
          </a:p>
          <a:p>
            <a:r>
              <a:rPr lang="es-ES" sz="1200" b="1" dirty="0" err="1">
                <a:solidFill>
                  <a:schemeClr val="accent6">
                    <a:lumMod val="75000"/>
                  </a:schemeClr>
                </a:solidFill>
                <a:latin typeface="Courier New" panose="02070309020205020404" pitchFamily="49" charset="0"/>
                <a:cs typeface="Courier New" panose="02070309020205020404" pitchFamily="49" charset="0"/>
              </a:rPr>
              <a:t>from</a:t>
            </a:r>
            <a:r>
              <a:rPr lang="es-ES" sz="1200" b="1" dirty="0">
                <a:solidFill>
                  <a:schemeClr val="accent6">
                    <a:lumMod val="75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sklearn.metrics</a:t>
            </a:r>
            <a:r>
              <a:rPr lang="es-ES" sz="1200" b="1" dirty="0">
                <a:solidFill>
                  <a:schemeClr val="accent6">
                    <a:lumMod val="75000"/>
                  </a:schemeClr>
                </a:solidFill>
                <a:latin typeface="Courier New" panose="02070309020205020404" pitchFamily="49" charset="0"/>
                <a:cs typeface="Courier New" panose="02070309020205020404" pitchFamily="49" charset="0"/>
              </a:rPr>
              <a:t> </a:t>
            </a:r>
            <a:r>
              <a:rPr lang="es-ES" sz="12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200" b="1" dirty="0">
                <a:solidFill>
                  <a:schemeClr val="accent6">
                    <a:lumMod val="75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silhouette_samples</a:t>
            </a:r>
            <a:r>
              <a:rPr lang="es-ES" sz="1200" b="1" dirty="0">
                <a:solidFill>
                  <a:schemeClr val="accent6">
                    <a:lumMod val="75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silhouette_score</a:t>
            </a:r>
            <a:endParaRPr lang="es-ES" sz="1200" dirty="0">
              <a:solidFill>
                <a:schemeClr val="accent1">
                  <a:lumMod val="50000"/>
                </a:schemeClr>
              </a:solidFill>
              <a:latin typeface="Courier New" panose="02070309020205020404" pitchFamily="49" charset="0"/>
              <a:cs typeface="Courier New" panose="02070309020205020404" pitchFamily="49" charset="0"/>
            </a:endParaRPr>
          </a:p>
          <a:p>
            <a:r>
              <a:rPr lang="es-ES" sz="1200" b="1" dirty="0">
                <a:solidFill>
                  <a:schemeClr val="accent6">
                    <a:lumMod val="75000"/>
                  </a:schemeClr>
                </a:solidFill>
                <a:latin typeface="Courier New" panose="02070309020205020404" pitchFamily="49" charset="0"/>
                <a:cs typeface="Courier New" panose="02070309020205020404" pitchFamily="49" charset="0"/>
              </a:rPr>
              <a:t>…</a:t>
            </a:r>
          </a:p>
          <a:p>
            <a:r>
              <a:rPr lang="es-ES" sz="1200" dirty="0" err="1">
                <a:solidFill>
                  <a:schemeClr val="accent1">
                    <a:lumMod val="50000"/>
                  </a:schemeClr>
                </a:solidFill>
                <a:latin typeface="Courier New" panose="02070309020205020404" pitchFamily="49" charset="0"/>
                <a:cs typeface="Courier New" panose="02070309020205020404" pitchFamily="49" charset="0"/>
              </a:rPr>
              <a:t>num_cluster</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dirty="0" err="1">
                <a:solidFill>
                  <a:schemeClr val="accent1">
                    <a:lumMod val="50000"/>
                  </a:schemeClr>
                </a:solidFill>
                <a:latin typeface="Courier New" panose="02070309020205020404" pitchFamily="49" charset="0"/>
                <a:cs typeface="Courier New" panose="02070309020205020404" pitchFamily="49" charset="0"/>
              </a:rPr>
              <a:t>list</a:t>
            </a:r>
            <a:r>
              <a:rPr lang="es-ES" sz="1200" dirty="0">
                <a:solidFill>
                  <a:schemeClr val="accent1">
                    <a:lumMod val="50000"/>
                  </a:schemeClr>
                </a:solidFill>
                <a:latin typeface="Courier New" panose="02070309020205020404" pitchFamily="49" charset="0"/>
                <a:cs typeface="Courier New" panose="02070309020205020404" pitchFamily="49" charset="0"/>
              </a:rPr>
              <a:t>(</a:t>
            </a:r>
            <a:r>
              <a:rPr lang="es-ES" sz="1200" dirty="0" err="1">
                <a:solidFill>
                  <a:schemeClr val="accent1">
                    <a:lumMod val="50000"/>
                  </a:schemeClr>
                </a:solidFill>
                <a:latin typeface="Courier New" panose="02070309020205020404" pitchFamily="49" charset="0"/>
                <a:cs typeface="Courier New" panose="02070309020205020404" pitchFamily="49" charset="0"/>
              </a:rPr>
              <a:t>range</a:t>
            </a:r>
            <a:r>
              <a:rPr lang="es-ES" sz="1200" dirty="0">
                <a:solidFill>
                  <a:schemeClr val="accent1">
                    <a:lumMod val="50000"/>
                  </a:schemeClr>
                </a:solidFill>
                <a:latin typeface="Courier New" panose="02070309020205020404" pitchFamily="49" charset="0"/>
                <a:cs typeface="Courier New" panose="02070309020205020404" pitchFamily="49" charset="0"/>
              </a:rPr>
              <a:t>(</a:t>
            </a:r>
            <a:r>
              <a:rPr lang="es-ES" sz="1200" b="1" dirty="0">
                <a:solidFill>
                  <a:schemeClr val="accent6">
                    <a:lumMod val="75000"/>
                  </a:schemeClr>
                </a:solidFill>
                <a:latin typeface="Courier New" panose="02070309020205020404" pitchFamily="49" charset="0"/>
                <a:cs typeface="Courier New" panose="02070309020205020404" pitchFamily="49" charset="0"/>
              </a:rPr>
              <a:t>1,15</a:t>
            </a:r>
            <a:r>
              <a:rPr lang="es-ES" sz="1200" dirty="0">
                <a:solidFill>
                  <a:schemeClr val="accent1">
                    <a:lumMod val="50000"/>
                  </a:schemeClr>
                </a:solidFill>
                <a:latin typeface="Courier New" panose="02070309020205020404" pitchFamily="49" charset="0"/>
                <a:cs typeface="Courier New" panose="02070309020205020404" pitchFamily="49" charset="0"/>
              </a:rPr>
              <a:t>))</a:t>
            </a:r>
          </a:p>
          <a:p>
            <a:r>
              <a:rPr lang="es-ES" sz="1200" dirty="0" err="1">
                <a:solidFill>
                  <a:schemeClr val="accent1">
                    <a:lumMod val="50000"/>
                  </a:schemeClr>
                </a:solidFill>
                <a:latin typeface="Courier New" panose="02070309020205020404" pitchFamily="49" charset="0"/>
                <a:cs typeface="Courier New" panose="02070309020205020404" pitchFamily="49" charset="0"/>
              </a:rPr>
              <a:t>wcss</a:t>
            </a:r>
            <a:r>
              <a:rPr lang="es-ES" sz="1200" dirty="0">
                <a:solidFill>
                  <a:schemeClr val="accent1">
                    <a:lumMod val="50000"/>
                  </a:schemeClr>
                </a:solidFill>
                <a:latin typeface="Courier New" panose="02070309020205020404" pitchFamily="49" charset="0"/>
                <a:cs typeface="Courier New" panose="02070309020205020404" pitchFamily="49" charset="0"/>
              </a:rPr>
              <a:t> = [] </a:t>
            </a:r>
          </a:p>
          <a:p>
            <a:r>
              <a:rPr lang="es-ES" sz="1200" b="1" dirty="0" err="1">
                <a:solidFill>
                  <a:schemeClr val="accent6">
                    <a:lumMod val="75000"/>
                  </a:schemeClr>
                </a:solidFill>
                <a:latin typeface="Courier New" panose="02070309020205020404" pitchFamily="49" charset="0"/>
                <a:cs typeface="Courier New" panose="02070309020205020404" pitchFamily="49" charset="0"/>
              </a:rPr>
              <a:t>for</a:t>
            </a:r>
            <a:r>
              <a:rPr lang="es-ES" sz="1200" dirty="0">
                <a:solidFill>
                  <a:schemeClr val="accent1">
                    <a:lumMod val="50000"/>
                  </a:schemeClr>
                </a:solidFill>
                <a:latin typeface="Courier New" panose="02070309020205020404" pitchFamily="49" charset="0"/>
                <a:cs typeface="Courier New" panose="02070309020205020404" pitchFamily="49" charset="0"/>
              </a:rPr>
              <a:t> i </a:t>
            </a:r>
            <a:r>
              <a:rPr lang="es-ES" sz="1200" b="1" dirty="0">
                <a:solidFill>
                  <a:schemeClr val="accent6">
                    <a:lumMod val="75000"/>
                  </a:schemeClr>
                </a:solidFill>
                <a:latin typeface="Courier New" panose="02070309020205020404" pitchFamily="49" charset="0"/>
                <a:cs typeface="Courier New" panose="02070309020205020404" pitchFamily="49" charset="0"/>
              </a:rPr>
              <a:t>in</a:t>
            </a:r>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num_cluster</a:t>
            </a:r>
            <a:r>
              <a:rPr lang="es-ES" sz="1200" dirty="0">
                <a:solidFill>
                  <a:schemeClr val="accent1">
                    <a:lumMod val="50000"/>
                  </a:schemeClr>
                </a:solidFill>
                <a:latin typeface="Courier New" panose="02070309020205020404" pitchFamily="49" charset="0"/>
                <a:cs typeface="Courier New" panose="02070309020205020404" pitchFamily="49" charset="0"/>
              </a:rPr>
              <a:t>:     </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r>
              <a:rPr lang="es-ES" sz="1200" dirty="0">
                <a:solidFill>
                  <a:schemeClr val="accent1">
                    <a:lumMod val="50000"/>
                  </a:schemeClr>
                </a:solidFill>
                <a:latin typeface="Courier New" panose="02070309020205020404" pitchFamily="49" charset="0"/>
                <a:cs typeface="Courier New" panose="02070309020205020404" pitchFamily="49" charset="0"/>
              </a:rPr>
              <a:t>(</a:t>
            </a:r>
            <a:r>
              <a:rPr lang="es-ES" sz="1200" dirty="0" err="1">
                <a:solidFill>
                  <a:schemeClr val="accent1">
                    <a:lumMod val="50000"/>
                  </a:schemeClr>
                </a:solidFill>
                <a:latin typeface="Courier New" panose="02070309020205020404" pitchFamily="49" charset="0"/>
                <a:cs typeface="Courier New" panose="02070309020205020404" pitchFamily="49" charset="0"/>
              </a:rPr>
              <a:t>n_clusters</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dirty="0" err="1">
                <a:solidFill>
                  <a:schemeClr val="accent1">
                    <a:lumMod val="50000"/>
                  </a:schemeClr>
                </a:solidFill>
                <a:latin typeface="Courier New" panose="02070309020205020404" pitchFamily="49" charset="0"/>
                <a:cs typeface="Courier New" panose="02070309020205020404" pitchFamily="49" charset="0"/>
              </a:rPr>
              <a:t>i,random_state</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b="1" dirty="0">
                <a:solidFill>
                  <a:schemeClr val="accent6">
                    <a:lumMod val="75000"/>
                  </a:schemeClr>
                </a:solidFill>
                <a:latin typeface="Courier New" panose="02070309020205020404" pitchFamily="49" charset="0"/>
                <a:cs typeface="Courier New" panose="02070309020205020404" pitchFamily="49" charset="0"/>
              </a:rPr>
              <a:t>42</a:t>
            </a:r>
            <a:r>
              <a:rPr lang="es-ES" sz="1200" dirty="0">
                <a:solidFill>
                  <a:schemeClr val="accent1">
                    <a:lumMod val="50000"/>
                  </a:schemeClr>
                </a:solidFill>
                <a:latin typeface="Courier New" panose="02070309020205020404" pitchFamily="49" charset="0"/>
                <a:cs typeface="Courier New" panose="02070309020205020404" pitchFamily="49" charset="0"/>
              </a:rPr>
              <a:t>)</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labels</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dirty="0" err="1">
                <a:solidFill>
                  <a:schemeClr val="accent1">
                    <a:lumMod val="50000"/>
                  </a:schemeClr>
                </a:solidFill>
                <a:latin typeface="Courier New" panose="02070309020205020404" pitchFamily="49" charset="0"/>
                <a:cs typeface="Courier New" panose="02070309020205020404" pitchFamily="49" charset="0"/>
              </a:rPr>
              <a:t>kmeans</a:t>
            </a:r>
            <a:r>
              <a:rPr lang="es-ES" sz="1200" dirty="0" err="1">
                <a:solidFill>
                  <a:schemeClr val="tx1"/>
                </a:solidFill>
                <a:latin typeface="Courier New" panose="02070309020205020404" pitchFamily="49" charset="0"/>
                <a:cs typeface="Courier New" panose="02070309020205020404" pitchFamily="49" charset="0"/>
              </a:rPr>
              <a:t>.fit_predict</a:t>
            </a:r>
            <a:r>
              <a:rPr lang="es-ES" sz="1200" dirty="0">
                <a:solidFill>
                  <a:schemeClr val="accent1">
                    <a:lumMod val="50000"/>
                  </a:schemeClr>
                </a:solidFill>
                <a:latin typeface="Courier New" panose="02070309020205020404" pitchFamily="49" charset="0"/>
                <a:cs typeface="Courier New" panose="02070309020205020404" pitchFamily="49" charset="0"/>
              </a:rPr>
              <a:t>(data) </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silhouette_avg</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b="1" dirty="0" err="1">
                <a:solidFill>
                  <a:schemeClr val="accent1">
                    <a:lumMod val="50000"/>
                  </a:schemeClr>
                </a:solidFill>
                <a:latin typeface="Courier New" panose="02070309020205020404" pitchFamily="49" charset="0"/>
                <a:cs typeface="Courier New" panose="02070309020205020404" pitchFamily="49" charset="0"/>
              </a:rPr>
              <a:t>silhouette_score</a:t>
            </a:r>
            <a:r>
              <a:rPr lang="es-ES" sz="1200" dirty="0">
                <a:solidFill>
                  <a:schemeClr val="accent1">
                    <a:lumMod val="50000"/>
                  </a:schemeClr>
                </a:solidFill>
                <a:latin typeface="Courier New" panose="02070309020205020404" pitchFamily="49" charset="0"/>
                <a:cs typeface="Courier New" panose="02070309020205020404" pitchFamily="49" charset="0"/>
              </a:rPr>
              <a:t>(X, </a:t>
            </a:r>
            <a:r>
              <a:rPr lang="es-ES" sz="1200" dirty="0" err="1">
                <a:solidFill>
                  <a:schemeClr val="accent1">
                    <a:lumMod val="50000"/>
                  </a:schemeClr>
                </a:solidFill>
                <a:latin typeface="Courier New" panose="02070309020205020404" pitchFamily="49" charset="0"/>
                <a:cs typeface="Courier New" panose="02070309020205020404" pitchFamily="49" charset="0"/>
              </a:rPr>
              <a:t>cluster_labels</a:t>
            </a:r>
            <a:r>
              <a:rPr lang="es-ES" sz="1200" dirty="0">
                <a:solidFill>
                  <a:schemeClr val="accent1">
                    <a:lumMod val="50000"/>
                  </a:schemeClr>
                </a:solidFill>
                <a:latin typeface="Courier New" panose="02070309020205020404" pitchFamily="49" charset="0"/>
                <a:cs typeface="Courier New" panose="02070309020205020404" pitchFamily="49" charset="0"/>
              </a:rPr>
              <a:t>)</a:t>
            </a:r>
          </a:p>
          <a:p>
            <a:r>
              <a:rPr lang="es-ES" sz="1200" dirty="0">
                <a:solidFill>
                  <a:schemeClr val="accent1">
                    <a:lumMod val="50000"/>
                  </a:schemeClr>
                </a:solidFill>
                <a:latin typeface="Courier New" panose="02070309020205020404" pitchFamily="49" charset="0"/>
                <a:cs typeface="Courier New" panose="02070309020205020404" pitchFamily="49" charset="0"/>
              </a:rPr>
              <a:t>     </a:t>
            </a:r>
            <a:r>
              <a:rPr lang="es-ES" sz="1200" dirty="0" err="1">
                <a:solidFill>
                  <a:schemeClr val="accent1">
                    <a:lumMod val="50000"/>
                  </a:schemeClr>
                </a:solidFill>
                <a:latin typeface="Courier New" panose="02070309020205020404" pitchFamily="49" charset="0"/>
                <a:cs typeface="Courier New" panose="02070309020205020404" pitchFamily="49" charset="0"/>
              </a:rPr>
              <a:t>sample_silhouette_values</a:t>
            </a:r>
            <a:r>
              <a:rPr lang="es-ES" sz="1200" dirty="0">
                <a:solidFill>
                  <a:schemeClr val="accent1">
                    <a:lumMod val="50000"/>
                  </a:schemeClr>
                </a:solidFill>
                <a:latin typeface="Courier New" panose="02070309020205020404" pitchFamily="49" charset="0"/>
                <a:cs typeface="Courier New" panose="02070309020205020404" pitchFamily="49" charset="0"/>
              </a:rPr>
              <a:t> = </a:t>
            </a:r>
            <a:r>
              <a:rPr lang="es-ES" sz="1200" b="1" dirty="0" err="1">
                <a:solidFill>
                  <a:schemeClr val="accent1">
                    <a:lumMod val="50000"/>
                  </a:schemeClr>
                </a:solidFill>
                <a:latin typeface="Courier New" panose="02070309020205020404" pitchFamily="49" charset="0"/>
                <a:cs typeface="Courier New" panose="02070309020205020404" pitchFamily="49" charset="0"/>
              </a:rPr>
              <a:t>silhouette_samples</a:t>
            </a:r>
            <a:r>
              <a:rPr lang="es-ES" sz="1200" dirty="0">
                <a:solidFill>
                  <a:schemeClr val="accent1">
                    <a:lumMod val="50000"/>
                  </a:schemeClr>
                </a:solidFill>
                <a:latin typeface="Courier New" panose="02070309020205020404" pitchFamily="49" charset="0"/>
                <a:cs typeface="Courier New" panose="02070309020205020404" pitchFamily="49" charset="0"/>
              </a:rPr>
              <a:t>(X, </a:t>
            </a:r>
            <a:r>
              <a:rPr lang="es-ES" sz="1200" dirty="0" err="1">
                <a:solidFill>
                  <a:schemeClr val="accent1">
                    <a:lumMod val="50000"/>
                  </a:schemeClr>
                </a:solidFill>
                <a:latin typeface="Courier New" panose="02070309020205020404" pitchFamily="49" charset="0"/>
                <a:cs typeface="Courier New" panose="02070309020205020404" pitchFamily="49" charset="0"/>
              </a:rPr>
              <a:t>cluster_labels</a:t>
            </a:r>
            <a:r>
              <a:rPr lang="es-ES" sz="1200" dirty="0">
                <a:solidFill>
                  <a:schemeClr val="accent1">
                    <a:lumMod val="50000"/>
                  </a:schemeClr>
                </a:solidFill>
                <a:latin typeface="Courier New" panose="02070309020205020404" pitchFamily="49" charset="0"/>
                <a:cs typeface="Courier New" panose="02070309020205020404" pitchFamily="49" charset="0"/>
              </a:rPr>
              <a:t>)</a:t>
            </a:r>
          </a:p>
        </p:txBody>
      </p:sp>
      <p:pic>
        <p:nvPicPr>
          <p:cNvPr id="8" name="Imagen 7"/>
          <p:cNvPicPr>
            <a:picLocks noChangeAspect="1"/>
          </p:cNvPicPr>
          <p:nvPr/>
        </p:nvPicPr>
        <p:blipFill>
          <a:blip r:embed="rId2"/>
          <a:stretch>
            <a:fillRect/>
          </a:stretch>
        </p:blipFill>
        <p:spPr>
          <a:xfrm>
            <a:off x="3461067" y="3663636"/>
            <a:ext cx="8584924" cy="3057841"/>
          </a:xfrm>
          <a:prstGeom prst="rect">
            <a:avLst/>
          </a:prstGeom>
        </p:spPr>
      </p:pic>
      <p:sp>
        <p:nvSpPr>
          <p:cNvPr id="12" name="Rectángulo: esquinas redondeadas 30">
            <a:extLst>
              <a:ext uri="{FF2B5EF4-FFF2-40B4-BE49-F238E27FC236}">
                <a16:creationId xmlns:a16="http://schemas.microsoft.com/office/drawing/2014/main" id="{A97A2075-0C07-5F80-978B-3D794F7636E4}"/>
              </a:ext>
            </a:extLst>
          </p:cNvPr>
          <p:cNvSpPr/>
          <p:nvPr/>
        </p:nvSpPr>
        <p:spPr>
          <a:xfrm>
            <a:off x="1152940" y="4762386"/>
            <a:ext cx="1997765" cy="753831"/>
          </a:xfrm>
          <a:prstGeom prst="roundRect">
            <a:avLst>
              <a:gd name="adj" fmla="val 11262"/>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accent1">
                    <a:lumMod val="50000"/>
                  </a:schemeClr>
                </a:solidFill>
              </a:rPr>
              <a:t>Valores</a:t>
            </a:r>
            <a:r>
              <a:rPr lang="en-US" sz="1400" dirty="0">
                <a:solidFill>
                  <a:schemeClr val="accent1">
                    <a:lumMod val="50000"/>
                  </a:schemeClr>
                </a:solidFill>
              </a:rPr>
              <a:t> </a:t>
            </a:r>
            <a:r>
              <a:rPr lang="en-US" sz="1400" dirty="0" err="1">
                <a:solidFill>
                  <a:schemeClr val="accent1">
                    <a:lumMod val="50000"/>
                  </a:schemeClr>
                </a:solidFill>
              </a:rPr>
              <a:t>ordenados</a:t>
            </a:r>
            <a:r>
              <a:rPr lang="en-US" sz="1400" dirty="0">
                <a:solidFill>
                  <a:schemeClr val="accent1">
                    <a:lumMod val="50000"/>
                  </a:schemeClr>
                </a:solidFill>
              </a:rPr>
              <a:t> de SSC para </a:t>
            </a:r>
            <a:r>
              <a:rPr lang="en-US" sz="1400" dirty="0" err="1">
                <a:solidFill>
                  <a:schemeClr val="accent1">
                    <a:lumMod val="50000"/>
                  </a:schemeClr>
                </a:solidFill>
              </a:rPr>
              <a:t>cada</a:t>
            </a:r>
            <a:r>
              <a:rPr lang="en-US" sz="1400" dirty="0">
                <a:solidFill>
                  <a:schemeClr val="accent1">
                    <a:lumMod val="50000"/>
                  </a:schemeClr>
                </a:solidFill>
              </a:rPr>
              <a:t> </a:t>
            </a:r>
            <a:r>
              <a:rPr lang="en-US" sz="1400" dirty="0" err="1">
                <a:solidFill>
                  <a:schemeClr val="accent1">
                    <a:lumMod val="50000"/>
                  </a:schemeClr>
                </a:solidFill>
              </a:rPr>
              <a:t>punto</a:t>
            </a:r>
            <a:r>
              <a:rPr lang="en-US" sz="1400" dirty="0">
                <a:solidFill>
                  <a:schemeClr val="accent1">
                    <a:lumMod val="50000"/>
                  </a:schemeClr>
                </a:solidFill>
              </a:rPr>
              <a:t> </a:t>
            </a:r>
            <a:r>
              <a:rPr lang="en-US" sz="1400" dirty="0" err="1">
                <a:solidFill>
                  <a:schemeClr val="accent1">
                    <a:lumMod val="50000"/>
                  </a:schemeClr>
                </a:solidFill>
              </a:rPr>
              <a:t>dentro</a:t>
            </a:r>
            <a:r>
              <a:rPr lang="en-US" sz="1400" dirty="0">
                <a:solidFill>
                  <a:schemeClr val="accent1">
                    <a:lumMod val="50000"/>
                  </a:schemeClr>
                </a:solidFill>
              </a:rPr>
              <a:t> de </a:t>
            </a:r>
            <a:r>
              <a:rPr lang="en-US" sz="1400" dirty="0" err="1">
                <a:solidFill>
                  <a:schemeClr val="accent1">
                    <a:lumMod val="50000"/>
                  </a:schemeClr>
                </a:solidFill>
              </a:rPr>
              <a:t>cada</a:t>
            </a:r>
            <a:r>
              <a:rPr lang="en-US" sz="1400" dirty="0">
                <a:solidFill>
                  <a:schemeClr val="accent1">
                    <a:lumMod val="50000"/>
                  </a:schemeClr>
                </a:solidFill>
              </a:rPr>
              <a:t> cluster. </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623E108-A708-FF9B-B430-8CE62B49AD72}"/>
                  </a:ext>
                </a:extLst>
              </p:cNvPr>
              <p:cNvSpPr txBox="1"/>
              <p:nvPr/>
            </p:nvSpPr>
            <p:spPr>
              <a:xfrm>
                <a:off x="1504623" y="5635827"/>
                <a:ext cx="1200842" cy="4825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ES" sz="1400" b="0" i="0" smtClean="0">
                          <a:solidFill>
                            <a:schemeClr val="accent1">
                              <a:lumMod val="50000"/>
                            </a:schemeClr>
                          </a:solidFill>
                        </a:rPr>
                        <m:t>SSC</m:t>
                      </m:r>
                      <m:r>
                        <m:rPr>
                          <m:nor/>
                        </m:rPr>
                        <a:rPr lang="es-ES" sz="1400" b="0" i="0" smtClean="0">
                          <a:solidFill>
                            <a:schemeClr val="accent1">
                              <a:lumMod val="50000"/>
                            </a:schemeClr>
                          </a:solidFill>
                        </a:rPr>
                        <m:t> =</m:t>
                      </m:r>
                      <m:f>
                        <m:fPr>
                          <m:ctrlPr>
                            <a:rPr lang="es-ES" sz="1400" b="0" i="1" smtClean="0">
                              <a:solidFill>
                                <a:schemeClr val="accent1">
                                  <a:lumMod val="50000"/>
                                </a:schemeClr>
                              </a:solidFill>
                              <a:latin typeface="Cambria Math" panose="02040503050406030204" pitchFamily="18" charset="0"/>
                            </a:rPr>
                          </m:ctrlPr>
                        </m:fPr>
                        <m:num>
                          <m:r>
                            <a:rPr lang="es-ES" sz="1400" b="0" i="1" smtClean="0">
                              <a:solidFill>
                                <a:schemeClr val="accent1">
                                  <a:lumMod val="50000"/>
                                </a:schemeClr>
                              </a:solidFill>
                              <a:latin typeface="Cambria Math" panose="02040503050406030204" pitchFamily="18" charset="0"/>
                            </a:rPr>
                            <m:t>𝑝</m:t>
                          </m:r>
                          <m:r>
                            <a:rPr lang="es-ES" sz="1400" b="0" i="1" smtClean="0">
                              <a:solidFill>
                                <a:schemeClr val="accent1">
                                  <a:lumMod val="50000"/>
                                </a:schemeClr>
                              </a:solidFill>
                              <a:latin typeface="Cambria Math" panose="02040503050406030204" pitchFamily="18" charset="0"/>
                            </a:rPr>
                            <m:t>−</m:t>
                          </m:r>
                          <m:r>
                            <a:rPr lang="es-ES" sz="1400" b="0" i="1" smtClean="0">
                              <a:solidFill>
                                <a:schemeClr val="accent1">
                                  <a:lumMod val="50000"/>
                                </a:schemeClr>
                              </a:solidFill>
                              <a:latin typeface="Cambria Math" panose="02040503050406030204" pitchFamily="18" charset="0"/>
                            </a:rPr>
                            <m:t>𝑞</m:t>
                          </m:r>
                        </m:num>
                        <m:den>
                          <m:func>
                            <m:funcPr>
                              <m:ctrlPr>
                                <a:rPr lang="es-ES" sz="1400" b="0" i="1" smtClean="0">
                                  <a:solidFill>
                                    <a:schemeClr val="accent1">
                                      <a:lumMod val="50000"/>
                                    </a:schemeClr>
                                  </a:solidFill>
                                  <a:latin typeface="Cambria Math" panose="02040503050406030204" pitchFamily="18" charset="0"/>
                                </a:rPr>
                              </m:ctrlPr>
                            </m:funcPr>
                            <m:fName>
                              <m:limLow>
                                <m:limLowPr>
                                  <m:ctrlPr>
                                    <a:rPr lang="es-ES" sz="1400" b="0" i="1" smtClean="0">
                                      <a:solidFill>
                                        <a:schemeClr val="accent1">
                                          <a:lumMod val="50000"/>
                                        </a:schemeClr>
                                      </a:solidFill>
                                      <a:latin typeface="Cambria Math" panose="02040503050406030204" pitchFamily="18" charset="0"/>
                                    </a:rPr>
                                  </m:ctrlPr>
                                </m:limLowPr>
                                <m:e>
                                  <m:r>
                                    <m:rPr>
                                      <m:sty m:val="p"/>
                                    </m:rPr>
                                    <a:rPr lang="es-ES" sz="1400" b="0" i="0" smtClean="0">
                                      <a:solidFill>
                                        <a:schemeClr val="accent1">
                                          <a:lumMod val="50000"/>
                                        </a:schemeClr>
                                      </a:solidFill>
                                      <a:latin typeface="Cambria Math" panose="02040503050406030204" pitchFamily="18" charset="0"/>
                                    </a:rPr>
                                    <m:t>max</m:t>
                                  </m:r>
                                </m:e>
                                <m:lim/>
                              </m:limLow>
                            </m:fName>
                            <m:e>
                              <m:r>
                                <a:rPr lang="es-ES" sz="1400" b="0" i="1" smtClean="0">
                                  <a:solidFill>
                                    <a:schemeClr val="accent1">
                                      <a:lumMod val="50000"/>
                                    </a:schemeClr>
                                  </a:solidFill>
                                  <a:latin typeface="Cambria Math" panose="02040503050406030204" pitchFamily="18" charset="0"/>
                                </a:rPr>
                                <m:t>(</m:t>
                              </m:r>
                              <m:r>
                                <a:rPr lang="es-ES" sz="1400" b="0" i="1" smtClean="0">
                                  <a:solidFill>
                                    <a:schemeClr val="accent1">
                                      <a:lumMod val="50000"/>
                                    </a:schemeClr>
                                  </a:solidFill>
                                  <a:latin typeface="Cambria Math" panose="02040503050406030204" pitchFamily="18" charset="0"/>
                                </a:rPr>
                                <m:t>𝑝</m:t>
                              </m:r>
                              <m:r>
                                <a:rPr lang="es-ES" sz="1400" b="0" i="1" smtClean="0">
                                  <a:solidFill>
                                    <a:schemeClr val="accent1">
                                      <a:lumMod val="50000"/>
                                    </a:schemeClr>
                                  </a:solidFill>
                                  <a:latin typeface="Cambria Math" panose="02040503050406030204" pitchFamily="18" charset="0"/>
                                </a:rPr>
                                <m:t>,</m:t>
                              </m:r>
                              <m:r>
                                <a:rPr lang="es-ES" sz="1400" b="0" i="1" smtClean="0">
                                  <a:solidFill>
                                    <a:schemeClr val="accent1">
                                      <a:lumMod val="50000"/>
                                    </a:schemeClr>
                                  </a:solidFill>
                                  <a:latin typeface="Cambria Math" panose="02040503050406030204" pitchFamily="18" charset="0"/>
                                </a:rPr>
                                <m:t>𝑞</m:t>
                              </m:r>
                              <m:r>
                                <a:rPr lang="es-ES" sz="1400" b="0" i="1" smtClean="0">
                                  <a:solidFill>
                                    <a:schemeClr val="accent1">
                                      <a:lumMod val="50000"/>
                                    </a:schemeClr>
                                  </a:solidFill>
                                  <a:latin typeface="Cambria Math" panose="02040503050406030204" pitchFamily="18" charset="0"/>
                                </a:rPr>
                                <m:t>)</m:t>
                              </m:r>
                            </m:e>
                          </m:func>
                        </m:den>
                      </m:f>
                    </m:oMath>
                  </m:oMathPara>
                </a14:m>
                <a:endParaRPr lang="es-ES" sz="1400" dirty="0"/>
              </a:p>
            </p:txBody>
          </p:sp>
        </mc:Choice>
        <mc:Fallback xmlns="">
          <p:sp>
            <p:nvSpPr>
              <p:cNvPr id="14" name="CuadroTexto 13">
                <a:extLst>
                  <a:ext uri="{FF2B5EF4-FFF2-40B4-BE49-F238E27FC236}">
                    <a16:creationId xmlns:a16="http://schemas.microsoft.com/office/drawing/2014/main" id="{4623E108-A708-FF9B-B430-8CE62B49AD72}"/>
                  </a:ext>
                </a:extLst>
              </p:cNvPr>
              <p:cNvSpPr txBox="1">
                <a:spLocks noRot="1" noChangeAspect="1" noMove="1" noResize="1" noEditPoints="1" noAdjustHandles="1" noChangeArrowheads="1" noChangeShapeType="1" noTextEdit="1"/>
              </p:cNvSpPr>
              <p:nvPr/>
            </p:nvSpPr>
            <p:spPr>
              <a:xfrm>
                <a:off x="1504623" y="5635827"/>
                <a:ext cx="1200842" cy="482568"/>
              </a:xfrm>
              <a:prstGeom prst="rect">
                <a:avLst/>
              </a:prstGeom>
              <a:blipFill>
                <a:blip r:embed="rId3"/>
                <a:stretch>
                  <a:fillRect l="-3046" t="-2532" r="-4569"/>
                </a:stretch>
              </a:blipFill>
            </p:spPr>
            <p:txBody>
              <a:bodyPr/>
              <a:lstStyle/>
              <a:p>
                <a:r>
                  <a:rPr lang="es-ES">
                    <a:noFill/>
                  </a:rPr>
                  <a:t> </a:t>
                </a:r>
              </a:p>
            </p:txBody>
          </p:sp>
        </mc:Fallback>
      </mc:AlternateContent>
      <p:cxnSp>
        <p:nvCxnSpPr>
          <p:cNvPr id="10" name="Conector recto 9"/>
          <p:cNvCxnSpPr>
            <a:endCxn id="12" idx="0"/>
          </p:cNvCxnSpPr>
          <p:nvPr/>
        </p:nvCxnSpPr>
        <p:spPr>
          <a:xfrm>
            <a:off x="2151822" y="3498574"/>
            <a:ext cx="1" cy="1263812"/>
          </a:xfrm>
          <a:prstGeom prst="line">
            <a:avLst/>
          </a:prstGeom>
          <a:ln w="1905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20" name="Imagen 19"/>
          <p:cNvPicPr>
            <a:picLocks noChangeAspect="1"/>
          </p:cNvPicPr>
          <p:nvPr/>
        </p:nvPicPr>
        <p:blipFill>
          <a:blip r:embed="rId4"/>
          <a:stretch>
            <a:fillRect/>
          </a:stretch>
        </p:blipFill>
        <p:spPr>
          <a:xfrm>
            <a:off x="7927760" y="523474"/>
            <a:ext cx="3710962" cy="2919542"/>
          </a:xfrm>
          <a:prstGeom prst="rect">
            <a:avLst/>
          </a:prstGeom>
        </p:spPr>
      </p:pic>
    </p:spTree>
    <p:extLst>
      <p:ext uri="{BB962C8B-B14F-4D97-AF65-F5344CB8AC3E}">
        <p14:creationId xmlns:p14="http://schemas.microsoft.com/office/powerpoint/2010/main" val="29128684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27</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10644325" y="136523"/>
            <a:ext cx="1452247" cy="461665"/>
          </a:xfrm>
          <a:prstGeom prst="rect">
            <a:avLst/>
          </a:prstGeom>
          <a:noFill/>
        </p:spPr>
        <p:txBody>
          <a:bodyPr wrap="square" rtlCol="0">
            <a:spAutoFit/>
          </a:bodyPr>
          <a:lstStyle/>
          <a:p>
            <a:r>
              <a:rPr lang="es-ES" sz="2400" b="1">
                <a:solidFill>
                  <a:schemeClr val="accent1">
                    <a:lumMod val="50000"/>
                  </a:schemeClr>
                </a:solidFill>
              </a:rPr>
              <a:t>K-Means</a:t>
            </a:r>
            <a:endParaRPr lang="es-ES" sz="8800" b="1" dirty="0">
              <a:solidFill>
                <a:schemeClr val="accent1">
                  <a:lumMod val="50000"/>
                </a:scheme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1705814" y="1037194"/>
            <a:ext cx="9876881" cy="45550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b="1" dirty="0" err="1">
                <a:solidFill>
                  <a:schemeClr val="accent5">
                    <a:lumMod val="20000"/>
                    <a:lumOff val="80000"/>
                  </a:schemeClr>
                </a:solidFill>
              </a:rPr>
              <a:t>Algoritmo</a:t>
            </a:r>
            <a:r>
              <a:rPr lang="en-US" sz="2400" b="1" dirty="0">
                <a:solidFill>
                  <a:schemeClr val="accent5">
                    <a:lumMod val="20000"/>
                    <a:lumOff val="80000"/>
                  </a:schemeClr>
                </a:solidFill>
              </a:rPr>
              <a:t> </a:t>
            </a:r>
            <a:r>
              <a:rPr lang="en-US" sz="2400" b="1" dirty="0" err="1">
                <a:solidFill>
                  <a:schemeClr val="accent5">
                    <a:lumMod val="20000"/>
                    <a:lumOff val="80000"/>
                  </a:schemeClr>
                </a:solidFill>
              </a:rPr>
              <a:t>Completo</a:t>
            </a:r>
            <a:r>
              <a:rPr lang="en-US" sz="2400" b="1" dirty="0">
                <a:solidFill>
                  <a:schemeClr val="accent5">
                    <a:lumMod val="20000"/>
                    <a:lumOff val="80000"/>
                  </a:schemeClr>
                </a:solidFill>
              </a:rPr>
              <a:t> de K-means.</a:t>
            </a:r>
          </a:p>
          <a:p>
            <a:pPr marL="742950" lvl="1" indent="-285750">
              <a:buFont typeface="Arial" panose="020B0604020202020204" pitchFamily="34" charset="0"/>
              <a:buChar char="•"/>
            </a:pPr>
            <a:r>
              <a:rPr lang="en-US" sz="2000" b="1" dirty="0" err="1">
                <a:solidFill>
                  <a:schemeClr val="accent5">
                    <a:lumMod val="20000"/>
                    <a:lumOff val="80000"/>
                  </a:schemeClr>
                </a:solidFill>
              </a:rPr>
              <a:t>Implementación</a:t>
            </a:r>
            <a:r>
              <a:rPr lang="en-US" sz="2000" b="1" dirty="0">
                <a:solidFill>
                  <a:schemeClr val="accent5">
                    <a:lumMod val="20000"/>
                    <a:lumOff val="80000"/>
                  </a:schemeClr>
                </a:solidFill>
              </a:rPr>
              <a:t> </a:t>
            </a:r>
            <a:r>
              <a:rPr lang="en-US" sz="2000" b="1" dirty="0" err="1">
                <a:solidFill>
                  <a:schemeClr val="accent5">
                    <a:lumMod val="20000"/>
                    <a:lumOff val="80000"/>
                  </a:schemeClr>
                </a:solidFill>
              </a:rPr>
              <a:t>desde</a:t>
            </a:r>
            <a:r>
              <a:rPr lang="en-US" sz="2000" b="1" dirty="0">
                <a:solidFill>
                  <a:schemeClr val="accent5">
                    <a:lumMod val="20000"/>
                    <a:lumOff val="80000"/>
                  </a:schemeClr>
                </a:solidFill>
              </a:rPr>
              <a:t> Scratch.</a:t>
            </a:r>
          </a:p>
          <a:p>
            <a:pPr marL="742950" lvl="1" indent="-285750">
              <a:buFont typeface="Arial" panose="020B0604020202020204" pitchFamily="34" charset="0"/>
              <a:buChar char="•"/>
            </a:pPr>
            <a:r>
              <a:rPr lang="en-US" sz="2000" b="1" dirty="0" err="1">
                <a:solidFill>
                  <a:schemeClr val="accent5">
                    <a:lumMod val="20000"/>
                    <a:lumOff val="80000"/>
                  </a:schemeClr>
                </a:solidFill>
              </a:rPr>
              <a:t>Soluciones</a:t>
            </a:r>
            <a:r>
              <a:rPr lang="en-US" sz="2000" b="1" dirty="0">
                <a:solidFill>
                  <a:schemeClr val="accent5">
                    <a:lumMod val="20000"/>
                    <a:lumOff val="80000"/>
                  </a:schemeClr>
                </a:solidFill>
              </a:rPr>
              <a:t> </a:t>
            </a:r>
            <a:r>
              <a:rPr lang="en-US" sz="2000" b="1" dirty="0" err="1">
                <a:solidFill>
                  <a:schemeClr val="accent5">
                    <a:lumMod val="20000"/>
                    <a:lumOff val="80000"/>
                  </a:schemeClr>
                </a:solidFill>
              </a:rPr>
              <a:t>subóptimas</a:t>
            </a:r>
            <a:r>
              <a:rPr lang="en-US" sz="2000" b="1" dirty="0">
                <a:solidFill>
                  <a:schemeClr val="accent5">
                    <a:lumMod val="20000"/>
                    <a:lumOff val="80000"/>
                  </a:schemeClr>
                </a:solidFill>
              </a:rPr>
              <a:t>.</a:t>
            </a:r>
          </a:p>
          <a:p>
            <a:pPr marL="285750" indent="-285750">
              <a:lnSpc>
                <a:spcPct val="150000"/>
              </a:lnSpc>
              <a:buFont typeface="Arial" panose="020B0604020202020204" pitchFamily="34" charset="0"/>
              <a:buChar char="•"/>
            </a:pPr>
            <a:r>
              <a:rPr lang="es-ES" sz="2400" b="1" dirty="0">
                <a:solidFill>
                  <a:schemeClr val="accent5">
                    <a:lumMod val="20000"/>
                    <a:lumOff val="80000"/>
                  </a:schemeClr>
                </a:solidFill>
              </a:rPr>
              <a:t>Implementación en </a:t>
            </a:r>
            <a:r>
              <a:rPr lang="es-ES" sz="2400" b="1" dirty="0" err="1">
                <a:solidFill>
                  <a:schemeClr val="accent5">
                    <a:lumMod val="20000"/>
                    <a:lumOff val="80000"/>
                  </a:schemeClr>
                </a:solidFill>
              </a:rPr>
              <a:t>Sklearn</a:t>
            </a:r>
            <a:r>
              <a:rPr lang="es-ES" sz="2400" b="1" dirty="0">
                <a:solidFill>
                  <a:schemeClr val="accent5">
                    <a:lumMod val="20000"/>
                    <a:lumOff val="80000"/>
                  </a:schemeClr>
                </a:solidFill>
              </a:rPr>
              <a:t>.</a:t>
            </a:r>
          </a:p>
          <a:p>
            <a:pPr marL="742950" lvl="1" indent="-285750">
              <a:buFont typeface="Arial" panose="020B0604020202020204" pitchFamily="34" charset="0"/>
              <a:buChar char="•"/>
            </a:pPr>
            <a:r>
              <a:rPr lang="es-ES" sz="2000" b="1" dirty="0">
                <a:solidFill>
                  <a:schemeClr val="accent5">
                    <a:lumMod val="20000"/>
                    <a:lumOff val="80000"/>
                  </a:schemeClr>
                </a:solidFill>
              </a:rPr>
              <a:t>Parámetros.</a:t>
            </a:r>
          </a:p>
          <a:p>
            <a:pPr marL="285750" indent="-285750">
              <a:lnSpc>
                <a:spcPct val="150000"/>
              </a:lnSpc>
              <a:buFont typeface="Arial" panose="020B0604020202020204" pitchFamily="34" charset="0"/>
              <a:buChar char="•"/>
            </a:pPr>
            <a:r>
              <a:rPr lang="es-ES" sz="2400" b="1" dirty="0" err="1">
                <a:solidFill>
                  <a:schemeClr val="accent5">
                    <a:lumMod val="20000"/>
                    <a:lumOff val="80000"/>
                  </a:schemeClr>
                </a:solidFill>
              </a:rPr>
              <a:t>Preprocesamiento</a:t>
            </a:r>
            <a:r>
              <a:rPr lang="es-ES" sz="2400" b="1" dirty="0">
                <a:solidFill>
                  <a:schemeClr val="accent5">
                    <a:lumMod val="20000"/>
                    <a:lumOff val="80000"/>
                  </a:schemeClr>
                </a:solidFill>
              </a:rPr>
              <a:t>. Escalado.</a:t>
            </a:r>
          </a:p>
          <a:p>
            <a:pPr marL="285750" indent="-285750">
              <a:lnSpc>
                <a:spcPct val="150000"/>
              </a:lnSpc>
              <a:buFont typeface="Arial" panose="020B0604020202020204" pitchFamily="34" charset="0"/>
              <a:buChar char="•"/>
            </a:pPr>
            <a:r>
              <a:rPr lang="es-ES" sz="2400" b="1" dirty="0">
                <a:solidFill>
                  <a:schemeClr val="accent5">
                    <a:lumMod val="20000"/>
                    <a:lumOff val="80000"/>
                  </a:schemeClr>
                </a:solidFill>
              </a:rPr>
              <a:t>Número óptimo de </a:t>
            </a:r>
            <a:r>
              <a:rPr lang="es-ES" sz="2400" b="1" i="1" dirty="0">
                <a:solidFill>
                  <a:schemeClr val="accent5">
                    <a:lumMod val="20000"/>
                    <a:lumOff val="80000"/>
                  </a:schemeClr>
                </a:solidFill>
              </a:rPr>
              <a:t>clústeres.</a:t>
            </a:r>
            <a:endParaRPr lang="es-ES" sz="2400" b="1" dirty="0">
              <a:solidFill>
                <a:schemeClr val="accent5">
                  <a:lumMod val="20000"/>
                  <a:lumOff val="80000"/>
                </a:schemeClr>
              </a:solidFill>
            </a:endParaRPr>
          </a:p>
          <a:p>
            <a:pPr marL="742950" lvl="1" indent="-285750">
              <a:buFont typeface="Arial" panose="020B0604020202020204" pitchFamily="34" charset="0"/>
              <a:buChar char="•"/>
            </a:pPr>
            <a:r>
              <a:rPr lang="es-ES" sz="2000" b="1" dirty="0">
                <a:solidFill>
                  <a:schemeClr val="accent5">
                    <a:lumMod val="20000"/>
                    <a:lumOff val="80000"/>
                  </a:schemeClr>
                </a:solidFill>
              </a:rPr>
              <a:t>Método del codo.</a:t>
            </a:r>
          </a:p>
          <a:p>
            <a:pPr marL="742950" lvl="1" indent="-285750">
              <a:buFont typeface="Arial" panose="020B0604020202020204" pitchFamily="34" charset="0"/>
              <a:buChar char="•"/>
            </a:pPr>
            <a:r>
              <a:rPr lang="es-ES" sz="2000" b="1" dirty="0">
                <a:solidFill>
                  <a:schemeClr val="accent5">
                    <a:lumMod val="20000"/>
                    <a:lumOff val="80000"/>
                  </a:schemeClr>
                </a:solidFill>
              </a:rPr>
              <a:t>Método de la silueta.</a:t>
            </a:r>
          </a:p>
          <a:p>
            <a:pPr marL="285750" indent="-285750">
              <a:lnSpc>
                <a:spcPct val="150000"/>
              </a:lnSpc>
              <a:buFont typeface="Arial" panose="020B0604020202020204" pitchFamily="34" charset="0"/>
              <a:buChar char="•"/>
            </a:pPr>
            <a:r>
              <a:rPr lang="es-ES" sz="2400" b="1" dirty="0">
                <a:solidFill>
                  <a:schemeClr val="accent1">
                    <a:lumMod val="50000"/>
                  </a:schemeClr>
                </a:solidFill>
              </a:rPr>
              <a:t>Ventajas e inconvenientes de K-</a:t>
            </a:r>
            <a:r>
              <a:rPr lang="es-ES" sz="2400" b="1" dirty="0" err="1">
                <a:solidFill>
                  <a:schemeClr val="accent1">
                    <a:lumMod val="50000"/>
                  </a:schemeClr>
                </a:solidFill>
              </a:rPr>
              <a:t>Means</a:t>
            </a:r>
            <a:r>
              <a:rPr lang="es-ES" sz="2400" b="1" dirty="0">
                <a:solidFill>
                  <a:schemeClr val="accent1">
                    <a:lumMod val="50000"/>
                  </a:schemeClr>
                </a:solidFill>
              </a:rPr>
              <a:t>.</a:t>
            </a:r>
          </a:p>
        </p:txBody>
      </p:sp>
    </p:spTree>
    <p:extLst>
      <p:ext uri="{BB962C8B-B14F-4D97-AF65-F5344CB8AC3E}">
        <p14:creationId xmlns:p14="http://schemas.microsoft.com/office/powerpoint/2010/main" val="37900282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4286E82-FF38-1057-622F-02244AD16F2B}"/>
              </a:ext>
            </a:extLst>
          </p:cNvPr>
          <p:cNvSpPr txBox="1"/>
          <p:nvPr/>
        </p:nvSpPr>
        <p:spPr>
          <a:xfrm>
            <a:off x="300424" y="371039"/>
            <a:ext cx="11849741" cy="400110"/>
          </a:xfrm>
          <a:prstGeom prst="rect">
            <a:avLst/>
          </a:prstGeom>
          <a:noFill/>
        </p:spPr>
        <p:txBody>
          <a:bodyPr wrap="square" rtlCol="0">
            <a:spAutoFit/>
          </a:bodyPr>
          <a:lstStyle/>
          <a:p>
            <a:r>
              <a:rPr lang="es-ES" sz="2000" dirty="0">
                <a:solidFill>
                  <a:schemeClr val="accent1">
                    <a:lumMod val="50000"/>
                  </a:schemeClr>
                </a:solidFill>
              </a:rPr>
              <a:t>Ventajas e inconvenientes del K-</a:t>
            </a:r>
            <a:r>
              <a:rPr lang="es-ES" sz="2000" dirty="0" err="1">
                <a:solidFill>
                  <a:schemeClr val="accent1">
                    <a:lumMod val="50000"/>
                  </a:schemeClr>
                </a:solidFill>
              </a:rPr>
              <a:t>Means</a:t>
            </a:r>
            <a:r>
              <a:rPr lang="es-ES" sz="2000" dirty="0">
                <a:solidFill>
                  <a:schemeClr val="accent1">
                    <a:lumMod val="50000"/>
                  </a:schemeClr>
                </a:solidFill>
              </a:rPr>
              <a:t>:</a:t>
            </a:r>
            <a:endParaRPr lang="es-ES" sz="1600" dirty="0">
              <a:solidFill>
                <a:schemeClr val="accent1">
                  <a:lumMod val="50000"/>
                </a:schemeClr>
              </a:solidFill>
              <a:highlight>
                <a:srgbClr val="FFFFFF"/>
              </a:highlight>
            </a:endParaRPr>
          </a:p>
        </p:txBody>
      </p:sp>
      <p:sp>
        <p:nvSpPr>
          <p:cNvPr id="4" name="Marcador de número de diapositiva 1">
            <a:extLst>
              <a:ext uri="{FF2B5EF4-FFF2-40B4-BE49-F238E27FC236}">
                <a16:creationId xmlns:a16="http://schemas.microsoft.com/office/drawing/2014/main" id="{2B676A0C-B311-06E8-FDDC-70C2E1F562AD}"/>
              </a:ext>
            </a:extLst>
          </p:cNvPr>
          <p:cNvSpPr>
            <a:spLocks noGrp="1"/>
          </p:cNvSpPr>
          <p:nvPr>
            <p:ph type="sldNum" sz="quarter" idx="12"/>
          </p:nvPr>
        </p:nvSpPr>
        <p:spPr>
          <a:xfrm>
            <a:off x="8610600" y="6356352"/>
            <a:ext cx="2743200" cy="365125"/>
          </a:xfrm>
        </p:spPr>
        <p:txBody>
          <a:bodyPr/>
          <a:lstStyle/>
          <a:p>
            <a:fld id="{5104FCC0-1602-4E53-A4A9-B84AD752D31B}" type="slidenum">
              <a:rPr lang="es-ES" smtClean="0">
                <a:solidFill>
                  <a:prstClr val="black">
                    <a:tint val="75000"/>
                  </a:prstClr>
                </a:solidFill>
              </a:rPr>
              <a:pPr/>
              <a:t>28</a:t>
            </a:fld>
            <a:endParaRPr lang="es-ES" dirty="0">
              <a:solidFill>
                <a:prstClr val="black">
                  <a:tint val="75000"/>
                </a:prstClr>
              </a:solidFill>
            </a:endParaRPr>
          </a:p>
        </p:txBody>
      </p:sp>
      <p:sp>
        <p:nvSpPr>
          <p:cNvPr id="11" name="CuadroTexto 10">
            <a:extLst>
              <a:ext uri="{FF2B5EF4-FFF2-40B4-BE49-F238E27FC236}">
                <a16:creationId xmlns:a16="http://schemas.microsoft.com/office/drawing/2014/main" id="{785ABD68-8926-EC3E-F8A2-34F94A1062F0}"/>
              </a:ext>
            </a:extLst>
          </p:cNvPr>
          <p:cNvSpPr txBox="1"/>
          <p:nvPr/>
        </p:nvSpPr>
        <p:spPr>
          <a:xfrm>
            <a:off x="10797066" y="59677"/>
            <a:ext cx="1394934" cy="461665"/>
          </a:xfrm>
          <a:prstGeom prst="rect">
            <a:avLst/>
          </a:prstGeom>
          <a:noFill/>
        </p:spPr>
        <p:txBody>
          <a:bodyPr wrap="none" rtlCol="0">
            <a:spAutoFit/>
          </a:bodyPr>
          <a:lstStyle/>
          <a:p>
            <a:r>
              <a:rPr lang="es-ES" sz="2400" b="1" dirty="0">
                <a:solidFill>
                  <a:schemeClr val="accent1">
                    <a:lumMod val="50000"/>
                  </a:schemeClr>
                </a:solidFill>
              </a:rPr>
              <a:t>K-</a:t>
            </a:r>
            <a:r>
              <a:rPr lang="es-ES" sz="2400" b="1" dirty="0" err="1">
                <a:solidFill>
                  <a:schemeClr val="accent1">
                    <a:lumMod val="50000"/>
                  </a:schemeClr>
                </a:solidFill>
              </a:rPr>
              <a:t>Means</a:t>
            </a:r>
            <a:r>
              <a:rPr lang="es-ES" sz="2400" b="1" dirty="0">
                <a:solidFill>
                  <a:schemeClr val="accent1">
                    <a:lumMod val="50000"/>
                  </a:schemeClr>
                </a:solidFill>
              </a:rPr>
              <a:t>.</a:t>
            </a:r>
          </a:p>
        </p:txBody>
      </p:sp>
      <p:sp>
        <p:nvSpPr>
          <p:cNvPr id="2" name="Rectángulo redondeado 1"/>
          <p:cNvSpPr/>
          <p:nvPr/>
        </p:nvSpPr>
        <p:spPr>
          <a:xfrm>
            <a:off x="300424" y="934279"/>
            <a:ext cx="4062854" cy="3289852"/>
          </a:xfrm>
          <a:prstGeom prst="roundRect">
            <a:avLst>
              <a:gd name="adj" fmla="val 8594"/>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err="1">
                <a:solidFill>
                  <a:schemeClr val="accent6">
                    <a:lumMod val="50000"/>
                  </a:schemeClr>
                </a:solidFill>
                <a:latin typeface="Inter"/>
              </a:rPr>
              <a:t>Sencillo</a:t>
            </a:r>
            <a:r>
              <a:rPr lang="en-US" dirty="0">
                <a:solidFill>
                  <a:schemeClr val="accent6">
                    <a:lumMod val="50000"/>
                  </a:schemeClr>
                </a:solidFill>
                <a:latin typeface="Inter"/>
              </a:rPr>
              <a:t> de </a:t>
            </a:r>
            <a:r>
              <a:rPr lang="en-US" dirty="0" err="1">
                <a:solidFill>
                  <a:schemeClr val="accent6">
                    <a:lumMod val="50000"/>
                  </a:schemeClr>
                </a:solidFill>
                <a:latin typeface="Inter"/>
              </a:rPr>
              <a:t>implementar</a:t>
            </a:r>
            <a:r>
              <a:rPr lang="en-US" dirty="0">
                <a:solidFill>
                  <a:schemeClr val="accent6">
                    <a:lumMod val="50000"/>
                  </a:schemeClr>
                </a:solidFill>
                <a:latin typeface="Inter"/>
              </a:rPr>
              <a:t>.</a:t>
            </a:r>
          </a:p>
          <a:p>
            <a:pPr marL="285750" indent="-285750">
              <a:buFont typeface="Arial" panose="020B0604020202020204" pitchFamily="34" charset="0"/>
              <a:buChar char="•"/>
            </a:pPr>
            <a:endParaRPr lang="en-US" dirty="0">
              <a:solidFill>
                <a:schemeClr val="accent6">
                  <a:lumMod val="50000"/>
                </a:schemeClr>
              </a:solidFill>
              <a:latin typeface="Inter"/>
            </a:endParaRPr>
          </a:p>
          <a:p>
            <a:pPr marL="285750" indent="-285750">
              <a:buFont typeface="Arial" panose="020B0604020202020204" pitchFamily="34" charset="0"/>
              <a:buChar char="•"/>
            </a:pPr>
            <a:r>
              <a:rPr lang="en-US" b="1" dirty="0" err="1">
                <a:solidFill>
                  <a:schemeClr val="accent6">
                    <a:lumMod val="50000"/>
                  </a:schemeClr>
                </a:solidFill>
                <a:latin typeface="Inter"/>
              </a:rPr>
              <a:t>Eficiente</a:t>
            </a:r>
            <a:r>
              <a:rPr lang="en-US" dirty="0">
                <a:solidFill>
                  <a:schemeClr val="accent6">
                    <a:lumMod val="50000"/>
                  </a:schemeClr>
                </a:solidFill>
                <a:latin typeface="Inter"/>
              </a:rPr>
              <a:t> </a:t>
            </a:r>
            <a:r>
              <a:rPr lang="en-US" dirty="0" err="1">
                <a:solidFill>
                  <a:schemeClr val="accent6">
                    <a:lumMod val="50000"/>
                  </a:schemeClr>
                </a:solidFill>
                <a:latin typeface="Inter"/>
              </a:rPr>
              <a:t>computacionalmente</a:t>
            </a:r>
            <a:r>
              <a:rPr lang="en-US" dirty="0">
                <a:solidFill>
                  <a:schemeClr val="accent6">
                    <a:lumMod val="50000"/>
                  </a:schemeClr>
                </a:solidFill>
                <a:latin typeface="Inter"/>
              </a:rPr>
              <a:t>.</a:t>
            </a:r>
          </a:p>
          <a:p>
            <a:pPr marL="285750" indent="-285750">
              <a:buFont typeface="Arial" panose="020B0604020202020204" pitchFamily="34" charset="0"/>
              <a:buChar char="•"/>
            </a:pPr>
            <a:endParaRPr lang="en-US" dirty="0">
              <a:solidFill>
                <a:schemeClr val="accent6">
                  <a:lumMod val="50000"/>
                </a:schemeClr>
              </a:solidFill>
              <a:latin typeface="Inter"/>
            </a:endParaRPr>
          </a:p>
          <a:p>
            <a:pPr marL="285750" indent="-285750">
              <a:buFont typeface="Arial" panose="020B0604020202020204" pitchFamily="34" charset="0"/>
              <a:buChar char="•"/>
            </a:pPr>
            <a:r>
              <a:rPr lang="en-US" b="1" dirty="0" err="1">
                <a:solidFill>
                  <a:schemeClr val="accent6">
                    <a:lumMod val="50000"/>
                  </a:schemeClr>
                </a:solidFill>
                <a:latin typeface="Inter"/>
              </a:rPr>
              <a:t>Fácil</a:t>
            </a:r>
            <a:r>
              <a:rPr lang="en-US" dirty="0">
                <a:solidFill>
                  <a:schemeClr val="accent6">
                    <a:lumMod val="50000"/>
                  </a:schemeClr>
                </a:solidFill>
                <a:latin typeface="Inter"/>
              </a:rPr>
              <a:t> de </a:t>
            </a:r>
            <a:r>
              <a:rPr lang="en-US" dirty="0" err="1">
                <a:solidFill>
                  <a:schemeClr val="accent6">
                    <a:lumMod val="50000"/>
                  </a:schemeClr>
                </a:solidFill>
                <a:latin typeface="Inter"/>
              </a:rPr>
              <a:t>interpretar</a:t>
            </a:r>
            <a:r>
              <a:rPr lang="en-US" dirty="0">
                <a:solidFill>
                  <a:schemeClr val="accent6">
                    <a:lumMod val="50000"/>
                  </a:schemeClr>
                </a:solidFill>
                <a:latin typeface="Inter"/>
              </a:rPr>
              <a:t> y </a:t>
            </a:r>
            <a:r>
              <a:rPr lang="en-US" dirty="0" err="1">
                <a:solidFill>
                  <a:schemeClr val="accent6">
                    <a:lumMod val="50000"/>
                  </a:schemeClr>
                </a:solidFill>
                <a:latin typeface="Inter"/>
              </a:rPr>
              <a:t>visualizar</a:t>
            </a:r>
            <a:r>
              <a:rPr lang="en-US" dirty="0">
                <a:solidFill>
                  <a:schemeClr val="accent6">
                    <a:lumMod val="50000"/>
                  </a:schemeClr>
                </a:solidFill>
                <a:latin typeface="Inter"/>
              </a:rPr>
              <a:t> </a:t>
            </a:r>
            <a:r>
              <a:rPr lang="en-US" dirty="0" err="1">
                <a:solidFill>
                  <a:schemeClr val="accent6">
                    <a:lumMod val="50000"/>
                  </a:schemeClr>
                </a:solidFill>
                <a:latin typeface="Inter"/>
              </a:rPr>
              <a:t>los</a:t>
            </a:r>
            <a:r>
              <a:rPr lang="en-US" dirty="0">
                <a:solidFill>
                  <a:schemeClr val="accent6">
                    <a:lumMod val="50000"/>
                  </a:schemeClr>
                </a:solidFill>
                <a:latin typeface="Inter"/>
              </a:rPr>
              <a:t> </a:t>
            </a:r>
            <a:r>
              <a:rPr lang="en-US" dirty="0" err="1">
                <a:solidFill>
                  <a:schemeClr val="accent6">
                    <a:lumMod val="50000"/>
                  </a:schemeClr>
                </a:solidFill>
                <a:latin typeface="Inter"/>
              </a:rPr>
              <a:t>resultados</a:t>
            </a:r>
            <a:r>
              <a:rPr lang="en-US" dirty="0">
                <a:solidFill>
                  <a:schemeClr val="accent6">
                    <a:lumMod val="50000"/>
                  </a:schemeClr>
                </a:solidFill>
                <a:latin typeface="Inter"/>
              </a:rPr>
              <a:t>.</a:t>
            </a:r>
          </a:p>
          <a:p>
            <a:pPr marL="285750" indent="-285750">
              <a:buFont typeface="Arial" panose="020B0604020202020204" pitchFamily="34" charset="0"/>
              <a:buChar char="•"/>
            </a:pPr>
            <a:endParaRPr lang="en-US" dirty="0">
              <a:solidFill>
                <a:schemeClr val="accent6">
                  <a:lumMod val="50000"/>
                </a:schemeClr>
              </a:solidFill>
              <a:latin typeface="Inter"/>
            </a:endParaRPr>
          </a:p>
          <a:p>
            <a:pPr marL="285750" indent="-285750">
              <a:buFont typeface="Arial" panose="020B0604020202020204" pitchFamily="34" charset="0"/>
              <a:buChar char="•"/>
            </a:pPr>
            <a:r>
              <a:rPr lang="en-US" b="1" dirty="0" err="1">
                <a:solidFill>
                  <a:schemeClr val="accent6">
                    <a:lumMod val="50000"/>
                  </a:schemeClr>
                </a:solidFill>
                <a:latin typeface="Inter"/>
              </a:rPr>
              <a:t>Adecuado</a:t>
            </a:r>
            <a:r>
              <a:rPr lang="en-US" dirty="0">
                <a:solidFill>
                  <a:schemeClr val="accent6">
                    <a:lumMod val="50000"/>
                  </a:schemeClr>
                </a:solidFill>
                <a:latin typeface="Inter"/>
              </a:rPr>
              <a:t> para </a:t>
            </a:r>
            <a:r>
              <a:rPr lang="en-US" dirty="0" err="1">
                <a:solidFill>
                  <a:schemeClr val="accent6">
                    <a:lumMod val="50000"/>
                  </a:schemeClr>
                </a:solidFill>
                <a:latin typeface="Inter"/>
              </a:rPr>
              <a:t>conjuntos</a:t>
            </a:r>
            <a:r>
              <a:rPr lang="en-US" dirty="0">
                <a:solidFill>
                  <a:schemeClr val="accent6">
                    <a:lumMod val="50000"/>
                  </a:schemeClr>
                </a:solidFill>
                <a:latin typeface="Inter"/>
              </a:rPr>
              <a:t> de </a:t>
            </a:r>
            <a:r>
              <a:rPr lang="en-US" dirty="0" err="1">
                <a:solidFill>
                  <a:schemeClr val="accent6">
                    <a:lumMod val="50000"/>
                  </a:schemeClr>
                </a:solidFill>
                <a:latin typeface="Inter"/>
              </a:rPr>
              <a:t>datos</a:t>
            </a:r>
            <a:r>
              <a:rPr lang="en-US" dirty="0">
                <a:solidFill>
                  <a:schemeClr val="accent6">
                    <a:lumMod val="50000"/>
                  </a:schemeClr>
                </a:solidFill>
                <a:latin typeface="Inter"/>
              </a:rPr>
              <a:t> con un gran </a:t>
            </a:r>
            <a:r>
              <a:rPr lang="en-US" dirty="0" err="1">
                <a:solidFill>
                  <a:schemeClr val="accent6">
                    <a:lumMod val="50000"/>
                  </a:schemeClr>
                </a:solidFill>
                <a:latin typeface="Inter"/>
              </a:rPr>
              <a:t>número</a:t>
            </a:r>
            <a:r>
              <a:rPr lang="en-US" dirty="0">
                <a:solidFill>
                  <a:schemeClr val="accent6">
                    <a:lumMod val="50000"/>
                  </a:schemeClr>
                </a:solidFill>
                <a:latin typeface="Inter"/>
              </a:rPr>
              <a:t> de </a:t>
            </a:r>
            <a:r>
              <a:rPr lang="en-US" dirty="0" err="1">
                <a:solidFill>
                  <a:schemeClr val="accent6">
                    <a:lumMod val="50000"/>
                  </a:schemeClr>
                </a:solidFill>
                <a:latin typeface="Inter"/>
              </a:rPr>
              <a:t>muestras</a:t>
            </a:r>
            <a:r>
              <a:rPr lang="en-US" dirty="0">
                <a:solidFill>
                  <a:schemeClr val="accent6">
                    <a:lumMod val="50000"/>
                  </a:schemeClr>
                </a:solidFill>
                <a:latin typeface="Inter"/>
              </a:rPr>
              <a:t>.</a:t>
            </a:r>
          </a:p>
        </p:txBody>
      </p:sp>
      <p:sp>
        <p:nvSpPr>
          <p:cNvPr id="15" name="Rectángulo redondeado 14"/>
          <p:cNvSpPr/>
          <p:nvPr/>
        </p:nvSpPr>
        <p:spPr>
          <a:xfrm>
            <a:off x="4736588" y="934279"/>
            <a:ext cx="7289759" cy="5526155"/>
          </a:xfrm>
          <a:prstGeom prst="roundRect">
            <a:avLst>
              <a:gd name="adj" fmla="val 8594"/>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rgbClr val="A0453E"/>
                </a:solidFill>
                <a:latin typeface="Inter"/>
              </a:rPr>
              <a:t>No </a:t>
            </a:r>
            <a:r>
              <a:rPr lang="en-US" dirty="0" err="1">
                <a:solidFill>
                  <a:srgbClr val="A0453E"/>
                </a:solidFill>
                <a:latin typeface="Inter"/>
              </a:rPr>
              <a:t>funciona</a:t>
            </a:r>
            <a:r>
              <a:rPr lang="en-US" dirty="0">
                <a:solidFill>
                  <a:srgbClr val="A0453E"/>
                </a:solidFill>
                <a:latin typeface="Inter"/>
              </a:rPr>
              <a:t> </a:t>
            </a:r>
            <a:r>
              <a:rPr lang="en-US" dirty="0" err="1">
                <a:solidFill>
                  <a:srgbClr val="A0453E"/>
                </a:solidFill>
                <a:latin typeface="Inter"/>
              </a:rPr>
              <a:t>bien</a:t>
            </a:r>
            <a:r>
              <a:rPr lang="en-US" dirty="0">
                <a:solidFill>
                  <a:srgbClr val="A0453E"/>
                </a:solidFill>
                <a:latin typeface="Inter"/>
              </a:rPr>
              <a:t> </a:t>
            </a:r>
            <a:r>
              <a:rPr lang="en-US" dirty="0" err="1">
                <a:solidFill>
                  <a:srgbClr val="A0453E"/>
                </a:solidFill>
                <a:latin typeface="Inter"/>
              </a:rPr>
              <a:t>si</a:t>
            </a:r>
            <a:r>
              <a:rPr lang="en-US" dirty="0">
                <a:solidFill>
                  <a:srgbClr val="A0453E"/>
                </a:solidFill>
                <a:latin typeface="Inter"/>
              </a:rPr>
              <a:t> </a:t>
            </a:r>
            <a:r>
              <a:rPr lang="en-US" dirty="0" err="1">
                <a:solidFill>
                  <a:srgbClr val="A0453E"/>
                </a:solidFill>
                <a:latin typeface="Inter"/>
              </a:rPr>
              <a:t>los</a:t>
            </a:r>
            <a:r>
              <a:rPr lang="en-US" dirty="0">
                <a:solidFill>
                  <a:srgbClr val="A0453E"/>
                </a:solidFill>
                <a:latin typeface="Inter"/>
              </a:rPr>
              <a:t> </a:t>
            </a:r>
            <a:r>
              <a:rPr lang="en-US" dirty="0" err="1">
                <a:solidFill>
                  <a:srgbClr val="A0453E"/>
                </a:solidFill>
                <a:latin typeface="Inter"/>
              </a:rPr>
              <a:t>grupos</a:t>
            </a:r>
            <a:r>
              <a:rPr lang="en-US" dirty="0">
                <a:solidFill>
                  <a:srgbClr val="A0453E"/>
                </a:solidFill>
                <a:latin typeface="Inter"/>
              </a:rPr>
              <a:t> no son </a:t>
            </a:r>
            <a:r>
              <a:rPr lang="en-US" b="1" dirty="0" err="1">
                <a:solidFill>
                  <a:srgbClr val="A0453E"/>
                </a:solidFill>
                <a:latin typeface="Inter"/>
              </a:rPr>
              <a:t>globulares</a:t>
            </a:r>
            <a:r>
              <a:rPr lang="en-US" dirty="0">
                <a:solidFill>
                  <a:srgbClr val="A0453E"/>
                </a:solidFill>
                <a:latin typeface="Inter"/>
              </a:rPr>
              <a:t>.</a:t>
            </a:r>
          </a:p>
          <a:p>
            <a:pPr marL="285750" indent="-285750">
              <a:buFont typeface="Arial" panose="020B0604020202020204" pitchFamily="34" charset="0"/>
              <a:buChar char="•"/>
            </a:pPr>
            <a:endParaRPr lang="en-US" dirty="0">
              <a:solidFill>
                <a:srgbClr val="A0453E"/>
              </a:solidFill>
              <a:latin typeface="Inter"/>
            </a:endParaRPr>
          </a:p>
          <a:p>
            <a:pPr marL="285750" indent="-285750">
              <a:buFont typeface="Arial" panose="020B0604020202020204" pitchFamily="34" charset="0"/>
              <a:buChar char="•"/>
            </a:pPr>
            <a:r>
              <a:rPr lang="en-US" dirty="0" err="1">
                <a:solidFill>
                  <a:srgbClr val="A0453E"/>
                </a:solidFill>
                <a:latin typeface="Inter"/>
              </a:rPr>
              <a:t>Es</a:t>
            </a:r>
            <a:r>
              <a:rPr lang="en-US" dirty="0">
                <a:solidFill>
                  <a:srgbClr val="A0453E"/>
                </a:solidFill>
                <a:latin typeface="Inter"/>
              </a:rPr>
              <a:t> sensible a la </a:t>
            </a:r>
            <a:r>
              <a:rPr lang="en-US" dirty="0" err="1">
                <a:solidFill>
                  <a:srgbClr val="A0453E"/>
                </a:solidFill>
                <a:latin typeface="Inter"/>
              </a:rPr>
              <a:t>presencia</a:t>
            </a:r>
            <a:r>
              <a:rPr lang="en-US" dirty="0">
                <a:solidFill>
                  <a:srgbClr val="A0453E"/>
                </a:solidFill>
                <a:latin typeface="Inter"/>
              </a:rPr>
              <a:t> de </a:t>
            </a:r>
            <a:r>
              <a:rPr lang="en-US" b="1" dirty="0" err="1">
                <a:solidFill>
                  <a:srgbClr val="A0453E"/>
                </a:solidFill>
                <a:latin typeface="Inter"/>
              </a:rPr>
              <a:t>diferentes</a:t>
            </a:r>
            <a:r>
              <a:rPr lang="en-US" b="1" dirty="0">
                <a:solidFill>
                  <a:srgbClr val="A0453E"/>
                </a:solidFill>
                <a:latin typeface="Inter"/>
              </a:rPr>
              <a:t> </a:t>
            </a:r>
            <a:r>
              <a:rPr lang="en-US" b="1" dirty="0" err="1">
                <a:solidFill>
                  <a:srgbClr val="A0453E"/>
                </a:solidFill>
                <a:latin typeface="Inter"/>
              </a:rPr>
              <a:t>escalas</a:t>
            </a:r>
            <a:r>
              <a:rPr lang="en-US" b="1" dirty="0">
                <a:solidFill>
                  <a:srgbClr val="A0453E"/>
                </a:solidFill>
                <a:latin typeface="Inter"/>
              </a:rPr>
              <a:t> </a:t>
            </a:r>
            <a:r>
              <a:rPr lang="en-US" dirty="0" err="1">
                <a:solidFill>
                  <a:srgbClr val="A0453E"/>
                </a:solidFill>
                <a:latin typeface="Inter"/>
              </a:rPr>
              <a:t>en</a:t>
            </a:r>
            <a:r>
              <a:rPr lang="en-US" dirty="0">
                <a:solidFill>
                  <a:srgbClr val="A0453E"/>
                </a:solidFill>
                <a:latin typeface="Inter"/>
              </a:rPr>
              <a:t> las </a:t>
            </a:r>
            <a:r>
              <a:rPr lang="en-US" dirty="0" err="1">
                <a:solidFill>
                  <a:srgbClr val="A0453E"/>
                </a:solidFill>
                <a:latin typeface="Inter"/>
              </a:rPr>
              <a:t>dimensiones</a:t>
            </a:r>
            <a:r>
              <a:rPr lang="en-US" dirty="0">
                <a:solidFill>
                  <a:srgbClr val="A0453E"/>
                </a:solidFill>
                <a:latin typeface="Inter"/>
              </a:rPr>
              <a:t>.</a:t>
            </a:r>
          </a:p>
          <a:p>
            <a:pPr marL="285750" indent="-285750">
              <a:buFont typeface="Arial" panose="020B0604020202020204" pitchFamily="34" charset="0"/>
              <a:buChar char="•"/>
            </a:pPr>
            <a:endParaRPr lang="en-US" dirty="0">
              <a:solidFill>
                <a:srgbClr val="A0453E"/>
              </a:solidFill>
              <a:latin typeface="Inter"/>
            </a:endParaRPr>
          </a:p>
          <a:p>
            <a:pPr marL="285750" indent="-285750">
              <a:buFont typeface="Arial" panose="020B0604020202020204" pitchFamily="34" charset="0"/>
              <a:buChar char="•"/>
            </a:pPr>
            <a:r>
              <a:rPr lang="en-US" dirty="0" err="1">
                <a:solidFill>
                  <a:srgbClr val="A0453E"/>
                </a:solidFill>
                <a:latin typeface="Inter"/>
              </a:rPr>
              <a:t>Resulta</a:t>
            </a:r>
            <a:r>
              <a:rPr lang="en-US" dirty="0">
                <a:solidFill>
                  <a:srgbClr val="A0453E"/>
                </a:solidFill>
                <a:latin typeface="Inter"/>
              </a:rPr>
              <a:t> </a:t>
            </a:r>
            <a:r>
              <a:rPr lang="en-US" dirty="0" err="1">
                <a:solidFill>
                  <a:srgbClr val="A0453E"/>
                </a:solidFill>
                <a:latin typeface="Inter"/>
              </a:rPr>
              <a:t>complicado</a:t>
            </a:r>
            <a:r>
              <a:rPr lang="en-US" dirty="0">
                <a:solidFill>
                  <a:srgbClr val="A0453E"/>
                </a:solidFill>
                <a:latin typeface="Inter"/>
              </a:rPr>
              <a:t> </a:t>
            </a:r>
            <a:r>
              <a:rPr lang="en-US" dirty="0" err="1">
                <a:solidFill>
                  <a:srgbClr val="A0453E"/>
                </a:solidFill>
                <a:latin typeface="Inter"/>
              </a:rPr>
              <a:t>incluir</a:t>
            </a:r>
            <a:r>
              <a:rPr lang="en-US" dirty="0">
                <a:solidFill>
                  <a:srgbClr val="A0453E"/>
                </a:solidFill>
                <a:latin typeface="Inter"/>
              </a:rPr>
              <a:t> </a:t>
            </a:r>
            <a:r>
              <a:rPr lang="en-US" b="1" dirty="0">
                <a:solidFill>
                  <a:srgbClr val="A0453E"/>
                </a:solidFill>
                <a:latin typeface="Inter"/>
              </a:rPr>
              <a:t>variables </a:t>
            </a:r>
            <a:r>
              <a:rPr lang="en-US" b="1" dirty="0" err="1">
                <a:solidFill>
                  <a:srgbClr val="A0453E"/>
                </a:solidFill>
                <a:latin typeface="Inter"/>
              </a:rPr>
              <a:t>categóricas</a:t>
            </a:r>
            <a:r>
              <a:rPr lang="en-US" b="1" dirty="0">
                <a:solidFill>
                  <a:srgbClr val="A0453E"/>
                </a:solidFill>
                <a:latin typeface="Inter"/>
              </a:rPr>
              <a:t> </a:t>
            </a:r>
            <a:r>
              <a:rPr lang="en-US" dirty="0" err="1">
                <a:solidFill>
                  <a:srgbClr val="A0453E"/>
                </a:solidFill>
                <a:latin typeface="Inter"/>
              </a:rPr>
              <a:t>en</a:t>
            </a:r>
            <a:r>
              <a:rPr lang="en-US" dirty="0">
                <a:solidFill>
                  <a:srgbClr val="A0453E"/>
                </a:solidFill>
                <a:latin typeface="Inter"/>
              </a:rPr>
              <a:t> el </a:t>
            </a:r>
            <a:r>
              <a:rPr lang="en-US" dirty="0" err="1">
                <a:solidFill>
                  <a:srgbClr val="A0453E"/>
                </a:solidFill>
                <a:latin typeface="Inter"/>
              </a:rPr>
              <a:t>análisis</a:t>
            </a:r>
            <a:r>
              <a:rPr lang="en-US" dirty="0">
                <a:solidFill>
                  <a:srgbClr val="A0453E"/>
                </a:solidFill>
                <a:latin typeface="Inter"/>
              </a:rPr>
              <a:t>.</a:t>
            </a:r>
          </a:p>
          <a:p>
            <a:pPr marL="285750" indent="-285750">
              <a:buFont typeface="Arial" panose="020B0604020202020204" pitchFamily="34" charset="0"/>
              <a:buChar char="•"/>
            </a:pPr>
            <a:endParaRPr lang="en-US" dirty="0">
              <a:solidFill>
                <a:srgbClr val="A0453E"/>
              </a:solidFill>
              <a:latin typeface="Inter"/>
            </a:endParaRPr>
          </a:p>
          <a:p>
            <a:pPr marL="285750" indent="-285750">
              <a:buFont typeface="Arial" panose="020B0604020202020204" pitchFamily="34" charset="0"/>
              <a:buChar char="•"/>
            </a:pPr>
            <a:r>
              <a:rPr lang="en-US" dirty="0" err="1">
                <a:solidFill>
                  <a:srgbClr val="A0453E"/>
                </a:solidFill>
                <a:latin typeface="Inter"/>
              </a:rPr>
              <a:t>Es</a:t>
            </a:r>
            <a:r>
              <a:rPr lang="en-US" dirty="0">
                <a:solidFill>
                  <a:srgbClr val="A0453E"/>
                </a:solidFill>
                <a:latin typeface="Inter"/>
              </a:rPr>
              <a:t> sensible a la </a:t>
            </a:r>
            <a:r>
              <a:rPr lang="en-US" dirty="0" err="1">
                <a:solidFill>
                  <a:srgbClr val="A0453E"/>
                </a:solidFill>
                <a:latin typeface="Inter"/>
              </a:rPr>
              <a:t>presencia</a:t>
            </a:r>
            <a:r>
              <a:rPr lang="en-US" dirty="0">
                <a:solidFill>
                  <a:srgbClr val="A0453E"/>
                </a:solidFill>
                <a:latin typeface="Inter"/>
              </a:rPr>
              <a:t> de </a:t>
            </a:r>
            <a:r>
              <a:rPr lang="en-US" b="1" dirty="0" err="1">
                <a:solidFill>
                  <a:srgbClr val="A0453E"/>
                </a:solidFill>
                <a:latin typeface="Inter"/>
              </a:rPr>
              <a:t>datos</a:t>
            </a:r>
            <a:r>
              <a:rPr lang="en-US" b="1" dirty="0">
                <a:solidFill>
                  <a:srgbClr val="A0453E"/>
                </a:solidFill>
                <a:latin typeface="Inter"/>
              </a:rPr>
              <a:t> </a:t>
            </a:r>
            <a:r>
              <a:rPr lang="en-US" b="1" dirty="0" err="1">
                <a:solidFill>
                  <a:srgbClr val="A0453E"/>
                </a:solidFill>
                <a:latin typeface="Inter"/>
              </a:rPr>
              <a:t>anómalos</a:t>
            </a:r>
            <a:r>
              <a:rPr lang="en-US" b="1" dirty="0">
                <a:solidFill>
                  <a:srgbClr val="A0453E"/>
                </a:solidFill>
                <a:latin typeface="Inter"/>
              </a:rPr>
              <a:t>.</a:t>
            </a:r>
          </a:p>
          <a:p>
            <a:pPr marL="285750" indent="-285750">
              <a:buFont typeface="Arial" panose="020B0604020202020204" pitchFamily="34" charset="0"/>
              <a:buChar char="•"/>
            </a:pPr>
            <a:endParaRPr lang="en-US" dirty="0">
              <a:solidFill>
                <a:srgbClr val="A0453E"/>
              </a:solidFill>
              <a:latin typeface="Inter"/>
            </a:endParaRPr>
          </a:p>
          <a:p>
            <a:pPr marL="285750" indent="-285750">
              <a:buFont typeface="Arial" panose="020B0604020202020204" pitchFamily="34" charset="0"/>
              <a:buChar char="•"/>
            </a:pPr>
            <a:r>
              <a:rPr lang="en-US" dirty="0">
                <a:solidFill>
                  <a:srgbClr val="A0453E"/>
                </a:solidFill>
                <a:latin typeface="Inter"/>
              </a:rPr>
              <a:t>Los </a:t>
            </a:r>
            <a:r>
              <a:rPr lang="en-US" dirty="0" err="1">
                <a:solidFill>
                  <a:srgbClr val="A0453E"/>
                </a:solidFill>
                <a:latin typeface="Inter"/>
              </a:rPr>
              <a:t>resultados</a:t>
            </a:r>
            <a:r>
              <a:rPr lang="en-US" dirty="0">
                <a:solidFill>
                  <a:srgbClr val="A0453E"/>
                </a:solidFill>
                <a:latin typeface="Inter"/>
              </a:rPr>
              <a:t> son </a:t>
            </a:r>
            <a:r>
              <a:rPr lang="en-US" b="1" dirty="0" err="1">
                <a:solidFill>
                  <a:srgbClr val="A0453E"/>
                </a:solidFill>
                <a:latin typeface="Inter"/>
              </a:rPr>
              <a:t>dependientes</a:t>
            </a:r>
            <a:r>
              <a:rPr lang="en-US" b="1" dirty="0">
                <a:solidFill>
                  <a:srgbClr val="A0453E"/>
                </a:solidFill>
                <a:latin typeface="Inter"/>
              </a:rPr>
              <a:t> de la </a:t>
            </a:r>
            <a:r>
              <a:rPr lang="en-US" b="1" dirty="0" err="1">
                <a:solidFill>
                  <a:srgbClr val="A0453E"/>
                </a:solidFill>
                <a:latin typeface="Inter"/>
              </a:rPr>
              <a:t>inicialización</a:t>
            </a:r>
            <a:r>
              <a:rPr lang="en-US" b="1" dirty="0">
                <a:solidFill>
                  <a:srgbClr val="A0453E"/>
                </a:solidFill>
                <a:latin typeface="Inter"/>
              </a:rPr>
              <a:t> </a:t>
            </a:r>
            <a:r>
              <a:rPr lang="en-US" dirty="0">
                <a:solidFill>
                  <a:srgbClr val="A0453E"/>
                </a:solidFill>
                <a:latin typeface="Inter"/>
              </a:rPr>
              <a:t>de </a:t>
            </a:r>
            <a:r>
              <a:rPr lang="en-US" dirty="0" err="1">
                <a:solidFill>
                  <a:srgbClr val="A0453E"/>
                </a:solidFill>
                <a:latin typeface="Inter"/>
              </a:rPr>
              <a:t>los</a:t>
            </a:r>
            <a:r>
              <a:rPr lang="en-US" dirty="0">
                <a:solidFill>
                  <a:srgbClr val="A0453E"/>
                </a:solidFill>
                <a:latin typeface="Inter"/>
              </a:rPr>
              <a:t> </a:t>
            </a:r>
            <a:r>
              <a:rPr lang="en-US" dirty="0" err="1">
                <a:solidFill>
                  <a:srgbClr val="A0453E"/>
                </a:solidFill>
                <a:latin typeface="Inter"/>
              </a:rPr>
              <a:t>centroides</a:t>
            </a:r>
            <a:r>
              <a:rPr lang="en-US" dirty="0">
                <a:solidFill>
                  <a:srgbClr val="A0453E"/>
                </a:solidFill>
                <a:latin typeface="Inter"/>
              </a:rPr>
              <a:t>.</a:t>
            </a:r>
          </a:p>
          <a:p>
            <a:pPr marL="285750" indent="-285750">
              <a:buFont typeface="Arial" panose="020B0604020202020204" pitchFamily="34" charset="0"/>
              <a:buChar char="•"/>
            </a:pPr>
            <a:endParaRPr lang="en-US" dirty="0">
              <a:solidFill>
                <a:srgbClr val="A0453E"/>
              </a:solidFill>
              <a:latin typeface="Inter"/>
            </a:endParaRPr>
          </a:p>
          <a:p>
            <a:pPr marL="285750" indent="-285750">
              <a:buFont typeface="Arial" panose="020B0604020202020204" pitchFamily="34" charset="0"/>
              <a:buChar char="•"/>
            </a:pPr>
            <a:r>
              <a:rPr lang="en-US" b="1" dirty="0" err="1">
                <a:solidFill>
                  <a:srgbClr val="A0453E"/>
                </a:solidFill>
                <a:latin typeface="Inter"/>
              </a:rPr>
              <a:t>Requiere</a:t>
            </a:r>
            <a:r>
              <a:rPr lang="en-US" dirty="0">
                <a:solidFill>
                  <a:srgbClr val="A0453E"/>
                </a:solidFill>
                <a:latin typeface="Inter"/>
              </a:rPr>
              <a:t> “</a:t>
            </a:r>
            <a:r>
              <a:rPr lang="en-US" dirty="0" err="1">
                <a:solidFill>
                  <a:srgbClr val="A0453E"/>
                </a:solidFill>
                <a:latin typeface="Inter"/>
              </a:rPr>
              <a:t>conocer</a:t>
            </a:r>
            <a:r>
              <a:rPr lang="en-US" dirty="0">
                <a:solidFill>
                  <a:srgbClr val="A0453E"/>
                </a:solidFill>
                <a:latin typeface="Inter"/>
              </a:rPr>
              <a:t>” </a:t>
            </a:r>
            <a:r>
              <a:rPr lang="en-US" b="1" dirty="0">
                <a:solidFill>
                  <a:srgbClr val="A0453E"/>
                </a:solidFill>
                <a:latin typeface="Inter"/>
              </a:rPr>
              <a:t>K</a:t>
            </a:r>
            <a:r>
              <a:rPr lang="en-US" dirty="0">
                <a:solidFill>
                  <a:srgbClr val="A0453E"/>
                </a:solidFill>
                <a:latin typeface="Inter"/>
              </a:rPr>
              <a:t>, el </a:t>
            </a:r>
            <a:r>
              <a:rPr lang="en-US" dirty="0" err="1">
                <a:solidFill>
                  <a:srgbClr val="A0453E"/>
                </a:solidFill>
                <a:latin typeface="Inter"/>
              </a:rPr>
              <a:t>número</a:t>
            </a:r>
            <a:r>
              <a:rPr lang="en-US" dirty="0">
                <a:solidFill>
                  <a:srgbClr val="A0453E"/>
                </a:solidFill>
                <a:latin typeface="Inter"/>
              </a:rPr>
              <a:t> de </a:t>
            </a:r>
            <a:r>
              <a:rPr lang="en-US" dirty="0" err="1">
                <a:solidFill>
                  <a:srgbClr val="A0453E"/>
                </a:solidFill>
                <a:latin typeface="Inter"/>
              </a:rPr>
              <a:t>grupos</a:t>
            </a:r>
            <a:r>
              <a:rPr lang="en-US" dirty="0">
                <a:solidFill>
                  <a:srgbClr val="A0453E"/>
                </a:solidFill>
                <a:latin typeface="Inter"/>
              </a:rPr>
              <a:t> antes de </a:t>
            </a:r>
            <a:r>
              <a:rPr lang="en-US" dirty="0" err="1">
                <a:solidFill>
                  <a:srgbClr val="A0453E"/>
                </a:solidFill>
                <a:latin typeface="Inter"/>
              </a:rPr>
              <a:t>hacer</a:t>
            </a:r>
            <a:r>
              <a:rPr lang="en-US" dirty="0">
                <a:solidFill>
                  <a:srgbClr val="A0453E"/>
                </a:solidFill>
                <a:latin typeface="Inter"/>
              </a:rPr>
              <a:t> el </a:t>
            </a:r>
            <a:r>
              <a:rPr lang="en-US" dirty="0" err="1">
                <a:solidFill>
                  <a:srgbClr val="A0453E"/>
                </a:solidFill>
                <a:latin typeface="Inter"/>
              </a:rPr>
              <a:t>agrupamiento</a:t>
            </a:r>
            <a:r>
              <a:rPr lang="en-US" dirty="0">
                <a:solidFill>
                  <a:srgbClr val="A0453E"/>
                </a:solidFill>
                <a:latin typeface="Inter"/>
              </a:rPr>
              <a:t>.</a:t>
            </a:r>
          </a:p>
          <a:p>
            <a:pPr marL="285750" indent="-285750">
              <a:buFont typeface="Arial" panose="020B0604020202020204" pitchFamily="34" charset="0"/>
              <a:buChar char="•"/>
            </a:pPr>
            <a:endParaRPr lang="en-US" dirty="0">
              <a:solidFill>
                <a:srgbClr val="A0453E"/>
              </a:solidFill>
              <a:latin typeface="Inter"/>
            </a:endParaRPr>
          </a:p>
          <a:p>
            <a:pPr marL="285750" indent="-285750">
              <a:buFont typeface="Arial" panose="020B0604020202020204" pitchFamily="34" charset="0"/>
              <a:buChar char="•"/>
            </a:pPr>
            <a:r>
              <a:rPr lang="en-US" dirty="0" err="1">
                <a:solidFill>
                  <a:srgbClr val="A0453E"/>
                </a:solidFill>
                <a:latin typeface="Inter"/>
              </a:rPr>
              <a:t>Aunque</a:t>
            </a:r>
            <a:r>
              <a:rPr lang="en-US" dirty="0">
                <a:solidFill>
                  <a:srgbClr val="A0453E"/>
                </a:solidFill>
                <a:latin typeface="Inter"/>
              </a:rPr>
              <a:t> </a:t>
            </a:r>
            <a:r>
              <a:rPr lang="en-US" dirty="0" err="1">
                <a:solidFill>
                  <a:srgbClr val="A0453E"/>
                </a:solidFill>
                <a:latin typeface="Inter"/>
              </a:rPr>
              <a:t>funciona</a:t>
            </a:r>
            <a:r>
              <a:rPr lang="en-US" dirty="0">
                <a:solidFill>
                  <a:srgbClr val="A0453E"/>
                </a:solidFill>
                <a:latin typeface="Inter"/>
              </a:rPr>
              <a:t> </a:t>
            </a:r>
            <a:r>
              <a:rPr lang="en-US" dirty="0" err="1">
                <a:solidFill>
                  <a:srgbClr val="A0453E"/>
                </a:solidFill>
                <a:latin typeface="Inter"/>
              </a:rPr>
              <a:t>bien</a:t>
            </a:r>
            <a:r>
              <a:rPr lang="en-US" dirty="0">
                <a:solidFill>
                  <a:srgbClr val="A0453E"/>
                </a:solidFill>
                <a:latin typeface="Inter"/>
              </a:rPr>
              <a:t> con un gran </a:t>
            </a:r>
            <a:r>
              <a:rPr lang="en-US" dirty="0" err="1">
                <a:solidFill>
                  <a:srgbClr val="A0453E"/>
                </a:solidFill>
                <a:latin typeface="Inter"/>
              </a:rPr>
              <a:t>volumen</a:t>
            </a:r>
            <a:r>
              <a:rPr lang="en-US" dirty="0">
                <a:solidFill>
                  <a:srgbClr val="A0453E"/>
                </a:solidFill>
                <a:latin typeface="Inter"/>
              </a:rPr>
              <a:t> de </a:t>
            </a:r>
            <a:r>
              <a:rPr lang="en-US" dirty="0" err="1">
                <a:solidFill>
                  <a:srgbClr val="A0453E"/>
                </a:solidFill>
                <a:latin typeface="Inter"/>
              </a:rPr>
              <a:t>datos</a:t>
            </a:r>
            <a:r>
              <a:rPr lang="en-US" dirty="0">
                <a:solidFill>
                  <a:srgbClr val="A0453E"/>
                </a:solidFill>
                <a:latin typeface="Inter"/>
              </a:rPr>
              <a:t>, </a:t>
            </a:r>
            <a:r>
              <a:rPr lang="en-US" b="1" dirty="0">
                <a:solidFill>
                  <a:srgbClr val="A0453E"/>
                </a:solidFill>
                <a:latin typeface="Inter"/>
              </a:rPr>
              <a:t>no </a:t>
            </a:r>
            <a:r>
              <a:rPr lang="en-US" b="1" dirty="0" err="1">
                <a:solidFill>
                  <a:srgbClr val="A0453E"/>
                </a:solidFill>
                <a:latin typeface="Inter"/>
              </a:rPr>
              <a:t>es</a:t>
            </a:r>
            <a:r>
              <a:rPr lang="en-US" b="1" dirty="0">
                <a:solidFill>
                  <a:srgbClr val="A0453E"/>
                </a:solidFill>
                <a:latin typeface="Inter"/>
              </a:rPr>
              <a:t> </a:t>
            </a:r>
            <a:r>
              <a:rPr lang="en-US" b="1" dirty="0" err="1">
                <a:solidFill>
                  <a:srgbClr val="A0453E"/>
                </a:solidFill>
                <a:latin typeface="Inter"/>
              </a:rPr>
              <a:t>eficiente</a:t>
            </a:r>
            <a:r>
              <a:rPr lang="en-US" b="1" dirty="0">
                <a:solidFill>
                  <a:srgbClr val="A0453E"/>
                </a:solidFill>
                <a:latin typeface="Inter"/>
              </a:rPr>
              <a:t> </a:t>
            </a:r>
            <a:r>
              <a:rPr lang="en-US" dirty="0">
                <a:solidFill>
                  <a:srgbClr val="A0453E"/>
                </a:solidFill>
                <a:latin typeface="Inter"/>
              </a:rPr>
              <a:t>ante un gran </a:t>
            </a:r>
            <a:r>
              <a:rPr lang="en-US" dirty="0" err="1">
                <a:solidFill>
                  <a:srgbClr val="A0453E"/>
                </a:solidFill>
                <a:latin typeface="Inter"/>
              </a:rPr>
              <a:t>número</a:t>
            </a:r>
            <a:r>
              <a:rPr lang="en-US" dirty="0">
                <a:solidFill>
                  <a:srgbClr val="A0453E"/>
                </a:solidFill>
                <a:latin typeface="Inter"/>
              </a:rPr>
              <a:t> de </a:t>
            </a:r>
            <a:r>
              <a:rPr lang="en-US" b="1" dirty="0" err="1">
                <a:solidFill>
                  <a:srgbClr val="A0453E"/>
                </a:solidFill>
                <a:latin typeface="Inter"/>
              </a:rPr>
              <a:t>dimensiones</a:t>
            </a:r>
            <a:r>
              <a:rPr lang="en-US" b="1" dirty="0">
                <a:solidFill>
                  <a:srgbClr val="A0453E"/>
                </a:solidFill>
                <a:latin typeface="Inter"/>
              </a:rPr>
              <a:t>.</a:t>
            </a:r>
          </a:p>
          <a:p>
            <a:pPr marL="285750" indent="-285750">
              <a:buFont typeface="Arial" panose="020B0604020202020204" pitchFamily="34" charset="0"/>
              <a:buChar char="•"/>
            </a:pPr>
            <a:endParaRPr lang="en-US" dirty="0">
              <a:solidFill>
                <a:srgbClr val="A0453E"/>
              </a:solidFill>
              <a:latin typeface="Inter"/>
            </a:endParaRPr>
          </a:p>
          <a:p>
            <a:pPr marL="285750" indent="-285750">
              <a:buFont typeface="Arial" panose="020B0604020202020204" pitchFamily="34" charset="0"/>
              <a:buChar char="•"/>
            </a:pPr>
            <a:r>
              <a:rPr lang="en-US" dirty="0" err="1">
                <a:solidFill>
                  <a:srgbClr val="A0453E"/>
                </a:solidFill>
                <a:latin typeface="Inter"/>
              </a:rPr>
              <a:t>Precisa</a:t>
            </a:r>
            <a:r>
              <a:rPr lang="en-US" dirty="0">
                <a:solidFill>
                  <a:srgbClr val="A0453E"/>
                </a:solidFill>
                <a:latin typeface="Inter"/>
              </a:rPr>
              <a:t> que </a:t>
            </a:r>
            <a:r>
              <a:rPr lang="en-US" dirty="0" err="1">
                <a:solidFill>
                  <a:srgbClr val="A0453E"/>
                </a:solidFill>
                <a:latin typeface="Inter"/>
              </a:rPr>
              <a:t>los</a:t>
            </a:r>
            <a:r>
              <a:rPr lang="en-US" dirty="0">
                <a:solidFill>
                  <a:srgbClr val="A0453E"/>
                </a:solidFill>
                <a:latin typeface="Inter"/>
              </a:rPr>
              <a:t> </a:t>
            </a:r>
            <a:r>
              <a:rPr lang="en-US" dirty="0" err="1">
                <a:solidFill>
                  <a:srgbClr val="A0453E"/>
                </a:solidFill>
                <a:latin typeface="Inter"/>
              </a:rPr>
              <a:t>conjuntos</a:t>
            </a:r>
            <a:r>
              <a:rPr lang="en-US" dirty="0">
                <a:solidFill>
                  <a:srgbClr val="A0453E"/>
                </a:solidFill>
                <a:latin typeface="Inter"/>
              </a:rPr>
              <a:t> </a:t>
            </a:r>
            <a:r>
              <a:rPr lang="en-US" dirty="0" err="1">
                <a:solidFill>
                  <a:srgbClr val="A0453E"/>
                </a:solidFill>
                <a:latin typeface="Inter"/>
              </a:rPr>
              <a:t>estén</a:t>
            </a:r>
            <a:r>
              <a:rPr lang="en-US" dirty="0">
                <a:solidFill>
                  <a:srgbClr val="A0453E"/>
                </a:solidFill>
                <a:latin typeface="Inter"/>
              </a:rPr>
              <a:t> </a:t>
            </a:r>
            <a:r>
              <a:rPr lang="en-US" b="1" dirty="0" err="1">
                <a:solidFill>
                  <a:srgbClr val="A0453E"/>
                </a:solidFill>
                <a:latin typeface="Inter"/>
              </a:rPr>
              <a:t>separados</a:t>
            </a:r>
            <a:r>
              <a:rPr lang="en-US" b="1" dirty="0">
                <a:solidFill>
                  <a:srgbClr val="A0453E"/>
                </a:solidFill>
                <a:latin typeface="Inter"/>
              </a:rPr>
              <a:t> </a:t>
            </a:r>
            <a:r>
              <a:rPr lang="en-US" b="1" dirty="0" err="1">
                <a:solidFill>
                  <a:srgbClr val="A0453E"/>
                </a:solidFill>
                <a:latin typeface="Inter"/>
              </a:rPr>
              <a:t>linealmente</a:t>
            </a:r>
            <a:r>
              <a:rPr lang="en-US" b="1">
                <a:solidFill>
                  <a:srgbClr val="A0453E"/>
                </a:solidFill>
                <a:latin typeface="Inter"/>
              </a:rPr>
              <a:t>.</a:t>
            </a:r>
            <a:endParaRPr lang="en-US" b="1" dirty="0">
              <a:solidFill>
                <a:srgbClr val="A0453E"/>
              </a:solidFill>
              <a:latin typeface="Inter"/>
            </a:endParaRPr>
          </a:p>
        </p:txBody>
      </p:sp>
    </p:spTree>
    <p:extLst>
      <p:ext uri="{BB962C8B-B14F-4D97-AF65-F5344CB8AC3E}">
        <p14:creationId xmlns:p14="http://schemas.microsoft.com/office/powerpoint/2010/main" val="338547387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29</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368990" y="415380"/>
            <a:ext cx="2199641" cy="707886"/>
          </a:xfrm>
          <a:prstGeom prst="rect">
            <a:avLst/>
          </a:prstGeom>
          <a:noFill/>
        </p:spPr>
        <p:txBody>
          <a:bodyPr wrap="none" rtlCol="0">
            <a:spAutoFit/>
          </a:bodyPr>
          <a:lstStyle/>
          <a:p>
            <a:r>
              <a:rPr lang="es-ES" sz="4000" b="1" dirty="0">
                <a:solidFill>
                  <a:schemeClr val="accent1">
                    <a:lumMod val="50000"/>
                  </a:schemeClr>
                </a:solidFill>
              </a:rPr>
              <a:t>K-</a:t>
            </a:r>
            <a:r>
              <a:rPr lang="es-ES" sz="4000" b="1" dirty="0" err="1">
                <a:solidFill>
                  <a:schemeClr val="accent1">
                    <a:lumMod val="50000"/>
                  </a:schemeClr>
                </a:solidFill>
              </a:rPr>
              <a:t>Means</a:t>
            </a:r>
            <a:r>
              <a:rPr lang="es-ES" sz="4000" b="1" dirty="0">
                <a:solidFill>
                  <a:schemeClr val="accent1">
                    <a:lumMod val="50000"/>
                  </a:schemeClr>
                </a:solidFill>
              </a:rPr>
              <a:t>.</a:t>
            </a:r>
          </a:p>
        </p:txBody>
      </p:sp>
      <p:sp>
        <p:nvSpPr>
          <p:cNvPr id="5" name="CuadroTexto 4">
            <a:extLst>
              <a:ext uri="{FF2B5EF4-FFF2-40B4-BE49-F238E27FC236}">
                <a16:creationId xmlns:a16="http://schemas.microsoft.com/office/drawing/2014/main" id="{D4286E82-FF38-1057-622F-02244AD16F2B}"/>
              </a:ext>
            </a:extLst>
          </p:cNvPr>
          <p:cNvSpPr txBox="1"/>
          <p:nvPr/>
        </p:nvSpPr>
        <p:spPr>
          <a:xfrm>
            <a:off x="368990" y="1123266"/>
            <a:ext cx="11278513" cy="3970318"/>
          </a:xfrm>
          <a:prstGeom prst="rect">
            <a:avLst/>
          </a:prstGeom>
          <a:noFill/>
        </p:spPr>
        <p:txBody>
          <a:bodyPr wrap="square" rtlCol="0">
            <a:spAutoFit/>
          </a:bodyPr>
          <a:lstStyle/>
          <a:p>
            <a:r>
              <a:rPr lang="es-ES" dirty="0">
                <a:solidFill>
                  <a:schemeClr val="accent1">
                    <a:lumMod val="50000"/>
                  </a:schemeClr>
                </a:solidFill>
                <a:hlinkClick r:id="rId2"/>
              </a:rPr>
              <a:t>https://scikit-learn.org/stable/modules/clustering.html#k-means</a:t>
            </a:r>
          </a:p>
          <a:p>
            <a:r>
              <a:rPr lang="es-ES" dirty="0">
                <a:solidFill>
                  <a:schemeClr val="accent1">
                    <a:lumMod val="50000"/>
                  </a:schemeClr>
                </a:solidFill>
                <a:hlinkClick r:id="rId2"/>
              </a:rPr>
              <a:t>https://towardsdatascience.com/a-practical-guide-on-k-means-clustering-ca3bef3c853d</a:t>
            </a:r>
          </a:p>
          <a:p>
            <a:r>
              <a:rPr lang="es-ES" dirty="0">
                <a:solidFill>
                  <a:schemeClr val="accent1">
                    <a:lumMod val="50000"/>
                  </a:schemeClr>
                </a:solidFill>
                <a:hlinkClick r:id="rId2"/>
              </a:rPr>
              <a:t>https://www.kaggle.com/code/marcinrutecki/clustering-methods-comprehensive-study</a:t>
            </a:r>
            <a:endParaRPr lang="es-ES" dirty="0">
              <a:solidFill>
                <a:schemeClr val="accent1">
                  <a:lumMod val="50000"/>
                </a:schemeClr>
              </a:solidFill>
            </a:endParaRPr>
          </a:p>
          <a:p>
            <a:r>
              <a:rPr lang="es-ES" dirty="0">
                <a:solidFill>
                  <a:schemeClr val="accent1">
                    <a:lumMod val="50000"/>
                  </a:schemeClr>
                </a:solidFill>
                <a:hlinkClick r:id="rId3"/>
              </a:rPr>
              <a:t>https://www.kaggle.com/datasets/joonasyoon/clustering-exercises</a:t>
            </a:r>
            <a:endParaRPr lang="es-ES" dirty="0">
              <a:solidFill>
                <a:schemeClr val="accent1">
                  <a:lumMod val="50000"/>
                </a:schemeClr>
              </a:solidFill>
            </a:endParaRPr>
          </a:p>
          <a:p>
            <a:r>
              <a:rPr lang="es-ES" dirty="0">
                <a:solidFill>
                  <a:schemeClr val="accent1">
                    <a:lumMod val="50000"/>
                  </a:schemeClr>
                </a:solidFill>
                <a:hlinkClick r:id="rId4"/>
              </a:rPr>
              <a:t>https://www.kaggle.com/code/andyxie/k-means-clustering-implementation-in-python</a:t>
            </a:r>
            <a:endParaRPr lang="es-ES" dirty="0">
              <a:solidFill>
                <a:schemeClr val="accent1">
                  <a:lumMod val="50000"/>
                </a:schemeClr>
              </a:solidFill>
            </a:endParaRPr>
          </a:p>
          <a:p>
            <a:r>
              <a:rPr lang="es-ES" dirty="0">
                <a:solidFill>
                  <a:schemeClr val="accent1">
                    <a:lumMod val="50000"/>
                  </a:schemeClr>
                </a:solidFill>
                <a:hlinkClick r:id="rId5"/>
              </a:rPr>
              <a:t>https://github.com/AssemblyAI-Examples/Machine-Learning-From-Scratch/tree/main/10%20KMeans</a:t>
            </a:r>
            <a:endParaRPr lang="es-ES" dirty="0">
              <a:solidFill>
                <a:schemeClr val="accent1">
                  <a:lumMod val="50000"/>
                </a:schemeClr>
              </a:solidFill>
            </a:endParaRPr>
          </a:p>
          <a:p>
            <a:r>
              <a:rPr lang="es-ES" dirty="0">
                <a:solidFill>
                  <a:schemeClr val="accent1">
                    <a:lumMod val="50000"/>
                  </a:schemeClr>
                </a:solidFill>
                <a:hlinkClick r:id="rId6"/>
              </a:rPr>
              <a:t>https://scikit-learn.org/stable/auto_examples/cluster/plot_kmeans_digits.html</a:t>
            </a:r>
            <a:endParaRPr lang="es-ES" dirty="0">
              <a:solidFill>
                <a:schemeClr val="accent1">
                  <a:lumMod val="50000"/>
                </a:schemeClr>
              </a:solidFill>
            </a:endParaRPr>
          </a:p>
          <a:p>
            <a:r>
              <a:rPr lang="es-ES" dirty="0">
                <a:solidFill>
                  <a:schemeClr val="accent1">
                    <a:lumMod val="50000"/>
                  </a:schemeClr>
                </a:solidFill>
                <a:hlinkClick r:id="rId7"/>
              </a:rPr>
              <a:t>https://www.unioviedo.es/compnum/laboratorios_py/kmeans/kmeans</a:t>
            </a:r>
            <a:r>
              <a:rPr lang="es-ES" dirty="0">
                <a:solidFill>
                  <a:schemeClr val="accent1">
                    <a:lumMod val="50000"/>
                  </a:schemeClr>
                </a:solidFill>
              </a:rPr>
              <a:t>  </a:t>
            </a:r>
            <a:r>
              <a:rPr lang="es-ES" dirty="0">
                <a:hlinkClick r:id="rId8"/>
              </a:rPr>
              <a:t>https://www.kaggle.com/code/marcinrutecki/clustering-methods-comprehensive-study</a:t>
            </a:r>
          </a:p>
          <a:p>
            <a:r>
              <a:rPr lang="es-ES" dirty="0">
                <a:solidFill>
                  <a:schemeClr val="accent1">
                    <a:lumMod val="50000"/>
                  </a:schemeClr>
                </a:solidFill>
                <a:hlinkClick r:id="rId9"/>
              </a:rPr>
              <a:t>https://www.kaggle.com/k-means-clustering-implementation-in-python</a:t>
            </a:r>
            <a:endParaRPr lang="es-ES" dirty="0">
              <a:solidFill>
                <a:schemeClr val="accent1">
                  <a:lumMod val="50000"/>
                </a:schemeClr>
              </a:solidFill>
            </a:endParaRPr>
          </a:p>
          <a:p>
            <a:endParaRPr lang="es-ES" dirty="0">
              <a:solidFill>
                <a:schemeClr val="accent1">
                  <a:lumMod val="50000"/>
                </a:schemeClr>
              </a:solidFill>
            </a:endParaRPr>
          </a:p>
          <a:p>
            <a:endParaRPr lang="es-ES" dirty="0">
              <a:solidFill>
                <a:schemeClr val="accent1">
                  <a:lumMod val="50000"/>
                </a:schemeClr>
              </a:solidFill>
            </a:endParaRPr>
          </a:p>
          <a:p>
            <a:endParaRPr lang="es-ES" dirty="0">
              <a:solidFill>
                <a:schemeClr val="accent1">
                  <a:lumMod val="50000"/>
                </a:schemeClr>
              </a:solidFill>
            </a:endParaRPr>
          </a:p>
          <a:p>
            <a:endParaRPr lang="es-ES" dirty="0">
              <a:solidFill>
                <a:schemeClr val="accent1">
                  <a:lumMod val="50000"/>
                </a:schemeClr>
              </a:solidFill>
            </a:endParaRPr>
          </a:p>
        </p:txBody>
      </p:sp>
    </p:spTree>
    <p:extLst>
      <p:ext uri="{BB962C8B-B14F-4D97-AF65-F5344CB8AC3E}">
        <p14:creationId xmlns:p14="http://schemas.microsoft.com/office/powerpoint/2010/main" val="23219081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F302CC60E946844A44D317C8BB05DF9" ma:contentTypeVersion="33" ma:contentTypeDescription="Crear nuevo documento." ma:contentTypeScope="" ma:versionID="6c7e834fe0d5188d98b29a4344d1f3e2">
  <xsd:schema xmlns:xsd="http://www.w3.org/2001/XMLSchema" xmlns:xs="http://www.w3.org/2001/XMLSchema" xmlns:p="http://schemas.microsoft.com/office/2006/metadata/properties" xmlns:ns2="68147b4b-69d7-4619-95cc-ccc087043548" xmlns:ns3="a938ec2a-6b57-4b72-a76f-73152430bf4a" targetNamespace="http://schemas.microsoft.com/office/2006/metadata/properties" ma:root="true" ma:fieldsID="1cf8b5368cec60b5cd6cb2330498c9d6" ns2:_="" ns3:_="">
    <xsd:import namespace="68147b4b-69d7-4619-95cc-ccc087043548"/>
    <xsd:import namespace="a938ec2a-6b57-4b72-a76f-73152430bf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147b4b-69d7-4619-95cc-ccc0870435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6b79bab5-423c-41bb-b2a6-fa644551eac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NotebookType" ma:index="20" nillable="true" ma:displayName="Notebook Type" ma:internalName="NotebookType">
      <xsd:simpleType>
        <xsd:restriction base="dms:Text"/>
      </xsd:simpleType>
    </xsd:element>
    <xsd:element name="FolderType" ma:index="21" nillable="true" ma:displayName="Folder Type" ma:internalName="FolderType">
      <xsd:simpleType>
        <xsd:restriction base="dms:Text"/>
      </xsd:simpleType>
    </xsd:element>
    <xsd:element name="CultureName" ma:index="22" nillable="true" ma:displayName="Culture Name" ma:internalName="CultureName">
      <xsd:simpleType>
        <xsd:restriction base="dms:Text"/>
      </xsd:simpleType>
    </xsd:element>
    <xsd:element name="AppVersion" ma:index="23" nillable="true" ma:displayName="App Version" ma:internalName="AppVersion">
      <xsd:simpleType>
        <xsd:restriction base="dms:Text"/>
      </xsd:simpleType>
    </xsd:element>
    <xsd:element name="TeamsChannelId" ma:index="24" nillable="true" ma:displayName="Teams Channel Id" ma:internalName="TeamsChannelId">
      <xsd:simpleType>
        <xsd:restriction base="dms:Text"/>
      </xsd:simpleType>
    </xsd:element>
    <xsd:element name="Owner" ma:index="2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6" nillable="true" ma:displayName="Math Settings" ma:internalName="Math_Settings">
      <xsd:simpleType>
        <xsd:restriction base="dms:Text"/>
      </xsd:simpleType>
    </xsd:element>
    <xsd:element name="DefaultSectionNames" ma:index="27" nillable="true" ma:displayName="Default Section Names" ma:internalName="DefaultSectionNames">
      <xsd:simpleType>
        <xsd:restriction base="dms:Note">
          <xsd:maxLength value="255"/>
        </xsd:restriction>
      </xsd:simpleType>
    </xsd:element>
    <xsd:element name="Templates" ma:index="28" nillable="true" ma:displayName="Templates" ma:internalName="Templates">
      <xsd:simpleType>
        <xsd:restriction base="dms:Note">
          <xsd:maxLength value="255"/>
        </xsd:restriction>
      </xsd:simpleType>
    </xsd:element>
    <xsd:element name="Teachers" ma:index="2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2" nillable="true" ma:displayName="Distribution Groups" ma:internalName="Distribution_Groups">
      <xsd:simpleType>
        <xsd:restriction base="dms:Note">
          <xsd:maxLength value="255"/>
        </xsd:restriction>
      </xsd:simpleType>
    </xsd:element>
    <xsd:element name="LMS_Mappings" ma:index="33" nillable="true" ma:displayName="LMS Mappings" ma:internalName="LMS_Mappings">
      <xsd:simpleType>
        <xsd:restriction base="dms:Note">
          <xsd:maxLength value="255"/>
        </xsd:restriction>
      </xsd:simpleType>
    </xsd:element>
    <xsd:element name="Invited_Teachers" ma:index="34" nillable="true" ma:displayName="Invited Teachers" ma:internalName="Invited_Teachers">
      <xsd:simpleType>
        <xsd:restriction base="dms:Note">
          <xsd:maxLength value="255"/>
        </xsd:restriction>
      </xsd:simpleType>
    </xsd:element>
    <xsd:element name="Invited_Students" ma:index="35" nillable="true" ma:displayName="Invited Students" ma:internalName="Invited_Students">
      <xsd:simpleType>
        <xsd:restriction base="dms:Note">
          <xsd:maxLength value="255"/>
        </xsd:restriction>
      </xsd:simpleType>
    </xsd:element>
    <xsd:element name="Self_Registration_Enabled" ma:index="36" nillable="true" ma:displayName="Self Registration Enabled" ma:internalName="Self_Registration_Enabled">
      <xsd:simpleType>
        <xsd:restriction base="dms:Boolean"/>
      </xsd:simpleType>
    </xsd:element>
    <xsd:element name="Has_Teacher_Only_SectionGroup" ma:index="37" nillable="true" ma:displayName="Has Teacher Only SectionGroup" ma:internalName="Has_Teacher_Only_SectionGroup">
      <xsd:simpleType>
        <xsd:restriction base="dms:Boolean"/>
      </xsd:simpleType>
    </xsd:element>
    <xsd:element name="Is_Collaboration_Space_Locked" ma:index="38" nillable="true" ma:displayName="Is Collaboration Space Locked" ma:internalName="Is_Collaboration_Space_Locked">
      <xsd:simpleType>
        <xsd:restriction base="dms:Boolean"/>
      </xsd:simpleType>
    </xsd:element>
    <xsd:element name="IsNotebookLocked" ma:index="39" nillable="true" ma:displayName="Is Notebook Locked" ma:internalName="IsNotebookLocked">
      <xsd:simpleType>
        <xsd:restriction base="dms:Boolean"/>
      </xsd:simpleType>
    </xsd:element>
    <xsd:element name="Teams_Channel_Section_Location" ma:index="40"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38ec2a-6b57-4b72-a76f-73152430bf4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bc230d2-7967-476b-a5b7-5f7b59276066}" ma:internalName="TaxCatchAll" ma:showField="CatchAllData" ma:web="a938ec2a-6b57-4b72-a76f-73152430bf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wner xmlns="68147b4b-69d7-4619-95cc-ccc087043548">
      <UserInfo>
        <DisplayName/>
        <AccountId xsi:nil="true"/>
        <AccountType/>
      </UserInfo>
    </Owner>
    <Is_Collaboration_Space_Locked xmlns="68147b4b-69d7-4619-95cc-ccc087043548" xsi:nil="true"/>
    <Teams_Channel_Section_Location xmlns="68147b4b-69d7-4619-95cc-ccc087043548" xsi:nil="true"/>
    <Templates xmlns="68147b4b-69d7-4619-95cc-ccc087043548" xsi:nil="true"/>
    <lcf76f155ced4ddcb4097134ff3c332f xmlns="68147b4b-69d7-4619-95cc-ccc087043548">
      <Terms xmlns="http://schemas.microsoft.com/office/infopath/2007/PartnerControls"/>
    </lcf76f155ced4ddcb4097134ff3c332f>
    <TaxCatchAll xmlns="a938ec2a-6b57-4b72-a76f-73152430bf4a" xsi:nil="true"/>
    <NotebookType xmlns="68147b4b-69d7-4619-95cc-ccc087043548" xsi:nil="true"/>
    <FolderType xmlns="68147b4b-69d7-4619-95cc-ccc087043548" xsi:nil="true"/>
    <Teachers xmlns="68147b4b-69d7-4619-95cc-ccc087043548">
      <UserInfo>
        <DisplayName/>
        <AccountId xsi:nil="true"/>
        <AccountType/>
      </UserInfo>
    </Teachers>
    <Distribution_Groups xmlns="68147b4b-69d7-4619-95cc-ccc087043548" xsi:nil="true"/>
    <LMS_Mappings xmlns="68147b4b-69d7-4619-95cc-ccc087043548" xsi:nil="true"/>
    <Invited_Teachers xmlns="68147b4b-69d7-4619-95cc-ccc087043548" xsi:nil="true"/>
    <IsNotebookLocked xmlns="68147b4b-69d7-4619-95cc-ccc087043548" xsi:nil="true"/>
    <CultureName xmlns="68147b4b-69d7-4619-95cc-ccc087043548" xsi:nil="true"/>
    <Students xmlns="68147b4b-69d7-4619-95cc-ccc087043548">
      <UserInfo>
        <DisplayName/>
        <AccountId xsi:nil="true"/>
        <AccountType/>
      </UserInfo>
    </Students>
    <Student_Groups xmlns="68147b4b-69d7-4619-95cc-ccc087043548">
      <UserInfo>
        <DisplayName/>
        <AccountId xsi:nil="true"/>
        <AccountType/>
      </UserInfo>
    </Student_Groups>
    <TeamsChannelId xmlns="68147b4b-69d7-4619-95cc-ccc087043548" xsi:nil="true"/>
    <Invited_Students xmlns="68147b4b-69d7-4619-95cc-ccc087043548" xsi:nil="true"/>
    <DefaultSectionNames xmlns="68147b4b-69d7-4619-95cc-ccc087043548" xsi:nil="true"/>
    <Self_Registration_Enabled xmlns="68147b4b-69d7-4619-95cc-ccc087043548" xsi:nil="true"/>
    <Has_Teacher_Only_SectionGroup xmlns="68147b4b-69d7-4619-95cc-ccc087043548" xsi:nil="true"/>
    <Math_Settings xmlns="68147b4b-69d7-4619-95cc-ccc087043548" xsi:nil="true"/>
    <AppVersion xmlns="68147b4b-69d7-4619-95cc-ccc087043548" xsi:nil="true"/>
  </documentManagement>
</p:properties>
</file>

<file path=customXml/itemProps1.xml><?xml version="1.0" encoding="utf-8"?>
<ds:datastoreItem xmlns:ds="http://schemas.openxmlformats.org/officeDocument/2006/customXml" ds:itemID="{40007E34-7981-4494-827C-9F42621E085F}"/>
</file>

<file path=customXml/itemProps2.xml><?xml version="1.0" encoding="utf-8"?>
<ds:datastoreItem xmlns:ds="http://schemas.openxmlformats.org/officeDocument/2006/customXml" ds:itemID="{4F7AE5DD-82AB-4D41-A9AD-0B1BAFEFFCB4}"/>
</file>

<file path=customXml/itemProps3.xml><?xml version="1.0" encoding="utf-8"?>
<ds:datastoreItem xmlns:ds="http://schemas.openxmlformats.org/officeDocument/2006/customXml" ds:itemID="{BEE3DD35-06D0-4119-AFF9-9220EA437045}"/>
</file>

<file path=docProps/app.xml><?xml version="1.0" encoding="utf-8"?>
<Properties xmlns="http://schemas.openxmlformats.org/officeDocument/2006/extended-properties" xmlns:vt="http://schemas.openxmlformats.org/officeDocument/2006/docPropsVTypes">
  <TotalTime>402</TotalTime>
  <Words>2594</Words>
  <Application>Microsoft Office PowerPoint</Application>
  <PresentationFormat>Panorámica</PresentationFormat>
  <Paragraphs>541</Paragraphs>
  <Slides>29</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29</vt:i4>
      </vt:variant>
    </vt:vector>
  </HeadingPairs>
  <TitlesOfParts>
    <vt:vector size="37" baseType="lpstr">
      <vt:lpstr>Arial</vt:lpstr>
      <vt:lpstr>Calibri</vt:lpstr>
      <vt:lpstr>Calibri Light</vt:lpstr>
      <vt:lpstr>Cambria Math</vt:lpstr>
      <vt:lpstr>Consolas</vt:lpstr>
      <vt:lpstr>Courier New</vt:lpstr>
      <vt:lpstr>Inter</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uss</dc:creator>
  <cp:lastModifiedBy>Javier_PC</cp:lastModifiedBy>
  <cp:revision>354</cp:revision>
  <cp:lastPrinted>2024-05-20T14:53:26Z</cp:lastPrinted>
  <dcterms:created xsi:type="dcterms:W3CDTF">2018-11-26T16:12:09Z</dcterms:created>
  <dcterms:modified xsi:type="dcterms:W3CDTF">2026-02-25T11:19:36Z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0x010100CF302CC60E946844A44D317C8BB05DF9</vt:lpwstr>
  </property>
</Properties>
</file>