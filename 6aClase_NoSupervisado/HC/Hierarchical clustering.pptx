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1.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30.xml" ContentType="application/vnd.openxmlformats-officedocument.presentationml.slide+xml"/>
  <Override PartName="/ppt/slides/slide33.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9.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3.xml" ContentType="application/vnd.openxmlformats-officedocument.presentationml.notesSlide+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0"/>
  </p:notesMasterIdLst>
  <p:handoutMasterIdLst>
    <p:handoutMasterId r:id="rId41"/>
  </p:handoutMasterIdLst>
  <p:sldIdLst>
    <p:sldId id="265" r:id="rId2"/>
    <p:sldId id="289" r:id="rId3"/>
    <p:sldId id="288" r:id="rId4"/>
    <p:sldId id="267" r:id="rId5"/>
    <p:sldId id="290" r:id="rId6"/>
    <p:sldId id="307" r:id="rId7"/>
    <p:sldId id="308" r:id="rId8"/>
    <p:sldId id="309" r:id="rId9"/>
    <p:sldId id="269" r:id="rId10"/>
    <p:sldId id="273" r:id="rId11"/>
    <p:sldId id="275" r:id="rId12"/>
    <p:sldId id="277" r:id="rId13"/>
    <p:sldId id="279" r:id="rId14"/>
    <p:sldId id="276" r:id="rId15"/>
    <p:sldId id="280" r:id="rId16"/>
    <p:sldId id="281" r:id="rId17"/>
    <p:sldId id="282" r:id="rId18"/>
    <p:sldId id="283" r:id="rId19"/>
    <p:sldId id="284" r:id="rId20"/>
    <p:sldId id="285" r:id="rId21"/>
    <p:sldId id="305" r:id="rId22"/>
    <p:sldId id="274" r:id="rId23"/>
    <p:sldId id="291" r:id="rId24"/>
    <p:sldId id="286" r:id="rId25"/>
    <p:sldId id="292" r:id="rId26"/>
    <p:sldId id="293" r:id="rId27"/>
    <p:sldId id="294" r:id="rId28"/>
    <p:sldId id="296" r:id="rId29"/>
    <p:sldId id="297" r:id="rId30"/>
    <p:sldId id="298" r:id="rId31"/>
    <p:sldId id="299" r:id="rId32"/>
    <p:sldId id="268" r:id="rId33"/>
    <p:sldId id="302" r:id="rId34"/>
    <p:sldId id="303" r:id="rId35"/>
    <p:sldId id="304" r:id="rId36"/>
    <p:sldId id="300" r:id="rId37"/>
    <p:sldId id="306" r:id="rId38"/>
    <p:sldId id="266" r:id="rId39"/>
  </p:sldIdLst>
  <p:sldSz cx="12192000" cy="6858000"/>
  <p:notesSz cx="6792913" cy="992505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BFB3"/>
    <a:srgbClr val="A0453E"/>
    <a:srgbClr val="D4D4D4"/>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908" autoAdjust="0"/>
    <p:restoredTop sz="94660"/>
  </p:normalViewPr>
  <p:slideViewPr>
    <p:cSldViewPr snapToGrid="0" showGuides="1">
      <p:cViewPr varScale="1">
        <p:scale>
          <a:sx n="108" d="100"/>
          <a:sy n="108" d="100"/>
        </p:scale>
        <p:origin x="144" y="270"/>
      </p:cViewPr>
      <p:guideLst>
        <p:guide orient="horz" pos="134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1" y="1"/>
            <a:ext cx="2943595" cy="497976"/>
          </a:xfrm>
          <a:prstGeom prst="rect">
            <a:avLst/>
          </a:prstGeom>
        </p:spPr>
        <p:txBody>
          <a:bodyPr vert="horz" lIns="91376" tIns="45688" rIns="91376" bIns="45688" rtlCol="0"/>
          <a:lstStyle>
            <a:lvl1pPr algn="l">
              <a:defRPr sz="1200"/>
            </a:lvl1pPr>
          </a:lstStyle>
          <a:p>
            <a:endParaRPr lang="es-ES"/>
          </a:p>
        </p:txBody>
      </p:sp>
      <p:sp>
        <p:nvSpPr>
          <p:cNvPr id="3" name="Marcador de fecha 2"/>
          <p:cNvSpPr>
            <a:spLocks noGrp="1"/>
          </p:cNvSpPr>
          <p:nvPr>
            <p:ph type="dt" sz="quarter" idx="1"/>
          </p:nvPr>
        </p:nvSpPr>
        <p:spPr>
          <a:xfrm>
            <a:off x="3847746" y="1"/>
            <a:ext cx="2943595" cy="497976"/>
          </a:xfrm>
          <a:prstGeom prst="rect">
            <a:avLst/>
          </a:prstGeom>
        </p:spPr>
        <p:txBody>
          <a:bodyPr vert="horz" lIns="91376" tIns="45688" rIns="91376" bIns="45688" rtlCol="0"/>
          <a:lstStyle>
            <a:lvl1pPr algn="r">
              <a:defRPr sz="1200"/>
            </a:lvl1pPr>
          </a:lstStyle>
          <a:p>
            <a:fld id="{7A6179E6-35F0-4F71-96B3-CF6E453949F7}" type="datetimeFigureOut">
              <a:rPr lang="es-ES" smtClean="0"/>
              <a:t>25/02/2026</a:t>
            </a:fld>
            <a:endParaRPr lang="es-ES"/>
          </a:p>
        </p:txBody>
      </p:sp>
      <p:sp>
        <p:nvSpPr>
          <p:cNvPr id="4" name="Marcador de pie de página 3"/>
          <p:cNvSpPr>
            <a:spLocks noGrp="1"/>
          </p:cNvSpPr>
          <p:nvPr>
            <p:ph type="ftr" sz="quarter" idx="2"/>
          </p:nvPr>
        </p:nvSpPr>
        <p:spPr>
          <a:xfrm>
            <a:off x="1" y="9427076"/>
            <a:ext cx="2943595" cy="497975"/>
          </a:xfrm>
          <a:prstGeom prst="rect">
            <a:avLst/>
          </a:prstGeom>
        </p:spPr>
        <p:txBody>
          <a:bodyPr vert="horz" lIns="91376" tIns="45688" rIns="91376" bIns="45688"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47746" y="9427076"/>
            <a:ext cx="2943595" cy="497975"/>
          </a:xfrm>
          <a:prstGeom prst="rect">
            <a:avLst/>
          </a:prstGeom>
        </p:spPr>
        <p:txBody>
          <a:bodyPr vert="horz" lIns="91376" tIns="45688" rIns="91376" bIns="45688" rtlCol="0" anchor="b"/>
          <a:lstStyle>
            <a:lvl1pPr algn="r">
              <a:defRPr sz="1200"/>
            </a:lvl1pPr>
          </a:lstStyle>
          <a:p>
            <a:fld id="{64CB6D2D-D9A9-4D56-A82A-4A572EE023C6}" type="slidenum">
              <a:rPr lang="es-ES" smtClean="0"/>
              <a:t>‹Nº›</a:t>
            </a:fld>
            <a:endParaRPr lang="es-ES"/>
          </a:p>
        </p:txBody>
      </p:sp>
    </p:spTree>
    <p:extLst>
      <p:ext uri="{BB962C8B-B14F-4D97-AF65-F5344CB8AC3E}">
        <p14:creationId xmlns:p14="http://schemas.microsoft.com/office/powerpoint/2010/main" val="4809580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3595" cy="497976"/>
          </a:xfrm>
          <a:prstGeom prst="rect">
            <a:avLst/>
          </a:prstGeom>
        </p:spPr>
        <p:txBody>
          <a:bodyPr vert="horz" lIns="91376" tIns="45688" rIns="91376" bIns="45688" rtlCol="0"/>
          <a:lstStyle>
            <a:lvl1pPr algn="l">
              <a:defRPr sz="1200"/>
            </a:lvl1pPr>
          </a:lstStyle>
          <a:p>
            <a:endParaRPr lang="es-ES"/>
          </a:p>
        </p:txBody>
      </p:sp>
      <p:sp>
        <p:nvSpPr>
          <p:cNvPr id="3" name="Date Placeholder 2"/>
          <p:cNvSpPr>
            <a:spLocks noGrp="1"/>
          </p:cNvSpPr>
          <p:nvPr>
            <p:ph type="dt" idx="1"/>
          </p:nvPr>
        </p:nvSpPr>
        <p:spPr>
          <a:xfrm>
            <a:off x="3847746" y="1"/>
            <a:ext cx="2943595" cy="497976"/>
          </a:xfrm>
          <a:prstGeom prst="rect">
            <a:avLst/>
          </a:prstGeom>
        </p:spPr>
        <p:txBody>
          <a:bodyPr vert="horz" lIns="91376" tIns="45688" rIns="91376" bIns="45688" rtlCol="0"/>
          <a:lstStyle>
            <a:lvl1pPr algn="r">
              <a:defRPr sz="1200"/>
            </a:lvl1pPr>
          </a:lstStyle>
          <a:p>
            <a:fld id="{A93DBFC0-00FC-4C8F-976D-30EC62A610F5}" type="datetimeFigureOut">
              <a:rPr lang="es-ES" smtClean="0"/>
              <a:t>25/02/2026</a:t>
            </a:fld>
            <a:endParaRPr lang="es-ES"/>
          </a:p>
        </p:txBody>
      </p:sp>
      <p:sp>
        <p:nvSpPr>
          <p:cNvPr id="4" name="Slide Image Placeholder 3"/>
          <p:cNvSpPr>
            <a:spLocks noGrp="1" noRot="1" noChangeAspect="1"/>
          </p:cNvSpPr>
          <p:nvPr>
            <p:ph type="sldImg" idx="2"/>
          </p:nvPr>
        </p:nvSpPr>
        <p:spPr>
          <a:xfrm>
            <a:off x="419100" y="1241425"/>
            <a:ext cx="5954713" cy="3349625"/>
          </a:xfrm>
          <a:prstGeom prst="rect">
            <a:avLst/>
          </a:prstGeom>
          <a:noFill/>
          <a:ln w="12700">
            <a:solidFill>
              <a:prstClr val="black"/>
            </a:solidFill>
          </a:ln>
        </p:spPr>
        <p:txBody>
          <a:bodyPr vert="horz" lIns="91376" tIns="45688" rIns="91376" bIns="45688" rtlCol="0" anchor="ctr"/>
          <a:lstStyle/>
          <a:p>
            <a:endParaRPr lang="es-ES"/>
          </a:p>
        </p:txBody>
      </p:sp>
      <p:sp>
        <p:nvSpPr>
          <p:cNvPr id="5" name="Notes Placeholder 4"/>
          <p:cNvSpPr>
            <a:spLocks noGrp="1"/>
          </p:cNvSpPr>
          <p:nvPr>
            <p:ph type="body" sz="quarter" idx="3"/>
          </p:nvPr>
        </p:nvSpPr>
        <p:spPr>
          <a:xfrm>
            <a:off x="679292" y="4776430"/>
            <a:ext cx="5434330" cy="3907989"/>
          </a:xfrm>
          <a:prstGeom prst="rect">
            <a:avLst/>
          </a:prstGeom>
        </p:spPr>
        <p:txBody>
          <a:bodyPr vert="horz" lIns="91376" tIns="45688" rIns="91376" bIns="4568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1" y="9427076"/>
            <a:ext cx="2943595" cy="497975"/>
          </a:xfrm>
          <a:prstGeom prst="rect">
            <a:avLst/>
          </a:prstGeom>
        </p:spPr>
        <p:txBody>
          <a:bodyPr vert="horz" lIns="91376" tIns="45688" rIns="91376" bIns="45688" rtlCol="0" anchor="b"/>
          <a:lstStyle>
            <a:lvl1pPr algn="l">
              <a:defRPr sz="1200"/>
            </a:lvl1pPr>
          </a:lstStyle>
          <a:p>
            <a:endParaRPr lang="es-ES"/>
          </a:p>
        </p:txBody>
      </p:sp>
      <p:sp>
        <p:nvSpPr>
          <p:cNvPr id="7" name="Slide Number Placeholder 6"/>
          <p:cNvSpPr>
            <a:spLocks noGrp="1"/>
          </p:cNvSpPr>
          <p:nvPr>
            <p:ph type="sldNum" sz="quarter" idx="5"/>
          </p:nvPr>
        </p:nvSpPr>
        <p:spPr>
          <a:xfrm>
            <a:off x="3847746" y="9427076"/>
            <a:ext cx="2943595" cy="497975"/>
          </a:xfrm>
          <a:prstGeom prst="rect">
            <a:avLst/>
          </a:prstGeom>
        </p:spPr>
        <p:txBody>
          <a:bodyPr vert="horz" lIns="91376" tIns="45688" rIns="91376" bIns="45688" rtlCol="0" anchor="b"/>
          <a:lstStyle>
            <a:lvl1pPr algn="r">
              <a:defRPr sz="1200"/>
            </a:lvl1pPr>
          </a:lstStyle>
          <a:p>
            <a:fld id="{1291E284-FB0A-4E60-AB2F-C5EDB034FEA6}" type="slidenum">
              <a:rPr lang="es-ES" smtClean="0"/>
              <a:t>‹Nº›</a:t>
            </a:fld>
            <a:endParaRPr lang="es-ES"/>
          </a:p>
        </p:txBody>
      </p:sp>
    </p:spTree>
    <p:extLst>
      <p:ext uri="{BB962C8B-B14F-4D97-AF65-F5344CB8AC3E}">
        <p14:creationId xmlns:p14="http://schemas.microsoft.com/office/powerpoint/2010/main" val="344639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1291E284-FB0A-4E60-AB2F-C5EDB034FEA6}" type="slidenum">
              <a:rPr lang="es-ES" smtClean="0"/>
              <a:t>6</a:t>
            </a:fld>
            <a:endParaRPr lang="es-ES"/>
          </a:p>
        </p:txBody>
      </p:sp>
    </p:spTree>
    <p:extLst>
      <p:ext uri="{BB962C8B-B14F-4D97-AF65-F5344CB8AC3E}">
        <p14:creationId xmlns:p14="http://schemas.microsoft.com/office/powerpoint/2010/main" val="3172053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1291E284-FB0A-4E60-AB2F-C5EDB034FEA6}" type="slidenum">
              <a:rPr lang="es-ES" smtClean="0"/>
              <a:t>7</a:t>
            </a:fld>
            <a:endParaRPr lang="es-ES"/>
          </a:p>
        </p:txBody>
      </p:sp>
    </p:spTree>
    <p:extLst>
      <p:ext uri="{BB962C8B-B14F-4D97-AF65-F5344CB8AC3E}">
        <p14:creationId xmlns:p14="http://schemas.microsoft.com/office/powerpoint/2010/main" val="2652382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1291E284-FB0A-4E60-AB2F-C5EDB034FEA6}" type="slidenum">
              <a:rPr lang="es-ES" smtClean="0"/>
              <a:t>8</a:t>
            </a:fld>
            <a:endParaRPr lang="es-ES"/>
          </a:p>
        </p:txBody>
      </p:sp>
    </p:spTree>
    <p:extLst>
      <p:ext uri="{BB962C8B-B14F-4D97-AF65-F5344CB8AC3E}">
        <p14:creationId xmlns:p14="http://schemas.microsoft.com/office/powerpoint/2010/main" val="2386113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802CFDE-017E-4AD7-A9BB-7B1F29A37D24}" type="datetime1">
              <a:rPr lang="es-ES" smtClean="0">
                <a:solidFill>
                  <a:prstClr val="black">
                    <a:tint val="75000"/>
                  </a:prstClr>
                </a:solidFill>
              </a:rPr>
              <a:t>25/02/2026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218266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2E1F2C-7E5A-49FE-A1F2-F40A05FDB0B5}" type="datetime1">
              <a:rPr lang="es-ES" smtClean="0">
                <a:solidFill>
                  <a:prstClr val="black">
                    <a:tint val="75000"/>
                  </a:prstClr>
                </a:solidFill>
              </a:rPr>
              <a:t>25/02/2026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589913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3871F2-06CA-41C0-9642-AE98CE2819D8}" type="datetime1">
              <a:rPr lang="es-ES" smtClean="0">
                <a:solidFill>
                  <a:prstClr val="black">
                    <a:tint val="75000"/>
                  </a:prstClr>
                </a:solidFill>
              </a:rPr>
              <a:t>25/02/2026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001378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B12E0E-DEA5-4CB4-AC89-9E0A85102633}" type="datetime1">
              <a:rPr lang="es-ES" smtClean="0">
                <a:solidFill>
                  <a:prstClr val="black">
                    <a:tint val="75000"/>
                  </a:prstClr>
                </a:solidFill>
              </a:rPr>
              <a:t>25/02/2026</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62880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00C19A-912B-4F6B-86F6-DEDA20743EE6}" type="datetime1">
              <a:rPr lang="es-ES" smtClean="0">
                <a:solidFill>
                  <a:prstClr val="black">
                    <a:tint val="75000"/>
                  </a:prstClr>
                </a:solidFill>
              </a:rPr>
              <a:t>25/02/2026</a:t>
            </a:fld>
            <a:endParaRPr lang="es-ES">
              <a:solidFill>
                <a:prstClr val="black">
                  <a:tint val="75000"/>
                </a:prstClr>
              </a:solidFill>
            </a:endParaRPr>
          </a:p>
        </p:txBody>
      </p:sp>
      <p:sp>
        <p:nvSpPr>
          <p:cNvPr id="8" name="Footer Placeholder 7"/>
          <p:cNvSpPr>
            <a:spLocks noGrp="1"/>
          </p:cNvSpPr>
          <p:nvPr>
            <p:ph type="ftr" sz="quarter" idx="11"/>
          </p:nvPr>
        </p:nvSpPr>
        <p:spPr/>
        <p:txBody>
          <a:bodyPr/>
          <a:lstStyle/>
          <a:p>
            <a:r>
              <a:rPr lang="es-ES">
                <a:solidFill>
                  <a:prstClr val="black">
                    <a:tint val="75000"/>
                  </a:prstClr>
                </a:solidFill>
              </a:rPr>
              <a:t>Prueba 1: Historial Académico</a:t>
            </a:r>
          </a:p>
        </p:txBody>
      </p:sp>
      <p:sp>
        <p:nvSpPr>
          <p:cNvPr id="9" name="Slide Number Placeholder 8"/>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466742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166311-CFD3-4432-B35D-98BDF232EF61}" type="datetime1">
              <a:rPr lang="es-ES" smtClean="0">
                <a:solidFill>
                  <a:prstClr val="black">
                    <a:tint val="75000"/>
                  </a:prstClr>
                </a:solidFill>
              </a:rPr>
              <a:t>25/02/2026</a:t>
            </a:fld>
            <a:endParaRPr lang="es-ES">
              <a:solidFill>
                <a:prstClr val="black">
                  <a:tint val="75000"/>
                </a:prstClr>
              </a:solidFill>
            </a:endParaRPr>
          </a:p>
        </p:txBody>
      </p:sp>
      <p:sp>
        <p:nvSpPr>
          <p:cNvPr id="4" name="Footer Placeholder 3"/>
          <p:cNvSpPr>
            <a:spLocks noGrp="1"/>
          </p:cNvSpPr>
          <p:nvPr>
            <p:ph type="ftr" sz="quarter" idx="11"/>
          </p:nvPr>
        </p:nvSpPr>
        <p:spPr/>
        <p:txBody>
          <a:bodyPr/>
          <a:lstStyle/>
          <a:p>
            <a:r>
              <a:rPr lang="es-ES">
                <a:solidFill>
                  <a:prstClr val="black">
                    <a:tint val="75000"/>
                  </a:prstClr>
                </a:solidFill>
              </a:rPr>
              <a:t>Prueba 1: Historial Académico</a:t>
            </a:r>
          </a:p>
        </p:txBody>
      </p:sp>
      <p:sp>
        <p:nvSpPr>
          <p:cNvPr id="5" name="Slide Number Placeholder 4"/>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993535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06593B-9F2E-4895-86C9-25023821CF63}" type="datetime1">
              <a:rPr lang="es-ES" smtClean="0">
                <a:solidFill>
                  <a:prstClr val="black">
                    <a:tint val="75000"/>
                  </a:prstClr>
                </a:solidFill>
              </a:rPr>
              <a:t>25/02/2026</a:t>
            </a:fld>
            <a:endParaRPr lang="es-ES">
              <a:solidFill>
                <a:prstClr val="black">
                  <a:tint val="75000"/>
                </a:prstClr>
              </a:solidFill>
            </a:endParaRPr>
          </a:p>
        </p:txBody>
      </p:sp>
      <p:sp>
        <p:nvSpPr>
          <p:cNvPr id="3" name="Footer Placeholder 2"/>
          <p:cNvSpPr>
            <a:spLocks noGrp="1"/>
          </p:cNvSpPr>
          <p:nvPr>
            <p:ph type="ftr" sz="quarter" idx="11"/>
          </p:nvPr>
        </p:nvSpPr>
        <p:spPr/>
        <p:txBody>
          <a:bodyPr/>
          <a:lstStyle/>
          <a:p>
            <a:r>
              <a:rPr lang="es-ES">
                <a:solidFill>
                  <a:prstClr val="black">
                    <a:tint val="75000"/>
                  </a:prstClr>
                </a:solidFill>
              </a:rPr>
              <a:t>Prueba 1: Historial Académico</a:t>
            </a:r>
          </a:p>
        </p:txBody>
      </p:sp>
      <p:sp>
        <p:nvSpPr>
          <p:cNvPr id="4" name="Slide Number Placeholder 3"/>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958680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891AE6-93D3-4168-BBC8-6F74CA69BEA7}" type="datetime1">
              <a:rPr lang="es-ES" smtClean="0">
                <a:solidFill>
                  <a:prstClr val="black">
                    <a:tint val="75000"/>
                  </a:prstClr>
                </a:solidFill>
              </a:rPr>
              <a:t>25/02/2026</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240042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2E1819-C8BA-416C-A0D6-7F83F1E7162D}" type="datetime1">
              <a:rPr lang="es-ES" smtClean="0">
                <a:solidFill>
                  <a:prstClr val="black">
                    <a:tint val="75000"/>
                  </a:prstClr>
                </a:solidFill>
              </a:rPr>
              <a:t>25/02/2026</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4064165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5970D-F9C1-4F49-9439-476E50F8F0A3}" type="datetime1">
              <a:rPr lang="es-ES" smtClean="0">
                <a:solidFill>
                  <a:prstClr val="black">
                    <a:tint val="75000"/>
                  </a:prstClr>
                </a:solidFill>
              </a:rPr>
              <a:t>25/02/2026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66933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E5CB60-6850-4C7F-8AD0-135AE019E640}" type="datetime1">
              <a:rPr lang="es-ES" smtClean="0">
                <a:solidFill>
                  <a:prstClr val="black">
                    <a:tint val="75000"/>
                  </a:prstClr>
                </a:solidFill>
              </a:rPr>
              <a:t>25/02/2026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177764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0832A6-0A32-4744-B7B2-240034DF923D}" type="datetime1">
              <a:rPr lang="es-ES" smtClean="0">
                <a:solidFill>
                  <a:prstClr val="black">
                    <a:tint val="75000"/>
                  </a:prstClr>
                </a:solidFill>
              </a:rPr>
              <a:t>25/02/2026</a:t>
            </a:fld>
            <a:endParaRPr lang="es-ES">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
                <a:solidFill>
                  <a:prstClr val="black">
                    <a:tint val="75000"/>
                  </a:prstClr>
                </a:solidFill>
              </a:rPr>
              <a:t>Prueba 1: Historial Académico</a:t>
            </a: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1610080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hyperlink" Target="https://dashee87.github.io/data%20science/general/Clustering-with-Scikit-with-GIFs/" TargetMode="External"/><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6.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png"/><Relationship Id="rId4" Type="http://schemas.openxmlformats.org/officeDocument/2006/relationships/image" Target="../media/image30.png"/><Relationship Id="rId9" Type="http://schemas.openxmlformats.org/officeDocument/2006/relationships/image" Target="../media/image81.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hyperlink" Target="https://www.researchgate.net/publication/372170121_Exploring_Heterogeneity_with_Category_and_Cluster_Analyses_for_Mixed_Data" TargetMode="External"/><Relationship Id="rId3" Type="http://schemas.openxmlformats.org/officeDocument/2006/relationships/image" Target="../media/image12.png"/><Relationship Id="rId7" Type="http://schemas.openxmlformats.org/officeDocument/2006/relationships/image" Target="../media/image16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0.png"/><Relationship Id="rId5" Type="http://schemas.openxmlformats.org/officeDocument/2006/relationships/image" Target="../media/image140.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hyperlink" Target="https://scikit-learn.org/stable/auto_examples/cluster/plot_agglomerative_clustering_metrics.html#sphx-glr-auto-examples-cluster-plot-agglomerative-clustering-metrics-py"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0.png"/><Relationship Id="rId1" Type="http://schemas.openxmlformats.org/officeDocument/2006/relationships/slideLayout" Target="../slideLayouts/slideLayout7.xml"/><Relationship Id="rId4" Type="http://schemas.openxmlformats.org/officeDocument/2006/relationships/image" Target="../media/image130.png"/></Relationships>
</file>

<file path=ppt/slides/_rels/slide17.xml.rels><?xml version="1.0" encoding="UTF-8" standalone="yes"?>
<Relationships xmlns="http://schemas.openxmlformats.org/package/2006/relationships"><Relationship Id="rId3" Type="http://schemas.openxmlformats.org/officeDocument/2006/relationships/image" Target="../media/image120.png"/><Relationship Id="rId1" Type="http://schemas.openxmlformats.org/officeDocument/2006/relationships/slideLayout" Target="../slideLayouts/slideLayout7.xml"/><Relationship Id="rId4" Type="http://schemas.openxmlformats.org/officeDocument/2006/relationships/image" Target="../media/image130.png"/></Relationships>
</file>

<file path=ppt/slides/_rels/slide18.xml.rels><?xml version="1.0" encoding="UTF-8" standalone="yes"?>
<Relationships xmlns="http://schemas.openxmlformats.org/package/2006/relationships"><Relationship Id="rId3" Type="http://schemas.openxmlformats.org/officeDocument/2006/relationships/image" Target="../media/image120.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0.png"/></Relationships>
</file>

<file path=ppt/slides/_rels/slide1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scikit-learn.org/stable/auto_examples/cluster/plot_linkage_comparison.html#sphx-glr-auto-examples-cluster-plot-linkage-comparison-py"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hyperlink" Target="https://www.kaggle.com/code/sumaiyasande2494/create-gifs-in-python-hierarchical-clustering" TargetMode="External"/><Relationship Id="rId2" Type="http://schemas.openxmlformats.org/officeDocument/2006/relationships/hyperlink" Target="https://dashee87.github.io/data%20science/general/Clustering-with-Scikit-with-GIFs/"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916D3F2B-15A1-730A-0F34-02AA0F9557A4}"/>
              </a:ext>
            </a:extLst>
          </p:cNvPr>
          <p:cNvSpPr/>
          <p:nvPr/>
        </p:nvSpPr>
        <p:spPr>
          <a:xfrm>
            <a:off x="0" y="1"/>
            <a:ext cx="12192000" cy="1227744"/>
          </a:xfrm>
          <a:prstGeom prst="rect">
            <a:avLst/>
          </a:prstGeom>
          <a:solidFill>
            <a:schemeClr val="accent1">
              <a:lumMod val="40000"/>
              <a:lumOff val="60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4" name="Picture 2" descr="Logo Universidad">
            <a:extLst>
              <a:ext uri="{FF2B5EF4-FFF2-40B4-BE49-F238E27FC236}">
                <a16:creationId xmlns:a16="http://schemas.microsoft.com/office/drawing/2014/main" id="{3C1518FD-9B9D-EB2F-895D-C671464FF137}"/>
              </a:ext>
            </a:extLst>
          </p:cNvPr>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r="49051"/>
          <a:stretch/>
        </p:blipFill>
        <p:spPr bwMode="auto">
          <a:xfrm>
            <a:off x="0" y="4614"/>
            <a:ext cx="1416034" cy="1290502"/>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n 14">
            <a:extLst>
              <a:ext uri="{FF2B5EF4-FFF2-40B4-BE49-F238E27FC236}">
                <a16:creationId xmlns:a16="http://schemas.microsoft.com/office/drawing/2014/main" id="{3D56AFBF-582A-D206-33B6-3419E2AE8A97}"/>
              </a:ext>
            </a:extLst>
          </p:cNvPr>
          <p:cNvPicPr>
            <a:picLocks noChangeAspect="1"/>
          </p:cNvPicPr>
          <p:nvPr/>
        </p:nvPicPr>
        <p:blipFill>
          <a:blip r:embed="rId3"/>
          <a:srcRect l="3073" t="1221" r="4089" b="-1221"/>
          <a:stretch/>
        </p:blipFill>
        <p:spPr>
          <a:xfrm>
            <a:off x="10174778" y="17581"/>
            <a:ext cx="2013142" cy="1439917"/>
          </a:xfrm>
          <a:prstGeom prst="rect">
            <a:avLst/>
          </a:prstGeom>
        </p:spPr>
      </p:pic>
      <p:sp>
        <p:nvSpPr>
          <p:cNvPr id="16" name="CuadroTexto 15">
            <a:extLst>
              <a:ext uri="{FF2B5EF4-FFF2-40B4-BE49-F238E27FC236}">
                <a16:creationId xmlns:a16="http://schemas.microsoft.com/office/drawing/2014/main" id="{A6628F6E-EF28-4E8A-86FD-981EA7CE460F}"/>
              </a:ext>
            </a:extLst>
          </p:cNvPr>
          <p:cNvSpPr txBox="1"/>
          <p:nvPr/>
        </p:nvSpPr>
        <p:spPr>
          <a:xfrm>
            <a:off x="1314796" y="-2976"/>
            <a:ext cx="8667404" cy="1077218"/>
          </a:xfrm>
          <a:prstGeom prst="rect">
            <a:avLst/>
          </a:prstGeom>
          <a:noFill/>
        </p:spPr>
        <p:txBody>
          <a:bodyPr wrap="square">
            <a:spAutoFit/>
          </a:bodyPr>
          <a:lstStyle/>
          <a:p>
            <a:pPr algn="r"/>
            <a:r>
              <a:rPr lang="es-ES" sz="3200" dirty="0">
                <a:solidFill>
                  <a:schemeClr val="tx2"/>
                </a:solidFill>
              </a:rPr>
              <a:t>Inteligencia Artificial para la </a:t>
            </a:r>
          </a:p>
          <a:p>
            <a:pPr algn="r"/>
            <a:r>
              <a:rPr lang="es-ES" sz="3200" dirty="0">
                <a:solidFill>
                  <a:schemeClr val="tx2"/>
                </a:solidFill>
              </a:rPr>
              <a:t>Ingeniería Aeroespacial</a:t>
            </a:r>
          </a:p>
        </p:txBody>
      </p:sp>
      <p:pic>
        <p:nvPicPr>
          <p:cNvPr id="7" name="Imagen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704" y="3621519"/>
            <a:ext cx="6077407" cy="2734833"/>
          </a:xfrm>
          <a:prstGeom prst="rect">
            <a:avLst/>
          </a:prstGeom>
        </p:spPr>
      </p:pic>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3628692" y="1136381"/>
            <a:ext cx="5085110" cy="707886"/>
          </a:xfrm>
          <a:prstGeom prst="rect">
            <a:avLst/>
          </a:prstGeom>
          <a:noFill/>
        </p:spPr>
        <p:txBody>
          <a:bodyPr wrap="none" rtlCol="0">
            <a:spAutoFit/>
          </a:bodyPr>
          <a:lstStyle/>
          <a:p>
            <a:r>
              <a:rPr lang="es-ES" sz="4000" b="1" dirty="0" err="1">
                <a:solidFill>
                  <a:schemeClr val="accent1">
                    <a:lumMod val="50000"/>
                  </a:schemeClr>
                </a:solidFill>
              </a:rPr>
              <a:t>Hierarchical</a:t>
            </a:r>
            <a:r>
              <a:rPr lang="es-ES" sz="4000" b="1" dirty="0">
                <a:solidFill>
                  <a:schemeClr val="accent1">
                    <a:lumMod val="50000"/>
                  </a:schemeClr>
                </a:solidFill>
              </a:rPr>
              <a:t> </a:t>
            </a:r>
            <a:r>
              <a:rPr lang="es-ES" sz="4000" b="1" dirty="0" err="1">
                <a:solidFill>
                  <a:schemeClr val="accent1">
                    <a:lumMod val="50000"/>
                  </a:schemeClr>
                </a:solidFill>
              </a:rPr>
              <a:t>Clustering</a:t>
            </a:r>
            <a:r>
              <a:rPr lang="es-ES" sz="4000" b="1" dirty="0">
                <a:solidFill>
                  <a:schemeClr val="accent1">
                    <a:lumMod val="50000"/>
                  </a:schemeClr>
                </a:solidFill>
              </a:rPr>
              <a:t>.</a:t>
            </a:r>
          </a:p>
        </p:txBody>
      </p:sp>
      <p:sp>
        <p:nvSpPr>
          <p:cNvPr id="4" name="CuadroTexto 3">
            <a:extLst>
              <a:ext uri="{FF2B5EF4-FFF2-40B4-BE49-F238E27FC236}">
                <a16:creationId xmlns:a16="http://schemas.microsoft.com/office/drawing/2014/main" id="{BBAB2C66-7702-9F9D-E3A6-FB63B29B9727}"/>
              </a:ext>
            </a:extLst>
          </p:cNvPr>
          <p:cNvSpPr txBox="1"/>
          <p:nvPr/>
        </p:nvSpPr>
        <p:spPr>
          <a:xfrm>
            <a:off x="1121331" y="6231137"/>
            <a:ext cx="3814442" cy="307777"/>
          </a:xfrm>
          <a:prstGeom prst="rect">
            <a:avLst/>
          </a:prstGeom>
          <a:noFill/>
        </p:spPr>
        <p:txBody>
          <a:bodyPr wrap="none" rtlCol="0">
            <a:spAutoFit/>
          </a:bodyPr>
          <a:lstStyle/>
          <a:p>
            <a:r>
              <a:rPr lang="es-ES" sz="1400" dirty="0" err="1">
                <a:solidFill>
                  <a:schemeClr val="accent1">
                    <a:lumMod val="50000"/>
                  </a:schemeClr>
                </a:solidFill>
              </a:rPr>
              <a:t>From</a:t>
            </a:r>
            <a:r>
              <a:rPr lang="es-ES" sz="1400" dirty="0">
                <a:solidFill>
                  <a:schemeClr val="accent1">
                    <a:lumMod val="50000"/>
                  </a:schemeClr>
                </a:solidFill>
              </a:rPr>
              <a:t> David </a:t>
            </a:r>
            <a:r>
              <a:rPr lang="es-ES" sz="1400" dirty="0" err="1">
                <a:solidFill>
                  <a:schemeClr val="accent1">
                    <a:lumMod val="50000"/>
                  </a:schemeClr>
                </a:solidFill>
              </a:rPr>
              <a:t>Sheehan</a:t>
            </a:r>
            <a:r>
              <a:rPr lang="es-ES" sz="1400" dirty="0">
                <a:solidFill>
                  <a:schemeClr val="accent1">
                    <a:lumMod val="50000"/>
                  </a:schemeClr>
                </a:solidFill>
              </a:rPr>
              <a:t>: </a:t>
            </a:r>
            <a:r>
              <a:rPr lang="es-ES" sz="1400" dirty="0">
                <a:solidFill>
                  <a:schemeClr val="accent1">
                    <a:lumMod val="50000"/>
                  </a:schemeClr>
                </a:solidFill>
                <a:hlinkClick r:id="rId5"/>
              </a:rPr>
              <a:t>https://dashee87.github.io/</a:t>
            </a:r>
            <a:endParaRPr lang="es-ES" sz="1400" dirty="0">
              <a:solidFill>
                <a:schemeClr val="accent1">
                  <a:lumMod val="50000"/>
                </a:schemeClr>
              </a:solidFill>
            </a:endParaRPr>
          </a:p>
        </p:txBody>
      </p:sp>
      <p:sp>
        <p:nvSpPr>
          <p:cNvPr id="5" name="CuadroTexto 4">
            <a:extLst>
              <a:ext uri="{FF2B5EF4-FFF2-40B4-BE49-F238E27FC236}">
                <a16:creationId xmlns:a16="http://schemas.microsoft.com/office/drawing/2014/main" id="{D4286E82-FF38-1057-622F-02244AD16F2B}"/>
              </a:ext>
            </a:extLst>
          </p:cNvPr>
          <p:cNvSpPr txBox="1"/>
          <p:nvPr/>
        </p:nvSpPr>
        <p:spPr>
          <a:xfrm>
            <a:off x="133166" y="1941946"/>
            <a:ext cx="11780668" cy="1200329"/>
          </a:xfrm>
          <a:prstGeom prst="rect">
            <a:avLst/>
          </a:prstGeom>
          <a:noFill/>
        </p:spPr>
        <p:txBody>
          <a:bodyPr wrap="square" rtlCol="0">
            <a:spAutoFit/>
          </a:bodyPr>
          <a:lstStyle/>
          <a:p>
            <a:r>
              <a:rPr lang="es-ES" dirty="0">
                <a:solidFill>
                  <a:schemeClr val="accent1">
                    <a:lumMod val="50000"/>
                  </a:schemeClr>
                </a:solidFill>
              </a:rPr>
              <a:t>La agrupación jerárquica es una técnica de aprendizaje automático </a:t>
            </a:r>
            <a:r>
              <a:rPr lang="es-ES" b="1" dirty="0">
                <a:solidFill>
                  <a:schemeClr val="accent1">
                    <a:lumMod val="50000"/>
                  </a:schemeClr>
                </a:solidFill>
              </a:rPr>
              <a:t>no supervisada </a:t>
            </a:r>
            <a:r>
              <a:rPr lang="es-ES" dirty="0">
                <a:solidFill>
                  <a:schemeClr val="accent1">
                    <a:lumMod val="50000"/>
                  </a:schemeClr>
                </a:solidFill>
              </a:rPr>
              <a:t>que permite organizar conjuntos de datos en grupos homogéneos. Se basa en la idea de que los </a:t>
            </a:r>
            <a:r>
              <a:rPr lang="es-ES" b="1" dirty="0">
                <a:solidFill>
                  <a:schemeClr val="accent1">
                    <a:lumMod val="50000"/>
                  </a:schemeClr>
                </a:solidFill>
              </a:rPr>
              <a:t>objetos similares entre sí están próximos</a:t>
            </a:r>
            <a:r>
              <a:rPr lang="es-ES" dirty="0">
                <a:solidFill>
                  <a:schemeClr val="accent1">
                    <a:lumMod val="50000"/>
                  </a:schemeClr>
                </a:solidFill>
              </a:rPr>
              <a:t>. Puede usar diferentes distancias para definir grupos de datos cercanos generando una estructura jerárquica. Esta estructura se asemeja a un árbol, donde los grupos más pequeños se van uniendo para formar grupos más grandes, creando una vista multinivel de los datos. </a:t>
            </a:r>
          </a:p>
        </p:txBody>
      </p:sp>
      <p:sp>
        <p:nvSpPr>
          <p:cNvPr id="8" name="CuadroTexto 7"/>
          <p:cNvSpPr txBox="1"/>
          <p:nvPr/>
        </p:nvSpPr>
        <p:spPr>
          <a:xfrm>
            <a:off x="6471821" y="3435246"/>
            <a:ext cx="5637321" cy="3416320"/>
          </a:xfrm>
          <a:prstGeom prst="rect">
            <a:avLst/>
          </a:prstGeom>
          <a:noFill/>
        </p:spPr>
        <p:txBody>
          <a:bodyPr wrap="square" rtlCol="0">
            <a:spAutoFit/>
          </a:bodyPr>
          <a:lstStyle/>
          <a:p>
            <a:r>
              <a:rPr lang="es-ES" b="1" dirty="0">
                <a:solidFill>
                  <a:schemeClr val="accent1">
                    <a:lumMod val="50000"/>
                  </a:schemeClr>
                </a:solidFill>
              </a:rPr>
              <a:t>Bases del agrupamiento jerárquico:</a:t>
            </a:r>
          </a:p>
          <a:p>
            <a:endParaRPr lang="es-ES" b="1" dirty="0">
              <a:solidFill>
                <a:schemeClr val="accent1">
                  <a:lumMod val="50000"/>
                </a:schemeClr>
              </a:solidFill>
            </a:endParaRPr>
          </a:p>
          <a:p>
            <a:pPr marL="285750" indent="-285750">
              <a:buFont typeface="Arial" panose="020B0604020202020204" pitchFamily="34" charset="0"/>
              <a:buChar char="•"/>
            </a:pPr>
            <a:r>
              <a:rPr lang="es-ES" u="sng" dirty="0">
                <a:solidFill>
                  <a:schemeClr val="accent1">
                    <a:lumMod val="50000"/>
                  </a:schemeClr>
                </a:solidFill>
              </a:rPr>
              <a:t>Cálculo de distancia</a:t>
            </a:r>
            <a:r>
              <a:rPr lang="es-ES" dirty="0">
                <a:solidFill>
                  <a:schemeClr val="accent1">
                    <a:lumMod val="50000"/>
                  </a:schemeClr>
                </a:solidFill>
              </a:rPr>
              <a:t>: Calculamos las distancias entre pares de puntos utilizando una métrica de distancia.</a:t>
            </a:r>
          </a:p>
          <a:p>
            <a:pPr marL="285750" indent="-285750">
              <a:buFont typeface="Arial" panose="020B0604020202020204" pitchFamily="34" charset="0"/>
              <a:buChar char="•"/>
            </a:pPr>
            <a:endParaRPr lang="es-ES" b="1" dirty="0">
              <a:solidFill>
                <a:schemeClr val="accent1">
                  <a:lumMod val="50000"/>
                </a:schemeClr>
              </a:solidFill>
            </a:endParaRPr>
          </a:p>
          <a:p>
            <a:pPr marL="285750" indent="-285750">
              <a:buFont typeface="Arial" panose="020B0604020202020204" pitchFamily="34" charset="0"/>
              <a:buChar char="•"/>
            </a:pPr>
            <a:r>
              <a:rPr lang="es-ES" u="sng" dirty="0">
                <a:solidFill>
                  <a:schemeClr val="accent1">
                    <a:lumMod val="50000"/>
                  </a:schemeClr>
                </a:solidFill>
              </a:rPr>
              <a:t>Agrupamiento en </a:t>
            </a:r>
            <a:r>
              <a:rPr lang="es-ES" i="1" u="sng" dirty="0">
                <a:solidFill>
                  <a:schemeClr val="accent1">
                    <a:lumMod val="50000"/>
                  </a:schemeClr>
                </a:solidFill>
              </a:rPr>
              <a:t>clústeres</a:t>
            </a:r>
            <a:r>
              <a:rPr lang="es-ES" b="1" dirty="0">
                <a:solidFill>
                  <a:schemeClr val="accent1">
                    <a:lumMod val="50000"/>
                  </a:schemeClr>
                </a:solidFill>
              </a:rPr>
              <a:t>: </a:t>
            </a:r>
            <a:r>
              <a:rPr lang="es-ES" dirty="0">
                <a:solidFill>
                  <a:schemeClr val="accent1">
                    <a:lumMod val="50000"/>
                  </a:schemeClr>
                </a:solidFill>
              </a:rPr>
              <a:t>Busca datos próximos y los une en un grupo.</a:t>
            </a:r>
          </a:p>
          <a:p>
            <a:pPr marL="285750" indent="-285750">
              <a:buFont typeface="Arial" panose="020B0604020202020204" pitchFamily="34" charset="0"/>
              <a:buChar char="•"/>
            </a:pPr>
            <a:endParaRPr lang="es-ES" b="1" dirty="0">
              <a:solidFill>
                <a:schemeClr val="accent1">
                  <a:lumMod val="50000"/>
                </a:schemeClr>
              </a:solidFill>
            </a:endParaRPr>
          </a:p>
          <a:p>
            <a:pPr marL="285750" indent="-285750">
              <a:buFont typeface="Arial" panose="020B0604020202020204" pitchFamily="34" charset="0"/>
              <a:buChar char="•"/>
            </a:pPr>
            <a:r>
              <a:rPr lang="es-ES" u="sng" dirty="0">
                <a:solidFill>
                  <a:schemeClr val="accent1">
                    <a:lumMod val="50000"/>
                  </a:schemeClr>
                </a:solidFill>
              </a:rPr>
              <a:t>Representar la jerarquía</a:t>
            </a:r>
            <a:r>
              <a:rPr lang="es-ES" dirty="0">
                <a:solidFill>
                  <a:schemeClr val="accent1">
                    <a:lumMod val="50000"/>
                  </a:schemeClr>
                </a:solidFill>
              </a:rPr>
              <a:t>: Cada grupo fusionado se convierte en un punto. Los diferentes niveles crean una estructura con forma de árbol llamada </a:t>
            </a:r>
            <a:r>
              <a:rPr lang="es-ES" dirty="0" err="1" smtClean="0">
                <a:solidFill>
                  <a:schemeClr val="accent1">
                    <a:lumMod val="50000"/>
                  </a:schemeClr>
                </a:solidFill>
              </a:rPr>
              <a:t>dendrograma</a:t>
            </a:r>
            <a:r>
              <a:rPr lang="es-ES" dirty="0" smtClean="0">
                <a:solidFill>
                  <a:schemeClr val="accent1">
                    <a:lumMod val="50000"/>
                  </a:schemeClr>
                </a:solidFill>
              </a:rPr>
              <a:t> </a:t>
            </a:r>
            <a:r>
              <a:rPr lang="es-ES" dirty="0">
                <a:solidFill>
                  <a:schemeClr val="accent1">
                    <a:lumMod val="50000"/>
                  </a:schemeClr>
                </a:solidFill>
              </a:rPr>
              <a:t>que ayuda a mantener la estructura jerárquica.</a:t>
            </a:r>
          </a:p>
        </p:txBody>
      </p:sp>
    </p:spTree>
    <p:extLst>
      <p:ext uri="{BB962C8B-B14F-4D97-AF65-F5344CB8AC3E}">
        <p14:creationId xmlns:p14="http://schemas.microsoft.com/office/powerpoint/2010/main" val="23219081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a:t>
            </a:fld>
            <a:endParaRPr lang="es-ES">
              <a:solidFill>
                <a:prstClr val="black">
                  <a:tint val="75000"/>
                </a:prst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4820575" y="2241592"/>
            <a:ext cx="7306322" cy="383181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solidFill>
                  <a:schemeClr val="accent1">
                    <a:lumMod val="50000"/>
                  </a:schemeClr>
                </a:solidFill>
              </a:rPr>
              <a:t>HC es un algoritmo </a:t>
            </a:r>
            <a:r>
              <a:rPr lang="es-ES" b="1" dirty="0">
                <a:solidFill>
                  <a:schemeClr val="accent1">
                    <a:lumMod val="50000"/>
                  </a:schemeClr>
                </a:solidFill>
              </a:rPr>
              <a:t>no</a:t>
            </a:r>
            <a:r>
              <a:rPr lang="es-ES" dirty="0">
                <a:solidFill>
                  <a:schemeClr val="accent1">
                    <a:lumMod val="50000"/>
                  </a:schemeClr>
                </a:solidFill>
              </a:rPr>
              <a:t> </a:t>
            </a:r>
            <a:r>
              <a:rPr lang="es-ES" b="1" dirty="0">
                <a:solidFill>
                  <a:schemeClr val="accent1">
                    <a:lumMod val="50000"/>
                  </a:schemeClr>
                </a:solidFill>
              </a:rPr>
              <a:t>supervisado.</a:t>
            </a:r>
            <a:r>
              <a:rPr lang="es-ES" dirty="0">
                <a:solidFill>
                  <a:schemeClr val="accent1">
                    <a:lumMod val="50000"/>
                  </a:schemeClr>
                </a:solidFill>
              </a:rPr>
              <a:t> Al no contar con etiquetas, su objetivo es encontrar estructuras subyacentes en los datos, creando agrupaciones (</a:t>
            </a:r>
            <a:r>
              <a:rPr lang="es-ES" dirty="0" err="1">
                <a:solidFill>
                  <a:schemeClr val="accent1">
                    <a:lumMod val="50000"/>
                  </a:schemeClr>
                </a:solidFill>
              </a:rPr>
              <a:t>clusters</a:t>
            </a:r>
            <a:r>
              <a:rPr lang="es-ES" dirty="0">
                <a:solidFill>
                  <a:schemeClr val="accent1">
                    <a:lumMod val="50000"/>
                  </a:schemeClr>
                </a:solidFill>
              </a:rPr>
              <a:t>) en función de la similitud entre instancias.</a:t>
            </a:r>
          </a:p>
          <a:p>
            <a:pPr>
              <a:lnSpc>
                <a:spcPct val="150000"/>
              </a:lnSpc>
            </a:pPr>
            <a:endParaRPr lang="es-ES" dirty="0">
              <a:solidFill>
                <a:schemeClr val="accent1">
                  <a:lumMod val="50000"/>
                </a:schemeClr>
              </a:solidFill>
            </a:endParaRPr>
          </a:p>
          <a:p>
            <a:pPr marL="285750" indent="-285750">
              <a:lnSpc>
                <a:spcPct val="150000"/>
              </a:lnSpc>
              <a:buFont typeface="Arial" panose="020B0604020202020204" pitchFamily="34" charset="0"/>
              <a:buChar char="•"/>
            </a:pPr>
            <a:r>
              <a:rPr lang="es-ES" dirty="0">
                <a:solidFill>
                  <a:schemeClr val="accent1">
                    <a:lumMod val="50000"/>
                  </a:schemeClr>
                </a:solidFill>
              </a:rPr>
              <a:t>HC es </a:t>
            </a:r>
            <a:r>
              <a:rPr lang="es-ES" b="1" i="1" dirty="0" err="1">
                <a:solidFill>
                  <a:schemeClr val="accent1">
                    <a:lumMod val="50000"/>
                  </a:schemeClr>
                </a:solidFill>
              </a:rPr>
              <a:t>instance-based</a:t>
            </a:r>
            <a:r>
              <a:rPr lang="es-ES" dirty="0">
                <a:solidFill>
                  <a:schemeClr val="accent1">
                    <a:lumMod val="50000"/>
                  </a:schemeClr>
                </a:solidFill>
              </a:rPr>
              <a:t> (basado en instancias) ya que no construye un modelo predictivo explícito, sino que agrupa instancias según la distancia</a:t>
            </a:r>
          </a:p>
          <a:p>
            <a:pPr>
              <a:lnSpc>
                <a:spcPct val="150000"/>
              </a:lnSpc>
            </a:pPr>
            <a:endParaRPr lang="es-ES" dirty="0">
              <a:solidFill>
                <a:schemeClr val="accent1">
                  <a:lumMod val="50000"/>
                </a:schemeClr>
              </a:solidFill>
            </a:endParaRPr>
          </a:p>
          <a:p>
            <a:pPr marL="285750" indent="-285750">
              <a:lnSpc>
                <a:spcPct val="150000"/>
              </a:lnSpc>
              <a:buFont typeface="Arial" panose="020B0604020202020204" pitchFamily="34" charset="0"/>
              <a:buChar char="•"/>
            </a:pPr>
            <a:r>
              <a:rPr lang="es-ES" dirty="0">
                <a:solidFill>
                  <a:schemeClr val="accent1">
                    <a:lumMod val="50000"/>
                  </a:schemeClr>
                </a:solidFill>
              </a:rPr>
              <a:t>HC es un algoritmo de </a:t>
            </a:r>
            <a:r>
              <a:rPr lang="es-ES" b="1" i="1" dirty="0" err="1">
                <a:solidFill>
                  <a:schemeClr val="accent1">
                    <a:lumMod val="50000"/>
                  </a:schemeClr>
                </a:solidFill>
              </a:rPr>
              <a:t>batch</a:t>
            </a:r>
            <a:r>
              <a:rPr lang="es-ES" b="1" i="1" dirty="0">
                <a:solidFill>
                  <a:schemeClr val="accent1">
                    <a:lumMod val="50000"/>
                  </a:schemeClr>
                </a:solidFill>
              </a:rPr>
              <a:t> </a:t>
            </a:r>
            <a:r>
              <a:rPr lang="es-ES" b="1" i="1" dirty="0" err="1">
                <a:solidFill>
                  <a:schemeClr val="accent1">
                    <a:lumMod val="50000"/>
                  </a:schemeClr>
                </a:solidFill>
              </a:rPr>
              <a:t>learning</a:t>
            </a:r>
            <a:r>
              <a:rPr lang="es-ES" b="1" i="1" dirty="0">
                <a:solidFill>
                  <a:schemeClr val="accent1">
                    <a:lumMod val="50000"/>
                  </a:schemeClr>
                </a:solidFill>
              </a:rPr>
              <a:t>, </a:t>
            </a:r>
            <a:r>
              <a:rPr lang="es-ES" dirty="0">
                <a:solidFill>
                  <a:schemeClr val="accent1">
                    <a:lumMod val="50000"/>
                  </a:schemeClr>
                </a:solidFill>
              </a:rPr>
              <a:t>necesita analizar todas las instancias de datos a la vez para crear la estructura jerárquica.</a:t>
            </a:r>
          </a:p>
        </p:txBody>
      </p:sp>
      <p:sp>
        <p:nvSpPr>
          <p:cNvPr id="9" name="CuadroTexto 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No Supervisado</a:t>
            </a:r>
          </a:p>
        </p:txBody>
      </p:sp>
      <p:sp>
        <p:nvSpPr>
          <p:cNvPr id="10" name="CuadroTexto 9">
            <a:extLst>
              <a:ext uri="{FF2B5EF4-FFF2-40B4-BE49-F238E27FC236}">
                <a16:creationId xmlns:a16="http://schemas.microsoft.com/office/drawing/2014/main" id="{B721C4E8-F774-C602-C20C-95042CFF3868}"/>
              </a:ext>
            </a:extLst>
          </p:cNvPr>
          <p:cNvSpPr txBox="1"/>
          <p:nvPr/>
        </p:nvSpPr>
        <p:spPr>
          <a:xfrm>
            <a:off x="1589638" y="903443"/>
            <a:ext cx="9516003" cy="707886"/>
          </a:xfrm>
          <a:prstGeom prst="rect">
            <a:avLst/>
          </a:prstGeom>
          <a:noFill/>
        </p:spPr>
        <p:txBody>
          <a:bodyPr wrap="none" rtlCol="0">
            <a:spAutoFit/>
          </a:bodyPr>
          <a:lstStyle/>
          <a:p>
            <a:r>
              <a:rPr lang="es-ES" sz="4000" b="1" dirty="0" err="1">
                <a:solidFill>
                  <a:schemeClr val="accent1">
                    <a:lumMod val="50000"/>
                  </a:schemeClr>
                </a:solidFill>
              </a:rPr>
              <a:t>Hierarchical</a:t>
            </a:r>
            <a:r>
              <a:rPr lang="es-ES" sz="4000" b="1" dirty="0">
                <a:solidFill>
                  <a:schemeClr val="accent1">
                    <a:lumMod val="50000"/>
                  </a:schemeClr>
                </a:solidFill>
              </a:rPr>
              <a:t> </a:t>
            </a:r>
            <a:r>
              <a:rPr lang="es-ES" sz="4000" b="1" dirty="0" err="1">
                <a:solidFill>
                  <a:schemeClr val="accent1">
                    <a:lumMod val="50000"/>
                  </a:schemeClr>
                </a:solidFill>
              </a:rPr>
              <a:t>Clustering</a:t>
            </a:r>
            <a:r>
              <a:rPr lang="es-ES" sz="4000" b="1" dirty="0">
                <a:solidFill>
                  <a:schemeClr val="accent1">
                    <a:lumMod val="50000"/>
                  </a:schemeClr>
                </a:solidFill>
              </a:rPr>
              <a:t>: Clasificación en ML. </a:t>
            </a:r>
          </a:p>
        </p:txBody>
      </p:sp>
      <p:sp>
        <p:nvSpPr>
          <p:cNvPr id="12" name="CuadroTexto 11">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547" y="2323729"/>
            <a:ext cx="4783957" cy="3189304"/>
          </a:xfrm>
          <a:prstGeom prst="rect">
            <a:avLst/>
          </a:prstGeom>
        </p:spPr>
      </p:pic>
    </p:spTree>
    <p:extLst>
      <p:ext uri="{BB962C8B-B14F-4D97-AF65-F5344CB8AC3E}">
        <p14:creationId xmlns:p14="http://schemas.microsoft.com/office/powerpoint/2010/main" val="3628589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3</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028591" y="136523"/>
            <a:ext cx="3067982" cy="461665"/>
          </a:xfrm>
          <a:prstGeom prst="rect">
            <a:avLst/>
          </a:prstGeom>
          <a:noFill/>
        </p:spPr>
        <p:txBody>
          <a:bodyPr wrap="square" rtlCol="0">
            <a:spAutoFit/>
          </a:bodyPr>
          <a:lstStyle/>
          <a:p>
            <a:r>
              <a:rPr lang="es-ES" sz="2400" b="1" dirty="0" err="1">
                <a:solidFill>
                  <a:schemeClr val="accent1">
                    <a:lumMod val="50000"/>
                  </a:schemeClr>
                </a:solidFill>
              </a:rPr>
              <a:t>Hierarchical</a:t>
            </a:r>
            <a:r>
              <a:rPr lang="es-ES" sz="2400" b="1" dirty="0">
                <a:solidFill>
                  <a:schemeClr val="accent1">
                    <a:lumMod val="50000"/>
                  </a:schemeClr>
                </a:solidFill>
              </a:rPr>
              <a:t> </a:t>
            </a:r>
            <a:r>
              <a:rPr lang="es-ES" sz="2400" b="1" dirty="0" err="1">
                <a:solidFill>
                  <a:schemeClr val="accent1">
                    <a:lumMod val="50000"/>
                  </a:schemeClr>
                </a:solidFill>
              </a:rPr>
              <a:t>Clustering</a:t>
            </a:r>
            <a:endParaRPr lang="es-ES" sz="8800" b="1" dirty="0">
              <a:solidFill>
                <a:schemeClr val="accent1">
                  <a:lumMod val="50000"/>
                </a:scheme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1797254" y="1119374"/>
            <a:ext cx="9876881" cy="498598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800" b="1" dirty="0" err="1">
                <a:solidFill>
                  <a:schemeClr val="accent1">
                    <a:lumMod val="50000"/>
                  </a:schemeClr>
                </a:solidFill>
              </a:rPr>
              <a:t>Estrategias</a:t>
            </a:r>
            <a:r>
              <a:rPr lang="en-US" sz="2800" b="1" dirty="0">
                <a:solidFill>
                  <a:schemeClr val="accent1">
                    <a:lumMod val="50000"/>
                  </a:schemeClr>
                </a:solidFill>
              </a:rPr>
              <a:t> de </a:t>
            </a:r>
            <a:r>
              <a:rPr lang="en-US" sz="2800" b="1" i="1" dirty="0">
                <a:solidFill>
                  <a:schemeClr val="accent1">
                    <a:lumMod val="50000"/>
                  </a:schemeClr>
                </a:solidFill>
              </a:rPr>
              <a:t>Clustering</a:t>
            </a:r>
            <a:r>
              <a:rPr lang="en-US" sz="2800" b="1" dirty="0">
                <a:solidFill>
                  <a:schemeClr val="accent1">
                    <a:lumMod val="50000"/>
                  </a:schemeClr>
                </a:solidFill>
              </a:rPr>
              <a:t>.</a:t>
            </a:r>
          </a:p>
          <a:p>
            <a:pPr marL="285750" indent="-285750">
              <a:lnSpc>
                <a:spcPct val="150000"/>
              </a:lnSpc>
              <a:buFont typeface="Arial" panose="020B0604020202020204" pitchFamily="34" charset="0"/>
              <a:buChar char="•"/>
            </a:pPr>
            <a:r>
              <a:rPr lang="es-ES" sz="2800" b="1" dirty="0">
                <a:solidFill>
                  <a:schemeClr val="accent1">
                    <a:lumMod val="50000"/>
                  </a:schemeClr>
                </a:solidFill>
              </a:rPr>
              <a:t>Parámetros del </a:t>
            </a:r>
            <a:r>
              <a:rPr lang="es-ES" sz="2800" b="1" i="1" dirty="0" err="1">
                <a:solidFill>
                  <a:schemeClr val="accent1">
                    <a:lumMod val="50000"/>
                  </a:schemeClr>
                </a:solidFill>
              </a:rPr>
              <a:t>Clustering</a:t>
            </a:r>
            <a:r>
              <a:rPr lang="es-ES" sz="2800" b="1" dirty="0">
                <a:solidFill>
                  <a:schemeClr val="accent1">
                    <a:lumMod val="50000"/>
                  </a:schemeClr>
                </a:solidFill>
              </a:rPr>
              <a:t>.</a:t>
            </a:r>
          </a:p>
          <a:p>
            <a:pPr marL="742950" lvl="1" indent="-285750">
              <a:lnSpc>
                <a:spcPct val="150000"/>
              </a:lnSpc>
              <a:buFont typeface="Arial" panose="020B0604020202020204" pitchFamily="34" charset="0"/>
              <a:buChar char="•"/>
            </a:pPr>
            <a:r>
              <a:rPr lang="es-ES" sz="2400" b="1" dirty="0">
                <a:solidFill>
                  <a:schemeClr val="accent1">
                    <a:lumMod val="50000"/>
                  </a:schemeClr>
                </a:solidFill>
              </a:rPr>
              <a:t>Métrica.</a:t>
            </a:r>
          </a:p>
          <a:p>
            <a:pPr marL="742950" lvl="1" indent="-285750">
              <a:lnSpc>
                <a:spcPct val="150000"/>
              </a:lnSpc>
              <a:buFont typeface="Arial" panose="020B0604020202020204" pitchFamily="34" charset="0"/>
              <a:buChar char="•"/>
            </a:pPr>
            <a:r>
              <a:rPr lang="es-ES" sz="2400" b="1" dirty="0">
                <a:solidFill>
                  <a:schemeClr val="accent1">
                    <a:lumMod val="50000"/>
                  </a:schemeClr>
                </a:solidFill>
              </a:rPr>
              <a:t>Método de agrupamiento</a:t>
            </a:r>
            <a:endParaRPr lang="es-ES" sz="2800" b="1" dirty="0">
              <a:solidFill>
                <a:schemeClr val="accent1">
                  <a:lumMod val="50000"/>
                </a:schemeClr>
              </a:solidFill>
            </a:endParaRPr>
          </a:p>
          <a:p>
            <a:pPr marL="285750" indent="-285750">
              <a:lnSpc>
                <a:spcPct val="150000"/>
              </a:lnSpc>
              <a:buFont typeface="Arial" panose="020B0604020202020204" pitchFamily="34" charset="0"/>
              <a:buChar char="•"/>
            </a:pPr>
            <a:r>
              <a:rPr lang="es-ES" sz="2800" b="1" dirty="0">
                <a:solidFill>
                  <a:schemeClr val="accent1">
                    <a:lumMod val="50000"/>
                  </a:schemeClr>
                </a:solidFill>
              </a:rPr>
              <a:t>Número Óptimo de Grupos.</a:t>
            </a:r>
          </a:p>
          <a:p>
            <a:pPr marL="742950" lvl="1" indent="-285750">
              <a:lnSpc>
                <a:spcPct val="150000"/>
              </a:lnSpc>
              <a:buFont typeface="Arial" panose="020B0604020202020204" pitchFamily="34" charset="0"/>
              <a:buChar char="•"/>
            </a:pPr>
            <a:r>
              <a:rPr lang="es-ES" sz="2400" b="1" dirty="0">
                <a:solidFill>
                  <a:schemeClr val="accent1">
                    <a:lumMod val="50000"/>
                  </a:schemeClr>
                </a:solidFill>
              </a:rPr>
              <a:t>Método del codo.</a:t>
            </a:r>
          </a:p>
          <a:p>
            <a:pPr marL="285750" indent="-285750">
              <a:lnSpc>
                <a:spcPct val="150000"/>
              </a:lnSpc>
              <a:buFont typeface="Arial" panose="020B0604020202020204" pitchFamily="34" charset="0"/>
              <a:buChar char="•"/>
            </a:pPr>
            <a:r>
              <a:rPr lang="es-ES" sz="2800" b="1" dirty="0">
                <a:solidFill>
                  <a:schemeClr val="accent1">
                    <a:lumMod val="50000"/>
                  </a:schemeClr>
                </a:solidFill>
              </a:rPr>
              <a:t>Ventajas e inconvenientes del Agrupamiento Jerárquico.</a:t>
            </a:r>
          </a:p>
          <a:p>
            <a:pPr marL="285750" indent="-285750">
              <a:lnSpc>
                <a:spcPct val="150000"/>
              </a:lnSpc>
              <a:buFont typeface="Arial" panose="020B0604020202020204" pitchFamily="34" charset="0"/>
              <a:buChar char="•"/>
            </a:pPr>
            <a:r>
              <a:rPr lang="es-ES" sz="2800" b="1" dirty="0">
                <a:solidFill>
                  <a:schemeClr val="accent1">
                    <a:lumMod val="50000"/>
                  </a:schemeClr>
                </a:solidFill>
              </a:rPr>
              <a:t>Implementación del algoritmo.</a:t>
            </a:r>
          </a:p>
        </p:txBody>
      </p:sp>
    </p:spTree>
    <p:extLst>
      <p:ext uri="{BB962C8B-B14F-4D97-AF65-F5344CB8AC3E}">
        <p14:creationId xmlns:p14="http://schemas.microsoft.com/office/powerpoint/2010/main" val="2422130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99ADB20-84F2-58BB-255A-650154E21182}"/>
              </a:ext>
            </a:extLst>
          </p:cNvPr>
          <p:cNvPicPr>
            <a:picLocks noChangeAspect="1"/>
          </p:cNvPicPr>
          <p:nvPr/>
        </p:nvPicPr>
        <p:blipFill>
          <a:blip r:embed="rId2"/>
          <a:srcRect l="21583" r="21642"/>
          <a:stretch/>
        </p:blipFill>
        <p:spPr>
          <a:xfrm rot="2691418">
            <a:off x="4656771" y="4874599"/>
            <a:ext cx="763776" cy="430347"/>
          </a:xfrm>
          <a:prstGeom prst="rect">
            <a:avLst/>
          </a:prstGeom>
        </p:spPr>
      </p:pic>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4</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5" name="CuadroTexto 4">
            <a:extLst>
              <a:ext uri="{FF2B5EF4-FFF2-40B4-BE49-F238E27FC236}">
                <a16:creationId xmlns:a16="http://schemas.microsoft.com/office/drawing/2014/main" id="{D4286E82-FF38-1057-622F-02244AD16F2B}"/>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Estrategias de agrupamiento:</a:t>
            </a:r>
          </a:p>
        </p:txBody>
      </p:sp>
      <p:sp>
        <p:nvSpPr>
          <p:cNvPr id="8" name="CuadroTexto 7"/>
          <p:cNvSpPr txBox="1"/>
          <p:nvPr/>
        </p:nvSpPr>
        <p:spPr>
          <a:xfrm>
            <a:off x="179946" y="5147028"/>
            <a:ext cx="4858713" cy="1323439"/>
          </a:xfrm>
          <a:prstGeom prst="rect">
            <a:avLst/>
          </a:prstGeom>
          <a:noFill/>
        </p:spPr>
        <p:txBody>
          <a:bodyPr wrap="square" rtlCol="0">
            <a:spAutoFit/>
          </a:bodyPr>
          <a:lstStyle/>
          <a:p>
            <a:r>
              <a:rPr lang="es-ES" sz="1600" b="1" dirty="0">
                <a:solidFill>
                  <a:schemeClr val="accent1">
                    <a:lumMod val="50000"/>
                  </a:schemeClr>
                </a:solidFill>
              </a:rPr>
              <a:t>Estrategia de aglomeración o ascendente </a:t>
            </a:r>
            <a:r>
              <a:rPr lang="es-ES" sz="1400" dirty="0">
                <a:solidFill>
                  <a:schemeClr val="accent1">
                    <a:lumMod val="50000"/>
                  </a:schemeClr>
                </a:solidFill>
              </a:rPr>
              <a:t>(</a:t>
            </a:r>
            <a:r>
              <a:rPr lang="es-ES" sz="1400" dirty="0" err="1">
                <a:solidFill>
                  <a:schemeClr val="accent1">
                    <a:lumMod val="50000"/>
                  </a:schemeClr>
                </a:solidFill>
              </a:rPr>
              <a:t>Agglomerative</a:t>
            </a:r>
            <a:r>
              <a:rPr lang="es-ES" sz="1400" dirty="0">
                <a:solidFill>
                  <a:schemeClr val="accent1">
                    <a:lumMod val="50000"/>
                  </a:schemeClr>
                </a:solidFill>
              </a:rPr>
              <a:t>) </a:t>
            </a:r>
          </a:p>
          <a:p>
            <a:endParaRPr lang="es-ES" sz="1600" b="1" dirty="0">
              <a:solidFill>
                <a:schemeClr val="accent1">
                  <a:lumMod val="50000"/>
                </a:schemeClr>
              </a:solidFill>
            </a:endParaRPr>
          </a:p>
          <a:p>
            <a:pPr marL="285750" indent="-285750">
              <a:buFont typeface="Wingdings" panose="05000000000000000000" pitchFamily="2" charset="2"/>
              <a:buChar char="Ø"/>
            </a:pPr>
            <a:r>
              <a:rPr lang="es-ES" sz="1600" dirty="0">
                <a:solidFill>
                  <a:schemeClr val="accent1">
                    <a:lumMod val="50000"/>
                  </a:schemeClr>
                </a:solidFill>
              </a:rPr>
              <a:t>Inicialmente cada punto de entrada constituye su propio clúster y a medida que ascendemos niveles se agrupan por distancia.</a:t>
            </a:r>
          </a:p>
        </p:txBody>
      </p:sp>
      <p:sp>
        <p:nvSpPr>
          <p:cNvPr id="9" name="CuadroTexto 8"/>
          <p:cNvSpPr txBox="1"/>
          <p:nvPr/>
        </p:nvSpPr>
        <p:spPr>
          <a:xfrm>
            <a:off x="7462200" y="5147028"/>
            <a:ext cx="4479000" cy="1569660"/>
          </a:xfrm>
          <a:prstGeom prst="rect">
            <a:avLst/>
          </a:prstGeom>
          <a:noFill/>
        </p:spPr>
        <p:txBody>
          <a:bodyPr wrap="square" rtlCol="0">
            <a:spAutoFit/>
          </a:bodyPr>
          <a:lstStyle/>
          <a:p>
            <a:r>
              <a:rPr lang="es-ES" sz="1600" b="1" dirty="0">
                <a:solidFill>
                  <a:schemeClr val="accent1">
                    <a:lumMod val="50000"/>
                  </a:schemeClr>
                </a:solidFill>
              </a:rPr>
              <a:t>Estrategia divisiva o descendente </a:t>
            </a:r>
            <a:r>
              <a:rPr lang="es-ES" sz="1400" dirty="0">
                <a:solidFill>
                  <a:schemeClr val="accent1">
                    <a:lumMod val="50000"/>
                  </a:schemeClr>
                </a:solidFill>
              </a:rPr>
              <a:t>(</a:t>
            </a:r>
            <a:r>
              <a:rPr lang="es-ES" sz="1400" dirty="0" err="1">
                <a:solidFill>
                  <a:schemeClr val="accent1">
                    <a:lumMod val="50000"/>
                  </a:schemeClr>
                </a:solidFill>
              </a:rPr>
              <a:t>Divisive</a:t>
            </a:r>
            <a:r>
              <a:rPr lang="es-ES" sz="1400" dirty="0">
                <a:solidFill>
                  <a:schemeClr val="accent1">
                    <a:lumMod val="50000"/>
                  </a:schemeClr>
                </a:solidFill>
              </a:rPr>
              <a:t>) </a:t>
            </a:r>
          </a:p>
          <a:p>
            <a:endParaRPr lang="es-ES" sz="1600" b="1" dirty="0">
              <a:solidFill>
                <a:schemeClr val="accent1">
                  <a:lumMod val="50000"/>
                </a:schemeClr>
              </a:solidFill>
            </a:endParaRPr>
          </a:p>
          <a:p>
            <a:pPr marL="285750" indent="-285750">
              <a:buFont typeface="Wingdings" panose="05000000000000000000" pitchFamily="2" charset="2"/>
              <a:buChar char="Ø"/>
            </a:pPr>
            <a:r>
              <a:rPr lang="es-ES" sz="1600" dirty="0">
                <a:solidFill>
                  <a:schemeClr val="accent1">
                    <a:lumMod val="50000"/>
                  </a:schemeClr>
                </a:solidFill>
              </a:rPr>
              <a:t>Inicialmente todos los puntos de entrada están agrupados en un único clúster y en cada iteración se dividen en grupos de puntos próximos.</a:t>
            </a:r>
          </a:p>
        </p:txBody>
      </p:sp>
      <p:pic>
        <p:nvPicPr>
          <p:cNvPr id="16" name="Imagen 15"/>
          <p:cNvPicPr>
            <a:picLocks noChangeAspect="1"/>
          </p:cNvPicPr>
          <p:nvPr/>
        </p:nvPicPr>
        <p:blipFill>
          <a:blip r:embed="rId3">
            <a:extLst>
              <a:ext uri="{28A0092B-C50C-407E-A947-70E740481C1C}">
                <a14:useLocalDpi xmlns:a14="http://schemas.microsoft.com/office/drawing/2010/main" val="0"/>
              </a:ext>
            </a:extLst>
          </a:blip>
          <a:srcRect r="4295"/>
          <a:stretch/>
        </p:blipFill>
        <p:spPr>
          <a:xfrm>
            <a:off x="7713000" y="1542046"/>
            <a:ext cx="4479000" cy="3510000"/>
          </a:xfrm>
          <a:prstGeom prst="rect">
            <a:avLst/>
          </a:prstGeom>
        </p:spPr>
      </p:pic>
      <p:pic>
        <p:nvPicPr>
          <p:cNvPr id="17" name="Imagen 16"/>
          <p:cNvPicPr>
            <a:picLocks noChangeAspect="1"/>
          </p:cNvPicPr>
          <p:nvPr/>
        </p:nvPicPr>
        <p:blipFill>
          <a:blip r:embed="rId4">
            <a:extLst>
              <a:ext uri="{28A0092B-C50C-407E-A947-70E740481C1C}">
                <a14:useLocalDpi xmlns:a14="http://schemas.microsoft.com/office/drawing/2010/main" val="0"/>
              </a:ext>
            </a:extLst>
          </a:blip>
          <a:srcRect l="6172"/>
          <a:stretch/>
        </p:blipFill>
        <p:spPr>
          <a:xfrm>
            <a:off x="-1" y="1579772"/>
            <a:ext cx="4391165" cy="3510000"/>
          </a:xfrm>
          <a:prstGeom prst="rect">
            <a:avLst/>
          </a:prstGeom>
        </p:spPr>
      </p:pic>
      <p:pic>
        <p:nvPicPr>
          <p:cNvPr id="15" name="Imagen 14"/>
          <p:cNvPicPr>
            <a:picLocks noChangeAspect="1"/>
          </p:cNvPicPr>
          <p:nvPr/>
        </p:nvPicPr>
        <p:blipFill>
          <a:blip r:embed="rId5"/>
          <a:stretch>
            <a:fillRect/>
          </a:stretch>
        </p:blipFill>
        <p:spPr>
          <a:xfrm>
            <a:off x="4278000" y="175683"/>
            <a:ext cx="3636000" cy="2874086"/>
          </a:xfrm>
          <a:prstGeom prst="rect">
            <a:avLst/>
          </a:prstGeom>
        </p:spPr>
      </p:pic>
    </p:spTree>
    <p:extLst>
      <p:ext uri="{BB962C8B-B14F-4D97-AF65-F5344CB8AC3E}">
        <p14:creationId xmlns:p14="http://schemas.microsoft.com/office/powerpoint/2010/main" val="1629139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5</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028591" y="136523"/>
            <a:ext cx="3067982" cy="461665"/>
          </a:xfrm>
          <a:prstGeom prst="rect">
            <a:avLst/>
          </a:prstGeom>
          <a:noFill/>
        </p:spPr>
        <p:txBody>
          <a:bodyPr wrap="square" rtlCol="0">
            <a:spAutoFit/>
          </a:bodyPr>
          <a:lstStyle/>
          <a:p>
            <a:r>
              <a:rPr lang="es-ES" sz="2400" b="1" dirty="0" err="1">
                <a:solidFill>
                  <a:schemeClr val="accent1">
                    <a:lumMod val="50000"/>
                  </a:schemeClr>
                </a:solidFill>
              </a:rPr>
              <a:t>Hierarchical</a:t>
            </a:r>
            <a:r>
              <a:rPr lang="es-ES" sz="2400" b="1" dirty="0">
                <a:solidFill>
                  <a:schemeClr val="accent1">
                    <a:lumMod val="50000"/>
                  </a:schemeClr>
                </a:solidFill>
              </a:rPr>
              <a:t> </a:t>
            </a:r>
            <a:r>
              <a:rPr lang="es-ES" sz="2400" b="1" dirty="0" err="1">
                <a:solidFill>
                  <a:schemeClr val="accent1">
                    <a:lumMod val="50000"/>
                  </a:schemeClr>
                </a:solidFill>
              </a:rPr>
              <a:t>Clustering</a:t>
            </a:r>
            <a:endParaRPr lang="es-ES" sz="8800" b="1" dirty="0">
              <a:solidFill>
                <a:schemeClr val="accent1">
                  <a:lumMod val="50000"/>
                </a:scheme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1797254" y="1119374"/>
            <a:ext cx="9876881" cy="498598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800" b="1" dirty="0" err="1">
                <a:solidFill>
                  <a:schemeClr val="accent5">
                    <a:lumMod val="20000"/>
                    <a:lumOff val="80000"/>
                  </a:schemeClr>
                </a:solidFill>
              </a:rPr>
              <a:t>Estrategias</a:t>
            </a:r>
            <a:r>
              <a:rPr lang="en-US" sz="2800" b="1" dirty="0">
                <a:solidFill>
                  <a:schemeClr val="accent5">
                    <a:lumMod val="20000"/>
                    <a:lumOff val="80000"/>
                  </a:schemeClr>
                </a:solidFill>
              </a:rPr>
              <a:t> de </a:t>
            </a:r>
            <a:r>
              <a:rPr lang="en-US" sz="2800" b="1" i="1" dirty="0">
                <a:solidFill>
                  <a:schemeClr val="accent5">
                    <a:lumMod val="20000"/>
                    <a:lumOff val="80000"/>
                  </a:schemeClr>
                </a:solidFill>
              </a:rPr>
              <a:t>Clustering</a:t>
            </a:r>
            <a:r>
              <a:rPr lang="en-US" sz="2800" b="1" dirty="0">
                <a:solidFill>
                  <a:schemeClr val="accent5">
                    <a:lumMod val="20000"/>
                    <a:lumOff val="80000"/>
                  </a:schemeClr>
                </a:solidFill>
              </a:rPr>
              <a:t>.</a:t>
            </a:r>
          </a:p>
          <a:p>
            <a:pPr marL="285750" indent="-285750">
              <a:lnSpc>
                <a:spcPct val="150000"/>
              </a:lnSpc>
              <a:buFont typeface="Arial" panose="020B0604020202020204" pitchFamily="34" charset="0"/>
              <a:buChar char="•"/>
            </a:pPr>
            <a:r>
              <a:rPr lang="es-ES" sz="2800" b="1" dirty="0">
                <a:solidFill>
                  <a:schemeClr val="accent1">
                    <a:lumMod val="50000"/>
                  </a:schemeClr>
                </a:solidFill>
              </a:rPr>
              <a:t>Parámetros del </a:t>
            </a:r>
            <a:r>
              <a:rPr lang="es-ES" sz="2800" b="1" i="1" dirty="0" err="1">
                <a:solidFill>
                  <a:schemeClr val="accent1">
                    <a:lumMod val="50000"/>
                  </a:schemeClr>
                </a:solidFill>
              </a:rPr>
              <a:t>Clustering</a:t>
            </a:r>
            <a:r>
              <a:rPr lang="es-ES" sz="2800" b="1" dirty="0">
                <a:solidFill>
                  <a:schemeClr val="accent1">
                    <a:lumMod val="50000"/>
                  </a:schemeClr>
                </a:solidFill>
              </a:rPr>
              <a:t>.</a:t>
            </a:r>
          </a:p>
          <a:p>
            <a:pPr marL="742950" lvl="1" indent="-285750">
              <a:lnSpc>
                <a:spcPct val="150000"/>
              </a:lnSpc>
              <a:buFont typeface="Arial" panose="020B0604020202020204" pitchFamily="34" charset="0"/>
              <a:buChar char="•"/>
            </a:pPr>
            <a:r>
              <a:rPr lang="es-ES" sz="2400" b="1" dirty="0">
                <a:solidFill>
                  <a:schemeClr val="accent1">
                    <a:lumMod val="50000"/>
                  </a:schemeClr>
                </a:solidFill>
              </a:rPr>
              <a:t>Métrica.</a:t>
            </a:r>
          </a:p>
          <a:p>
            <a:pPr marL="742950" lvl="1" indent="-285750">
              <a:lnSpc>
                <a:spcPct val="150000"/>
              </a:lnSpc>
              <a:buFont typeface="Arial" panose="020B0604020202020204" pitchFamily="34" charset="0"/>
              <a:buChar char="•"/>
            </a:pPr>
            <a:r>
              <a:rPr lang="es-ES" sz="2400" b="1" dirty="0">
                <a:solidFill>
                  <a:schemeClr val="accent1">
                    <a:lumMod val="50000"/>
                  </a:schemeClr>
                </a:solidFill>
              </a:rPr>
              <a:t>Método de agrupamiento</a:t>
            </a:r>
            <a:endParaRPr lang="es-ES" sz="2800" b="1" dirty="0">
              <a:solidFill>
                <a:schemeClr val="accent1">
                  <a:lumMod val="50000"/>
                </a:schemeClr>
              </a:solidFill>
            </a:endParaRPr>
          </a:p>
          <a:p>
            <a:pPr marL="285750" indent="-285750">
              <a:lnSpc>
                <a:spcPct val="150000"/>
              </a:lnSpc>
              <a:buFont typeface="Arial" panose="020B0604020202020204" pitchFamily="34" charset="0"/>
              <a:buChar char="•"/>
            </a:pPr>
            <a:r>
              <a:rPr lang="es-ES" sz="2800" b="1" dirty="0">
                <a:solidFill>
                  <a:schemeClr val="accent5">
                    <a:lumMod val="20000"/>
                    <a:lumOff val="80000"/>
                  </a:schemeClr>
                </a:solidFill>
              </a:rPr>
              <a:t>Número Óptimo de Grupos.</a:t>
            </a:r>
          </a:p>
          <a:p>
            <a:pPr marL="742950" lvl="1" indent="-285750">
              <a:lnSpc>
                <a:spcPct val="150000"/>
              </a:lnSpc>
              <a:buFont typeface="Arial" panose="020B0604020202020204" pitchFamily="34" charset="0"/>
              <a:buChar char="•"/>
            </a:pPr>
            <a:r>
              <a:rPr lang="es-ES" sz="2400" b="1" dirty="0">
                <a:solidFill>
                  <a:schemeClr val="accent5">
                    <a:lumMod val="20000"/>
                    <a:lumOff val="80000"/>
                  </a:schemeClr>
                </a:solidFill>
              </a:rPr>
              <a:t>Método del codo.</a:t>
            </a:r>
          </a:p>
          <a:p>
            <a:pPr marL="285750" indent="-285750">
              <a:lnSpc>
                <a:spcPct val="150000"/>
              </a:lnSpc>
              <a:buFont typeface="Arial" panose="020B0604020202020204" pitchFamily="34" charset="0"/>
              <a:buChar char="•"/>
            </a:pPr>
            <a:r>
              <a:rPr lang="es-ES" sz="2800" b="1" dirty="0">
                <a:solidFill>
                  <a:schemeClr val="accent5">
                    <a:lumMod val="20000"/>
                    <a:lumOff val="80000"/>
                  </a:schemeClr>
                </a:solidFill>
              </a:rPr>
              <a:t>Ventajas e inconvenientes del Agrupamiento Jerárquico.</a:t>
            </a:r>
          </a:p>
          <a:p>
            <a:pPr marL="285750" indent="-285750">
              <a:lnSpc>
                <a:spcPct val="150000"/>
              </a:lnSpc>
              <a:buFont typeface="Arial" panose="020B0604020202020204" pitchFamily="34" charset="0"/>
              <a:buChar char="•"/>
            </a:pPr>
            <a:r>
              <a:rPr lang="es-ES" sz="2800" b="1" dirty="0">
                <a:solidFill>
                  <a:schemeClr val="accent5">
                    <a:lumMod val="20000"/>
                    <a:lumOff val="80000"/>
                  </a:schemeClr>
                </a:solidFill>
              </a:rPr>
              <a:t>Implementación del algoritmo.</a:t>
            </a:r>
          </a:p>
        </p:txBody>
      </p:sp>
    </p:spTree>
    <p:extLst>
      <p:ext uri="{BB962C8B-B14F-4D97-AF65-F5344CB8AC3E}">
        <p14:creationId xmlns:p14="http://schemas.microsoft.com/office/powerpoint/2010/main" val="9196097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7993CC0-FDBD-26F4-7B73-3131004186E5}"/>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6</a:t>
            </a:fld>
            <a:endParaRPr lang="es-ES">
              <a:solidFill>
                <a:prstClr val="black">
                  <a:tint val="75000"/>
                </a:prstClr>
              </a:solidFill>
            </a:endParaRPr>
          </a:p>
        </p:txBody>
      </p:sp>
      <p:graphicFrame>
        <p:nvGraphicFramePr>
          <p:cNvPr id="2" name="Tabla 1">
            <a:extLst>
              <a:ext uri="{FF2B5EF4-FFF2-40B4-BE49-F238E27FC236}">
                <a16:creationId xmlns:a16="http://schemas.microsoft.com/office/drawing/2014/main" id="{ACCB76EE-BD02-08A9-B7A2-FEEA70E20A7D}"/>
              </a:ext>
            </a:extLst>
          </p:cNvPr>
          <p:cNvGraphicFramePr>
            <a:graphicFrameLocks noGrp="1"/>
          </p:cNvGraphicFramePr>
          <p:nvPr>
            <p:extLst/>
          </p:nvPr>
        </p:nvGraphicFramePr>
        <p:xfrm>
          <a:off x="641250" y="2403595"/>
          <a:ext cx="3780000" cy="3780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3683921040"/>
                    </a:ext>
                  </a:extLst>
                </a:gridCol>
                <a:gridCol w="540000">
                  <a:extLst>
                    <a:ext uri="{9D8B030D-6E8A-4147-A177-3AD203B41FA5}">
                      <a16:colId xmlns:a16="http://schemas.microsoft.com/office/drawing/2014/main" val="1049888524"/>
                    </a:ext>
                  </a:extLst>
                </a:gridCol>
                <a:gridCol w="540000">
                  <a:extLst>
                    <a:ext uri="{9D8B030D-6E8A-4147-A177-3AD203B41FA5}">
                      <a16:colId xmlns:a16="http://schemas.microsoft.com/office/drawing/2014/main" val="2993664143"/>
                    </a:ext>
                  </a:extLst>
                </a:gridCol>
                <a:gridCol w="540000">
                  <a:extLst>
                    <a:ext uri="{9D8B030D-6E8A-4147-A177-3AD203B41FA5}">
                      <a16:colId xmlns:a16="http://schemas.microsoft.com/office/drawing/2014/main" val="3507055678"/>
                    </a:ext>
                  </a:extLst>
                </a:gridCol>
                <a:gridCol w="540000">
                  <a:extLst>
                    <a:ext uri="{9D8B030D-6E8A-4147-A177-3AD203B41FA5}">
                      <a16:colId xmlns:a16="http://schemas.microsoft.com/office/drawing/2014/main" val="2163512156"/>
                    </a:ext>
                  </a:extLst>
                </a:gridCol>
                <a:gridCol w="540000">
                  <a:extLst>
                    <a:ext uri="{9D8B030D-6E8A-4147-A177-3AD203B41FA5}">
                      <a16:colId xmlns:a16="http://schemas.microsoft.com/office/drawing/2014/main" val="60501077"/>
                    </a:ext>
                  </a:extLst>
                </a:gridCol>
                <a:gridCol w="540000">
                  <a:extLst>
                    <a:ext uri="{9D8B030D-6E8A-4147-A177-3AD203B41FA5}">
                      <a16:colId xmlns:a16="http://schemas.microsoft.com/office/drawing/2014/main" val="219811053"/>
                    </a:ext>
                  </a:extLst>
                </a:gridCol>
              </a:tblGrid>
              <a:tr h="540000">
                <a:tc>
                  <a:txBody>
                    <a:bodyPr/>
                    <a:lstStyle/>
                    <a:p>
                      <a:endParaRPr lang="es-ES"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2091745"/>
                  </a:ext>
                </a:extLst>
              </a:tr>
              <a:tr h="540000">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5248245"/>
                  </a:ext>
                </a:extLst>
              </a:tr>
              <a:tr h="540000">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85415021"/>
                  </a:ext>
                </a:extLst>
              </a:tr>
              <a:tr h="540000">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7292919"/>
                  </a:ext>
                </a:extLst>
              </a:tr>
              <a:tr h="540000">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95368796"/>
                  </a:ext>
                </a:extLst>
              </a:tr>
              <a:tr h="540000">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8639303"/>
                  </a:ext>
                </a:extLst>
              </a:tr>
              <a:tr h="540000">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5235058"/>
                  </a:ext>
                </a:extLst>
              </a:tr>
            </a:tbl>
          </a:graphicData>
        </a:graphic>
      </p:graphicFrame>
      <p:sp>
        <p:nvSpPr>
          <p:cNvPr id="3" name="Elipse 2">
            <a:extLst>
              <a:ext uri="{FF2B5EF4-FFF2-40B4-BE49-F238E27FC236}">
                <a16:creationId xmlns:a16="http://schemas.microsoft.com/office/drawing/2014/main" id="{345EB28E-055F-1A94-7057-BB31B9DF10A8}"/>
              </a:ext>
            </a:extLst>
          </p:cNvPr>
          <p:cNvSpPr/>
          <p:nvPr/>
        </p:nvSpPr>
        <p:spPr>
          <a:xfrm>
            <a:off x="2712355" y="2849724"/>
            <a:ext cx="180000" cy="1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Elipse 4">
            <a:extLst>
              <a:ext uri="{FF2B5EF4-FFF2-40B4-BE49-F238E27FC236}">
                <a16:creationId xmlns:a16="http://schemas.microsoft.com/office/drawing/2014/main" id="{649B4412-D111-123E-7757-C2457DCA4E3F}"/>
              </a:ext>
            </a:extLst>
          </p:cNvPr>
          <p:cNvSpPr/>
          <p:nvPr/>
        </p:nvSpPr>
        <p:spPr>
          <a:xfrm>
            <a:off x="1632564" y="5013141"/>
            <a:ext cx="180000" cy="1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6" name="Conector recto 5">
            <a:extLst>
              <a:ext uri="{FF2B5EF4-FFF2-40B4-BE49-F238E27FC236}">
                <a16:creationId xmlns:a16="http://schemas.microsoft.com/office/drawing/2014/main" id="{A2F763A1-6496-9870-815D-3EA116EC8378}"/>
              </a:ext>
            </a:extLst>
          </p:cNvPr>
          <p:cNvCxnSpPr>
            <a:cxnSpLocks/>
            <a:stCxn id="5" idx="6"/>
          </p:cNvCxnSpPr>
          <p:nvPr/>
        </p:nvCxnSpPr>
        <p:spPr>
          <a:xfrm>
            <a:off x="1812564" y="5103141"/>
            <a:ext cx="989791" cy="144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2440E745-BA65-B3F4-D234-F2EEE1A580DA}"/>
              </a:ext>
            </a:extLst>
          </p:cNvPr>
          <p:cNvCxnSpPr>
            <a:cxnSpLocks/>
            <a:stCxn id="3" idx="4"/>
          </p:cNvCxnSpPr>
          <p:nvPr/>
        </p:nvCxnSpPr>
        <p:spPr>
          <a:xfrm>
            <a:off x="2802355" y="3029724"/>
            <a:ext cx="0" cy="207341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9CF1160E-8101-CEDF-108B-56984D2D8453}"/>
              </a:ext>
            </a:extLst>
          </p:cNvPr>
          <p:cNvCxnSpPr>
            <a:cxnSpLocks/>
            <a:stCxn id="5" idx="7"/>
            <a:endCxn id="3" idx="3"/>
          </p:cNvCxnSpPr>
          <p:nvPr/>
        </p:nvCxnSpPr>
        <p:spPr>
          <a:xfrm flipV="1">
            <a:off x="1786204" y="3003364"/>
            <a:ext cx="952511" cy="2036137"/>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Conector recto 58">
            <a:extLst>
              <a:ext uri="{FF2B5EF4-FFF2-40B4-BE49-F238E27FC236}">
                <a16:creationId xmlns:a16="http://schemas.microsoft.com/office/drawing/2014/main" id="{51988E61-B38C-9F1D-C1DF-93D2CC4354C6}"/>
              </a:ext>
            </a:extLst>
          </p:cNvPr>
          <p:cNvCxnSpPr>
            <a:cxnSpLocks/>
          </p:cNvCxnSpPr>
          <p:nvPr/>
        </p:nvCxnSpPr>
        <p:spPr>
          <a:xfrm>
            <a:off x="1722564" y="2939724"/>
            <a:ext cx="0" cy="2073417"/>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2" name="Rectángulo: esquinas redondeadas 31">
            <a:extLst>
              <a:ext uri="{FF2B5EF4-FFF2-40B4-BE49-F238E27FC236}">
                <a16:creationId xmlns:a16="http://schemas.microsoft.com/office/drawing/2014/main" id="{AB1F6F80-6697-7E80-3294-3C2500D04C53}"/>
              </a:ext>
            </a:extLst>
          </p:cNvPr>
          <p:cNvSpPr/>
          <p:nvPr/>
        </p:nvSpPr>
        <p:spPr>
          <a:xfrm>
            <a:off x="83668" y="1534367"/>
            <a:ext cx="5599773" cy="5057679"/>
          </a:xfrm>
          <a:prstGeom prst="roundRect">
            <a:avLst>
              <a:gd name="adj" fmla="val 8159"/>
            </a:avLst>
          </a:prstGeom>
          <a:solidFill>
            <a:schemeClr val="accent1">
              <a:lumMod val="20000"/>
              <a:lumOff val="80000"/>
              <a:alpha val="27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ES" sz="2000" b="1" dirty="0">
                <a:solidFill>
                  <a:schemeClr val="accent1">
                    <a:lumMod val="50000"/>
                  </a:schemeClr>
                </a:solidFill>
              </a:rPr>
              <a:t>Medidas basadas en la distancia de Minkowski.</a:t>
            </a:r>
          </a:p>
          <a:p>
            <a:endParaRPr lang="es-ES" dirty="0">
              <a:solidFill>
                <a:schemeClr val="accent1">
                  <a:lumMod val="50000"/>
                </a:schemeClr>
              </a:solidFill>
            </a:endParaRPr>
          </a:p>
        </p:txBody>
      </p:sp>
      <p:sp>
        <p:nvSpPr>
          <p:cNvPr id="60" name="CuadroTexto 59">
            <a:extLst>
              <a:ext uri="{FF2B5EF4-FFF2-40B4-BE49-F238E27FC236}">
                <a16:creationId xmlns:a16="http://schemas.microsoft.com/office/drawing/2014/main" id="{E9D2582A-D2E4-3516-065E-6E7F8D860C4E}"/>
              </a:ext>
            </a:extLst>
          </p:cNvPr>
          <p:cNvSpPr txBox="1"/>
          <p:nvPr/>
        </p:nvSpPr>
        <p:spPr>
          <a:xfrm>
            <a:off x="6508559" y="2045389"/>
            <a:ext cx="2981585" cy="400110"/>
          </a:xfrm>
          <a:prstGeom prst="rect">
            <a:avLst/>
          </a:prstGeom>
          <a:noFill/>
        </p:spPr>
        <p:txBody>
          <a:bodyPr wrap="none" rtlCol="0">
            <a:spAutoFit/>
          </a:bodyPr>
          <a:lstStyle/>
          <a:p>
            <a:pPr marL="285750" indent="-285750">
              <a:buFont typeface="Arial" panose="020B0604020202020204" pitchFamily="34" charset="0"/>
              <a:buChar char="•"/>
            </a:pPr>
            <a:r>
              <a:rPr lang="es-ES" sz="2000" dirty="0">
                <a:solidFill>
                  <a:schemeClr val="accent1">
                    <a:lumMod val="50000"/>
                  </a:schemeClr>
                </a:solidFill>
              </a:rPr>
              <a:t>Distancia de Minkowski:</a:t>
            </a:r>
          </a:p>
        </p:txBody>
      </p:sp>
      <mc:AlternateContent xmlns:mc="http://schemas.openxmlformats.org/markup-compatibility/2006" xmlns:a14="http://schemas.microsoft.com/office/drawing/2010/main">
        <mc:Choice Requires="a14">
          <p:sp>
            <p:nvSpPr>
              <p:cNvPr id="61" name="CuadroTexto 60">
                <a:extLst>
                  <a:ext uri="{FF2B5EF4-FFF2-40B4-BE49-F238E27FC236}">
                    <a16:creationId xmlns:a16="http://schemas.microsoft.com/office/drawing/2014/main" id="{06D23282-9B61-A93A-83E0-6B6582669452}"/>
                  </a:ext>
                </a:extLst>
              </p:cNvPr>
              <p:cNvSpPr txBox="1"/>
              <p:nvPr/>
            </p:nvSpPr>
            <p:spPr>
              <a:xfrm>
                <a:off x="8776680" y="1716527"/>
                <a:ext cx="3309257" cy="10499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rPr>
                          </m:ctrlPr>
                        </m:sSupPr>
                        <m:e>
                          <m:d>
                            <m:dPr>
                              <m:ctrlPr>
                                <a:rPr lang="es-ES" i="1" smtClean="0">
                                  <a:solidFill>
                                    <a:schemeClr val="accent1">
                                      <a:lumMod val="50000"/>
                                    </a:schemeClr>
                                  </a:solidFill>
                                  <a:latin typeface="Cambria Math" panose="02040503050406030204" pitchFamily="18" charset="0"/>
                                </a:rPr>
                              </m:ctrlPr>
                            </m:dPr>
                            <m:e>
                              <m:nary>
                                <m:naryPr>
                                  <m:chr m:val="∑"/>
                                  <m:ctrlPr>
                                    <a:rPr lang="es-ES" i="1">
                                      <a:solidFill>
                                        <a:schemeClr val="accent1">
                                          <a:lumMod val="50000"/>
                                        </a:schemeClr>
                                      </a:solidFill>
                                      <a:latin typeface="Cambria Math" panose="02040503050406030204" pitchFamily="18" charset="0"/>
                                    </a:rPr>
                                  </m:ctrlPr>
                                </m:naryPr>
                                <m:sub>
                                  <m:r>
                                    <m:rPr>
                                      <m:brk m:alnAt="23"/>
                                    </m:rPr>
                                    <a:rPr lang="es-ES" i="1">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=1</m:t>
                                  </m:r>
                                </m:sub>
                                <m:sup>
                                  <m:r>
                                    <a:rPr lang="es-ES" i="1">
                                      <a:solidFill>
                                        <a:schemeClr val="accent1">
                                          <a:lumMod val="50000"/>
                                        </a:schemeClr>
                                      </a:solidFill>
                                      <a:latin typeface="Cambria Math" panose="02040503050406030204" pitchFamily="18" charset="0"/>
                                    </a:rPr>
                                    <m:t>𝑛</m:t>
                                  </m:r>
                                </m:sup>
                                <m:e>
                                  <m:sSup>
                                    <m:sSupPr>
                                      <m:ctrlPr>
                                        <a:rPr lang="es-ES" i="1">
                                          <a:solidFill>
                                            <a:schemeClr val="accent1">
                                              <a:lumMod val="50000"/>
                                            </a:schemeClr>
                                          </a:solidFill>
                                          <a:latin typeface="Cambria Math" panose="02040503050406030204" pitchFamily="18" charset="0"/>
                                        </a:rPr>
                                      </m:ctrlPr>
                                    </m:sSupPr>
                                    <m:e>
                                      <m:d>
                                        <m:dPr>
                                          <m:begChr m:val="|"/>
                                          <m:endChr m:val="|"/>
                                          <m:ctrlPr>
                                            <a:rPr lang="es-ES" i="1">
                                              <a:solidFill>
                                                <a:schemeClr val="accent1">
                                                  <a:lumMod val="50000"/>
                                                </a:schemeClr>
                                              </a:solidFill>
                                              <a:latin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𝑦</m:t>
                                              </m:r>
                                            </m:e>
                                            <m:sub>
                                              <m:r>
                                                <a:rPr lang="es-ES" i="1">
                                                  <a:solidFill>
                                                    <a:schemeClr val="accent1">
                                                      <a:lumMod val="50000"/>
                                                    </a:schemeClr>
                                                  </a:solidFill>
                                                  <a:latin typeface="Cambria Math" panose="02040503050406030204" pitchFamily="18" charset="0"/>
                                                </a:rPr>
                                                <m:t>𝑖</m:t>
                                              </m:r>
                                            </m:sub>
                                          </m:sSub>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𝑥</m:t>
                                              </m:r>
                                            </m:e>
                                            <m:sub>
                                              <m:r>
                                                <a:rPr lang="es-ES" i="1">
                                                  <a:solidFill>
                                                    <a:schemeClr val="accent1">
                                                      <a:lumMod val="50000"/>
                                                    </a:schemeClr>
                                                  </a:solidFill>
                                                  <a:latin typeface="Cambria Math" panose="02040503050406030204" pitchFamily="18" charset="0"/>
                                                </a:rPr>
                                                <m:t>𝑖</m:t>
                                              </m:r>
                                            </m:sub>
                                          </m:sSub>
                                        </m:e>
                                      </m:d>
                                    </m:e>
                                    <m:sup>
                                      <m:r>
                                        <a:rPr lang="es-ES" i="1">
                                          <a:solidFill>
                                            <a:schemeClr val="accent1">
                                              <a:lumMod val="50000"/>
                                            </a:schemeClr>
                                          </a:solidFill>
                                          <a:latin typeface="Cambria Math" panose="02040503050406030204" pitchFamily="18" charset="0"/>
                                        </a:rPr>
                                        <m:t>𝑝</m:t>
                                      </m:r>
                                    </m:sup>
                                  </m:sSup>
                                </m:e>
                              </m:nary>
                            </m:e>
                          </m:d>
                        </m:e>
                        <m:sup>
                          <m:r>
                            <a:rPr lang="es-ES" b="0" i="1" smtClean="0">
                              <a:solidFill>
                                <a:schemeClr val="accent1">
                                  <a:lumMod val="50000"/>
                                </a:schemeClr>
                              </a:solidFill>
                              <a:latin typeface="Cambria Math" panose="02040503050406030204" pitchFamily="18" charset="0"/>
                            </a:rPr>
                            <m:t>1/</m:t>
                          </m:r>
                          <m:r>
                            <a:rPr lang="es-ES" b="0" i="1" smtClean="0">
                              <a:solidFill>
                                <a:schemeClr val="accent1">
                                  <a:lumMod val="50000"/>
                                </a:schemeClr>
                              </a:solidFill>
                              <a:latin typeface="Cambria Math" panose="02040503050406030204" pitchFamily="18" charset="0"/>
                            </a:rPr>
                            <m:t>𝑝</m:t>
                          </m:r>
                        </m:sup>
                      </m:sSup>
                    </m:oMath>
                  </m:oMathPara>
                </a14:m>
                <a:endParaRPr lang="es-ES" dirty="0"/>
              </a:p>
            </p:txBody>
          </p:sp>
        </mc:Choice>
        <mc:Fallback xmlns="">
          <p:sp>
            <p:nvSpPr>
              <p:cNvPr id="61" name="CuadroTexto 60">
                <a:extLst>
                  <a:ext uri="{FF2B5EF4-FFF2-40B4-BE49-F238E27FC236}">
                    <a16:creationId xmlns:a16="http://schemas.microsoft.com/office/drawing/2014/main" id="{06D23282-9B61-A93A-83E0-6B6582669452}"/>
                  </a:ext>
                </a:extLst>
              </p:cNvPr>
              <p:cNvSpPr txBox="1">
                <a:spLocks noRot="1" noChangeAspect="1" noMove="1" noResize="1" noEditPoints="1" noAdjustHandles="1" noChangeArrowheads="1" noChangeShapeType="1" noTextEdit="1"/>
              </p:cNvSpPr>
              <p:nvPr/>
            </p:nvSpPr>
            <p:spPr>
              <a:xfrm>
                <a:off x="8776680" y="1716527"/>
                <a:ext cx="3309257" cy="1049903"/>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2" name="CuadroTexto 61">
                <a:extLst>
                  <a:ext uri="{FF2B5EF4-FFF2-40B4-BE49-F238E27FC236}">
                    <a16:creationId xmlns:a16="http://schemas.microsoft.com/office/drawing/2014/main" id="{2191238D-294E-5602-FEE7-4D1F3666F543}"/>
                  </a:ext>
                </a:extLst>
              </p:cNvPr>
              <p:cNvSpPr txBox="1"/>
              <p:nvPr/>
            </p:nvSpPr>
            <p:spPr>
              <a:xfrm>
                <a:off x="6874405" y="3095292"/>
                <a:ext cx="3555973" cy="400110"/>
              </a:xfrm>
              <a:prstGeom prst="rect">
                <a:avLst/>
              </a:prstGeom>
              <a:noFill/>
            </p:spPr>
            <p:txBody>
              <a:bodyPr wrap="none" rtlCol="0">
                <a:spAutoFit/>
              </a:bodyPr>
              <a:lstStyle/>
              <a:p>
                <a:pPr marL="285750" indent="-285750">
                  <a:buClr>
                    <a:srgbClr val="FF0000"/>
                  </a:buClr>
                  <a:buSzPct val="150000"/>
                  <a:buFont typeface="Arial" panose="020B0604020202020204" pitchFamily="34" charset="0"/>
                  <a:buChar char="•"/>
                </a:pPr>
                <a14:m>
                  <m:oMath xmlns:m="http://schemas.openxmlformats.org/officeDocument/2006/math">
                    <m:r>
                      <a:rPr lang="es-ES" sz="2000" b="0" i="1" smtClean="0">
                        <a:solidFill>
                          <a:schemeClr val="accent1">
                            <a:lumMod val="50000"/>
                          </a:schemeClr>
                        </a:solidFill>
                        <a:latin typeface="Cambria Math" panose="02040503050406030204" pitchFamily="18" charset="0"/>
                      </a:rPr>
                      <m:t>𝑝</m:t>
                    </m:r>
                    <m:r>
                      <a:rPr lang="es-ES" sz="2000" b="0" i="1" smtClean="0">
                        <a:solidFill>
                          <a:schemeClr val="accent1">
                            <a:lumMod val="50000"/>
                          </a:schemeClr>
                        </a:solidFill>
                        <a:latin typeface="Cambria Math" panose="02040503050406030204" pitchFamily="18" charset="0"/>
                      </a:rPr>
                      <m:t>=1</m:t>
                    </m:r>
                  </m:oMath>
                </a14:m>
                <a:r>
                  <a:rPr lang="es-ES" sz="2000" dirty="0">
                    <a:solidFill>
                      <a:schemeClr val="accent1">
                        <a:lumMod val="50000"/>
                      </a:schemeClr>
                    </a:solidFill>
                  </a:rPr>
                  <a:t> Manhattan o </a:t>
                </a:r>
                <a:r>
                  <a:rPr lang="es-ES" sz="2000" dirty="0" err="1">
                    <a:solidFill>
                      <a:schemeClr val="accent1">
                        <a:lumMod val="50000"/>
                      </a:schemeClr>
                    </a:solidFill>
                  </a:rPr>
                  <a:t>cityblock</a:t>
                </a:r>
                <a:r>
                  <a:rPr lang="es-ES" sz="2000" dirty="0">
                    <a:solidFill>
                      <a:schemeClr val="accent1">
                        <a:lumMod val="50000"/>
                      </a:schemeClr>
                    </a:solidFill>
                  </a:rPr>
                  <a:t>:</a:t>
                </a:r>
              </a:p>
            </p:txBody>
          </p:sp>
        </mc:Choice>
        <mc:Fallback xmlns="">
          <p:sp>
            <p:nvSpPr>
              <p:cNvPr id="62" name="CuadroTexto 61">
                <a:extLst>
                  <a:ext uri="{FF2B5EF4-FFF2-40B4-BE49-F238E27FC236}">
                    <a16:creationId xmlns:a16="http://schemas.microsoft.com/office/drawing/2014/main" id="{2191238D-294E-5602-FEE7-4D1F3666F543}"/>
                  </a:ext>
                </a:extLst>
              </p:cNvPr>
              <p:cNvSpPr txBox="1">
                <a:spLocks noRot="1" noChangeAspect="1" noMove="1" noResize="1" noEditPoints="1" noAdjustHandles="1" noChangeArrowheads="1" noChangeShapeType="1" noTextEdit="1"/>
              </p:cNvSpPr>
              <p:nvPr/>
            </p:nvSpPr>
            <p:spPr>
              <a:xfrm>
                <a:off x="6874405" y="3095292"/>
                <a:ext cx="3555973" cy="400110"/>
              </a:xfrm>
              <a:prstGeom prst="rect">
                <a:avLst/>
              </a:prstGeom>
              <a:blipFill>
                <a:blip r:embed="rId4"/>
                <a:stretch>
                  <a:fillRect l="-3602" t="-44615" r="-1029" b="-4615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3" name="CuadroTexto 62">
                <a:extLst>
                  <a:ext uri="{FF2B5EF4-FFF2-40B4-BE49-F238E27FC236}">
                    <a16:creationId xmlns:a16="http://schemas.microsoft.com/office/drawing/2014/main" id="{1AAB7927-443D-21DC-E041-9D036C8F1D42}"/>
                  </a:ext>
                </a:extLst>
              </p:cNvPr>
              <p:cNvSpPr txBox="1"/>
              <p:nvPr/>
            </p:nvSpPr>
            <p:spPr>
              <a:xfrm>
                <a:off x="9490144" y="2871064"/>
                <a:ext cx="2981585"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es-ES" i="1" smtClean="0">
                              <a:solidFill>
                                <a:schemeClr val="accent1">
                                  <a:lumMod val="50000"/>
                                </a:schemeClr>
                              </a:solidFill>
                              <a:latin typeface="Cambria Math" panose="02040503050406030204" pitchFamily="18" charset="0"/>
                            </a:rPr>
                          </m:ctrlPr>
                        </m:naryPr>
                        <m:sub>
                          <m:r>
                            <m:rPr>
                              <m:brk m:alnAt="23"/>
                            </m:rPr>
                            <a:rPr lang="es-ES" i="1">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=1</m:t>
                          </m:r>
                        </m:sub>
                        <m:sup>
                          <m:r>
                            <a:rPr lang="es-ES" i="1">
                              <a:solidFill>
                                <a:schemeClr val="accent1">
                                  <a:lumMod val="50000"/>
                                </a:schemeClr>
                              </a:solidFill>
                              <a:latin typeface="Cambria Math" panose="02040503050406030204" pitchFamily="18" charset="0"/>
                            </a:rPr>
                            <m:t>𝑛</m:t>
                          </m:r>
                        </m:sup>
                        <m:e>
                          <m:d>
                            <m:dPr>
                              <m:begChr m:val="|"/>
                              <m:endChr m:val="|"/>
                              <m:ctrlPr>
                                <a:rPr lang="es-ES" i="1">
                                  <a:solidFill>
                                    <a:schemeClr val="accent1">
                                      <a:lumMod val="50000"/>
                                    </a:schemeClr>
                                  </a:solidFill>
                                  <a:latin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𝑦</m:t>
                                  </m:r>
                                </m:e>
                                <m:sub>
                                  <m:r>
                                    <a:rPr lang="es-ES" i="1">
                                      <a:solidFill>
                                        <a:schemeClr val="accent1">
                                          <a:lumMod val="50000"/>
                                        </a:schemeClr>
                                      </a:solidFill>
                                      <a:latin typeface="Cambria Math" panose="02040503050406030204" pitchFamily="18" charset="0"/>
                                    </a:rPr>
                                    <m:t>𝑖</m:t>
                                  </m:r>
                                </m:sub>
                              </m:sSub>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𝑥</m:t>
                                  </m:r>
                                </m:e>
                                <m:sub>
                                  <m:r>
                                    <a:rPr lang="es-ES" i="1">
                                      <a:solidFill>
                                        <a:schemeClr val="accent1">
                                          <a:lumMod val="50000"/>
                                        </a:schemeClr>
                                      </a:solidFill>
                                      <a:latin typeface="Cambria Math" panose="02040503050406030204" pitchFamily="18" charset="0"/>
                                    </a:rPr>
                                    <m:t>𝑖</m:t>
                                  </m:r>
                                </m:sub>
                              </m:sSub>
                            </m:e>
                          </m:d>
                        </m:e>
                      </m:nary>
                    </m:oMath>
                  </m:oMathPara>
                </a14:m>
                <a:endParaRPr lang="es-ES" dirty="0"/>
              </a:p>
            </p:txBody>
          </p:sp>
        </mc:Choice>
        <mc:Fallback xmlns="">
          <p:sp>
            <p:nvSpPr>
              <p:cNvPr id="63" name="CuadroTexto 62">
                <a:extLst>
                  <a:ext uri="{FF2B5EF4-FFF2-40B4-BE49-F238E27FC236}">
                    <a16:creationId xmlns:a16="http://schemas.microsoft.com/office/drawing/2014/main" id="{1AAB7927-443D-21DC-E041-9D036C8F1D42}"/>
                  </a:ext>
                </a:extLst>
              </p:cNvPr>
              <p:cNvSpPr txBox="1">
                <a:spLocks noRot="1" noChangeAspect="1" noMove="1" noResize="1" noEditPoints="1" noAdjustHandles="1" noChangeArrowheads="1" noChangeShapeType="1" noTextEdit="1"/>
              </p:cNvSpPr>
              <p:nvPr/>
            </p:nvSpPr>
            <p:spPr>
              <a:xfrm>
                <a:off x="9490144" y="2871064"/>
                <a:ext cx="2981585" cy="848566"/>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4" name="CuadroTexto 63">
                <a:extLst>
                  <a:ext uri="{FF2B5EF4-FFF2-40B4-BE49-F238E27FC236}">
                    <a16:creationId xmlns:a16="http://schemas.microsoft.com/office/drawing/2014/main" id="{19B053D4-3375-F0DD-2C39-45FB6FDF1C2A}"/>
                  </a:ext>
                </a:extLst>
              </p:cNvPr>
              <p:cNvSpPr txBox="1"/>
              <p:nvPr/>
            </p:nvSpPr>
            <p:spPr>
              <a:xfrm>
                <a:off x="6874405" y="4234355"/>
                <a:ext cx="2096792" cy="400110"/>
              </a:xfrm>
              <a:prstGeom prst="rect">
                <a:avLst/>
              </a:prstGeom>
              <a:noFill/>
            </p:spPr>
            <p:txBody>
              <a:bodyPr wrap="none" rtlCol="0">
                <a:spAutoFit/>
              </a:bodyPr>
              <a:lstStyle/>
              <a:p>
                <a:pPr marL="285750" indent="-285750">
                  <a:buClr>
                    <a:schemeClr val="accent6">
                      <a:lumMod val="50000"/>
                    </a:schemeClr>
                  </a:buClr>
                  <a:buSzPct val="150000"/>
                  <a:buFont typeface="Arial" panose="020B0604020202020204" pitchFamily="34" charset="0"/>
                  <a:buChar char="•"/>
                </a:pPr>
                <a14:m>
                  <m:oMath xmlns:m="http://schemas.openxmlformats.org/officeDocument/2006/math">
                    <m:r>
                      <a:rPr lang="es-ES" sz="2000" b="0" i="1" smtClean="0">
                        <a:solidFill>
                          <a:schemeClr val="accent1">
                            <a:lumMod val="50000"/>
                          </a:schemeClr>
                        </a:solidFill>
                        <a:latin typeface="Cambria Math" panose="02040503050406030204" pitchFamily="18" charset="0"/>
                      </a:rPr>
                      <m:t>𝑝</m:t>
                    </m:r>
                    <m:r>
                      <a:rPr lang="es-ES" sz="2000" b="0" i="1" smtClean="0">
                        <a:solidFill>
                          <a:schemeClr val="accent1">
                            <a:lumMod val="50000"/>
                          </a:schemeClr>
                        </a:solidFill>
                        <a:latin typeface="Cambria Math" panose="02040503050406030204" pitchFamily="18" charset="0"/>
                      </a:rPr>
                      <m:t>=2</m:t>
                    </m:r>
                  </m:oMath>
                </a14:m>
                <a:r>
                  <a:rPr lang="es-ES" sz="2000" dirty="0">
                    <a:solidFill>
                      <a:schemeClr val="accent1">
                        <a:lumMod val="50000"/>
                      </a:schemeClr>
                    </a:solidFill>
                  </a:rPr>
                  <a:t> Euclídea:</a:t>
                </a:r>
              </a:p>
            </p:txBody>
          </p:sp>
        </mc:Choice>
        <mc:Fallback xmlns="">
          <p:sp>
            <p:nvSpPr>
              <p:cNvPr id="64" name="CuadroTexto 63">
                <a:extLst>
                  <a:ext uri="{FF2B5EF4-FFF2-40B4-BE49-F238E27FC236}">
                    <a16:creationId xmlns:a16="http://schemas.microsoft.com/office/drawing/2014/main" id="{19B053D4-3375-F0DD-2C39-45FB6FDF1C2A}"/>
                  </a:ext>
                </a:extLst>
              </p:cNvPr>
              <p:cNvSpPr txBox="1">
                <a:spLocks noRot="1" noChangeAspect="1" noMove="1" noResize="1" noEditPoints="1" noAdjustHandles="1" noChangeArrowheads="1" noChangeShapeType="1" noTextEdit="1"/>
              </p:cNvSpPr>
              <p:nvPr/>
            </p:nvSpPr>
            <p:spPr>
              <a:xfrm>
                <a:off x="6874405" y="4234355"/>
                <a:ext cx="2096792" cy="400110"/>
              </a:xfrm>
              <a:prstGeom prst="rect">
                <a:avLst/>
              </a:prstGeom>
              <a:blipFill>
                <a:blip r:embed="rId6"/>
                <a:stretch>
                  <a:fillRect l="-6105" t="-44615" r="-2326" b="-4615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5" name="CuadroTexto 64">
                <a:extLst>
                  <a:ext uri="{FF2B5EF4-FFF2-40B4-BE49-F238E27FC236}">
                    <a16:creationId xmlns:a16="http://schemas.microsoft.com/office/drawing/2014/main" id="{612F6246-1A93-9119-54C3-5EC38151D204}"/>
                  </a:ext>
                </a:extLst>
              </p:cNvPr>
              <p:cNvSpPr txBox="1"/>
              <p:nvPr/>
            </p:nvSpPr>
            <p:spPr>
              <a:xfrm>
                <a:off x="8305939" y="3839654"/>
                <a:ext cx="3309257" cy="10499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rPr>
                          </m:ctrlPr>
                        </m:sSupPr>
                        <m:e>
                          <m:d>
                            <m:dPr>
                              <m:ctrlPr>
                                <a:rPr lang="es-ES" i="1" smtClean="0">
                                  <a:solidFill>
                                    <a:schemeClr val="accent1">
                                      <a:lumMod val="50000"/>
                                    </a:schemeClr>
                                  </a:solidFill>
                                  <a:latin typeface="Cambria Math" panose="02040503050406030204" pitchFamily="18" charset="0"/>
                                </a:rPr>
                              </m:ctrlPr>
                            </m:dPr>
                            <m:e>
                              <m:nary>
                                <m:naryPr>
                                  <m:chr m:val="∑"/>
                                  <m:ctrlPr>
                                    <a:rPr lang="es-ES" i="1" smtClean="0">
                                      <a:solidFill>
                                        <a:schemeClr val="accent1">
                                          <a:lumMod val="50000"/>
                                        </a:schemeClr>
                                      </a:solidFill>
                                      <a:latin typeface="Cambria Math" panose="02040503050406030204" pitchFamily="18" charset="0"/>
                                    </a:rPr>
                                  </m:ctrlPr>
                                </m:naryPr>
                                <m:sub>
                                  <m:r>
                                    <m:rPr>
                                      <m:brk m:alnAt="23"/>
                                    </m:rPr>
                                    <a:rPr lang="es-ES" i="1">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=1</m:t>
                                  </m:r>
                                </m:sub>
                                <m:sup>
                                  <m:r>
                                    <a:rPr lang="es-ES" i="1">
                                      <a:solidFill>
                                        <a:schemeClr val="accent1">
                                          <a:lumMod val="50000"/>
                                        </a:schemeClr>
                                      </a:solidFill>
                                      <a:latin typeface="Cambria Math" panose="02040503050406030204" pitchFamily="18" charset="0"/>
                                    </a:rPr>
                                    <m:t>𝑛</m:t>
                                  </m:r>
                                </m:sup>
                                <m:e>
                                  <m:sSup>
                                    <m:sSupPr>
                                      <m:ctrlPr>
                                        <a:rPr lang="es-ES" i="1">
                                          <a:solidFill>
                                            <a:schemeClr val="accent1">
                                              <a:lumMod val="50000"/>
                                            </a:schemeClr>
                                          </a:solidFill>
                                          <a:latin typeface="Cambria Math" panose="02040503050406030204" pitchFamily="18" charset="0"/>
                                        </a:rPr>
                                      </m:ctrlPr>
                                    </m:sSupPr>
                                    <m:e>
                                      <m:d>
                                        <m:dPr>
                                          <m:begChr m:val="|"/>
                                          <m:endChr m:val="|"/>
                                          <m:ctrlPr>
                                            <a:rPr lang="es-ES" i="1">
                                              <a:solidFill>
                                                <a:schemeClr val="accent1">
                                                  <a:lumMod val="50000"/>
                                                </a:schemeClr>
                                              </a:solidFill>
                                              <a:latin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𝑦</m:t>
                                              </m:r>
                                            </m:e>
                                            <m:sub>
                                              <m:r>
                                                <a:rPr lang="es-ES" i="1">
                                                  <a:solidFill>
                                                    <a:schemeClr val="accent1">
                                                      <a:lumMod val="50000"/>
                                                    </a:schemeClr>
                                                  </a:solidFill>
                                                  <a:latin typeface="Cambria Math" panose="02040503050406030204" pitchFamily="18" charset="0"/>
                                                </a:rPr>
                                                <m:t>𝑖</m:t>
                                              </m:r>
                                            </m:sub>
                                          </m:sSub>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𝑥</m:t>
                                              </m:r>
                                            </m:e>
                                            <m:sub>
                                              <m:r>
                                                <a:rPr lang="es-ES" i="1">
                                                  <a:solidFill>
                                                    <a:schemeClr val="accent1">
                                                      <a:lumMod val="50000"/>
                                                    </a:schemeClr>
                                                  </a:solidFill>
                                                  <a:latin typeface="Cambria Math" panose="02040503050406030204" pitchFamily="18" charset="0"/>
                                                </a:rPr>
                                                <m:t>𝑖</m:t>
                                              </m:r>
                                            </m:sub>
                                          </m:sSub>
                                        </m:e>
                                      </m:d>
                                    </m:e>
                                    <m:sup>
                                      <m:r>
                                        <a:rPr lang="es-ES" b="0" i="1" smtClean="0">
                                          <a:solidFill>
                                            <a:schemeClr val="accent1">
                                              <a:lumMod val="50000"/>
                                            </a:schemeClr>
                                          </a:solidFill>
                                          <a:latin typeface="Cambria Math" panose="02040503050406030204" pitchFamily="18" charset="0"/>
                                        </a:rPr>
                                        <m:t>2</m:t>
                                      </m:r>
                                    </m:sup>
                                  </m:sSup>
                                </m:e>
                              </m:nary>
                            </m:e>
                          </m:d>
                        </m:e>
                        <m:sup>
                          <m:r>
                            <a:rPr lang="es-ES" b="0" i="1" smtClean="0">
                              <a:solidFill>
                                <a:schemeClr val="accent1">
                                  <a:lumMod val="50000"/>
                                </a:schemeClr>
                              </a:solidFill>
                              <a:latin typeface="Cambria Math" panose="02040503050406030204" pitchFamily="18" charset="0"/>
                            </a:rPr>
                            <m:t>1/2</m:t>
                          </m:r>
                        </m:sup>
                      </m:sSup>
                    </m:oMath>
                  </m:oMathPara>
                </a14:m>
                <a:endParaRPr lang="es-ES" dirty="0"/>
              </a:p>
            </p:txBody>
          </p:sp>
        </mc:Choice>
        <mc:Fallback xmlns="">
          <p:sp>
            <p:nvSpPr>
              <p:cNvPr id="65" name="CuadroTexto 64">
                <a:extLst>
                  <a:ext uri="{FF2B5EF4-FFF2-40B4-BE49-F238E27FC236}">
                    <a16:creationId xmlns:a16="http://schemas.microsoft.com/office/drawing/2014/main" id="{612F6246-1A93-9119-54C3-5EC38151D204}"/>
                  </a:ext>
                </a:extLst>
              </p:cNvPr>
              <p:cNvSpPr txBox="1">
                <a:spLocks noRot="1" noChangeAspect="1" noMove="1" noResize="1" noEditPoints="1" noAdjustHandles="1" noChangeArrowheads="1" noChangeShapeType="1" noTextEdit="1"/>
              </p:cNvSpPr>
              <p:nvPr/>
            </p:nvSpPr>
            <p:spPr>
              <a:xfrm>
                <a:off x="8305939" y="3839654"/>
                <a:ext cx="3309257" cy="1049903"/>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6" name="CuadroTexto 65">
                <a:extLst>
                  <a:ext uri="{FF2B5EF4-FFF2-40B4-BE49-F238E27FC236}">
                    <a16:creationId xmlns:a16="http://schemas.microsoft.com/office/drawing/2014/main" id="{0926E651-60B1-17DE-19CC-6EF86E56B084}"/>
                  </a:ext>
                </a:extLst>
              </p:cNvPr>
              <p:cNvSpPr txBox="1"/>
              <p:nvPr/>
            </p:nvSpPr>
            <p:spPr>
              <a:xfrm>
                <a:off x="6874405" y="5497536"/>
                <a:ext cx="2502223" cy="400110"/>
              </a:xfrm>
              <a:prstGeom prst="rect">
                <a:avLst/>
              </a:prstGeom>
              <a:noFill/>
            </p:spPr>
            <p:txBody>
              <a:bodyPr wrap="none" rtlCol="0">
                <a:spAutoFit/>
              </a:bodyPr>
              <a:lstStyle/>
              <a:p>
                <a:pPr marL="285750" indent="-285750">
                  <a:buClr>
                    <a:srgbClr val="00B0F0"/>
                  </a:buClr>
                  <a:buSzPct val="150000"/>
                  <a:buFont typeface="Arial" panose="020B0604020202020204" pitchFamily="34" charset="0"/>
                  <a:buChar char="•"/>
                </a:pPr>
                <a14:m>
                  <m:oMath xmlns:m="http://schemas.openxmlformats.org/officeDocument/2006/math">
                    <m:r>
                      <a:rPr lang="es-ES" sz="2000" b="0" i="1" smtClean="0">
                        <a:solidFill>
                          <a:schemeClr val="accent1">
                            <a:lumMod val="50000"/>
                          </a:schemeClr>
                        </a:solidFill>
                        <a:latin typeface="Cambria Math" panose="02040503050406030204" pitchFamily="18" charset="0"/>
                      </a:rPr>
                      <m:t>𝑝</m:t>
                    </m:r>
                    <m:r>
                      <a:rPr lang="es-ES" sz="2000" b="0" i="1" smtClean="0">
                        <a:solidFill>
                          <a:schemeClr val="accent1">
                            <a:lumMod val="50000"/>
                          </a:schemeClr>
                        </a:solidFill>
                        <a:latin typeface="Cambria Math" panose="02040503050406030204" pitchFamily="18" charset="0"/>
                        <a:ea typeface="Cambria Math" panose="02040503050406030204" pitchFamily="18" charset="0"/>
                      </a:rPr>
                      <m:t>→∞</m:t>
                    </m:r>
                  </m:oMath>
                </a14:m>
                <a:r>
                  <a:rPr lang="es-ES" sz="2000" dirty="0">
                    <a:solidFill>
                      <a:schemeClr val="accent1">
                        <a:lumMod val="50000"/>
                      </a:schemeClr>
                    </a:solidFill>
                  </a:rPr>
                  <a:t> </a:t>
                </a:r>
                <a:r>
                  <a:rPr lang="es-ES" sz="2000" dirty="0" err="1">
                    <a:solidFill>
                      <a:schemeClr val="accent1">
                        <a:lumMod val="50000"/>
                      </a:schemeClr>
                    </a:solidFill>
                  </a:rPr>
                  <a:t>Chebyshev</a:t>
                </a:r>
                <a:r>
                  <a:rPr lang="es-ES" sz="2000" dirty="0">
                    <a:solidFill>
                      <a:schemeClr val="accent1">
                        <a:lumMod val="50000"/>
                      </a:schemeClr>
                    </a:solidFill>
                  </a:rPr>
                  <a:t>: </a:t>
                </a:r>
              </a:p>
            </p:txBody>
          </p:sp>
        </mc:Choice>
        <mc:Fallback xmlns="">
          <p:sp>
            <p:nvSpPr>
              <p:cNvPr id="66" name="CuadroTexto 65">
                <a:extLst>
                  <a:ext uri="{FF2B5EF4-FFF2-40B4-BE49-F238E27FC236}">
                    <a16:creationId xmlns:a16="http://schemas.microsoft.com/office/drawing/2014/main" id="{0926E651-60B1-17DE-19CC-6EF86E56B084}"/>
                  </a:ext>
                </a:extLst>
              </p:cNvPr>
              <p:cNvSpPr txBox="1">
                <a:spLocks noRot="1" noChangeAspect="1" noMove="1" noResize="1" noEditPoints="1" noAdjustHandles="1" noChangeArrowheads="1" noChangeShapeType="1" noTextEdit="1"/>
              </p:cNvSpPr>
              <p:nvPr/>
            </p:nvSpPr>
            <p:spPr>
              <a:xfrm>
                <a:off x="6874405" y="5497536"/>
                <a:ext cx="2502223" cy="400110"/>
              </a:xfrm>
              <a:prstGeom prst="rect">
                <a:avLst/>
              </a:prstGeom>
              <a:blipFill>
                <a:blip r:embed="rId8"/>
                <a:stretch>
                  <a:fillRect l="-5122" t="-44615" r="-1463" b="-4615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0" name="CuadroTexto 69">
                <a:extLst>
                  <a:ext uri="{FF2B5EF4-FFF2-40B4-BE49-F238E27FC236}">
                    <a16:creationId xmlns:a16="http://schemas.microsoft.com/office/drawing/2014/main" id="{986BE904-10D4-79DE-5671-C4073CE30708}"/>
                  </a:ext>
                </a:extLst>
              </p:cNvPr>
              <p:cNvSpPr txBox="1"/>
              <p:nvPr/>
            </p:nvSpPr>
            <p:spPr>
              <a:xfrm>
                <a:off x="8937523" y="5523508"/>
                <a:ext cx="2224758" cy="4759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s-ES" i="1" smtClean="0">
                              <a:solidFill>
                                <a:schemeClr val="accent1">
                                  <a:lumMod val="50000"/>
                                </a:schemeClr>
                              </a:solidFill>
                              <a:latin typeface="Cambria Math" panose="02040503050406030204" pitchFamily="18" charset="0"/>
                            </a:rPr>
                          </m:ctrlPr>
                        </m:funcPr>
                        <m:fName>
                          <m:limLow>
                            <m:limLowPr>
                              <m:ctrlPr>
                                <a:rPr lang="es-ES" i="1" smtClean="0">
                                  <a:solidFill>
                                    <a:schemeClr val="accent1">
                                      <a:lumMod val="50000"/>
                                    </a:schemeClr>
                                  </a:solidFill>
                                  <a:latin typeface="Cambria Math" panose="02040503050406030204" pitchFamily="18" charset="0"/>
                                </a:rPr>
                              </m:ctrlPr>
                            </m:limLowPr>
                            <m:e>
                              <m:r>
                                <m:rPr>
                                  <m:sty m:val="p"/>
                                </m:rPr>
                                <a:rPr lang="es-ES" i="0" smtClean="0">
                                  <a:solidFill>
                                    <a:schemeClr val="accent1">
                                      <a:lumMod val="50000"/>
                                    </a:schemeClr>
                                  </a:solidFill>
                                  <a:latin typeface="Cambria Math" panose="02040503050406030204" pitchFamily="18" charset="0"/>
                                </a:rPr>
                                <m:t>max</m:t>
                              </m:r>
                            </m:e>
                            <m:lim>
                              <m:r>
                                <a:rPr lang="es-ES" b="0" i="1" smtClean="0">
                                  <a:solidFill>
                                    <a:schemeClr val="accent1">
                                      <a:lumMod val="50000"/>
                                    </a:schemeClr>
                                  </a:solidFill>
                                  <a:latin typeface="Cambria Math" panose="02040503050406030204" pitchFamily="18" charset="0"/>
                                </a:rPr>
                                <m:t>𝑖</m:t>
                              </m:r>
                              <m:r>
                                <a:rPr lang="es-ES" b="0" i="1" smtClean="0">
                                  <a:solidFill>
                                    <a:schemeClr val="accent1">
                                      <a:lumMod val="50000"/>
                                    </a:schemeClr>
                                  </a:solidFill>
                                  <a:latin typeface="Cambria Math" panose="02040503050406030204" pitchFamily="18" charset="0"/>
                                </a:rPr>
                                <m:t>=1,..,</m:t>
                              </m:r>
                              <m:r>
                                <a:rPr lang="es-ES" b="0" i="1" smtClean="0">
                                  <a:solidFill>
                                    <a:schemeClr val="accent1">
                                      <a:lumMod val="50000"/>
                                    </a:schemeClr>
                                  </a:solidFill>
                                  <a:latin typeface="Cambria Math" panose="02040503050406030204" pitchFamily="18" charset="0"/>
                                </a:rPr>
                                <m:t>𝑛</m:t>
                              </m:r>
                            </m:lim>
                          </m:limLow>
                        </m:fName>
                        <m:e>
                          <m:d>
                            <m:dPr>
                              <m:begChr m:val="|"/>
                              <m:endChr m:val="|"/>
                              <m:ctrlPr>
                                <a:rPr lang="es-ES" i="1">
                                  <a:solidFill>
                                    <a:schemeClr val="accent1">
                                      <a:lumMod val="50000"/>
                                    </a:schemeClr>
                                  </a:solidFill>
                                  <a:latin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𝑦</m:t>
                                  </m:r>
                                </m:e>
                                <m:sub>
                                  <m:r>
                                    <a:rPr lang="es-ES" i="1">
                                      <a:solidFill>
                                        <a:schemeClr val="accent1">
                                          <a:lumMod val="50000"/>
                                        </a:schemeClr>
                                      </a:solidFill>
                                      <a:latin typeface="Cambria Math" panose="02040503050406030204" pitchFamily="18" charset="0"/>
                                    </a:rPr>
                                    <m:t>𝑖</m:t>
                                  </m:r>
                                </m:sub>
                              </m:sSub>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𝑥</m:t>
                                  </m:r>
                                </m:e>
                                <m:sub>
                                  <m:r>
                                    <a:rPr lang="es-ES" i="1">
                                      <a:solidFill>
                                        <a:schemeClr val="accent1">
                                          <a:lumMod val="50000"/>
                                        </a:schemeClr>
                                      </a:solidFill>
                                      <a:latin typeface="Cambria Math" panose="02040503050406030204" pitchFamily="18" charset="0"/>
                                    </a:rPr>
                                    <m:t>𝑖</m:t>
                                  </m:r>
                                </m:sub>
                              </m:sSub>
                            </m:e>
                          </m:d>
                        </m:e>
                      </m:func>
                    </m:oMath>
                  </m:oMathPara>
                </a14:m>
                <a:endParaRPr lang="es-ES" dirty="0"/>
              </a:p>
            </p:txBody>
          </p:sp>
        </mc:Choice>
        <mc:Fallback xmlns="">
          <p:sp>
            <p:nvSpPr>
              <p:cNvPr id="70" name="CuadroTexto 69">
                <a:extLst>
                  <a:ext uri="{FF2B5EF4-FFF2-40B4-BE49-F238E27FC236}">
                    <a16:creationId xmlns:a16="http://schemas.microsoft.com/office/drawing/2014/main" id="{986BE904-10D4-79DE-5671-C4073CE30708}"/>
                  </a:ext>
                </a:extLst>
              </p:cNvPr>
              <p:cNvSpPr txBox="1">
                <a:spLocks noRot="1" noChangeAspect="1" noMove="1" noResize="1" noEditPoints="1" noAdjustHandles="1" noChangeArrowheads="1" noChangeShapeType="1" noTextEdit="1"/>
              </p:cNvSpPr>
              <p:nvPr/>
            </p:nvSpPr>
            <p:spPr>
              <a:xfrm>
                <a:off x="8937523" y="5523508"/>
                <a:ext cx="2224758" cy="475964"/>
              </a:xfrm>
              <a:prstGeom prst="rect">
                <a:avLst/>
              </a:prstGeom>
              <a:blipFill>
                <a:blip r:embed="rId9"/>
                <a:stretch>
                  <a:fillRect/>
                </a:stretch>
              </a:blipFill>
            </p:spPr>
            <p:txBody>
              <a:bodyPr/>
              <a:lstStyle/>
              <a:p>
                <a:r>
                  <a:rPr lang="es-ES">
                    <a:noFill/>
                  </a:rPr>
                  <a:t> </a:t>
                </a:r>
              </a:p>
            </p:txBody>
          </p:sp>
        </mc:Fallback>
      </mc:AlternateContent>
      <p:sp>
        <p:nvSpPr>
          <p:cNvPr id="74" name="CuadroTexto 73">
            <a:extLst>
              <a:ext uri="{FF2B5EF4-FFF2-40B4-BE49-F238E27FC236}">
                <a16:creationId xmlns:a16="http://schemas.microsoft.com/office/drawing/2014/main" id="{AA69C2FE-00FE-9248-3638-7DF725C5E5A6}"/>
              </a:ext>
            </a:extLst>
          </p:cNvPr>
          <p:cNvSpPr txBox="1"/>
          <p:nvPr/>
        </p:nvSpPr>
        <p:spPr>
          <a:xfrm>
            <a:off x="409402" y="82680"/>
            <a:ext cx="3984039" cy="738664"/>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sz="2800" b="1" dirty="0" err="1" smtClean="0">
                <a:solidFill>
                  <a:schemeClr val="accent1">
                    <a:lumMod val="50000"/>
                  </a:schemeClr>
                </a:solidFill>
              </a:rPr>
              <a:t>Métricas</a:t>
            </a:r>
            <a:r>
              <a:rPr lang="en-US" sz="2800" b="1" dirty="0" smtClean="0">
                <a:solidFill>
                  <a:schemeClr val="accent1">
                    <a:lumMod val="50000"/>
                  </a:schemeClr>
                </a:solidFill>
              </a:rPr>
              <a:t> </a:t>
            </a:r>
            <a:r>
              <a:rPr lang="en-US" sz="2800" b="1" dirty="0" err="1">
                <a:solidFill>
                  <a:schemeClr val="accent1">
                    <a:lumMod val="50000"/>
                  </a:schemeClr>
                </a:solidFill>
              </a:rPr>
              <a:t>usadas</a:t>
            </a:r>
            <a:r>
              <a:rPr lang="en-US" sz="2800" b="1" dirty="0">
                <a:solidFill>
                  <a:schemeClr val="accent1">
                    <a:lumMod val="50000"/>
                  </a:schemeClr>
                </a:solidFill>
              </a:rPr>
              <a:t> </a:t>
            </a:r>
            <a:r>
              <a:rPr lang="en-US" sz="2800" b="1" dirty="0" err="1">
                <a:solidFill>
                  <a:schemeClr val="accent1">
                    <a:lumMod val="50000"/>
                  </a:schemeClr>
                </a:solidFill>
              </a:rPr>
              <a:t>en</a:t>
            </a:r>
            <a:r>
              <a:rPr lang="en-US" sz="2800" b="1" dirty="0">
                <a:solidFill>
                  <a:schemeClr val="accent1">
                    <a:lumMod val="50000"/>
                  </a:schemeClr>
                </a:solidFill>
              </a:rPr>
              <a:t> </a:t>
            </a:r>
            <a:r>
              <a:rPr lang="en-US" sz="2800" b="1" dirty="0" smtClean="0">
                <a:solidFill>
                  <a:schemeClr val="accent1">
                    <a:lumMod val="50000"/>
                  </a:schemeClr>
                </a:solidFill>
              </a:rPr>
              <a:t>ML.</a:t>
            </a:r>
            <a:endParaRPr lang="en-US" sz="2800" b="1" dirty="0">
              <a:solidFill>
                <a:schemeClr val="accent1">
                  <a:lumMod val="50000"/>
                </a:schemeClr>
              </a:solidFill>
            </a:endParaRPr>
          </a:p>
        </p:txBody>
      </p:sp>
      <p:sp>
        <p:nvSpPr>
          <p:cNvPr id="21" name="CuadroTexto 20">
            <a:extLst>
              <a:ext uri="{FF2B5EF4-FFF2-40B4-BE49-F238E27FC236}">
                <a16:creationId xmlns:a16="http://schemas.microsoft.com/office/drawing/2014/main" id="{B721C4E8-F774-C602-C20C-95042CFF3868}"/>
              </a:ext>
            </a:extLst>
          </p:cNvPr>
          <p:cNvSpPr txBox="1"/>
          <p:nvPr/>
        </p:nvSpPr>
        <p:spPr>
          <a:xfrm>
            <a:off x="9028591" y="136523"/>
            <a:ext cx="3067982" cy="461665"/>
          </a:xfrm>
          <a:prstGeom prst="rect">
            <a:avLst/>
          </a:prstGeom>
          <a:noFill/>
        </p:spPr>
        <p:txBody>
          <a:bodyPr wrap="square" rtlCol="0">
            <a:spAutoFit/>
          </a:bodyPr>
          <a:lstStyle/>
          <a:p>
            <a:r>
              <a:rPr lang="es-ES" sz="2400" b="1" dirty="0" err="1">
                <a:solidFill>
                  <a:schemeClr val="accent1">
                    <a:lumMod val="50000"/>
                  </a:schemeClr>
                </a:solidFill>
              </a:rPr>
              <a:t>Hierarchical</a:t>
            </a:r>
            <a:r>
              <a:rPr lang="es-ES" sz="2400" b="1" dirty="0">
                <a:solidFill>
                  <a:schemeClr val="accent1">
                    <a:lumMod val="50000"/>
                  </a:schemeClr>
                </a:solidFill>
              </a:rPr>
              <a:t> </a:t>
            </a:r>
            <a:r>
              <a:rPr lang="es-ES" sz="2400" b="1" dirty="0" err="1">
                <a:solidFill>
                  <a:schemeClr val="accent1">
                    <a:lumMod val="50000"/>
                  </a:schemeClr>
                </a:solidFill>
              </a:rPr>
              <a:t>Clustering</a:t>
            </a:r>
            <a:endParaRPr lang="es-ES" sz="8800" b="1" dirty="0">
              <a:solidFill>
                <a:schemeClr val="accent1">
                  <a:lumMod val="50000"/>
                </a:schemeClr>
              </a:solidFill>
            </a:endParaRPr>
          </a:p>
        </p:txBody>
      </p:sp>
    </p:spTree>
    <p:extLst>
      <p:ext uri="{BB962C8B-B14F-4D97-AF65-F5344CB8AC3E}">
        <p14:creationId xmlns:p14="http://schemas.microsoft.com/office/powerpoint/2010/main" val="3388849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a 6">
            <a:extLst>
              <a:ext uri="{FF2B5EF4-FFF2-40B4-BE49-F238E27FC236}">
                <a16:creationId xmlns:a16="http://schemas.microsoft.com/office/drawing/2014/main" id="{61B98491-730C-7FCF-3EBA-929EDCC26490}"/>
              </a:ext>
            </a:extLst>
          </p:cNvPr>
          <p:cNvGraphicFramePr>
            <a:graphicFrameLocks noGrp="1"/>
          </p:cNvGraphicFramePr>
          <p:nvPr>
            <p:extLst/>
          </p:nvPr>
        </p:nvGraphicFramePr>
        <p:xfrm>
          <a:off x="974315" y="1510819"/>
          <a:ext cx="3309257" cy="3298498"/>
        </p:xfrm>
        <a:graphic>
          <a:graphicData uri="http://schemas.openxmlformats.org/drawingml/2006/table">
            <a:tbl>
              <a:tblPr firstRow="1" bandRow="1">
                <a:tableStyleId>{5C22544A-7EE6-4342-B048-85BDC9FD1C3A}</a:tableStyleId>
              </a:tblPr>
              <a:tblGrid>
                <a:gridCol w="472751">
                  <a:extLst>
                    <a:ext uri="{9D8B030D-6E8A-4147-A177-3AD203B41FA5}">
                      <a16:colId xmlns:a16="http://schemas.microsoft.com/office/drawing/2014/main" val="3683921040"/>
                    </a:ext>
                  </a:extLst>
                </a:gridCol>
                <a:gridCol w="472751">
                  <a:extLst>
                    <a:ext uri="{9D8B030D-6E8A-4147-A177-3AD203B41FA5}">
                      <a16:colId xmlns:a16="http://schemas.microsoft.com/office/drawing/2014/main" val="1049888524"/>
                    </a:ext>
                  </a:extLst>
                </a:gridCol>
                <a:gridCol w="472751">
                  <a:extLst>
                    <a:ext uri="{9D8B030D-6E8A-4147-A177-3AD203B41FA5}">
                      <a16:colId xmlns:a16="http://schemas.microsoft.com/office/drawing/2014/main" val="2993664143"/>
                    </a:ext>
                  </a:extLst>
                </a:gridCol>
                <a:gridCol w="472751">
                  <a:extLst>
                    <a:ext uri="{9D8B030D-6E8A-4147-A177-3AD203B41FA5}">
                      <a16:colId xmlns:a16="http://schemas.microsoft.com/office/drawing/2014/main" val="3507055678"/>
                    </a:ext>
                  </a:extLst>
                </a:gridCol>
                <a:gridCol w="472751">
                  <a:extLst>
                    <a:ext uri="{9D8B030D-6E8A-4147-A177-3AD203B41FA5}">
                      <a16:colId xmlns:a16="http://schemas.microsoft.com/office/drawing/2014/main" val="2163512156"/>
                    </a:ext>
                  </a:extLst>
                </a:gridCol>
                <a:gridCol w="472751">
                  <a:extLst>
                    <a:ext uri="{9D8B030D-6E8A-4147-A177-3AD203B41FA5}">
                      <a16:colId xmlns:a16="http://schemas.microsoft.com/office/drawing/2014/main" val="60501077"/>
                    </a:ext>
                  </a:extLst>
                </a:gridCol>
                <a:gridCol w="472751">
                  <a:extLst>
                    <a:ext uri="{9D8B030D-6E8A-4147-A177-3AD203B41FA5}">
                      <a16:colId xmlns:a16="http://schemas.microsoft.com/office/drawing/2014/main" val="219811053"/>
                    </a:ext>
                  </a:extLst>
                </a:gridCol>
              </a:tblGrid>
              <a:tr h="471214">
                <a:tc>
                  <a:txBody>
                    <a:bodyPr/>
                    <a:lstStyle/>
                    <a:p>
                      <a:endParaRPr lang="es-ES"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2091745"/>
                  </a:ext>
                </a:extLst>
              </a:tr>
              <a:tr h="471214">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5248245"/>
                  </a:ext>
                </a:extLst>
              </a:tr>
              <a:tr h="471214">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85415021"/>
                  </a:ext>
                </a:extLst>
              </a:tr>
              <a:tr h="471214">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7292919"/>
                  </a:ext>
                </a:extLst>
              </a:tr>
              <a:tr h="471214">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95368796"/>
                  </a:ext>
                </a:extLst>
              </a:tr>
              <a:tr h="471214">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8639303"/>
                  </a:ext>
                </a:extLst>
              </a:tr>
              <a:tr h="471214">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s-ES"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5235058"/>
                  </a:ext>
                </a:extLst>
              </a:tr>
            </a:tbl>
          </a:graphicData>
        </a:graphic>
      </p:graphicFrame>
      <p:sp>
        <p:nvSpPr>
          <p:cNvPr id="9" name="CuadroTexto 8">
            <a:extLst>
              <a:ext uri="{FF2B5EF4-FFF2-40B4-BE49-F238E27FC236}">
                <a16:creationId xmlns:a16="http://schemas.microsoft.com/office/drawing/2014/main" id="{B4877E86-7957-3594-ABDB-0786FBE5AD65}"/>
              </a:ext>
            </a:extLst>
          </p:cNvPr>
          <p:cNvSpPr txBox="1"/>
          <p:nvPr/>
        </p:nvSpPr>
        <p:spPr>
          <a:xfrm>
            <a:off x="413886" y="4985207"/>
            <a:ext cx="2472023" cy="400110"/>
          </a:xfrm>
          <a:prstGeom prst="rect">
            <a:avLst/>
          </a:prstGeom>
          <a:noFill/>
        </p:spPr>
        <p:txBody>
          <a:bodyPr wrap="none" rtlCol="0">
            <a:spAutoFit/>
          </a:bodyPr>
          <a:lstStyle/>
          <a:p>
            <a:pPr marL="285750" indent="-285750">
              <a:buClr>
                <a:schemeClr val="tx1"/>
              </a:buClr>
              <a:buSzPct val="150000"/>
              <a:buFont typeface="Arial" panose="020B0604020202020204" pitchFamily="34" charset="0"/>
              <a:buChar char="•"/>
            </a:pPr>
            <a:r>
              <a:rPr lang="es-ES" sz="2000" dirty="0">
                <a:solidFill>
                  <a:schemeClr val="accent1">
                    <a:lumMod val="50000"/>
                  </a:schemeClr>
                </a:solidFill>
              </a:rPr>
              <a:t>Distancia coseno:  </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1B7FCA23-2090-710C-A30F-A335CB74C277}"/>
                  </a:ext>
                </a:extLst>
              </p:cNvPr>
              <p:cNvSpPr txBox="1"/>
              <p:nvPr/>
            </p:nvSpPr>
            <p:spPr>
              <a:xfrm>
                <a:off x="1981146" y="4795228"/>
                <a:ext cx="2981585" cy="9023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rPr>
                        <m:t>1−</m:t>
                      </m:r>
                      <m:f>
                        <m:fPr>
                          <m:ctrlPr>
                            <a:rPr lang="es-ES" b="0" i="1" smtClean="0">
                              <a:solidFill>
                                <a:schemeClr val="accent1">
                                  <a:lumMod val="50000"/>
                                </a:schemeClr>
                              </a:solidFill>
                              <a:latin typeface="Cambria Math" panose="02040503050406030204" pitchFamily="18" charset="0"/>
                            </a:rPr>
                          </m:ctrlPr>
                        </m:fPr>
                        <m:num>
                          <m:acc>
                            <m:accPr>
                              <m:chr m:val="⃗"/>
                              <m:ctrlPr>
                                <a:rPr lang="es-ES" i="1">
                                  <a:solidFill>
                                    <a:schemeClr val="accent1">
                                      <a:lumMod val="50000"/>
                                    </a:schemeClr>
                                  </a:solidFill>
                                  <a:latin typeface="Cambria Math" panose="02040503050406030204" pitchFamily="18" charset="0"/>
                                </a:rPr>
                              </m:ctrlPr>
                            </m:accPr>
                            <m:e>
                              <m:r>
                                <a:rPr lang="es-ES" i="1">
                                  <a:solidFill>
                                    <a:schemeClr val="accent1">
                                      <a:lumMod val="50000"/>
                                    </a:schemeClr>
                                  </a:solidFill>
                                  <a:latin typeface="Cambria Math" panose="02040503050406030204" pitchFamily="18" charset="0"/>
                                </a:rPr>
                                <m:t>𝑃</m:t>
                              </m:r>
                            </m:e>
                          </m:acc>
                          <m:r>
                            <a:rPr lang="es-ES" i="1" smtClean="0">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b="0" i="1" smtClean="0">
                                  <a:solidFill>
                                    <a:schemeClr val="accent1">
                                      <a:lumMod val="50000"/>
                                    </a:schemeClr>
                                  </a:solidFill>
                                  <a:latin typeface="Cambria Math" panose="02040503050406030204" pitchFamily="18" charset="0"/>
                                </a:rPr>
                              </m:ctrlPr>
                            </m:accPr>
                            <m:e>
                              <m:r>
                                <a:rPr lang="es-ES" b="0" i="1" smtClean="0">
                                  <a:solidFill>
                                    <a:schemeClr val="accent1">
                                      <a:lumMod val="50000"/>
                                    </a:schemeClr>
                                  </a:solidFill>
                                  <a:latin typeface="Cambria Math" panose="02040503050406030204" pitchFamily="18" charset="0"/>
                                </a:rPr>
                                <m:t>𝑄</m:t>
                              </m:r>
                            </m:e>
                          </m:acc>
                          <m:r>
                            <a:rPr lang="es-ES" b="0" i="1" smtClean="0">
                              <a:solidFill>
                                <a:schemeClr val="accent1">
                                  <a:lumMod val="50000"/>
                                </a:schemeClr>
                              </a:solidFill>
                              <a:latin typeface="Cambria Math" panose="02040503050406030204" pitchFamily="18" charset="0"/>
                            </a:rPr>
                            <m:t> </m:t>
                          </m:r>
                        </m:num>
                        <m:den>
                          <m:d>
                            <m:dPr>
                              <m:begChr m:val="‖"/>
                              <m:endChr m:val="‖"/>
                              <m:ctrlPr>
                                <a:rPr lang="es-ES" i="1">
                                  <a:solidFill>
                                    <a:schemeClr val="accent1">
                                      <a:lumMod val="50000"/>
                                    </a:schemeClr>
                                  </a:solidFill>
                                  <a:latin typeface="Cambria Math" panose="02040503050406030204" pitchFamily="18" charset="0"/>
                                </a:rPr>
                              </m:ctrlPr>
                            </m:dPr>
                            <m:e>
                              <m:acc>
                                <m:accPr>
                                  <m:chr m:val="⃗"/>
                                  <m:ctrlPr>
                                    <a:rPr lang="es-ES" i="1">
                                      <a:solidFill>
                                        <a:schemeClr val="accent1">
                                          <a:lumMod val="50000"/>
                                        </a:schemeClr>
                                      </a:solidFill>
                                      <a:latin typeface="Cambria Math" panose="02040503050406030204" pitchFamily="18" charset="0"/>
                                    </a:rPr>
                                  </m:ctrlPr>
                                </m:accPr>
                                <m:e>
                                  <m:r>
                                    <a:rPr lang="es-ES" i="1">
                                      <a:solidFill>
                                        <a:schemeClr val="accent1">
                                          <a:lumMod val="50000"/>
                                        </a:schemeClr>
                                      </a:solidFill>
                                      <a:latin typeface="Cambria Math" panose="02040503050406030204" pitchFamily="18" charset="0"/>
                                    </a:rPr>
                                    <m:t>𝑃</m:t>
                                  </m:r>
                                </m:e>
                              </m:acc>
                            </m:e>
                          </m:d>
                          <m:d>
                            <m:dPr>
                              <m:begChr m:val="‖"/>
                              <m:endChr m:val="‖"/>
                              <m:ctrlPr>
                                <a:rPr lang="es-ES" i="1">
                                  <a:solidFill>
                                    <a:schemeClr val="accent1">
                                      <a:lumMod val="50000"/>
                                    </a:schemeClr>
                                  </a:solidFill>
                                  <a:latin typeface="Cambria Math" panose="02040503050406030204" pitchFamily="18" charset="0"/>
                                </a:rPr>
                              </m:ctrlPr>
                            </m:dPr>
                            <m:e>
                              <m:acc>
                                <m:accPr>
                                  <m:chr m:val="⃗"/>
                                  <m:ctrlPr>
                                    <a:rPr lang="es-ES" i="1">
                                      <a:solidFill>
                                        <a:schemeClr val="accent1">
                                          <a:lumMod val="50000"/>
                                        </a:schemeClr>
                                      </a:solidFill>
                                      <a:latin typeface="Cambria Math" panose="02040503050406030204" pitchFamily="18" charset="0"/>
                                    </a:rPr>
                                  </m:ctrlPr>
                                </m:accPr>
                                <m:e>
                                  <m:r>
                                    <a:rPr lang="es-ES" b="0" i="1" smtClean="0">
                                      <a:solidFill>
                                        <a:schemeClr val="accent1">
                                          <a:lumMod val="50000"/>
                                        </a:schemeClr>
                                      </a:solidFill>
                                      <a:latin typeface="Cambria Math" panose="02040503050406030204" pitchFamily="18" charset="0"/>
                                    </a:rPr>
                                    <m:t>𝑄</m:t>
                                  </m:r>
                                </m:e>
                              </m:acc>
                            </m:e>
                          </m:d>
                        </m:den>
                      </m:f>
                    </m:oMath>
                  </m:oMathPara>
                </a14:m>
                <a:endParaRPr lang="es-ES" dirty="0"/>
              </a:p>
            </p:txBody>
          </p:sp>
        </mc:Choice>
        <mc:Fallback xmlns="">
          <p:sp>
            <p:nvSpPr>
              <p:cNvPr id="10" name="CuadroTexto 9">
                <a:extLst>
                  <a:ext uri="{FF2B5EF4-FFF2-40B4-BE49-F238E27FC236}">
                    <a16:creationId xmlns:a16="http://schemas.microsoft.com/office/drawing/2014/main" id="{1B7FCA23-2090-710C-A30F-A335CB74C277}"/>
                  </a:ext>
                </a:extLst>
              </p:cNvPr>
              <p:cNvSpPr txBox="1">
                <a:spLocks noRot="1" noChangeAspect="1" noMove="1" noResize="1" noEditPoints="1" noAdjustHandles="1" noChangeArrowheads="1" noChangeShapeType="1" noTextEdit="1"/>
              </p:cNvSpPr>
              <p:nvPr/>
            </p:nvSpPr>
            <p:spPr>
              <a:xfrm>
                <a:off x="1981146" y="4795228"/>
                <a:ext cx="2981585" cy="902363"/>
              </a:xfrm>
              <a:prstGeom prst="rect">
                <a:avLst/>
              </a:prstGeom>
              <a:blipFill>
                <a:blip r:embed="rId3"/>
                <a:stretch>
                  <a:fillRect/>
                </a:stretch>
              </a:blipFill>
            </p:spPr>
            <p:txBody>
              <a:bodyPr/>
              <a:lstStyle/>
              <a:p>
                <a:r>
                  <a:rPr lang="es-ES">
                    <a:noFill/>
                  </a:rPr>
                  <a:t> </a:t>
                </a:r>
              </a:p>
            </p:txBody>
          </p:sp>
        </mc:Fallback>
      </mc:AlternateContent>
      <p:sp>
        <p:nvSpPr>
          <p:cNvPr id="11" name="Elipse 10">
            <a:extLst>
              <a:ext uri="{FF2B5EF4-FFF2-40B4-BE49-F238E27FC236}">
                <a16:creationId xmlns:a16="http://schemas.microsoft.com/office/drawing/2014/main" id="{197E3E8B-52DB-026B-83B7-B4CAADDD9EAE}"/>
              </a:ext>
            </a:extLst>
          </p:cNvPr>
          <p:cNvSpPr/>
          <p:nvPr/>
        </p:nvSpPr>
        <p:spPr>
          <a:xfrm>
            <a:off x="3258716" y="1927124"/>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Elipse 11">
            <a:extLst>
              <a:ext uri="{FF2B5EF4-FFF2-40B4-BE49-F238E27FC236}">
                <a16:creationId xmlns:a16="http://schemas.microsoft.com/office/drawing/2014/main" id="{37D16D1A-8F94-283F-3FAC-FABE2AC3F3A3}"/>
              </a:ext>
            </a:extLst>
          </p:cNvPr>
          <p:cNvSpPr/>
          <p:nvPr/>
        </p:nvSpPr>
        <p:spPr>
          <a:xfrm>
            <a:off x="2349551" y="2389498"/>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3" name="Conector recto de flecha 12">
            <a:extLst>
              <a:ext uri="{FF2B5EF4-FFF2-40B4-BE49-F238E27FC236}">
                <a16:creationId xmlns:a16="http://schemas.microsoft.com/office/drawing/2014/main" id="{2E2D42B7-E8EC-3C3A-59EE-D8F849789443}"/>
              </a:ext>
            </a:extLst>
          </p:cNvPr>
          <p:cNvCxnSpPr/>
          <p:nvPr/>
        </p:nvCxnSpPr>
        <p:spPr>
          <a:xfrm flipV="1">
            <a:off x="1420900" y="3763012"/>
            <a:ext cx="0" cy="576000"/>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CAD8AE9F-9615-68C8-319A-849A481B15E6}"/>
              </a:ext>
            </a:extLst>
          </p:cNvPr>
          <p:cNvCxnSpPr>
            <a:cxnSpLocks/>
          </p:cNvCxnSpPr>
          <p:nvPr/>
        </p:nvCxnSpPr>
        <p:spPr>
          <a:xfrm>
            <a:off x="1420900" y="4339012"/>
            <a:ext cx="542210" cy="0"/>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302225C3-F848-ACED-6C0B-1DE0D44E2C39}"/>
              </a:ext>
            </a:extLst>
          </p:cNvPr>
          <p:cNvCxnSpPr>
            <a:cxnSpLocks/>
          </p:cNvCxnSpPr>
          <p:nvPr/>
        </p:nvCxnSpPr>
        <p:spPr>
          <a:xfrm flipV="1">
            <a:off x="1420899" y="2465971"/>
            <a:ext cx="969765" cy="1873041"/>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05BAEF69-6C7A-83C9-828D-805C8E72FFFD}"/>
              </a:ext>
            </a:extLst>
          </p:cNvPr>
          <p:cNvCxnSpPr>
            <a:cxnSpLocks/>
            <a:endCxn id="11" idx="3"/>
          </p:cNvCxnSpPr>
          <p:nvPr/>
        </p:nvCxnSpPr>
        <p:spPr>
          <a:xfrm flipV="1">
            <a:off x="1441377" y="2019308"/>
            <a:ext cx="1833155" cy="2319704"/>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CuadroTexto 19">
            <a:extLst>
              <a:ext uri="{FF2B5EF4-FFF2-40B4-BE49-F238E27FC236}">
                <a16:creationId xmlns:a16="http://schemas.microsoft.com/office/drawing/2014/main" id="{A8A5F2EA-E54B-5F8D-8975-E47A8F5AE4BB}"/>
              </a:ext>
            </a:extLst>
          </p:cNvPr>
          <p:cNvSpPr txBox="1"/>
          <p:nvPr/>
        </p:nvSpPr>
        <p:spPr>
          <a:xfrm>
            <a:off x="503791" y="5784152"/>
            <a:ext cx="5508538" cy="830997"/>
          </a:xfrm>
          <a:prstGeom prst="rect">
            <a:avLst/>
          </a:prstGeom>
          <a:noFill/>
        </p:spPr>
        <p:txBody>
          <a:bodyPr wrap="square">
            <a:spAutoFit/>
          </a:bodyPr>
          <a:lstStyle/>
          <a:p>
            <a:r>
              <a:rPr lang="en-US" sz="1600" dirty="0" err="1">
                <a:solidFill>
                  <a:schemeClr val="accent1">
                    <a:lumMod val="50000"/>
                  </a:schemeClr>
                </a:solidFill>
              </a:rPr>
              <a:t>Mide</a:t>
            </a:r>
            <a:r>
              <a:rPr lang="en-US" sz="1600" dirty="0">
                <a:solidFill>
                  <a:schemeClr val="accent1">
                    <a:lumMod val="50000"/>
                  </a:schemeClr>
                </a:solidFill>
              </a:rPr>
              <a:t> </a:t>
            </a:r>
            <a:r>
              <a:rPr lang="en-US" sz="1600" dirty="0" err="1">
                <a:solidFill>
                  <a:schemeClr val="accent1">
                    <a:lumMod val="50000"/>
                  </a:schemeClr>
                </a:solidFill>
              </a:rPr>
              <a:t>el</a:t>
            </a:r>
            <a:r>
              <a:rPr lang="en-US" sz="1600" dirty="0">
                <a:solidFill>
                  <a:schemeClr val="accent1">
                    <a:lumMod val="50000"/>
                  </a:schemeClr>
                </a:solidFill>
              </a:rPr>
              <a:t> </a:t>
            </a:r>
            <a:r>
              <a:rPr lang="en-US" sz="1600" dirty="0" err="1">
                <a:solidFill>
                  <a:schemeClr val="accent1">
                    <a:lumMod val="50000"/>
                  </a:schemeClr>
                </a:solidFill>
              </a:rPr>
              <a:t>coseno</a:t>
            </a:r>
            <a:r>
              <a:rPr lang="en-US" sz="1600" dirty="0">
                <a:solidFill>
                  <a:schemeClr val="accent1">
                    <a:lumMod val="50000"/>
                  </a:schemeClr>
                </a:solidFill>
              </a:rPr>
              <a:t> del </a:t>
            </a:r>
            <a:r>
              <a:rPr lang="en-US" sz="1600" dirty="0" err="1">
                <a:solidFill>
                  <a:schemeClr val="accent1">
                    <a:lumMod val="50000"/>
                  </a:schemeClr>
                </a:solidFill>
              </a:rPr>
              <a:t>ángulo</a:t>
            </a:r>
            <a:r>
              <a:rPr lang="en-US" sz="1600" dirty="0">
                <a:solidFill>
                  <a:schemeClr val="accent1">
                    <a:lumMod val="50000"/>
                  </a:schemeClr>
                </a:solidFill>
              </a:rPr>
              <a:t> entre dos </a:t>
            </a:r>
            <a:r>
              <a:rPr lang="en-US" sz="1600" dirty="0" err="1">
                <a:solidFill>
                  <a:schemeClr val="accent1">
                    <a:lumMod val="50000"/>
                  </a:schemeClr>
                </a:solidFill>
              </a:rPr>
              <a:t>vectores</a:t>
            </a:r>
            <a:r>
              <a:rPr lang="en-US" sz="1600" dirty="0">
                <a:solidFill>
                  <a:schemeClr val="accent1">
                    <a:lumMod val="50000"/>
                  </a:schemeClr>
                </a:solidFill>
              </a:rPr>
              <a:t> no </a:t>
            </a:r>
            <a:r>
              <a:rPr lang="en-US" sz="1600" dirty="0" err="1">
                <a:solidFill>
                  <a:schemeClr val="accent1">
                    <a:lumMod val="50000"/>
                  </a:schemeClr>
                </a:solidFill>
              </a:rPr>
              <a:t>nulos</a:t>
            </a:r>
            <a:r>
              <a:rPr lang="en-US" sz="1600" dirty="0">
                <a:solidFill>
                  <a:schemeClr val="accent1">
                    <a:lumMod val="50000"/>
                  </a:schemeClr>
                </a:solidFill>
              </a:rPr>
              <a:t>. La </a:t>
            </a:r>
            <a:r>
              <a:rPr lang="en-US" sz="1600" dirty="0" err="1">
                <a:solidFill>
                  <a:schemeClr val="accent1">
                    <a:lumMod val="50000"/>
                  </a:schemeClr>
                </a:solidFill>
              </a:rPr>
              <a:t>distancia</a:t>
            </a:r>
            <a:r>
              <a:rPr lang="en-US" sz="1600" dirty="0">
                <a:solidFill>
                  <a:schemeClr val="accent1">
                    <a:lumMod val="50000"/>
                  </a:schemeClr>
                </a:solidFill>
              </a:rPr>
              <a:t> entre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vectores</a:t>
            </a:r>
            <a:r>
              <a:rPr lang="en-US" sz="1600" dirty="0">
                <a:solidFill>
                  <a:schemeClr val="accent1">
                    <a:lumMod val="50000"/>
                  </a:schemeClr>
                </a:solidFill>
              </a:rPr>
              <a:t> indica </a:t>
            </a:r>
            <a:r>
              <a:rPr lang="en-US" sz="1600" dirty="0" err="1">
                <a:solidFill>
                  <a:schemeClr val="accent1">
                    <a:lumMod val="50000"/>
                  </a:schemeClr>
                </a:solidFill>
              </a:rPr>
              <a:t>proximidad</a:t>
            </a:r>
            <a:r>
              <a:rPr lang="en-US" sz="1600" dirty="0">
                <a:solidFill>
                  <a:schemeClr val="accent1">
                    <a:lumMod val="50000"/>
                  </a:schemeClr>
                </a:solidFill>
              </a:rPr>
              <a:t> </a:t>
            </a:r>
            <a:r>
              <a:rPr lang="en-US" sz="1600" dirty="0" err="1">
                <a:solidFill>
                  <a:schemeClr val="accent1">
                    <a:lumMod val="50000"/>
                  </a:schemeClr>
                </a:solidFill>
              </a:rPr>
              <a:t>en</a:t>
            </a:r>
            <a:r>
              <a:rPr lang="en-US" sz="1600" dirty="0">
                <a:solidFill>
                  <a:schemeClr val="accent1">
                    <a:lumMod val="50000"/>
                  </a:schemeClr>
                </a:solidFill>
              </a:rPr>
              <a:t> la </a:t>
            </a:r>
            <a:r>
              <a:rPr lang="en-US" sz="1600" dirty="0" err="1">
                <a:solidFill>
                  <a:schemeClr val="accent1">
                    <a:lumMod val="50000"/>
                  </a:schemeClr>
                </a:solidFill>
              </a:rPr>
              <a:t>orientación</a:t>
            </a:r>
            <a:r>
              <a:rPr lang="en-US" sz="1600" dirty="0">
                <a:solidFill>
                  <a:schemeClr val="accent1">
                    <a:lumMod val="50000"/>
                  </a:schemeClr>
                </a:solidFill>
              </a:rPr>
              <a:t> de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mismos</a:t>
            </a:r>
            <a:r>
              <a:rPr lang="en-US" sz="1600" dirty="0">
                <a:solidFill>
                  <a:schemeClr val="accent1">
                    <a:lumMod val="50000"/>
                  </a:schemeClr>
                </a:solidFill>
              </a:rPr>
              <a:t>.</a:t>
            </a:r>
          </a:p>
        </p:txBody>
      </p:sp>
      <p:sp>
        <p:nvSpPr>
          <p:cNvPr id="22" name="CuadroTexto 21">
            <a:extLst>
              <a:ext uri="{FF2B5EF4-FFF2-40B4-BE49-F238E27FC236}">
                <a16:creationId xmlns:a16="http://schemas.microsoft.com/office/drawing/2014/main" id="{A847F904-0710-886C-B460-6F4E2E252DBA}"/>
              </a:ext>
            </a:extLst>
          </p:cNvPr>
          <p:cNvSpPr txBox="1"/>
          <p:nvPr/>
        </p:nvSpPr>
        <p:spPr>
          <a:xfrm>
            <a:off x="6096000" y="1391806"/>
            <a:ext cx="5669463" cy="1015663"/>
          </a:xfrm>
          <a:prstGeom prst="rect">
            <a:avLst/>
          </a:prstGeom>
          <a:noFill/>
        </p:spPr>
        <p:txBody>
          <a:bodyPr wrap="square" rtlCol="0">
            <a:spAutoFit/>
          </a:bodyPr>
          <a:lstStyle/>
          <a:p>
            <a:pPr marL="285750" indent="-285750">
              <a:buClr>
                <a:schemeClr val="tx1"/>
              </a:buClr>
              <a:buSzPct val="150000"/>
              <a:buFont typeface="Arial" panose="020B0604020202020204" pitchFamily="34" charset="0"/>
              <a:buChar char="•"/>
            </a:pPr>
            <a:r>
              <a:rPr lang="es-ES" sz="2000" dirty="0">
                <a:solidFill>
                  <a:schemeClr val="accent1">
                    <a:lumMod val="50000"/>
                  </a:schemeClr>
                </a:solidFill>
              </a:rPr>
              <a:t>Distancia de </a:t>
            </a:r>
            <a:r>
              <a:rPr lang="es-ES" sz="2000" dirty="0" err="1">
                <a:solidFill>
                  <a:schemeClr val="accent1">
                    <a:lumMod val="50000"/>
                  </a:schemeClr>
                </a:solidFill>
              </a:rPr>
              <a:t>Hamming</a:t>
            </a:r>
            <a:r>
              <a:rPr lang="es-ES" sz="2000" dirty="0">
                <a:solidFill>
                  <a:schemeClr val="accent1">
                    <a:lumMod val="50000"/>
                  </a:schemeClr>
                </a:solidFill>
              </a:rPr>
              <a:t>: número de posiciones en las que dos elementos (cadenas de texto, vectores, etc.) difieren  </a:t>
            </a:r>
          </a:p>
        </p:txBody>
      </p:sp>
      <p:sp>
        <p:nvSpPr>
          <p:cNvPr id="23" name="CuadroTexto 22">
            <a:extLst>
              <a:ext uri="{FF2B5EF4-FFF2-40B4-BE49-F238E27FC236}">
                <a16:creationId xmlns:a16="http://schemas.microsoft.com/office/drawing/2014/main" id="{278ECDC5-277A-0448-D6F7-7E561D6D5E7D}"/>
              </a:ext>
            </a:extLst>
          </p:cNvPr>
          <p:cNvSpPr txBox="1"/>
          <p:nvPr/>
        </p:nvSpPr>
        <p:spPr>
          <a:xfrm>
            <a:off x="6454500" y="2479850"/>
            <a:ext cx="2252540" cy="646331"/>
          </a:xfrm>
          <a:prstGeom prst="rect">
            <a:avLst/>
          </a:prstGeom>
          <a:noFill/>
        </p:spPr>
        <p:txBody>
          <a:bodyPr wrap="none" rtlCol="0">
            <a:spAutoFit/>
          </a:bodyPr>
          <a:lstStyle/>
          <a:p>
            <a:r>
              <a:rPr lang="es-ES" dirty="0">
                <a:solidFill>
                  <a:schemeClr val="accent1">
                    <a:lumMod val="50000"/>
                  </a:schemeClr>
                </a:solidFill>
                <a:latin typeface="Courier New" panose="02070309020205020404" pitchFamily="49" charset="0"/>
                <a:cs typeface="Courier New" panose="02070309020205020404" pitchFamily="49" charset="0"/>
              </a:rPr>
              <a:t>A = [1,</a:t>
            </a:r>
            <a:r>
              <a:rPr lang="es-ES" dirty="0">
                <a:solidFill>
                  <a:srgbClr val="C00000"/>
                </a:solidFill>
                <a:latin typeface="Courier New" panose="02070309020205020404" pitchFamily="49" charset="0"/>
                <a:cs typeface="Courier New" panose="02070309020205020404" pitchFamily="49" charset="0"/>
              </a:rPr>
              <a:t>3</a:t>
            </a:r>
            <a:r>
              <a:rPr lang="es-ES" dirty="0">
                <a:solidFill>
                  <a:schemeClr val="accent1">
                    <a:lumMod val="50000"/>
                  </a:schemeClr>
                </a:solidFill>
                <a:latin typeface="Courier New" panose="02070309020205020404" pitchFamily="49" charset="0"/>
                <a:cs typeface="Courier New" panose="02070309020205020404" pitchFamily="49" charset="0"/>
              </a:rPr>
              <a:t>,4,5,</a:t>
            </a:r>
            <a:r>
              <a:rPr lang="es-ES" dirty="0">
                <a:solidFill>
                  <a:srgbClr val="C00000"/>
                </a:solidFill>
                <a:latin typeface="Courier New" panose="02070309020205020404" pitchFamily="49" charset="0"/>
                <a:cs typeface="Courier New" panose="02070309020205020404" pitchFamily="49" charset="0"/>
              </a:rPr>
              <a:t>2</a:t>
            </a:r>
            <a:r>
              <a:rPr lang="es-ES" dirty="0">
                <a:solidFill>
                  <a:schemeClr val="accent1">
                    <a:lumMod val="50000"/>
                  </a:schemeClr>
                </a:solidFill>
                <a:latin typeface="Courier New" panose="02070309020205020404" pitchFamily="49" charset="0"/>
                <a:cs typeface="Courier New" panose="02070309020205020404" pitchFamily="49" charset="0"/>
              </a:rPr>
              <a:t>]</a:t>
            </a:r>
          </a:p>
          <a:p>
            <a:r>
              <a:rPr lang="es-ES" dirty="0">
                <a:solidFill>
                  <a:schemeClr val="accent1">
                    <a:lumMod val="50000"/>
                  </a:schemeClr>
                </a:solidFill>
                <a:latin typeface="Courier New" panose="02070309020205020404" pitchFamily="49" charset="0"/>
                <a:cs typeface="Courier New" panose="02070309020205020404" pitchFamily="49" charset="0"/>
              </a:rPr>
              <a:t>B = [1,</a:t>
            </a:r>
            <a:r>
              <a:rPr lang="es-ES" dirty="0">
                <a:solidFill>
                  <a:srgbClr val="C00000"/>
                </a:solidFill>
                <a:latin typeface="Courier New" panose="02070309020205020404" pitchFamily="49" charset="0"/>
                <a:cs typeface="Courier New" panose="02070309020205020404" pitchFamily="49" charset="0"/>
              </a:rPr>
              <a:t>1</a:t>
            </a:r>
            <a:r>
              <a:rPr lang="es-ES" dirty="0">
                <a:solidFill>
                  <a:schemeClr val="accent1">
                    <a:lumMod val="50000"/>
                  </a:schemeClr>
                </a:solidFill>
                <a:latin typeface="Courier New" panose="02070309020205020404" pitchFamily="49" charset="0"/>
                <a:cs typeface="Courier New" panose="02070309020205020404" pitchFamily="49" charset="0"/>
              </a:rPr>
              <a:t>,4,5,</a:t>
            </a:r>
            <a:r>
              <a:rPr lang="es-ES" dirty="0">
                <a:solidFill>
                  <a:srgbClr val="C00000"/>
                </a:solidFill>
                <a:latin typeface="Courier New" panose="02070309020205020404" pitchFamily="49" charset="0"/>
                <a:cs typeface="Courier New" panose="02070309020205020404" pitchFamily="49" charset="0"/>
              </a:rPr>
              <a:t>1</a:t>
            </a:r>
            <a:r>
              <a:rPr lang="es-ES" dirty="0">
                <a:solidFill>
                  <a:schemeClr val="accent1">
                    <a:lumMod val="50000"/>
                  </a:schemeClr>
                </a:solidFill>
                <a:latin typeface="Courier New" panose="02070309020205020404" pitchFamily="49" charset="0"/>
                <a:cs typeface="Courier New" panose="02070309020205020404" pitchFamily="49" charset="0"/>
              </a:rPr>
              <a:t>]</a:t>
            </a:r>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A27546F1-2DD2-A31F-2995-345458793BB4}"/>
                  </a:ext>
                </a:extLst>
              </p:cNvPr>
              <p:cNvSpPr txBox="1"/>
              <p:nvPr/>
            </p:nvSpPr>
            <p:spPr>
              <a:xfrm>
                <a:off x="8302793" y="2618349"/>
                <a:ext cx="29815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𝐷</m:t>
                          </m:r>
                        </m:e>
                        <m:sub>
                          <m:r>
                            <a:rPr lang="es-ES" b="0" i="1" smtClean="0">
                              <a:solidFill>
                                <a:schemeClr val="accent1">
                                  <a:lumMod val="50000"/>
                                </a:schemeClr>
                              </a:solidFill>
                              <a:latin typeface="Cambria Math" panose="02040503050406030204" pitchFamily="18" charset="0"/>
                            </a:rPr>
                            <m:t>𝐻</m:t>
                          </m:r>
                        </m:sub>
                      </m:sSub>
                      <m:d>
                        <m:dPr>
                          <m:ctrlPr>
                            <a:rPr lang="es-ES" b="0" i="1" smtClean="0">
                              <a:solidFill>
                                <a:schemeClr val="accent1">
                                  <a:lumMod val="50000"/>
                                </a:schemeClr>
                              </a:solidFill>
                              <a:latin typeface="Cambria Math" panose="02040503050406030204" pitchFamily="18" charset="0"/>
                            </a:rPr>
                          </m:ctrlPr>
                        </m:dPr>
                        <m:e>
                          <m:r>
                            <a:rPr lang="es-ES" b="0" i="1" smtClean="0">
                              <a:solidFill>
                                <a:schemeClr val="accent1">
                                  <a:lumMod val="50000"/>
                                </a:schemeClr>
                              </a:solidFill>
                              <a:latin typeface="Cambria Math" panose="02040503050406030204" pitchFamily="18" charset="0"/>
                            </a:rPr>
                            <m:t>𝐴</m:t>
                          </m:r>
                          <m:r>
                            <a:rPr lang="es-ES" b="0" i="1" smtClean="0">
                              <a:solidFill>
                                <a:schemeClr val="accent1">
                                  <a:lumMod val="50000"/>
                                </a:schemeClr>
                              </a:solidFill>
                              <a:latin typeface="Cambria Math" panose="02040503050406030204" pitchFamily="18" charset="0"/>
                            </a:rPr>
                            <m:t>,</m:t>
                          </m:r>
                          <m:r>
                            <a:rPr lang="es-ES" b="0" i="1" smtClean="0">
                              <a:solidFill>
                                <a:schemeClr val="accent1">
                                  <a:lumMod val="50000"/>
                                </a:schemeClr>
                              </a:solidFill>
                              <a:latin typeface="Cambria Math" panose="02040503050406030204" pitchFamily="18" charset="0"/>
                            </a:rPr>
                            <m:t>𝐵</m:t>
                          </m:r>
                        </m:e>
                      </m:d>
                      <m:r>
                        <a:rPr lang="es-ES" b="0" i="1" smtClean="0">
                          <a:solidFill>
                            <a:schemeClr val="accent1">
                              <a:lumMod val="50000"/>
                            </a:schemeClr>
                          </a:solidFill>
                          <a:latin typeface="Cambria Math" panose="02040503050406030204" pitchFamily="18" charset="0"/>
                        </a:rPr>
                        <m:t>=2</m:t>
                      </m:r>
                    </m:oMath>
                  </m:oMathPara>
                </a14:m>
                <a:endParaRPr lang="es-ES" dirty="0"/>
              </a:p>
            </p:txBody>
          </p:sp>
        </mc:Choice>
        <mc:Fallback xmlns="">
          <p:sp>
            <p:nvSpPr>
              <p:cNvPr id="24" name="CuadroTexto 23">
                <a:extLst>
                  <a:ext uri="{FF2B5EF4-FFF2-40B4-BE49-F238E27FC236}">
                    <a16:creationId xmlns:a16="http://schemas.microsoft.com/office/drawing/2014/main" id="{A27546F1-2DD2-A31F-2995-345458793BB4}"/>
                  </a:ext>
                </a:extLst>
              </p:cNvPr>
              <p:cNvSpPr txBox="1">
                <a:spLocks noRot="1" noChangeAspect="1" noMove="1" noResize="1" noEditPoints="1" noAdjustHandles="1" noChangeArrowheads="1" noChangeShapeType="1" noTextEdit="1"/>
              </p:cNvSpPr>
              <p:nvPr/>
            </p:nvSpPr>
            <p:spPr>
              <a:xfrm>
                <a:off x="8302793" y="2618349"/>
                <a:ext cx="2981585" cy="369332"/>
              </a:xfrm>
              <a:prstGeom prst="rect">
                <a:avLst/>
              </a:prstGeom>
              <a:blipFill>
                <a:blip r:embed="rId4"/>
                <a:stretch>
                  <a:fillRect/>
                </a:stretch>
              </a:blipFill>
            </p:spPr>
            <p:txBody>
              <a:bodyPr/>
              <a:lstStyle/>
              <a:p>
                <a:r>
                  <a:rPr lang="es-ES">
                    <a:noFill/>
                  </a:rPr>
                  <a:t> </a:t>
                </a:r>
              </a:p>
            </p:txBody>
          </p:sp>
        </mc:Fallback>
      </mc:AlternateContent>
      <p:sp>
        <p:nvSpPr>
          <p:cNvPr id="25" name="CuadroTexto 24">
            <a:extLst>
              <a:ext uri="{FF2B5EF4-FFF2-40B4-BE49-F238E27FC236}">
                <a16:creationId xmlns:a16="http://schemas.microsoft.com/office/drawing/2014/main" id="{09DAF6FC-40E2-4146-A3C2-8C277686E591}"/>
              </a:ext>
            </a:extLst>
          </p:cNvPr>
          <p:cNvSpPr txBox="1"/>
          <p:nvPr/>
        </p:nvSpPr>
        <p:spPr>
          <a:xfrm>
            <a:off x="6454500" y="3365896"/>
            <a:ext cx="1563248" cy="646331"/>
          </a:xfrm>
          <a:prstGeom prst="rect">
            <a:avLst/>
          </a:prstGeom>
          <a:noFill/>
        </p:spPr>
        <p:txBody>
          <a:bodyPr wrap="none" rtlCol="0">
            <a:spAutoFit/>
          </a:bodyPr>
          <a:lstStyle/>
          <a:p>
            <a:r>
              <a:rPr lang="es-ES" dirty="0">
                <a:solidFill>
                  <a:schemeClr val="accent1">
                    <a:lumMod val="50000"/>
                  </a:schemeClr>
                </a:solidFill>
                <a:latin typeface="Courier New" panose="02070309020205020404" pitchFamily="49" charset="0"/>
                <a:cs typeface="Courier New" panose="02070309020205020404" pitchFamily="49" charset="0"/>
              </a:rPr>
              <a:t>A = </a:t>
            </a:r>
            <a:r>
              <a:rPr lang="es-ES" dirty="0">
                <a:solidFill>
                  <a:srgbClr val="C00000"/>
                </a:solidFill>
                <a:latin typeface="Courier New" panose="02070309020205020404" pitchFamily="49" charset="0"/>
                <a:cs typeface="Courier New" panose="02070309020205020404" pitchFamily="49" charset="0"/>
              </a:rPr>
              <a:t>p</a:t>
            </a:r>
            <a:r>
              <a:rPr lang="es-ES" dirty="0">
                <a:solidFill>
                  <a:schemeClr val="accent1">
                    <a:lumMod val="50000"/>
                  </a:schemeClr>
                </a:solidFill>
                <a:latin typeface="Courier New" panose="02070309020205020404" pitchFamily="49" charset="0"/>
                <a:cs typeface="Courier New" panose="02070309020205020404" pitchFamily="49" charset="0"/>
              </a:rPr>
              <a:t>e</a:t>
            </a:r>
            <a:r>
              <a:rPr lang="es-ES" dirty="0">
                <a:solidFill>
                  <a:srgbClr val="C00000"/>
                </a:solidFill>
                <a:latin typeface="Courier New" panose="02070309020205020404" pitchFamily="49" charset="0"/>
                <a:cs typeface="Courier New" panose="02070309020205020404" pitchFamily="49" charset="0"/>
              </a:rPr>
              <a:t>l</a:t>
            </a:r>
            <a:r>
              <a:rPr lang="es-ES" dirty="0">
                <a:solidFill>
                  <a:schemeClr val="accent1">
                    <a:lumMod val="50000"/>
                  </a:schemeClr>
                </a:solidFill>
                <a:latin typeface="Courier New" panose="02070309020205020404" pitchFamily="49" charset="0"/>
                <a:cs typeface="Courier New" panose="02070309020205020404" pitchFamily="49" charset="0"/>
              </a:rPr>
              <a:t>ota</a:t>
            </a:r>
          </a:p>
          <a:p>
            <a:r>
              <a:rPr lang="es-ES" dirty="0">
                <a:solidFill>
                  <a:schemeClr val="accent1">
                    <a:lumMod val="50000"/>
                  </a:schemeClr>
                </a:solidFill>
                <a:latin typeface="Courier New" panose="02070309020205020404" pitchFamily="49" charset="0"/>
                <a:cs typeface="Courier New" panose="02070309020205020404" pitchFamily="49" charset="0"/>
              </a:rPr>
              <a:t>B = </a:t>
            </a:r>
            <a:r>
              <a:rPr lang="es-ES" dirty="0">
                <a:solidFill>
                  <a:srgbClr val="C00000"/>
                </a:solidFill>
                <a:latin typeface="Courier New" panose="02070309020205020404" pitchFamily="49" charset="0"/>
                <a:cs typeface="Courier New" panose="02070309020205020404" pitchFamily="49" charset="0"/>
              </a:rPr>
              <a:t>r</a:t>
            </a:r>
            <a:r>
              <a:rPr lang="es-ES" dirty="0">
                <a:solidFill>
                  <a:schemeClr val="accent1">
                    <a:lumMod val="50000"/>
                  </a:schemeClr>
                </a:solidFill>
                <a:latin typeface="Courier New" panose="02070309020205020404" pitchFamily="49" charset="0"/>
                <a:cs typeface="Courier New" panose="02070309020205020404" pitchFamily="49" charset="0"/>
              </a:rPr>
              <a:t>e</a:t>
            </a:r>
            <a:r>
              <a:rPr lang="es-ES" dirty="0">
                <a:solidFill>
                  <a:srgbClr val="C00000"/>
                </a:solidFill>
                <a:latin typeface="Courier New" panose="02070309020205020404" pitchFamily="49" charset="0"/>
                <a:cs typeface="Courier New" panose="02070309020205020404" pitchFamily="49" charset="0"/>
              </a:rPr>
              <a:t>b</a:t>
            </a:r>
            <a:r>
              <a:rPr lang="es-ES" dirty="0">
                <a:solidFill>
                  <a:schemeClr val="accent1">
                    <a:lumMod val="50000"/>
                  </a:schemeClr>
                </a:solidFill>
                <a:latin typeface="Courier New" panose="02070309020205020404" pitchFamily="49" charset="0"/>
                <a:cs typeface="Courier New" panose="02070309020205020404" pitchFamily="49" charset="0"/>
              </a:rPr>
              <a:t>ota</a:t>
            </a:r>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042F5769-562B-302A-5B1C-D9BD8B5E1FEE}"/>
                  </a:ext>
                </a:extLst>
              </p:cNvPr>
              <p:cNvSpPr txBox="1"/>
              <p:nvPr/>
            </p:nvSpPr>
            <p:spPr>
              <a:xfrm>
                <a:off x="8302793" y="3504395"/>
                <a:ext cx="29815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𝐷</m:t>
                          </m:r>
                        </m:e>
                        <m:sub>
                          <m:r>
                            <a:rPr lang="es-ES" b="0" i="1" smtClean="0">
                              <a:solidFill>
                                <a:schemeClr val="accent1">
                                  <a:lumMod val="50000"/>
                                </a:schemeClr>
                              </a:solidFill>
                              <a:latin typeface="Cambria Math" panose="02040503050406030204" pitchFamily="18" charset="0"/>
                            </a:rPr>
                            <m:t>𝐻</m:t>
                          </m:r>
                        </m:sub>
                      </m:sSub>
                      <m:d>
                        <m:dPr>
                          <m:ctrlPr>
                            <a:rPr lang="es-ES" b="0" i="1" smtClean="0">
                              <a:solidFill>
                                <a:schemeClr val="accent1">
                                  <a:lumMod val="50000"/>
                                </a:schemeClr>
                              </a:solidFill>
                              <a:latin typeface="Cambria Math" panose="02040503050406030204" pitchFamily="18" charset="0"/>
                            </a:rPr>
                          </m:ctrlPr>
                        </m:dPr>
                        <m:e>
                          <m:r>
                            <a:rPr lang="es-ES" b="0" i="1" smtClean="0">
                              <a:solidFill>
                                <a:schemeClr val="accent1">
                                  <a:lumMod val="50000"/>
                                </a:schemeClr>
                              </a:solidFill>
                              <a:latin typeface="Cambria Math" panose="02040503050406030204" pitchFamily="18" charset="0"/>
                            </a:rPr>
                            <m:t>𝐴</m:t>
                          </m:r>
                          <m:r>
                            <a:rPr lang="es-ES" b="0" i="1" smtClean="0">
                              <a:solidFill>
                                <a:schemeClr val="accent1">
                                  <a:lumMod val="50000"/>
                                </a:schemeClr>
                              </a:solidFill>
                              <a:latin typeface="Cambria Math" panose="02040503050406030204" pitchFamily="18" charset="0"/>
                            </a:rPr>
                            <m:t>,</m:t>
                          </m:r>
                          <m:r>
                            <a:rPr lang="es-ES" b="0" i="1" smtClean="0">
                              <a:solidFill>
                                <a:schemeClr val="accent1">
                                  <a:lumMod val="50000"/>
                                </a:schemeClr>
                              </a:solidFill>
                              <a:latin typeface="Cambria Math" panose="02040503050406030204" pitchFamily="18" charset="0"/>
                            </a:rPr>
                            <m:t>𝐵</m:t>
                          </m:r>
                        </m:e>
                      </m:d>
                      <m:r>
                        <a:rPr lang="es-ES" b="0" i="1" smtClean="0">
                          <a:solidFill>
                            <a:schemeClr val="accent1">
                              <a:lumMod val="50000"/>
                            </a:schemeClr>
                          </a:solidFill>
                          <a:latin typeface="Cambria Math" panose="02040503050406030204" pitchFamily="18" charset="0"/>
                        </a:rPr>
                        <m:t>=2</m:t>
                      </m:r>
                    </m:oMath>
                  </m:oMathPara>
                </a14:m>
                <a:endParaRPr lang="es-ES" dirty="0"/>
              </a:p>
            </p:txBody>
          </p:sp>
        </mc:Choice>
        <mc:Fallback xmlns="">
          <p:sp>
            <p:nvSpPr>
              <p:cNvPr id="26" name="CuadroTexto 25">
                <a:extLst>
                  <a:ext uri="{FF2B5EF4-FFF2-40B4-BE49-F238E27FC236}">
                    <a16:creationId xmlns:a16="http://schemas.microsoft.com/office/drawing/2014/main" id="{042F5769-562B-302A-5B1C-D9BD8B5E1FEE}"/>
                  </a:ext>
                </a:extLst>
              </p:cNvPr>
              <p:cNvSpPr txBox="1">
                <a:spLocks noRot="1" noChangeAspect="1" noMove="1" noResize="1" noEditPoints="1" noAdjustHandles="1" noChangeArrowheads="1" noChangeShapeType="1" noTextEdit="1"/>
              </p:cNvSpPr>
              <p:nvPr/>
            </p:nvSpPr>
            <p:spPr>
              <a:xfrm>
                <a:off x="8302793" y="3504395"/>
                <a:ext cx="2981585" cy="369332"/>
              </a:xfrm>
              <a:prstGeom prst="rect">
                <a:avLst/>
              </a:prstGeom>
              <a:blipFill>
                <a:blip r:embed="rId5"/>
                <a:stretch>
                  <a:fillRect/>
                </a:stretch>
              </a:blipFill>
            </p:spPr>
            <p:txBody>
              <a:bodyPr/>
              <a:lstStyle/>
              <a:p>
                <a:r>
                  <a:rPr lang="es-ES">
                    <a:noFill/>
                  </a:rPr>
                  <a:t> </a:t>
                </a:r>
              </a:p>
            </p:txBody>
          </p:sp>
        </mc:Fallback>
      </mc:AlternateContent>
      <p:sp>
        <p:nvSpPr>
          <p:cNvPr id="27" name="CuadroTexto 26">
            <a:extLst>
              <a:ext uri="{FF2B5EF4-FFF2-40B4-BE49-F238E27FC236}">
                <a16:creationId xmlns:a16="http://schemas.microsoft.com/office/drawing/2014/main" id="{36CD1DFC-357F-EDA1-4CB2-8BB5A2BC901F}"/>
              </a:ext>
            </a:extLst>
          </p:cNvPr>
          <p:cNvSpPr txBox="1"/>
          <p:nvPr/>
        </p:nvSpPr>
        <p:spPr>
          <a:xfrm>
            <a:off x="6096000" y="4339012"/>
            <a:ext cx="5669463" cy="1631216"/>
          </a:xfrm>
          <a:prstGeom prst="rect">
            <a:avLst/>
          </a:prstGeom>
          <a:noFill/>
        </p:spPr>
        <p:txBody>
          <a:bodyPr wrap="square" rtlCol="0">
            <a:spAutoFit/>
          </a:bodyPr>
          <a:lstStyle/>
          <a:p>
            <a:pPr marL="285750" indent="-285750">
              <a:buClr>
                <a:schemeClr val="tx1"/>
              </a:buClr>
              <a:buSzPct val="150000"/>
              <a:buFont typeface="Arial" panose="020B0604020202020204" pitchFamily="34" charset="0"/>
              <a:buChar char="•"/>
            </a:pPr>
            <a:r>
              <a:rPr lang="es-ES" sz="2000" dirty="0">
                <a:solidFill>
                  <a:schemeClr val="accent1">
                    <a:lumMod val="50000"/>
                  </a:schemeClr>
                </a:solidFill>
              </a:rPr>
              <a:t>Distancia de </a:t>
            </a:r>
            <a:r>
              <a:rPr lang="es-ES" sz="2000" dirty="0" err="1">
                <a:solidFill>
                  <a:schemeClr val="accent1">
                    <a:lumMod val="50000"/>
                  </a:schemeClr>
                </a:solidFill>
              </a:rPr>
              <a:t>Levenshtein</a:t>
            </a:r>
            <a:r>
              <a:rPr lang="es-ES" sz="2000" dirty="0">
                <a:solidFill>
                  <a:schemeClr val="accent1">
                    <a:lumMod val="50000"/>
                  </a:schemeClr>
                </a:solidFill>
              </a:rPr>
              <a:t>: Modificación de la distancia de </a:t>
            </a:r>
            <a:r>
              <a:rPr lang="es-ES" sz="2000" dirty="0" err="1">
                <a:solidFill>
                  <a:schemeClr val="accent1">
                    <a:lumMod val="50000"/>
                  </a:schemeClr>
                </a:solidFill>
              </a:rPr>
              <a:t>Hamming</a:t>
            </a:r>
            <a:r>
              <a:rPr lang="es-ES" sz="2000" dirty="0">
                <a:solidFill>
                  <a:schemeClr val="accent1">
                    <a:lumMod val="50000"/>
                  </a:schemeClr>
                </a:solidFill>
              </a:rPr>
              <a:t> más adecuada a las cadenas de texto ya que contempla la posibilidad de que las cadenas tengan diferente número de caracteres.  </a:t>
            </a:r>
          </a:p>
        </p:txBody>
      </p:sp>
      <p:sp>
        <p:nvSpPr>
          <p:cNvPr id="28" name="CuadroTexto 27">
            <a:extLst>
              <a:ext uri="{FF2B5EF4-FFF2-40B4-BE49-F238E27FC236}">
                <a16:creationId xmlns:a16="http://schemas.microsoft.com/office/drawing/2014/main" id="{99DCF0EE-C8EA-2DA2-77FB-7FEDCE7831CB}"/>
              </a:ext>
            </a:extLst>
          </p:cNvPr>
          <p:cNvSpPr txBox="1"/>
          <p:nvPr/>
        </p:nvSpPr>
        <p:spPr>
          <a:xfrm>
            <a:off x="409402" y="82680"/>
            <a:ext cx="6375335" cy="738664"/>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sz="2800" b="1" dirty="0" err="1" smtClean="0">
                <a:solidFill>
                  <a:schemeClr val="accent1">
                    <a:lumMod val="50000"/>
                  </a:schemeClr>
                </a:solidFill>
              </a:rPr>
              <a:t>Métricas</a:t>
            </a:r>
            <a:r>
              <a:rPr lang="en-US" sz="2800" b="1" dirty="0" smtClean="0">
                <a:solidFill>
                  <a:schemeClr val="accent1">
                    <a:lumMod val="50000"/>
                  </a:schemeClr>
                </a:solidFill>
              </a:rPr>
              <a:t> </a:t>
            </a:r>
            <a:r>
              <a:rPr lang="en-US" sz="2800" b="1" dirty="0" err="1">
                <a:solidFill>
                  <a:schemeClr val="accent1">
                    <a:lumMod val="50000"/>
                  </a:schemeClr>
                </a:solidFill>
              </a:rPr>
              <a:t>usadas</a:t>
            </a:r>
            <a:r>
              <a:rPr lang="en-US" sz="2800" b="1" dirty="0">
                <a:solidFill>
                  <a:schemeClr val="accent1">
                    <a:lumMod val="50000"/>
                  </a:schemeClr>
                </a:solidFill>
              </a:rPr>
              <a:t> </a:t>
            </a:r>
            <a:r>
              <a:rPr lang="en-US" sz="2800" b="1" dirty="0" err="1">
                <a:solidFill>
                  <a:schemeClr val="accent1">
                    <a:lumMod val="50000"/>
                  </a:schemeClr>
                </a:solidFill>
              </a:rPr>
              <a:t>en</a:t>
            </a:r>
            <a:r>
              <a:rPr lang="en-US" sz="2800" b="1" dirty="0">
                <a:solidFill>
                  <a:schemeClr val="accent1">
                    <a:lumMod val="50000"/>
                  </a:schemeClr>
                </a:solidFill>
              </a:rPr>
              <a:t> </a:t>
            </a:r>
            <a:r>
              <a:rPr lang="en-US" sz="2800" b="1" dirty="0" smtClean="0">
                <a:solidFill>
                  <a:schemeClr val="accent1">
                    <a:lumMod val="50000"/>
                  </a:schemeClr>
                </a:solidFill>
              </a:rPr>
              <a:t>ML. </a:t>
            </a:r>
            <a:r>
              <a:rPr lang="en-US" sz="2800" b="1" dirty="0">
                <a:solidFill>
                  <a:schemeClr val="accent1">
                    <a:lumMod val="50000"/>
                  </a:schemeClr>
                </a:solidFill>
              </a:rPr>
              <a:t>(no </a:t>
            </a:r>
            <a:r>
              <a:rPr lang="en-US" sz="2800" b="1" dirty="0" err="1">
                <a:solidFill>
                  <a:schemeClr val="accent1">
                    <a:lumMod val="50000"/>
                  </a:schemeClr>
                </a:solidFill>
              </a:rPr>
              <a:t>Minkowski</a:t>
            </a:r>
            <a:r>
              <a:rPr lang="en-US" sz="2800" b="1" dirty="0">
                <a:solidFill>
                  <a:schemeClr val="accent1">
                    <a:lumMod val="50000"/>
                  </a:schemeClr>
                </a:solidFill>
              </a:rPr>
              <a:t>)</a:t>
            </a:r>
          </a:p>
        </p:txBody>
      </p:sp>
      <p:sp>
        <p:nvSpPr>
          <p:cNvPr id="29" name="CuadroTexto 28">
            <a:extLst>
              <a:ext uri="{FF2B5EF4-FFF2-40B4-BE49-F238E27FC236}">
                <a16:creationId xmlns:a16="http://schemas.microsoft.com/office/drawing/2014/main" id="{B721C4E8-F774-C602-C20C-95042CFF3868}"/>
              </a:ext>
            </a:extLst>
          </p:cNvPr>
          <p:cNvSpPr txBox="1"/>
          <p:nvPr/>
        </p:nvSpPr>
        <p:spPr>
          <a:xfrm>
            <a:off x="9028591" y="136523"/>
            <a:ext cx="3067982" cy="461665"/>
          </a:xfrm>
          <a:prstGeom prst="rect">
            <a:avLst/>
          </a:prstGeom>
          <a:noFill/>
        </p:spPr>
        <p:txBody>
          <a:bodyPr wrap="square" rtlCol="0">
            <a:spAutoFit/>
          </a:bodyPr>
          <a:lstStyle/>
          <a:p>
            <a:r>
              <a:rPr lang="es-ES" sz="2400" b="1" dirty="0" err="1">
                <a:solidFill>
                  <a:schemeClr val="accent1">
                    <a:lumMod val="50000"/>
                  </a:schemeClr>
                </a:solidFill>
              </a:rPr>
              <a:t>Hierarchical</a:t>
            </a:r>
            <a:r>
              <a:rPr lang="es-ES" sz="2400" b="1" dirty="0">
                <a:solidFill>
                  <a:schemeClr val="accent1">
                    <a:lumMod val="50000"/>
                  </a:schemeClr>
                </a:solidFill>
              </a:rPr>
              <a:t> </a:t>
            </a:r>
            <a:r>
              <a:rPr lang="es-ES" sz="2400" b="1" dirty="0" err="1">
                <a:solidFill>
                  <a:schemeClr val="accent1">
                    <a:lumMod val="50000"/>
                  </a:schemeClr>
                </a:solidFill>
              </a:rPr>
              <a:t>Clustering</a:t>
            </a:r>
            <a:endParaRPr lang="es-ES" sz="8800" b="1" dirty="0">
              <a:solidFill>
                <a:schemeClr val="accent1">
                  <a:lumMod val="50000"/>
                </a:schemeClr>
              </a:solidFill>
            </a:endParaRPr>
          </a:p>
        </p:txBody>
      </p:sp>
    </p:spTree>
    <p:extLst>
      <p:ext uri="{BB962C8B-B14F-4D97-AF65-F5344CB8AC3E}">
        <p14:creationId xmlns:p14="http://schemas.microsoft.com/office/powerpoint/2010/main" val="2311489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p:cNvPicPr>
            <a:picLocks noChangeAspect="1"/>
          </p:cNvPicPr>
          <p:nvPr/>
        </p:nvPicPr>
        <p:blipFill>
          <a:blip r:embed="rId3"/>
          <a:stretch>
            <a:fillRect/>
          </a:stretch>
        </p:blipFill>
        <p:spPr>
          <a:xfrm>
            <a:off x="28753" y="1644168"/>
            <a:ext cx="4356816" cy="2843319"/>
          </a:xfrm>
          <a:prstGeom prst="rect">
            <a:avLst/>
          </a:prstGeom>
        </p:spPr>
      </p:pic>
      <p:sp>
        <p:nvSpPr>
          <p:cNvPr id="8" name="Rectángulo: esquinas redondeadas 7">
            <a:extLst>
              <a:ext uri="{FF2B5EF4-FFF2-40B4-BE49-F238E27FC236}">
                <a16:creationId xmlns:a16="http://schemas.microsoft.com/office/drawing/2014/main" id="{EF45C38A-0D5F-BE6C-DDDD-01A317499614}"/>
              </a:ext>
            </a:extLst>
          </p:cNvPr>
          <p:cNvSpPr/>
          <p:nvPr/>
        </p:nvSpPr>
        <p:spPr>
          <a:xfrm>
            <a:off x="4214553" y="623455"/>
            <a:ext cx="7882019" cy="6232738"/>
          </a:xfrm>
          <a:prstGeom prst="roundRect">
            <a:avLst>
              <a:gd name="adj" fmla="val 3645"/>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ES" dirty="0" smtClean="0">
                <a:solidFill>
                  <a:schemeClr val="accent1">
                    <a:lumMod val="50000"/>
                  </a:schemeClr>
                </a:solidFill>
              </a:rPr>
              <a:t>Similitud </a:t>
            </a:r>
            <a:r>
              <a:rPr lang="es-ES" dirty="0">
                <a:solidFill>
                  <a:schemeClr val="accent1">
                    <a:lumMod val="50000"/>
                  </a:schemeClr>
                </a:solidFill>
              </a:rPr>
              <a:t>de Jaccard: Mide la proporción de elementos que son comunes a dos conjuntos en relación con el total de elementos que aparecen en al menos uno de ellos.</a:t>
            </a:r>
          </a:p>
          <a:p>
            <a:endParaRPr lang="es-ES" dirty="0">
              <a:solidFill>
                <a:schemeClr val="accent1">
                  <a:lumMod val="50000"/>
                </a:schemeClr>
              </a:solidFill>
            </a:endParaRPr>
          </a:p>
          <a:p>
            <a:endParaRPr lang="es-ES" dirty="0">
              <a:solidFill>
                <a:schemeClr val="accent1">
                  <a:lumMod val="50000"/>
                </a:schemeClr>
              </a:solidFill>
            </a:endParaRPr>
          </a:p>
          <a:p>
            <a:pPr lvl="1"/>
            <a:r>
              <a:rPr lang="es-ES" dirty="0">
                <a:solidFill>
                  <a:schemeClr val="accent1">
                    <a:lumMod val="50000"/>
                  </a:schemeClr>
                </a:solidFill>
              </a:rPr>
              <a:t>Ejemplo: Si miramos los ingredientes </a:t>
            </a:r>
            <a:r>
              <a:rPr lang="es-ES" dirty="0" smtClean="0">
                <a:solidFill>
                  <a:schemeClr val="accent1">
                    <a:lumMod val="50000"/>
                  </a:schemeClr>
                </a:solidFill>
              </a:rPr>
              <a:t>podemos </a:t>
            </a:r>
            <a:r>
              <a:rPr lang="es-ES" dirty="0">
                <a:solidFill>
                  <a:schemeClr val="accent1">
                    <a:lumMod val="50000"/>
                  </a:schemeClr>
                </a:solidFill>
              </a:rPr>
              <a:t>determinar que las galletas están más cerca del bizcocho que del tomate frito.</a:t>
            </a: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Medidas híbridas de distancia. </a:t>
            </a:r>
            <a:r>
              <a:rPr lang="es-ES" dirty="0" smtClean="0">
                <a:solidFill>
                  <a:schemeClr val="accent1">
                    <a:lumMod val="50000"/>
                  </a:schemeClr>
                </a:solidFill>
              </a:rPr>
              <a:t>(</a:t>
            </a:r>
            <a:r>
              <a:rPr lang="es-ES" dirty="0" err="1" smtClean="0">
                <a:solidFill>
                  <a:schemeClr val="accent1">
                    <a:lumMod val="50000"/>
                  </a:schemeClr>
                </a:solidFill>
              </a:rPr>
              <a:t>Gower</a:t>
            </a:r>
            <a:r>
              <a:rPr lang="es-ES" dirty="0">
                <a:solidFill>
                  <a:schemeClr val="accent1">
                    <a:lumMod val="50000"/>
                  </a:schemeClr>
                </a:solidFill>
              </a:rPr>
              <a:t>): Calcula una distancia ponderada en cada </a:t>
            </a:r>
            <a:r>
              <a:rPr lang="es-ES" dirty="0" smtClean="0">
                <a:solidFill>
                  <a:schemeClr val="accent1">
                    <a:lumMod val="50000"/>
                  </a:schemeClr>
                </a:solidFill>
              </a:rPr>
              <a:t>variable, </a:t>
            </a:r>
            <a:r>
              <a:rPr lang="es-ES" dirty="0">
                <a:solidFill>
                  <a:schemeClr val="accent1">
                    <a:lumMod val="50000"/>
                  </a:schemeClr>
                </a:solidFill>
              </a:rPr>
              <a:t>y luego las combina en una distancia </a:t>
            </a:r>
            <a:r>
              <a:rPr lang="es-ES" dirty="0" smtClean="0">
                <a:solidFill>
                  <a:schemeClr val="accent1">
                    <a:lumMod val="50000"/>
                  </a:schemeClr>
                </a:solidFill>
              </a:rPr>
              <a:t>general</a:t>
            </a:r>
            <a:r>
              <a:rPr lang="es-ES" dirty="0">
                <a:solidFill>
                  <a:schemeClr val="accent1">
                    <a:lumMod val="50000"/>
                  </a:schemeClr>
                </a:solidFill>
              </a:rPr>
              <a:t>. </a:t>
            </a:r>
            <a:endParaRPr lang="es-ES" dirty="0" smtClean="0">
              <a:solidFill>
                <a:schemeClr val="accent1">
                  <a:lumMod val="50000"/>
                </a:schemeClr>
              </a:solidFill>
            </a:endParaRPr>
          </a:p>
          <a:p>
            <a:pPr marL="285750" indent="-285750">
              <a:buFont typeface="Arial" panose="020B0604020202020204" pitchFamily="34" charset="0"/>
              <a:buChar char="•"/>
            </a:pPr>
            <a:endParaRPr lang="es-ES" dirty="0" smtClean="0">
              <a:solidFill>
                <a:schemeClr val="accent1">
                  <a:lumMod val="50000"/>
                </a:schemeClr>
              </a:solidFill>
            </a:endParaRPr>
          </a:p>
          <a:p>
            <a:pPr marL="742950" lvl="1" indent="-285750">
              <a:buFont typeface="Arial" panose="020B0604020202020204" pitchFamily="34" charset="0"/>
              <a:buChar char="•"/>
            </a:pPr>
            <a:r>
              <a:rPr lang="es-ES" dirty="0">
                <a:solidFill>
                  <a:schemeClr val="accent1">
                    <a:lumMod val="50000"/>
                  </a:schemeClr>
                </a:solidFill>
              </a:rPr>
              <a:t>N</a:t>
            </a:r>
            <a:r>
              <a:rPr lang="es-ES" dirty="0" smtClean="0">
                <a:solidFill>
                  <a:schemeClr val="accent1">
                    <a:lumMod val="50000"/>
                  </a:schemeClr>
                </a:solidFill>
              </a:rPr>
              <a:t>uméricas: Se </a:t>
            </a:r>
            <a:r>
              <a:rPr lang="es-ES" dirty="0">
                <a:solidFill>
                  <a:schemeClr val="accent1">
                    <a:lumMod val="50000"/>
                  </a:schemeClr>
                </a:solidFill>
              </a:rPr>
              <a:t>usa una distancia Euclidiana normalizada</a:t>
            </a:r>
            <a:r>
              <a:rPr lang="es-ES" dirty="0" smtClean="0">
                <a:solidFill>
                  <a:schemeClr val="accent1">
                    <a:lumMod val="50000"/>
                  </a:schemeClr>
                </a:solidFill>
              </a:rPr>
              <a:t>, </a:t>
            </a:r>
            <a:r>
              <a:rPr lang="es-ES" dirty="0">
                <a:solidFill>
                  <a:schemeClr val="accent1">
                    <a:lumMod val="50000"/>
                  </a:schemeClr>
                </a:solidFill>
              </a:rPr>
              <a:t>la diferencia entre los valores se divide por el rango de la </a:t>
            </a:r>
            <a:r>
              <a:rPr lang="es-ES" dirty="0" smtClean="0">
                <a:solidFill>
                  <a:schemeClr val="accent1">
                    <a:lumMod val="50000"/>
                  </a:schemeClr>
                </a:solidFill>
              </a:rPr>
              <a:t>variable.</a:t>
            </a:r>
          </a:p>
          <a:p>
            <a:pPr marL="742950" lvl="1" indent="-285750">
              <a:buFont typeface="Arial" panose="020B0604020202020204" pitchFamily="34" charset="0"/>
              <a:buChar char="•"/>
            </a:pPr>
            <a:r>
              <a:rPr lang="es-ES" dirty="0" smtClean="0">
                <a:solidFill>
                  <a:schemeClr val="accent1">
                    <a:lumMod val="50000"/>
                  </a:schemeClr>
                </a:solidFill>
              </a:rPr>
              <a:t>Variables categóricas: Se </a:t>
            </a:r>
            <a:r>
              <a:rPr lang="es-ES" dirty="0">
                <a:solidFill>
                  <a:schemeClr val="accent1">
                    <a:lumMod val="50000"/>
                  </a:schemeClr>
                </a:solidFill>
              </a:rPr>
              <a:t>asigna una distancia de 0 si los valores son iguales y 1 si son diferentes</a:t>
            </a:r>
            <a:r>
              <a:rPr lang="es-ES" dirty="0" smtClean="0">
                <a:solidFill>
                  <a:schemeClr val="accent1">
                    <a:lumMod val="50000"/>
                  </a:schemeClr>
                </a:solidFill>
              </a:rPr>
              <a:t>. </a:t>
            </a:r>
          </a:p>
          <a:p>
            <a:pPr marL="742950" lvl="1" indent="-285750">
              <a:buFont typeface="Arial" panose="020B0604020202020204" pitchFamily="34" charset="0"/>
              <a:buChar char="•"/>
            </a:pPr>
            <a:endParaRPr lang="es-ES" dirty="0">
              <a:solidFill>
                <a:schemeClr val="accent1">
                  <a:lumMod val="50000"/>
                </a:schemeClr>
              </a:solidFill>
            </a:endParaRPr>
          </a:p>
          <a:p>
            <a:pPr marL="742950" lvl="1" indent="-285750">
              <a:buFont typeface="Arial" panose="020B0604020202020204" pitchFamily="34" charset="0"/>
              <a:buChar char="•"/>
            </a:pPr>
            <a:endParaRPr lang="es-ES" dirty="0" smtClean="0">
              <a:solidFill>
                <a:schemeClr val="accent1">
                  <a:lumMod val="50000"/>
                </a:schemeClr>
              </a:solidFill>
            </a:endParaRPr>
          </a:p>
          <a:p>
            <a:pPr marL="742950" lvl="1" indent="-285750">
              <a:buFont typeface="Arial" panose="020B0604020202020204" pitchFamily="34" charset="0"/>
              <a:buChar char="•"/>
            </a:pPr>
            <a:endParaRPr lang="es-ES"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0D141B78-7FDC-F1AB-42E5-5DFC2A3BA4DD}"/>
                  </a:ext>
                </a:extLst>
              </p:cNvPr>
              <p:cNvSpPr txBox="1"/>
              <p:nvPr/>
            </p:nvSpPr>
            <p:spPr>
              <a:xfrm>
                <a:off x="6664769" y="1903309"/>
                <a:ext cx="2981585" cy="6690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𝐷</m:t>
                          </m:r>
                        </m:e>
                        <m:sub>
                          <m:r>
                            <a:rPr lang="es-ES" b="0" i="1" smtClean="0">
                              <a:solidFill>
                                <a:schemeClr val="accent1">
                                  <a:lumMod val="50000"/>
                                </a:schemeClr>
                              </a:solidFill>
                              <a:latin typeface="Cambria Math" panose="02040503050406030204" pitchFamily="18" charset="0"/>
                            </a:rPr>
                            <m:t>𝐽</m:t>
                          </m:r>
                        </m:sub>
                      </m:sSub>
                      <m:d>
                        <m:dPr>
                          <m:ctrlPr>
                            <a:rPr lang="es-ES" b="0" i="1" smtClean="0">
                              <a:solidFill>
                                <a:schemeClr val="accent1">
                                  <a:lumMod val="50000"/>
                                </a:schemeClr>
                              </a:solidFill>
                              <a:latin typeface="Cambria Math" panose="02040503050406030204" pitchFamily="18" charset="0"/>
                            </a:rPr>
                          </m:ctrlPr>
                        </m:dPr>
                        <m:e>
                          <m:r>
                            <a:rPr lang="es-ES" b="0" i="1" smtClean="0">
                              <a:solidFill>
                                <a:schemeClr val="accent1">
                                  <a:lumMod val="50000"/>
                                </a:schemeClr>
                              </a:solidFill>
                              <a:latin typeface="Cambria Math" panose="02040503050406030204" pitchFamily="18" charset="0"/>
                            </a:rPr>
                            <m:t>𝐴</m:t>
                          </m:r>
                          <m:r>
                            <a:rPr lang="es-ES" b="0" i="1" smtClean="0">
                              <a:solidFill>
                                <a:schemeClr val="accent1">
                                  <a:lumMod val="50000"/>
                                </a:schemeClr>
                              </a:solidFill>
                              <a:latin typeface="Cambria Math" panose="02040503050406030204" pitchFamily="18" charset="0"/>
                            </a:rPr>
                            <m:t>,</m:t>
                          </m:r>
                          <m:r>
                            <a:rPr lang="es-ES" b="0" i="1" smtClean="0">
                              <a:solidFill>
                                <a:schemeClr val="accent1">
                                  <a:lumMod val="50000"/>
                                </a:schemeClr>
                              </a:solidFill>
                              <a:latin typeface="Cambria Math" panose="02040503050406030204" pitchFamily="18" charset="0"/>
                            </a:rPr>
                            <m:t>𝐵</m:t>
                          </m:r>
                        </m:e>
                      </m:d>
                      <m:r>
                        <a:rPr lang="es-ES" b="0" i="1" smtClean="0">
                          <a:solidFill>
                            <a:schemeClr val="accent1">
                              <a:lumMod val="50000"/>
                            </a:schemeClr>
                          </a:solidFill>
                          <a:latin typeface="Cambria Math" panose="02040503050406030204" pitchFamily="18" charset="0"/>
                        </a:rPr>
                        <m:t>=</m:t>
                      </m:r>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m:t>
                          </m:r>
                          <m:d>
                            <m:dPr>
                              <m:ctrlPr>
                                <a:rPr lang="es-ES" b="0" i="1" smtClean="0">
                                  <a:solidFill>
                                    <a:schemeClr val="accent1">
                                      <a:lumMod val="50000"/>
                                    </a:schemeClr>
                                  </a:solidFill>
                                  <a:latin typeface="Cambria Math" panose="02040503050406030204" pitchFamily="18" charset="0"/>
                                </a:rPr>
                              </m:ctrlPr>
                            </m:dPr>
                            <m:e>
                              <m:r>
                                <a:rPr lang="es-ES" b="0" i="1" smtClean="0">
                                  <a:solidFill>
                                    <a:schemeClr val="accent1">
                                      <a:lumMod val="50000"/>
                                    </a:schemeClr>
                                  </a:solidFill>
                                  <a:latin typeface="Cambria Math" panose="02040503050406030204" pitchFamily="18" charset="0"/>
                                </a:rPr>
                                <m:t>𝐴</m:t>
                              </m:r>
                              <m:r>
                                <a:rPr lang="es-ES" b="0" i="1" smtClean="0">
                                  <a:solidFill>
                                    <a:schemeClr val="accent1">
                                      <a:lumMod val="50000"/>
                                    </a:schemeClr>
                                  </a:solidFill>
                                  <a:latin typeface="Cambria Math" panose="02040503050406030204" pitchFamily="18" charset="0"/>
                                </a:rPr>
                                <m:t> ∩</m:t>
                              </m:r>
                              <m:r>
                                <a:rPr lang="es-ES" b="0" i="1" smtClean="0">
                                  <a:solidFill>
                                    <a:schemeClr val="accent1">
                                      <a:lumMod val="50000"/>
                                    </a:schemeClr>
                                  </a:solidFill>
                                  <a:latin typeface="Cambria Math" panose="02040503050406030204" pitchFamily="18" charset="0"/>
                                  <a:ea typeface="Cambria Math" panose="02040503050406030204" pitchFamily="18" charset="0"/>
                                </a:rPr>
                                <m:t>𝐵</m:t>
                              </m:r>
                            </m:e>
                          </m:d>
                        </m:num>
                        <m:den>
                          <m:r>
                            <a:rPr lang="es-ES" i="1">
                              <a:solidFill>
                                <a:schemeClr val="accent1">
                                  <a:lumMod val="50000"/>
                                </a:schemeClr>
                              </a:solidFill>
                              <a:latin typeface="Cambria Math" panose="02040503050406030204" pitchFamily="18" charset="0"/>
                            </a:rPr>
                            <m:t>#</m:t>
                          </m:r>
                          <m:d>
                            <m:dPr>
                              <m:ctrlPr>
                                <a:rPr lang="es-ES" i="1">
                                  <a:solidFill>
                                    <a:schemeClr val="accent1">
                                      <a:lumMod val="50000"/>
                                    </a:schemeClr>
                                  </a:solidFill>
                                  <a:latin typeface="Cambria Math" panose="02040503050406030204" pitchFamily="18" charset="0"/>
                                </a:rPr>
                              </m:ctrlPr>
                            </m:dPr>
                            <m:e>
                              <m:r>
                                <a:rPr lang="es-ES" i="1">
                                  <a:solidFill>
                                    <a:schemeClr val="accent1">
                                      <a:lumMod val="50000"/>
                                    </a:schemeClr>
                                  </a:solidFill>
                                  <a:latin typeface="Cambria Math" panose="02040503050406030204" pitchFamily="18" charset="0"/>
                                </a:rPr>
                                <m:t>𝐴</m:t>
                              </m:r>
                              <m:r>
                                <a:rPr lang="es-ES" i="1">
                                  <a:solidFill>
                                    <a:schemeClr val="accent1">
                                      <a:lumMod val="50000"/>
                                    </a:schemeClr>
                                  </a:solidFill>
                                  <a:latin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𝐵</m:t>
                              </m:r>
                            </m:e>
                          </m:d>
                        </m:den>
                      </m:f>
                    </m:oMath>
                  </m:oMathPara>
                </a14:m>
                <a:endParaRPr lang="es-ES" dirty="0"/>
              </a:p>
            </p:txBody>
          </p:sp>
        </mc:Choice>
        <mc:Fallback xmlns="">
          <p:sp>
            <p:nvSpPr>
              <p:cNvPr id="4" name="CuadroTexto 3">
                <a:extLst>
                  <a:ext uri="{FF2B5EF4-FFF2-40B4-BE49-F238E27FC236}">
                    <a16:creationId xmlns:a16="http://schemas.microsoft.com/office/drawing/2014/main" id="{0D141B78-7FDC-F1AB-42E5-5DFC2A3BA4DD}"/>
                  </a:ext>
                </a:extLst>
              </p:cNvPr>
              <p:cNvSpPr txBox="1">
                <a:spLocks noRot="1" noChangeAspect="1" noMove="1" noResize="1" noEditPoints="1" noAdjustHandles="1" noChangeArrowheads="1" noChangeShapeType="1" noTextEdit="1"/>
              </p:cNvSpPr>
              <p:nvPr/>
            </p:nvSpPr>
            <p:spPr>
              <a:xfrm>
                <a:off x="6664769" y="1903309"/>
                <a:ext cx="2981585" cy="669094"/>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5FCC9286-DA1B-053B-68A3-A50013787456}"/>
                  </a:ext>
                </a:extLst>
              </p:cNvPr>
              <p:cNvSpPr txBox="1"/>
              <p:nvPr/>
            </p:nvSpPr>
            <p:spPr>
              <a:xfrm>
                <a:off x="7903736" y="5738195"/>
                <a:ext cx="2981585" cy="11179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ES" b="0" i="1" smtClean="0">
                              <a:solidFill>
                                <a:schemeClr val="accent1">
                                  <a:lumMod val="50000"/>
                                </a:schemeClr>
                              </a:solidFill>
                              <a:latin typeface="Cambria Math" panose="02040503050406030204" pitchFamily="18" charset="0"/>
                            </a:rPr>
                          </m:ctrlPr>
                        </m:dPr>
                        <m:e>
                          <m:eqArr>
                            <m:eqArrPr>
                              <m:ctrlPr>
                                <a:rPr lang="es-ES" b="0" i="1" smtClean="0">
                                  <a:solidFill>
                                    <a:schemeClr val="accent1">
                                      <a:lumMod val="50000"/>
                                    </a:schemeClr>
                                  </a:solidFill>
                                  <a:latin typeface="Cambria Math" panose="02040503050406030204" pitchFamily="18" charset="0"/>
                                </a:rPr>
                              </m:ctrlPr>
                            </m:eqArrPr>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𝑑</m:t>
                                  </m:r>
                                </m:e>
                                <m:sub>
                                  <m:r>
                                    <a:rPr lang="es-ES" i="1">
                                      <a:solidFill>
                                        <a:schemeClr val="accent1">
                                          <a:lumMod val="50000"/>
                                        </a:schemeClr>
                                      </a:solidFill>
                                      <a:latin typeface="Cambria Math" panose="02040503050406030204" pitchFamily="18" charset="0"/>
                                    </a:rPr>
                                    <m:t>𝑖</m:t>
                                  </m:r>
                                </m:sub>
                              </m:sSub>
                              <m:d>
                                <m:dPr>
                                  <m:ctrlPr>
                                    <a:rPr lang="es-ES" i="1">
                                      <a:solidFill>
                                        <a:schemeClr val="accent1">
                                          <a:lumMod val="50000"/>
                                        </a:schemeClr>
                                      </a:solidFill>
                                      <a:latin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𝐴</m:t>
                                      </m:r>
                                    </m:e>
                                    <m:sub>
                                      <m:r>
                                        <a:rPr lang="es-ES" i="1">
                                          <a:solidFill>
                                            <a:schemeClr val="accent1">
                                              <a:lumMod val="50000"/>
                                            </a:schemeClr>
                                          </a:solidFill>
                                          <a:latin typeface="Cambria Math" panose="02040503050406030204" pitchFamily="18" charset="0"/>
                                        </a:rPr>
                                        <m:t>𝑖</m:t>
                                      </m:r>
                                    </m:sub>
                                  </m:sSub>
                                  <m:r>
                                    <a:rPr lang="es-ES" i="1">
                                      <a:solidFill>
                                        <a:schemeClr val="accent1">
                                          <a:lumMod val="50000"/>
                                        </a:schemeClr>
                                      </a:solidFill>
                                      <a:latin typeface="Cambria Math" panose="02040503050406030204" pitchFamily="18" charset="0"/>
                                    </a:rPr>
                                    <m:t>, </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𝐵</m:t>
                                      </m:r>
                                    </m:e>
                                    <m:sub>
                                      <m:r>
                                        <a:rPr lang="es-ES" i="1">
                                          <a:solidFill>
                                            <a:schemeClr val="accent1">
                                              <a:lumMod val="50000"/>
                                            </a:schemeClr>
                                          </a:solidFill>
                                          <a:latin typeface="Cambria Math" panose="02040503050406030204" pitchFamily="18" charset="0"/>
                                        </a:rPr>
                                        <m:t>𝑖</m:t>
                                      </m:r>
                                    </m:sub>
                                  </m:sSub>
                                </m:e>
                              </m:d>
                              <m:r>
                                <a:rPr lang="es-ES" b="0" i="1" smtClean="0">
                                  <a:solidFill>
                                    <a:schemeClr val="accent1">
                                      <a:lumMod val="50000"/>
                                    </a:schemeClr>
                                  </a:solidFill>
                                  <a:latin typeface="Cambria Math" panose="02040503050406030204" pitchFamily="18" charset="0"/>
                                </a:rPr>
                                <m:t>=0,1 </m:t>
                              </m:r>
                              <m:r>
                                <m:rPr>
                                  <m:nor/>
                                </m:rPr>
                                <a:rPr lang="es-ES" b="0" i="0" smtClean="0">
                                  <a:solidFill>
                                    <a:schemeClr val="accent1">
                                      <a:lumMod val="50000"/>
                                    </a:schemeClr>
                                  </a:solidFill>
                                  <a:latin typeface="Cambria Math" panose="02040503050406030204" pitchFamily="18" charset="0"/>
                                </a:rPr>
                                <m:t>si</m:t>
                              </m:r>
                              <m:r>
                                <a:rPr lang="es-ES" b="0" i="1" smtClean="0">
                                  <a:solidFill>
                                    <a:schemeClr val="accent1">
                                      <a:lumMod val="50000"/>
                                    </a:schemeClr>
                                  </a:solidFill>
                                  <a:latin typeface="Cambria Math" panose="02040503050406030204" pitchFamily="18" charset="0"/>
                                </a:rPr>
                                <m:t>  </m:t>
                              </m:r>
                              <m:r>
                                <a:rPr lang="es-ES" b="0" i="1" smtClean="0">
                                  <a:solidFill>
                                    <a:schemeClr val="accent1">
                                      <a:lumMod val="50000"/>
                                    </a:schemeClr>
                                  </a:solidFill>
                                  <a:latin typeface="Cambria Math" panose="02040503050406030204" pitchFamily="18" charset="0"/>
                                </a:rPr>
                                <m:t>𝑖</m:t>
                              </m:r>
                              <m:r>
                                <a:rPr lang="es-ES" b="0" i="1" smtClean="0">
                                  <a:solidFill>
                                    <a:schemeClr val="accent1">
                                      <a:lumMod val="50000"/>
                                    </a:schemeClr>
                                  </a:solidFill>
                                  <a:latin typeface="Cambria Math" panose="02040503050406030204" pitchFamily="18" charset="0"/>
                                </a:rPr>
                                <m:t> </m:t>
                              </m:r>
                              <m:r>
                                <m:rPr>
                                  <m:nor/>
                                </m:rPr>
                                <a:rPr lang="es-ES" b="0" i="0" smtClean="0">
                                  <a:solidFill>
                                    <a:schemeClr val="accent1">
                                      <a:lumMod val="50000"/>
                                    </a:schemeClr>
                                  </a:solidFill>
                                  <a:latin typeface="Cambria Math" panose="02040503050406030204" pitchFamily="18" charset="0"/>
                                </a:rPr>
                                <m:t>categ</m:t>
                              </m:r>
                              <m:r>
                                <m:rPr>
                                  <m:nor/>
                                </m:rPr>
                                <a:rPr lang="es-ES" b="0" i="0" smtClean="0">
                                  <a:solidFill>
                                    <a:schemeClr val="accent1">
                                      <a:lumMod val="50000"/>
                                    </a:schemeClr>
                                  </a:solidFill>
                                  <a:latin typeface="Cambria Math" panose="02040503050406030204" pitchFamily="18" charset="0"/>
                                </a:rPr>
                                <m:t>ó</m:t>
                              </m:r>
                              <m:r>
                                <m:rPr>
                                  <m:nor/>
                                </m:rPr>
                                <a:rPr lang="es-ES" b="0" i="0" smtClean="0">
                                  <a:solidFill>
                                    <a:schemeClr val="accent1">
                                      <a:lumMod val="50000"/>
                                    </a:schemeClr>
                                  </a:solidFill>
                                  <a:latin typeface="Cambria Math" panose="02040503050406030204" pitchFamily="18" charset="0"/>
                                </a:rPr>
                                <m:t>rica</m:t>
                              </m:r>
                            </m:e>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𝑑</m:t>
                                  </m:r>
                                </m:e>
                                <m:sub>
                                  <m:r>
                                    <a:rPr lang="es-ES" i="1">
                                      <a:solidFill>
                                        <a:schemeClr val="accent1">
                                          <a:lumMod val="50000"/>
                                        </a:schemeClr>
                                      </a:solidFill>
                                      <a:latin typeface="Cambria Math" panose="02040503050406030204" pitchFamily="18" charset="0"/>
                                    </a:rPr>
                                    <m:t>𝑖</m:t>
                                  </m:r>
                                </m:sub>
                              </m:sSub>
                              <m:d>
                                <m:dPr>
                                  <m:ctrlPr>
                                    <a:rPr lang="es-ES" i="1">
                                      <a:solidFill>
                                        <a:schemeClr val="accent1">
                                          <a:lumMod val="50000"/>
                                        </a:schemeClr>
                                      </a:solidFill>
                                      <a:latin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𝐴</m:t>
                                      </m:r>
                                    </m:e>
                                    <m:sub>
                                      <m:r>
                                        <a:rPr lang="es-ES" i="1">
                                          <a:solidFill>
                                            <a:schemeClr val="accent1">
                                              <a:lumMod val="50000"/>
                                            </a:schemeClr>
                                          </a:solidFill>
                                          <a:latin typeface="Cambria Math" panose="02040503050406030204" pitchFamily="18" charset="0"/>
                                        </a:rPr>
                                        <m:t>𝑖</m:t>
                                      </m:r>
                                    </m:sub>
                                  </m:sSub>
                                  <m:r>
                                    <a:rPr lang="es-ES" i="1">
                                      <a:solidFill>
                                        <a:schemeClr val="accent1">
                                          <a:lumMod val="50000"/>
                                        </a:schemeClr>
                                      </a:solidFill>
                                      <a:latin typeface="Cambria Math" panose="02040503050406030204" pitchFamily="18" charset="0"/>
                                    </a:rPr>
                                    <m:t>, </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𝐵</m:t>
                                      </m:r>
                                    </m:e>
                                    <m:sub>
                                      <m:r>
                                        <a:rPr lang="es-ES" i="1">
                                          <a:solidFill>
                                            <a:schemeClr val="accent1">
                                              <a:lumMod val="50000"/>
                                            </a:schemeClr>
                                          </a:solidFill>
                                          <a:latin typeface="Cambria Math" panose="02040503050406030204" pitchFamily="18" charset="0"/>
                                        </a:rPr>
                                        <m:t>𝑖</m:t>
                                      </m:r>
                                    </m:sub>
                                  </m:sSub>
                                </m:e>
                              </m:d>
                              <m:r>
                                <a:rPr lang="es-ES" i="1">
                                  <a:solidFill>
                                    <a:schemeClr val="accent1">
                                      <a:lumMod val="50000"/>
                                    </a:schemeClr>
                                  </a:solidFill>
                                  <a:latin typeface="Cambria Math" panose="02040503050406030204" pitchFamily="18" charset="0"/>
                                </a:rPr>
                                <m:t>=</m:t>
                              </m:r>
                              <m:f>
                                <m:fPr>
                                  <m:ctrlPr>
                                    <a:rPr lang="es-ES" i="1" smtClean="0">
                                      <a:solidFill>
                                        <a:schemeClr val="accent1">
                                          <a:lumMod val="50000"/>
                                        </a:schemeClr>
                                      </a:solidFill>
                                      <a:latin typeface="Cambria Math" panose="02040503050406030204" pitchFamily="18" charset="0"/>
                                    </a:rPr>
                                  </m:ctrlPr>
                                </m:fPr>
                                <m:num>
                                  <m:d>
                                    <m:dPr>
                                      <m:begChr m:val="|"/>
                                      <m:endChr m:val="|"/>
                                      <m:ctrlPr>
                                        <a:rPr lang="es-ES" i="1" smtClean="0">
                                          <a:solidFill>
                                            <a:schemeClr val="accent1">
                                              <a:lumMod val="50000"/>
                                            </a:schemeClr>
                                          </a:solidFill>
                                          <a:latin typeface="Cambria Math" panose="02040503050406030204" pitchFamily="18" charset="0"/>
                                        </a:rPr>
                                      </m:ctrlPr>
                                    </m:dPr>
                                    <m:e>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𝐴</m:t>
                                          </m:r>
                                        </m:e>
                                        <m:sub>
                                          <m:r>
                                            <a:rPr lang="es-ES" b="0" i="1" smtClean="0">
                                              <a:solidFill>
                                                <a:schemeClr val="accent1">
                                                  <a:lumMod val="50000"/>
                                                </a:schemeClr>
                                              </a:solidFill>
                                              <a:latin typeface="Cambria Math" panose="02040503050406030204" pitchFamily="18" charset="0"/>
                                            </a:rPr>
                                            <m:t>𝑖</m:t>
                                          </m:r>
                                        </m:sub>
                                      </m:sSub>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𝐵</m:t>
                                          </m:r>
                                        </m:e>
                                        <m:sub>
                                          <m:r>
                                            <a:rPr lang="es-ES" b="0" i="1" smtClean="0">
                                              <a:solidFill>
                                                <a:schemeClr val="accent1">
                                                  <a:lumMod val="50000"/>
                                                </a:schemeClr>
                                              </a:solidFill>
                                              <a:latin typeface="Cambria Math" panose="02040503050406030204" pitchFamily="18" charset="0"/>
                                            </a:rPr>
                                            <m:t>𝑖</m:t>
                                          </m:r>
                                        </m:sub>
                                      </m:sSub>
                                    </m:e>
                                  </m:d>
                                </m:num>
                                <m:den>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𝑅</m:t>
                                      </m:r>
                                    </m:e>
                                    <m:sub>
                                      <m:r>
                                        <a:rPr lang="es-ES" b="0" i="1" smtClean="0">
                                          <a:solidFill>
                                            <a:schemeClr val="accent1">
                                              <a:lumMod val="50000"/>
                                            </a:schemeClr>
                                          </a:solidFill>
                                          <a:latin typeface="Cambria Math" panose="02040503050406030204" pitchFamily="18" charset="0"/>
                                        </a:rPr>
                                        <m:t>𝑖</m:t>
                                      </m:r>
                                    </m:sub>
                                  </m:sSub>
                                </m:den>
                              </m:f>
                              <m:r>
                                <a:rPr lang="es-ES" b="0" i="1" smtClean="0">
                                  <a:solidFill>
                                    <a:schemeClr val="accent1">
                                      <a:lumMod val="50000"/>
                                    </a:schemeClr>
                                  </a:solidFill>
                                  <a:latin typeface="Cambria Math" panose="02040503050406030204" pitchFamily="18" charset="0"/>
                                </a:rPr>
                                <m:t>                  </m:t>
                              </m:r>
                            </m:e>
                          </m:eqArr>
                        </m:e>
                      </m:d>
                    </m:oMath>
                  </m:oMathPara>
                </a14:m>
                <a:endParaRPr lang="es-ES" dirty="0"/>
              </a:p>
            </p:txBody>
          </p:sp>
        </mc:Choice>
        <mc:Fallback xmlns="">
          <p:sp>
            <p:nvSpPr>
              <p:cNvPr id="3" name="CuadroTexto 2">
                <a:extLst>
                  <a:ext uri="{FF2B5EF4-FFF2-40B4-BE49-F238E27FC236}">
                    <a16:creationId xmlns:a16="http://schemas.microsoft.com/office/drawing/2014/main" id="{5FCC9286-DA1B-053B-68A3-A50013787456}"/>
                  </a:ext>
                </a:extLst>
              </p:cNvPr>
              <p:cNvSpPr txBox="1">
                <a:spLocks noRot="1" noChangeAspect="1" noMove="1" noResize="1" noEditPoints="1" noAdjustHandles="1" noChangeArrowheads="1" noChangeShapeType="1" noTextEdit="1"/>
              </p:cNvSpPr>
              <p:nvPr/>
            </p:nvSpPr>
            <p:spPr>
              <a:xfrm>
                <a:off x="7903736" y="5738195"/>
                <a:ext cx="2981585" cy="1117998"/>
              </a:xfrm>
              <a:prstGeom prst="rect">
                <a:avLst/>
              </a:prstGeom>
              <a:blipFill>
                <a:blip r:embed="rId5"/>
                <a:stretch>
                  <a:fillRect r="-777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08188C07-0032-5928-0F33-97193C4A3275}"/>
                  </a:ext>
                </a:extLst>
              </p:cNvPr>
              <p:cNvSpPr txBox="1"/>
              <p:nvPr/>
            </p:nvSpPr>
            <p:spPr>
              <a:xfrm>
                <a:off x="4632481" y="5872911"/>
                <a:ext cx="3183493"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𝐷</m:t>
                          </m:r>
                        </m:e>
                        <m:sub>
                          <m:r>
                            <a:rPr lang="es-ES" b="0" i="1" smtClean="0">
                              <a:solidFill>
                                <a:schemeClr val="accent1">
                                  <a:lumMod val="50000"/>
                                </a:schemeClr>
                              </a:solidFill>
                              <a:latin typeface="Cambria Math" panose="02040503050406030204" pitchFamily="18" charset="0"/>
                            </a:rPr>
                            <m:t>𝐺𝑜𝑤𝑒𝑟</m:t>
                          </m:r>
                        </m:sub>
                      </m:sSub>
                      <m:d>
                        <m:dPr>
                          <m:ctrlPr>
                            <a:rPr lang="es-ES" b="0" i="1" smtClean="0">
                              <a:solidFill>
                                <a:schemeClr val="accent1">
                                  <a:lumMod val="50000"/>
                                </a:schemeClr>
                              </a:solidFill>
                              <a:latin typeface="Cambria Math" panose="02040503050406030204" pitchFamily="18" charset="0"/>
                            </a:rPr>
                          </m:ctrlPr>
                        </m:dPr>
                        <m:e>
                          <m:r>
                            <a:rPr lang="es-ES" b="0" i="1" smtClean="0">
                              <a:solidFill>
                                <a:schemeClr val="accent1">
                                  <a:lumMod val="50000"/>
                                </a:schemeClr>
                              </a:solidFill>
                              <a:latin typeface="Cambria Math" panose="02040503050406030204" pitchFamily="18" charset="0"/>
                            </a:rPr>
                            <m:t>𝐴</m:t>
                          </m:r>
                          <m:r>
                            <a:rPr lang="es-ES" b="0" i="1" smtClean="0">
                              <a:solidFill>
                                <a:schemeClr val="accent1">
                                  <a:lumMod val="50000"/>
                                </a:schemeClr>
                              </a:solidFill>
                              <a:latin typeface="Cambria Math" panose="02040503050406030204" pitchFamily="18" charset="0"/>
                            </a:rPr>
                            <m:t>,</m:t>
                          </m:r>
                          <m:r>
                            <a:rPr lang="es-ES" b="0" i="1" smtClean="0">
                              <a:solidFill>
                                <a:schemeClr val="accent1">
                                  <a:lumMod val="50000"/>
                                </a:schemeClr>
                              </a:solidFill>
                              <a:latin typeface="Cambria Math" panose="02040503050406030204" pitchFamily="18" charset="0"/>
                            </a:rPr>
                            <m:t>𝐵</m:t>
                          </m:r>
                        </m:e>
                      </m:d>
                      <m:r>
                        <a:rPr lang="es-ES" b="0" i="1" smtClean="0">
                          <a:solidFill>
                            <a:schemeClr val="accent1">
                              <a:lumMod val="50000"/>
                            </a:schemeClr>
                          </a:solidFill>
                          <a:latin typeface="Cambria Math" panose="02040503050406030204" pitchFamily="18" charset="0"/>
                        </a:rPr>
                        <m:t>=</m:t>
                      </m:r>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1</m:t>
                          </m:r>
                        </m:num>
                        <m:den>
                          <m:r>
                            <a:rPr lang="es-ES" b="0" i="1" smtClean="0">
                              <a:solidFill>
                                <a:schemeClr val="accent1">
                                  <a:lumMod val="50000"/>
                                </a:schemeClr>
                              </a:solidFill>
                              <a:latin typeface="Cambria Math" panose="02040503050406030204" pitchFamily="18" charset="0"/>
                            </a:rPr>
                            <m:t>𝑛</m:t>
                          </m:r>
                        </m:den>
                      </m:f>
                      <m:nary>
                        <m:naryPr>
                          <m:chr m:val="∑"/>
                          <m:ctrlPr>
                            <a:rPr lang="es-ES" b="0" i="1" smtClean="0">
                              <a:solidFill>
                                <a:schemeClr val="accent1">
                                  <a:lumMod val="50000"/>
                                </a:schemeClr>
                              </a:solidFill>
                              <a:latin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rPr>
                            <m:t>𝑖</m:t>
                          </m:r>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𝑛</m:t>
                          </m:r>
                        </m:sup>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𝑑</m:t>
                              </m:r>
                            </m:e>
                            <m:sub>
                              <m:r>
                                <a:rPr lang="es-ES" i="1">
                                  <a:solidFill>
                                    <a:schemeClr val="accent1">
                                      <a:lumMod val="50000"/>
                                    </a:schemeClr>
                                  </a:solidFill>
                                  <a:latin typeface="Cambria Math" panose="02040503050406030204" pitchFamily="18" charset="0"/>
                                </a:rPr>
                                <m:t>𝑖</m:t>
                              </m:r>
                            </m:sub>
                          </m:sSub>
                          <m:r>
                            <a:rPr lang="es-ES" i="1">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𝐴</m:t>
                              </m:r>
                            </m:e>
                            <m:sub>
                              <m:r>
                                <a:rPr lang="es-ES" b="0" i="1" smtClean="0">
                                  <a:solidFill>
                                    <a:schemeClr val="accent1">
                                      <a:lumMod val="50000"/>
                                    </a:schemeClr>
                                  </a:solidFill>
                                  <a:latin typeface="Cambria Math" panose="02040503050406030204" pitchFamily="18" charset="0"/>
                                </a:rPr>
                                <m:t>𝑖</m:t>
                              </m:r>
                            </m:sub>
                          </m:sSub>
                          <m:r>
                            <a:rPr lang="es-ES" b="0" i="1" smtClean="0">
                              <a:solidFill>
                                <a:schemeClr val="accent1">
                                  <a:lumMod val="50000"/>
                                </a:schemeClr>
                              </a:solidFill>
                              <a:latin typeface="Cambria Math" panose="02040503050406030204" pitchFamily="18" charset="0"/>
                            </a:rPr>
                            <m:t>, </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𝐵</m:t>
                              </m:r>
                            </m:e>
                            <m:sub>
                              <m:r>
                                <a:rPr lang="es-ES" b="0" i="1" smtClean="0">
                                  <a:solidFill>
                                    <a:schemeClr val="accent1">
                                      <a:lumMod val="50000"/>
                                    </a:schemeClr>
                                  </a:solidFill>
                                  <a:latin typeface="Cambria Math" panose="02040503050406030204" pitchFamily="18" charset="0"/>
                                </a:rPr>
                                <m:t>𝑖</m:t>
                              </m:r>
                            </m:sub>
                          </m:sSub>
                          <m:r>
                            <a:rPr lang="es-ES" i="1">
                              <a:solidFill>
                                <a:schemeClr val="accent1">
                                  <a:lumMod val="50000"/>
                                </a:schemeClr>
                              </a:solidFill>
                              <a:latin typeface="Cambria Math" panose="02040503050406030204" pitchFamily="18" charset="0"/>
                            </a:rPr>
                            <m:t>)</m:t>
                          </m:r>
                        </m:e>
                      </m:nary>
                    </m:oMath>
                  </m:oMathPara>
                </a14:m>
                <a:endParaRPr lang="es-ES" dirty="0"/>
              </a:p>
            </p:txBody>
          </p:sp>
        </mc:Choice>
        <mc:Fallback xmlns="">
          <p:sp>
            <p:nvSpPr>
              <p:cNvPr id="5" name="CuadroTexto 4">
                <a:extLst>
                  <a:ext uri="{FF2B5EF4-FFF2-40B4-BE49-F238E27FC236}">
                    <a16:creationId xmlns:a16="http://schemas.microsoft.com/office/drawing/2014/main" id="{08188C07-0032-5928-0F33-97193C4A3275}"/>
                  </a:ext>
                </a:extLst>
              </p:cNvPr>
              <p:cNvSpPr txBox="1">
                <a:spLocks noRot="1" noChangeAspect="1" noMove="1" noResize="1" noEditPoints="1" noAdjustHandles="1" noChangeArrowheads="1" noChangeShapeType="1" noTextEdit="1"/>
              </p:cNvSpPr>
              <p:nvPr/>
            </p:nvSpPr>
            <p:spPr>
              <a:xfrm>
                <a:off x="4632481" y="5872911"/>
                <a:ext cx="3183493" cy="848566"/>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10254737" y="6142344"/>
                <a:ext cx="1885716" cy="5791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s-ES" sz="1600">
                          <a:solidFill>
                            <a:schemeClr val="accent1">
                              <a:lumMod val="50000"/>
                            </a:schemeClr>
                          </a:solidFill>
                          <a:latin typeface="Cambria Math" panose="02040503050406030204" pitchFamily="18" charset="0"/>
                        </a:rPr>
                        <m:t>con</m:t>
                      </m:r>
                      <m:r>
                        <m:rPr>
                          <m:nor/>
                        </m:rPr>
                        <a:rPr lang="es-ES" sz="1600" b="0" i="0" smtClean="0">
                          <a:solidFill>
                            <a:schemeClr val="accent1">
                              <a:lumMod val="50000"/>
                            </a:schemeClr>
                          </a:solidFill>
                          <a:latin typeface="Cambria Math" panose="02040503050406030204" pitchFamily="18" charset="0"/>
                        </a:rPr>
                        <m:t> </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𝑅</m:t>
                          </m:r>
                        </m:e>
                        <m:sub>
                          <m:r>
                            <a:rPr lang="es-ES" sz="1600" i="1">
                              <a:solidFill>
                                <a:schemeClr val="accent1">
                                  <a:lumMod val="50000"/>
                                </a:schemeClr>
                              </a:solidFill>
                              <a:latin typeface="Cambria Math" panose="02040503050406030204" pitchFamily="18" charset="0"/>
                            </a:rPr>
                            <m:t>𝑖</m:t>
                          </m:r>
                        </m:sub>
                      </m:sSub>
                      <m:r>
                        <m:rPr>
                          <m:nor/>
                        </m:rPr>
                        <a:rPr lang="es-ES" sz="1600" b="0" i="0" smtClean="0">
                          <a:solidFill>
                            <a:schemeClr val="accent1">
                              <a:lumMod val="50000"/>
                            </a:schemeClr>
                          </a:solidFill>
                          <a:latin typeface="Cambria Math" panose="02040503050406030204" pitchFamily="18" charset="0"/>
                        </a:rPr>
                        <m:t> </m:t>
                      </m:r>
                      <m:r>
                        <m:rPr>
                          <m:nor/>
                        </m:rPr>
                        <a:rPr lang="es-ES" sz="1600">
                          <a:solidFill>
                            <a:schemeClr val="accent1">
                              <a:lumMod val="50000"/>
                            </a:schemeClr>
                          </a:solidFill>
                          <a:latin typeface="Cambria Math" panose="02040503050406030204" pitchFamily="18" charset="0"/>
                        </a:rPr>
                        <m:t>el</m:t>
                      </m:r>
                      <m:r>
                        <m:rPr>
                          <m:nor/>
                        </m:rPr>
                        <a:rPr lang="es-ES" sz="1600">
                          <a:solidFill>
                            <a:schemeClr val="accent1">
                              <a:lumMod val="50000"/>
                            </a:schemeClr>
                          </a:solidFill>
                          <a:latin typeface="Cambria Math" panose="02040503050406030204" pitchFamily="18" charset="0"/>
                        </a:rPr>
                        <m:t> </m:t>
                      </m:r>
                      <m:r>
                        <m:rPr>
                          <m:nor/>
                        </m:rPr>
                        <a:rPr lang="es-ES" sz="1600">
                          <a:solidFill>
                            <a:schemeClr val="accent1">
                              <a:lumMod val="50000"/>
                            </a:schemeClr>
                          </a:solidFill>
                          <a:latin typeface="Cambria Math" panose="02040503050406030204" pitchFamily="18" charset="0"/>
                        </a:rPr>
                        <m:t>rango</m:t>
                      </m:r>
                      <m:r>
                        <m:rPr>
                          <m:nor/>
                        </m:rPr>
                        <a:rPr lang="es-ES" sz="1600">
                          <a:solidFill>
                            <a:schemeClr val="accent1">
                              <a:lumMod val="50000"/>
                            </a:schemeClr>
                          </a:solidFill>
                          <a:latin typeface="Cambria Math" panose="02040503050406030204" pitchFamily="18" charset="0"/>
                        </a:rPr>
                        <m:t> </m:t>
                      </m:r>
                      <m:r>
                        <m:rPr>
                          <m:nor/>
                        </m:rPr>
                        <a:rPr lang="es-ES" sz="1600">
                          <a:solidFill>
                            <a:schemeClr val="accent1">
                              <a:lumMod val="50000"/>
                            </a:schemeClr>
                          </a:solidFill>
                          <a:latin typeface="Cambria Math" panose="02040503050406030204" pitchFamily="18" charset="0"/>
                        </a:rPr>
                        <m:t>de</m:t>
                      </m:r>
                      <m:r>
                        <m:rPr>
                          <m:nor/>
                        </m:rPr>
                        <a:rPr lang="es-ES" sz="1600">
                          <a:solidFill>
                            <a:schemeClr val="accent1">
                              <a:lumMod val="50000"/>
                            </a:schemeClr>
                          </a:solidFill>
                          <a:latin typeface="Cambria Math" panose="02040503050406030204" pitchFamily="18" charset="0"/>
                        </a:rPr>
                        <m:t> </m:t>
                      </m:r>
                      <m:r>
                        <m:rPr>
                          <m:nor/>
                        </m:rPr>
                        <a:rPr lang="es-ES" sz="1600">
                          <a:solidFill>
                            <a:schemeClr val="accent1">
                              <a:lumMod val="50000"/>
                            </a:schemeClr>
                          </a:solidFill>
                          <a:latin typeface="Cambria Math" panose="02040503050406030204" pitchFamily="18" charset="0"/>
                        </a:rPr>
                        <m:t>la</m:t>
                      </m:r>
                      <m:r>
                        <m:rPr>
                          <m:nor/>
                        </m:rPr>
                        <a:rPr lang="es-ES" sz="1600">
                          <a:solidFill>
                            <a:schemeClr val="accent1">
                              <a:lumMod val="50000"/>
                            </a:schemeClr>
                          </a:solidFill>
                          <a:latin typeface="Cambria Math" panose="02040503050406030204" pitchFamily="18" charset="0"/>
                        </a:rPr>
                        <m:t> </m:t>
                      </m:r>
                      <m:r>
                        <m:rPr>
                          <m:nor/>
                        </m:rPr>
                        <a:rPr lang="es-ES" sz="1600">
                          <a:solidFill>
                            <a:schemeClr val="accent1">
                              <a:lumMod val="50000"/>
                            </a:schemeClr>
                          </a:solidFill>
                          <a:latin typeface="Cambria Math" panose="02040503050406030204" pitchFamily="18" charset="0"/>
                        </a:rPr>
                        <m:t>varible</m:t>
                      </m:r>
                      <m:r>
                        <m:rPr>
                          <m:nor/>
                        </m:rPr>
                        <a:rPr lang="es-ES" sz="1600">
                          <a:solidFill>
                            <a:schemeClr val="accent1">
                              <a:lumMod val="50000"/>
                            </a:schemeClr>
                          </a:solidFill>
                          <a:latin typeface="Cambria Math" panose="02040503050406030204" pitchFamily="18" charset="0"/>
                        </a:rPr>
                        <m:t> </m:t>
                      </m:r>
                      <m:r>
                        <m:rPr>
                          <m:nor/>
                        </m:rPr>
                        <a:rPr lang="es-ES" sz="1600">
                          <a:solidFill>
                            <a:schemeClr val="accent1">
                              <a:lumMod val="50000"/>
                            </a:schemeClr>
                          </a:solidFill>
                          <a:latin typeface="Cambria Math" panose="02040503050406030204" pitchFamily="18" charset="0"/>
                        </a:rPr>
                        <m:t>num</m:t>
                      </m:r>
                      <m:r>
                        <m:rPr>
                          <m:nor/>
                        </m:rPr>
                        <a:rPr lang="es-ES" sz="1600">
                          <a:solidFill>
                            <a:schemeClr val="accent1">
                              <a:lumMod val="50000"/>
                            </a:schemeClr>
                          </a:solidFill>
                          <a:latin typeface="Cambria Math" panose="02040503050406030204" pitchFamily="18" charset="0"/>
                        </a:rPr>
                        <m:t>é</m:t>
                      </m:r>
                      <m:r>
                        <m:rPr>
                          <m:nor/>
                        </m:rPr>
                        <a:rPr lang="es-ES" sz="1600">
                          <a:solidFill>
                            <a:schemeClr val="accent1">
                              <a:lumMod val="50000"/>
                            </a:schemeClr>
                          </a:solidFill>
                          <a:latin typeface="Cambria Math" panose="02040503050406030204" pitchFamily="18" charset="0"/>
                        </a:rPr>
                        <m:t>rica</m:t>
                      </m:r>
                    </m:oMath>
                  </m:oMathPara>
                </a14:m>
                <a:endParaRPr lang="es-ES" sz="1600" dirty="0"/>
              </a:p>
            </p:txBody>
          </p:sp>
        </mc:Choice>
        <mc:Fallback xmlns="">
          <p:sp>
            <p:nvSpPr>
              <p:cNvPr id="9" name="Rectángulo 8"/>
              <p:cNvSpPr>
                <a:spLocks noRot="1" noChangeAspect="1" noMove="1" noResize="1" noEditPoints="1" noAdjustHandles="1" noChangeArrowheads="1" noChangeShapeType="1" noTextEdit="1"/>
              </p:cNvSpPr>
              <p:nvPr/>
            </p:nvSpPr>
            <p:spPr>
              <a:xfrm>
                <a:off x="10254737" y="6142344"/>
                <a:ext cx="1885716" cy="579133"/>
              </a:xfrm>
              <a:prstGeom prst="rect">
                <a:avLst/>
              </a:prstGeom>
              <a:blipFill>
                <a:blip r:embed="rId7"/>
                <a:stretch>
                  <a:fillRect/>
                </a:stretch>
              </a:blipFill>
            </p:spPr>
            <p:txBody>
              <a:bodyPr/>
              <a:lstStyle/>
              <a:p>
                <a:r>
                  <a:rPr lang="es-ES">
                    <a:noFill/>
                  </a:rPr>
                  <a:t> </a:t>
                </a:r>
              </a:p>
            </p:txBody>
          </p:sp>
        </mc:Fallback>
      </mc:AlternateContent>
      <p:sp>
        <p:nvSpPr>
          <p:cNvPr id="14" name="CuadroTexto 13">
            <a:extLst>
              <a:ext uri="{FF2B5EF4-FFF2-40B4-BE49-F238E27FC236}">
                <a16:creationId xmlns:a16="http://schemas.microsoft.com/office/drawing/2014/main" id="{99DCF0EE-C8EA-2DA2-77FB-7FEDCE7831CB}"/>
              </a:ext>
            </a:extLst>
          </p:cNvPr>
          <p:cNvSpPr txBox="1"/>
          <p:nvPr/>
        </p:nvSpPr>
        <p:spPr>
          <a:xfrm>
            <a:off x="409402" y="82680"/>
            <a:ext cx="7629781" cy="738664"/>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sz="2800" b="1" dirty="0" err="1" smtClean="0">
                <a:solidFill>
                  <a:schemeClr val="accent1">
                    <a:lumMod val="50000"/>
                  </a:schemeClr>
                </a:solidFill>
              </a:rPr>
              <a:t>Métricas</a:t>
            </a:r>
            <a:r>
              <a:rPr lang="en-US" sz="2800" b="1" dirty="0" smtClean="0">
                <a:solidFill>
                  <a:schemeClr val="accent1">
                    <a:lumMod val="50000"/>
                  </a:schemeClr>
                </a:solidFill>
              </a:rPr>
              <a:t> </a:t>
            </a:r>
            <a:r>
              <a:rPr lang="en-US" sz="2800" b="1" dirty="0" err="1">
                <a:solidFill>
                  <a:schemeClr val="accent1">
                    <a:lumMod val="50000"/>
                  </a:schemeClr>
                </a:solidFill>
              </a:rPr>
              <a:t>usadas</a:t>
            </a:r>
            <a:r>
              <a:rPr lang="en-US" sz="2800" b="1" dirty="0">
                <a:solidFill>
                  <a:schemeClr val="accent1">
                    <a:lumMod val="50000"/>
                  </a:schemeClr>
                </a:solidFill>
              </a:rPr>
              <a:t> </a:t>
            </a:r>
            <a:r>
              <a:rPr lang="en-US" sz="2800" b="1" dirty="0" err="1">
                <a:solidFill>
                  <a:schemeClr val="accent1">
                    <a:lumMod val="50000"/>
                  </a:schemeClr>
                </a:solidFill>
              </a:rPr>
              <a:t>en</a:t>
            </a:r>
            <a:r>
              <a:rPr lang="en-US" sz="2800" b="1" dirty="0">
                <a:solidFill>
                  <a:schemeClr val="accent1">
                    <a:lumMod val="50000"/>
                  </a:schemeClr>
                </a:solidFill>
              </a:rPr>
              <a:t> </a:t>
            </a:r>
            <a:r>
              <a:rPr lang="en-US" sz="2800" b="1" dirty="0" smtClean="0">
                <a:solidFill>
                  <a:schemeClr val="accent1">
                    <a:lumMod val="50000"/>
                  </a:schemeClr>
                </a:solidFill>
              </a:rPr>
              <a:t>ML. (</a:t>
            </a:r>
            <a:r>
              <a:rPr lang="en-US" sz="2000" b="1" dirty="0" smtClean="0">
                <a:solidFill>
                  <a:schemeClr val="accent1">
                    <a:lumMod val="50000"/>
                  </a:schemeClr>
                </a:solidFill>
              </a:rPr>
              <a:t>Variables </a:t>
            </a:r>
            <a:r>
              <a:rPr lang="en-US" sz="2000" b="1" dirty="0" err="1" smtClean="0">
                <a:solidFill>
                  <a:schemeClr val="accent1">
                    <a:lumMod val="50000"/>
                  </a:schemeClr>
                </a:solidFill>
              </a:rPr>
              <a:t>categóricas</a:t>
            </a:r>
            <a:r>
              <a:rPr lang="en-US" sz="2000" b="1" dirty="0" smtClean="0">
                <a:solidFill>
                  <a:schemeClr val="accent1">
                    <a:lumMod val="50000"/>
                  </a:schemeClr>
                </a:solidFill>
              </a:rPr>
              <a:t> o </a:t>
            </a:r>
            <a:r>
              <a:rPr lang="en-US" sz="2000" b="1" dirty="0" err="1" smtClean="0">
                <a:solidFill>
                  <a:schemeClr val="accent1">
                    <a:lumMod val="50000"/>
                  </a:schemeClr>
                </a:solidFill>
              </a:rPr>
              <a:t>híbridas</a:t>
            </a:r>
            <a:r>
              <a:rPr lang="en-US" sz="2800" b="1" dirty="0" smtClean="0">
                <a:solidFill>
                  <a:schemeClr val="accent1">
                    <a:lumMod val="50000"/>
                  </a:schemeClr>
                </a:solidFill>
              </a:rPr>
              <a:t>)</a:t>
            </a:r>
            <a:endParaRPr lang="en-US" sz="2800" b="1" dirty="0">
              <a:solidFill>
                <a:schemeClr val="accent1">
                  <a:lumMod val="50000"/>
                </a:schemeClr>
              </a:solidFill>
            </a:endParaRPr>
          </a:p>
        </p:txBody>
      </p:sp>
      <p:sp>
        <p:nvSpPr>
          <p:cNvPr id="11" name="Rectángulo 10"/>
          <p:cNvSpPr/>
          <p:nvPr/>
        </p:nvSpPr>
        <p:spPr>
          <a:xfrm>
            <a:off x="12124" y="4580249"/>
            <a:ext cx="4158548" cy="1169551"/>
          </a:xfrm>
          <a:prstGeom prst="rect">
            <a:avLst/>
          </a:prstGeom>
        </p:spPr>
        <p:txBody>
          <a:bodyPr wrap="square">
            <a:spAutoFit/>
          </a:bodyPr>
          <a:lstStyle/>
          <a:p>
            <a:pPr algn="ctr"/>
            <a:r>
              <a:rPr lang="en-US" sz="1000" dirty="0">
                <a:latin typeface="g_d0_f2"/>
              </a:rPr>
              <a:t>Representation of the Gower distance. The Gower distance between two patients at </a:t>
            </a:r>
            <a:r>
              <a:rPr lang="en-US" sz="1000" dirty="0" smtClean="0">
                <a:latin typeface="g_d0_f2"/>
              </a:rPr>
              <a:t>the same </a:t>
            </a:r>
            <a:r>
              <a:rPr lang="en-US" sz="1000" dirty="0">
                <a:latin typeface="g_d0_f2"/>
              </a:rPr>
              <a:t>time point gives a scalar; that between all patients gives a dissimilarity matrix.</a:t>
            </a:r>
            <a:r>
              <a:rPr lang="en-US" sz="1000" dirty="0"/>
              <a:t> </a:t>
            </a:r>
            <a:br>
              <a:rPr lang="en-US" sz="1000" dirty="0"/>
            </a:br>
            <a:r>
              <a:rPr lang="en-US" sz="1000" i="1" dirty="0"/>
              <a:t>(PDF) Exploring Heterogeneity with Category and Cluster Analyses for Mixed Data</a:t>
            </a:r>
            <a:r>
              <a:rPr lang="en-US" sz="1000" dirty="0"/>
              <a:t>. Available from: </a:t>
            </a:r>
            <a:r>
              <a:rPr lang="en-US" sz="1000" dirty="0">
                <a:hlinkClick r:id="rId8"/>
              </a:rPr>
              <a:t>https://www.researchgate.net/publication/372170121_Exploring_Heterogeneity_with_Category_and_Cluster_Analyses_for_Mixed_Data</a:t>
            </a:r>
            <a:r>
              <a:rPr lang="en-US" sz="1000" dirty="0"/>
              <a:t> </a:t>
            </a:r>
            <a:endParaRPr lang="es-ES" sz="1000" dirty="0"/>
          </a:p>
        </p:txBody>
      </p:sp>
      <p:sp>
        <p:nvSpPr>
          <p:cNvPr id="17" name="CuadroTexto 16">
            <a:extLst>
              <a:ext uri="{FF2B5EF4-FFF2-40B4-BE49-F238E27FC236}">
                <a16:creationId xmlns:a16="http://schemas.microsoft.com/office/drawing/2014/main" id="{B721C4E8-F774-C602-C20C-95042CFF3868}"/>
              </a:ext>
            </a:extLst>
          </p:cNvPr>
          <p:cNvSpPr txBox="1"/>
          <p:nvPr/>
        </p:nvSpPr>
        <p:spPr>
          <a:xfrm>
            <a:off x="9028591" y="136523"/>
            <a:ext cx="3067982" cy="461665"/>
          </a:xfrm>
          <a:prstGeom prst="rect">
            <a:avLst/>
          </a:prstGeom>
          <a:noFill/>
        </p:spPr>
        <p:txBody>
          <a:bodyPr wrap="square" rtlCol="0">
            <a:spAutoFit/>
          </a:bodyPr>
          <a:lstStyle/>
          <a:p>
            <a:r>
              <a:rPr lang="es-ES" sz="2400" b="1" dirty="0" err="1">
                <a:solidFill>
                  <a:schemeClr val="accent1">
                    <a:lumMod val="50000"/>
                  </a:schemeClr>
                </a:solidFill>
              </a:rPr>
              <a:t>Hierarchical</a:t>
            </a:r>
            <a:r>
              <a:rPr lang="es-ES" sz="2400" b="1" dirty="0">
                <a:solidFill>
                  <a:schemeClr val="accent1">
                    <a:lumMod val="50000"/>
                  </a:schemeClr>
                </a:solidFill>
              </a:rPr>
              <a:t> </a:t>
            </a:r>
            <a:r>
              <a:rPr lang="es-ES" sz="2400" b="1" dirty="0" err="1">
                <a:solidFill>
                  <a:schemeClr val="accent1">
                    <a:lumMod val="50000"/>
                  </a:schemeClr>
                </a:solidFill>
              </a:rPr>
              <a:t>Clustering</a:t>
            </a:r>
            <a:endParaRPr lang="es-ES" sz="8800" b="1" dirty="0">
              <a:solidFill>
                <a:schemeClr val="accent1">
                  <a:lumMod val="50000"/>
                </a:schemeClr>
              </a:solidFill>
            </a:endParaRPr>
          </a:p>
        </p:txBody>
      </p:sp>
    </p:spTree>
    <p:extLst>
      <p:ext uri="{BB962C8B-B14F-4D97-AF65-F5344CB8AC3E}">
        <p14:creationId xmlns:p14="http://schemas.microsoft.com/office/powerpoint/2010/main" val="21074914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9</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5" name="CuadroTexto 4">
            <a:extLst>
              <a:ext uri="{FF2B5EF4-FFF2-40B4-BE49-F238E27FC236}">
                <a16:creationId xmlns:a16="http://schemas.microsoft.com/office/drawing/2014/main" id="{D4286E82-FF38-1057-622F-02244AD16F2B}"/>
              </a:ext>
            </a:extLst>
          </p:cNvPr>
          <p:cNvSpPr txBox="1"/>
          <p:nvPr/>
        </p:nvSpPr>
        <p:spPr>
          <a:xfrm>
            <a:off x="312377" y="460686"/>
            <a:ext cx="11278513" cy="400110"/>
          </a:xfrm>
          <a:prstGeom prst="rect">
            <a:avLst/>
          </a:prstGeom>
          <a:noFill/>
        </p:spPr>
        <p:txBody>
          <a:bodyPr wrap="square" rtlCol="0">
            <a:spAutoFit/>
          </a:bodyPr>
          <a:lstStyle/>
          <a:p>
            <a:r>
              <a:rPr lang="es-ES" sz="2000" dirty="0" err="1">
                <a:solidFill>
                  <a:schemeClr val="accent1">
                    <a:lumMod val="50000"/>
                  </a:schemeClr>
                </a:solidFill>
              </a:rPr>
              <a:t>Párametros</a:t>
            </a:r>
            <a:r>
              <a:rPr lang="es-ES" sz="2000" dirty="0">
                <a:solidFill>
                  <a:schemeClr val="accent1">
                    <a:lumMod val="50000"/>
                  </a:schemeClr>
                </a:solidFill>
              </a:rPr>
              <a:t> del método:</a:t>
            </a:r>
          </a:p>
        </p:txBody>
      </p:sp>
      <p:sp>
        <p:nvSpPr>
          <p:cNvPr id="26" name="Rectángulo 25"/>
          <p:cNvSpPr/>
          <p:nvPr/>
        </p:nvSpPr>
        <p:spPr>
          <a:xfrm>
            <a:off x="117695" y="1152300"/>
            <a:ext cx="11925557" cy="307777"/>
          </a:xfrm>
          <a:prstGeom prst="rect">
            <a:avLst/>
          </a:prstGeom>
        </p:spPr>
        <p:txBody>
          <a:bodyPr wrap="square">
            <a:spAutoFit/>
          </a:bodyPr>
          <a:lstStyle/>
          <a:p>
            <a:r>
              <a:rPr lang="es-ES" sz="1400" dirty="0" err="1">
                <a:latin typeface="Courier New" panose="02070309020205020404" pitchFamily="49" charset="0"/>
                <a:cs typeface="Courier New" panose="02070309020205020404" pitchFamily="49" charset="0"/>
              </a:rPr>
              <a:t>hierarchical_cluster</a:t>
            </a:r>
            <a:r>
              <a:rPr lang="es-ES" sz="1400" dirty="0">
                <a:latin typeface="Courier New" panose="02070309020205020404" pitchFamily="49" charset="0"/>
                <a:cs typeface="Courier New" panose="02070309020205020404" pitchFamily="49" charset="0"/>
              </a:rPr>
              <a:t> = </a:t>
            </a:r>
            <a:r>
              <a:rPr lang="es-ES" sz="1400" dirty="0" err="1">
                <a:latin typeface="Courier New" panose="02070309020205020404" pitchFamily="49" charset="0"/>
                <a:cs typeface="Courier New" panose="02070309020205020404" pitchFamily="49" charset="0"/>
              </a:rPr>
              <a:t>AgglomerativeClustering</a:t>
            </a:r>
            <a:r>
              <a:rPr lang="es-ES" sz="1400" dirty="0">
                <a:latin typeface="Courier New" panose="02070309020205020404" pitchFamily="49" charset="0"/>
                <a:cs typeface="Courier New" panose="02070309020205020404" pitchFamily="49" charset="0"/>
              </a:rPr>
              <a:t>(</a:t>
            </a:r>
            <a:r>
              <a:rPr lang="es-ES" sz="1400" dirty="0" err="1">
                <a:latin typeface="Courier New" panose="02070309020205020404" pitchFamily="49" charset="0"/>
                <a:cs typeface="Courier New" panose="02070309020205020404" pitchFamily="49" charset="0"/>
              </a:rPr>
              <a:t>n_clusters</a:t>
            </a:r>
            <a:r>
              <a:rPr lang="es-ES" sz="1400" dirty="0">
                <a:latin typeface="Courier New" panose="02070309020205020404" pitchFamily="49" charset="0"/>
                <a:cs typeface="Courier New" panose="02070309020205020404" pitchFamily="49" charset="0"/>
              </a:rPr>
              <a:t> = </a:t>
            </a:r>
            <a:r>
              <a:rPr lang="es-ES" sz="1400" dirty="0">
                <a:solidFill>
                  <a:srgbClr val="00B050"/>
                </a:solidFill>
                <a:latin typeface="Courier New" panose="02070309020205020404" pitchFamily="49" charset="0"/>
                <a:cs typeface="Courier New" panose="02070309020205020404" pitchFamily="49" charset="0"/>
              </a:rPr>
              <a:t>2</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metric</a:t>
            </a:r>
            <a:r>
              <a:rPr lang="es-ES" sz="1400" dirty="0">
                <a:latin typeface="Courier New" panose="02070309020205020404" pitchFamily="49" charset="0"/>
                <a:cs typeface="Courier New" panose="02070309020205020404" pitchFamily="49" charset="0"/>
              </a:rPr>
              <a:t> = </a:t>
            </a:r>
            <a:r>
              <a:rPr lang="es-ES" sz="1400" dirty="0">
                <a:solidFill>
                  <a:srgbClr val="C00000"/>
                </a:solidFill>
                <a:latin typeface="Courier New" panose="02070309020205020404" pitchFamily="49" charset="0"/>
                <a:cs typeface="Courier New" panose="02070309020205020404" pitchFamily="49" charset="0"/>
              </a:rPr>
              <a:t>"</a:t>
            </a:r>
            <a:r>
              <a:rPr lang="es-ES" sz="1400" dirty="0" err="1">
                <a:solidFill>
                  <a:srgbClr val="C00000"/>
                </a:solidFill>
                <a:latin typeface="Courier New" panose="02070309020205020404" pitchFamily="49" charset="0"/>
                <a:cs typeface="Courier New" panose="02070309020205020404" pitchFamily="49" charset="0"/>
              </a:rPr>
              <a:t>euclidean</a:t>
            </a:r>
            <a:r>
              <a:rPr lang="es-ES" sz="1400" dirty="0">
                <a:solidFill>
                  <a:srgbClr val="C00000"/>
                </a:solidFill>
                <a:latin typeface="Courier New" panose="02070309020205020404" pitchFamily="49" charset="0"/>
                <a:cs typeface="Courier New" panose="02070309020205020404" pitchFamily="49" charset="0"/>
              </a:rPr>
              <a:t>"</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linkage</a:t>
            </a:r>
            <a:r>
              <a:rPr lang="es-ES" sz="1400" dirty="0">
                <a:latin typeface="Courier New" panose="02070309020205020404" pitchFamily="49" charset="0"/>
                <a:cs typeface="Courier New" panose="02070309020205020404" pitchFamily="49" charset="0"/>
              </a:rPr>
              <a:t> = </a:t>
            </a:r>
            <a:r>
              <a:rPr lang="es-ES" sz="1400" dirty="0">
                <a:solidFill>
                  <a:srgbClr val="C00000"/>
                </a:solidFill>
                <a:latin typeface="Courier New" panose="02070309020205020404" pitchFamily="49" charset="0"/>
                <a:cs typeface="Courier New" panose="02070309020205020404" pitchFamily="49" charset="0"/>
              </a:rPr>
              <a:t>"</a:t>
            </a:r>
            <a:r>
              <a:rPr lang="es-ES" sz="1400" dirty="0" err="1">
                <a:solidFill>
                  <a:srgbClr val="C00000"/>
                </a:solidFill>
                <a:latin typeface="Courier New" panose="02070309020205020404" pitchFamily="49" charset="0"/>
                <a:cs typeface="Courier New" panose="02070309020205020404" pitchFamily="49" charset="0"/>
              </a:rPr>
              <a:t>ward</a:t>
            </a:r>
            <a:r>
              <a:rPr lang="es-ES" sz="1400" dirty="0">
                <a:solidFill>
                  <a:srgbClr val="C00000"/>
                </a:solidFill>
                <a:latin typeface="Courier New" panose="02070309020205020404" pitchFamily="49" charset="0"/>
                <a:cs typeface="Courier New" panose="02070309020205020404" pitchFamily="49" charset="0"/>
              </a:rPr>
              <a:t>"</a:t>
            </a:r>
            <a:r>
              <a:rPr lang="es-ES" sz="1400" dirty="0">
                <a:latin typeface="Courier New" panose="02070309020205020404" pitchFamily="49" charset="0"/>
                <a:cs typeface="Courier New" panose="02070309020205020404" pitchFamily="49" charset="0"/>
              </a:rPr>
              <a:t>)</a:t>
            </a:r>
          </a:p>
        </p:txBody>
      </p:sp>
      <p:sp>
        <p:nvSpPr>
          <p:cNvPr id="4" name="Rectangle 1"/>
          <p:cNvSpPr>
            <a:spLocks noChangeArrowheads="1"/>
          </p:cNvSpPr>
          <p:nvPr/>
        </p:nvSpPr>
        <p:spPr bwMode="auto">
          <a:xfrm>
            <a:off x="198413" y="1684873"/>
            <a:ext cx="11392477" cy="10682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9044" rIns="91440" bIns="6348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
            </a:pPr>
            <a:r>
              <a:rPr lang="es-ES" altLang="es-ES" sz="1600" dirty="0" err="1">
                <a:solidFill>
                  <a:schemeClr val="accent1">
                    <a:lumMod val="50000"/>
                  </a:schemeClr>
                </a:solidFill>
                <a:latin typeface="Courier New" panose="02070309020205020404" pitchFamily="49" charset="0"/>
                <a:cs typeface="Courier New" panose="02070309020205020404" pitchFamily="49" charset="0"/>
              </a:rPr>
              <a:t>metric</a:t>
            </a:r>
            <a:r>
              <a:rPr lang="es-ES" altLang="es-ES" sz="1600" dirty="0">
                <a:solidFill>
                  <a:schemeClr val="accent1">
                    <a:lumMod val="50000"/>
                  </a:schemeClr>
                </a:solidFill>
              </a:rPr>
              <a:t>:  Distancia utilizada para evaluar la proximidad. </a:t>
            </a:r>
            <a:r>
              <a:rPr lang="es-ES" altLang="es-ES" sz="1600" dirty="0">
                <a:solidFill>
                  <a:schemeClr val="accent1">
                    <a:lumMod val="50000"/>
                  </a:schemeClr>
                </a:solidFill>
                <a:hlinkClick r:id="rId2"/>
              </a:rPr>
              <a:t>Enlace a ejemplo en </a:t>
            </a:r>
            <a:r>
              <a:rPr lang="es-ES" altLang="es-ES" sz="1600" dirty="0" err="1">
                <a:solidFill>
                  <a:schemeClr val="accent1">
                    <a:lumMod val="50000"/>
                  </a:schemeClr>
                </a:solidFill>
                <a:hlinkClick r:id="rId2"/>
              </a:rPr>
              <a:t>sklearn</a:t>
            </a:r>
            <a:r>
              <a:rPr lang="es-ES" altLang="es-ES" sz="1600" dirty="0">
                <a:solidFill>
                  <a:schemeClr val="accent1">
                    <a:lumMod val="50000"/>
                  </a:schemeClr>
                </a:solidFill>
                <a:hlinkClick r:id="rId2"/>
              </a:rPr>
              <a:t> </a:t>
            </a:r>
            <a:endParaRPr lang="es-ES" altLang="es-ES" sz="1600" dirty="0">
              <a:solidFill>
                <a:schemeClr val="accent1">
                  <a:lumMod val="50000"/>
                </a:schemeClr>
              </a:solidFill>
            </a:endParaRPr>
          </a:p>
          <a:p>
            <a:pPr lvl="0" eaLnBrk="0" fontAlgn="base" hangingPunct="0">
              <a:spcBef>
                <a:spcPct val="0"/>
              </a:spcBef>
              <a:spcAft>
                <a:spcPct val="0"/>
              </a:spcAft>
            </a:pPr>
            <a:endParaRPr lang="es-ES" altLang="es-ES" sz="1600" dirty="0">
              <a:solidFill>
                <a:schemeClr val="accent1">
                  <a:lumMod val="50000"/>
                </a:schemeClr>
              </a:solidFill>
            </a:endParaRPr>
          </a:p>
          <a:p>
            <a:pPr lvl="0" eaLnBrk="0" fontAlgn="base" hangingPunct="0">
              <a:spcBef>
                <a:spcPct val="0"/>
              </a:spcBef>
              <a:spcAft>
                <a:spcPct val="0"/>
              </a:spcAft>
            </a:pPr>
            <a:r>
              <a:rPr lang="es-ES" altLang="es-ES" sz="1600" dirty="0">
                <a:solidFill>
                  <a:schemeClr val="accent1">
                    <a:lumMod val="50000"/>
                  </a:schemeClr>
                </a:solidFill>
              </a:rPr>
              <a:t>Por defecto:  </a:t>
            </a:r>
            <a:r>
              <a:rPr lang="es-ES" altLang="es-ES" sz="1400" dirty="0">
                <a:solidFill>
                  <a:schemeClr val="accent1">
                    <a:lumMod val="50000"/>
                  </a:schemeClr>
                </a:solidFill>
                <a:latin typeface="Courier New" panose="02070309020205020404" pitchFamily="49" charset="0"/>
                <a:cs typeface="Courier New" panose="02070309020205020404" pitchFamily="49" charset="0"/>
              </a:rPr>
              <a:t>“</a:t>
            </a:r>
            <a:r>
              <a:rPr lang="es-ES" altLang="es-ES" sz="1400" dirty="0" err="1">
                <a:solidFill>
                  <a:schemeClr val="accent1">
                    <a:lumMod val="50000"/>
                  </a:schemeClr>
                </a:solidFill>
                <a:latin typeface="Courier New" panose="02070309020205020404" pitchFamily="49" charset="0"/>
                <a:cs typeface="Courier New" panose="02070309020205020404" pitchFamily="49" charset="0"/>
              </a:rPr>
              <a:t>euclidean</a:t>
            </a:r>
            <a:r>
              <a:rPr lang="es-ES" altLang="es-ES" sz="1400" dirty="0">
                <a:solidFill>
                  <a:schemeClr val="accent1">
                    <a:lumMod val="50000"/>
                  </a:schemeClr>
                </a:solidFill>
                <a:latin typeface="Courier New" panose="02070309020205020404" pitchFamily="49" charset="0"/>
                <a:cs typeface="Courier New" panose="02070309020205020404" pitchFamily="49" charset="0"/>
              </a:rPr>
              <a:t>”</a:t>
            </a:r>
          </a:p>
          <a:p>
            <a:pPr marL="0" lvl="1" eaLnBrk="0" fontAlgn="base" hangingPunct="0">
              <a:spcBef>
                <a:spcPct val="0"/>
              </a:spcBef>
              <a:spcAft>
                <a:spcPct val="0"/>
              </a:spcAft>
            </a:pPr>
            <a:r>
              <a:rPr lang="es-ES" altLang="es-ES" sz="1600" dirty="0">
                <a:solidFill>
                  <a:schemeClr val="accent1">
                    <a:lumMod val="50000"/>
                  </a:schemeClr>
                </a:solidFill>
              </a:rPr>
              <a:t>Valores posibles: </a:t>
            </a:r>
            <a:r>
              <a:rPr lang="es-ES" altLang="es-ES" sz="1400" dirty="0">
                <a:solidFill>
                  <a:schemeClr val="accent1">
                    <a:lumMod val="50000"/>
                  </a:schemeClr>
                </a:solidFill>
                <a:latin typeface="Courier New" panose="02070309020205020404" pitchFamily="49" charset="0"/>
                <a:cs typeface="Courier New" panose="02070309020205020404" pitchFamily="49" charset="0"/>
              </a:rPr>
              <a:t>“euclidean”,“l1”,“l2”,“manhattan”,“cosine”,“precomputed”</a:t>
            </a:r>
            <a:r>
              <a:rPr lang="es-ES" altLang="es-ES" sz="1600" dirty="0">
                <a:solidFill>
                  <a:schemeClr val="accent1">
                    <a:lumMod val="50000"/>
                  </a:schemeClr>
                </a:solidFill>
              </a:rPr>
              <a:t> (Precisa introducir una matriz de distancias)</a:t>
            </a:r>
          </a:p>
        </p:txBody>
      </p:sp>
      <p:sp>
        <p:nvSpPr>
          <p:cNvPr id="6" name="Rectángulo 5"/>
          <p:cNvSpPr/>
          <p:nvPr/>
        </p:nvSpPr>
        <p:spPr>
          <a:xfrm>
            <a:off x="187810" y="2859568"/>
            <a:ext cx="11527645" cy="4031873"/>
          </a:xfrm>
          <a:prstGeom prst="rect">
            <a:avLst/>
          </a:prstGeom>
        </p:spPr>
        <p:txBody>
          <a:bodyPr wrap="square">
            <a:spAutoFit/>
          </a:bodyPr>
          <a:lstStyle/>
          <a:p>
            <a:pPr marL="285750" indent="-285750">
              <a:buFont typeface="Wingdings" panose="05000000000000000000" pitchFamily="2" charset="2"/>
              <a:buChar char="§"/>
            </a:pPr>
            <a:r>
              <a:rPr lang="es-ES" sz="1600" dirty="0" err="1">
                <a:solidFill>
                  <a:schemeClr val="accent1">
                    <a:lumMod val="50000"/>
                  </a:schemeClr>
                </a:solidFill>
                <a:latin typeface="Courier New" panose="02070309020205020404" pitchFamily="49" charset="0"/>
                <a:cs typeface="Courier New" panose="02070309020205020404" pitchFamily="49" charset="0"/>
              </a:rPr>
              <a:t>linkage</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dirty="0">
                <a:latin typeface="Courier New" panose="02070309020205020404" pitchFamily="49" charset="0"/>
                <a:cs typeface="Courier New" panose="02070309020205020404" pitchFamily="49" charset="0"/>
              </a:rPr>
              <a:t> </a:t>
            </a:r>
            <a:r>
              <a:rPr lang="es-ES" sz="1600" dirty="0">
                <a:solidFill>
                  <a:schemeClr val="accent1">
                    <a:lumMod val="50000"/>
                  </a:schemeClr>
                </a:solidFill>
              </a:rPr>
              <a:t>Determinan cómo se fusionan los clústeres durante el proceso de agrupamiento jerárquico. </a:t>
            </a:r>
          </a:p>
          <a:p>
            <a:endParaRPr lang="es-ES" sz="1600" dirty="0">
              <a:solidFill>
                <a:schemeClr val="accent1">
                  <a:lumMod val="50000"/>
                </a:schemeClr>
              </a:solidFill>
            </a:endParaRPr>
          </a:p>
          <a:p>
            <a:pPr lvl="0" eaLnBrk="0" fontAlgn="base" hangingPunct="0">
              <a:spcBef>
                <a:spcPct val="0"/>
              </a:spcBef>
              <a:spcAft>
                <a:spcPct val="0"/>
              </a:spcAft>
            </a:pPr>
            <a:r>
              <a:rPr lang="es-ES" altLang="es-ES" sz="1600" dirty="0">
                <a:solidFill>
                  <a:schemeClr val="accent1">
                    <a:lumMod val="50000"/>
                  </a:schemeClr>
                </a:solidFill>
              </a:rPr>
              <a:t>Por defecto:  </a:t>
            </a:r>
            <a:r>
              <a:rPr lang="es-ES" altLang="es-ES" sz="1400" dirty="0">
                <a:solidFill>
                  <a:schemeClr val="accent1">
                    <a:lumMod val="50000"/>
                  </a:schemeClr>
                </a:solidFill>
                <a:latin typeface="Courier New" panose="02070309020205020404" pitchFamily="49" charset="0"/>
                <a:cs typeface="Courier New" panose="02070309020205020404" pitchFamily="49" charset="0"/>
              </a:rPr>
              <a:t>“</a:t>
            </a:r>
            <a:r>
              <a:rPr lang="es-ES" altLang="es-ES" sz="1400" dirty="0" err="1">
                <a:solidFill>
                  <a:schemeClr val="accent1">
                    <a:lumMod val="50000"/>
                  </a:schemeClr>
                </a:solidFill>
                <a:latin typeface="Courier New" panose="02070309020205020404" pitchFamily="49" charset="0"/>
                <a:cs typeface="Courier New" panose="02070309020205020404" pitchFamily="49" charset="0"/>
              </a:rPr>
              <a:t>ward</a:t>
            </a:r>
            <a:r>
              <a:rPr lang="es-ES" altLang="es-ES" sz="1400" dirty="0">
                <a:solidFill>
                  <a:schemeClr val="accent1">
                    <a:lumMod val="50000"/>
                  </a:schemeClr>
                </a:solidFill>
                <a:latin typeface="Courier New" panose="02070309020205020404" pitchFamily="49" charset="0"/>
                <a:cs typeface="Courier New" panose="02070309020205020404" pitchFamily="49" charset="0"/>
              </a:rPr>
              <a:t>”</a:t>
            </a:r>
          </a:p>
          <a:p>
            <a:pPr marL="0" lvl="1" eaLnBrk="0" fontAlgn="base" hangingPunct="0">
              <a:spcBef>
                <a:spcPct val="0"/>
              </a:spcBef>
              <a:spcAft>
                <a:spcPct val="0"/>
              </a:spcAft>
            </a:pPr>
            <a:r>
              <a:rPr lang="es-ES" altLang="es-ES" sz="1600" dirty="0">
                <a:solidFill>
                  <a:schemeClr val="accent1">
                    <a:lumMod val="50000"/>
                  </a:schemeClr>
                </a:solidFill>
              </a:rPr>
              <a:t>Valores posibles: </a:t>
            </a:r>
          </a:p>
          <a:p>
            <a:pPr marL="0" lvl="1" eaLnBrk="0" fontAlgn="base" hangingPunct="0">
              <a:spcBef>
                <a:spcPct val="0"/>
              </a:spcBef>
              <a:spcAft>
                <a:spcPct val="0"/>
              </a:spcAft>
            </a:pPr>
            <a:endParaRPr lang="es-ES" altLang="es-ES" sz="1600" dirty="0">
              <a:solidFill>
                <a:schemeClr val="accent1">
                  <a:lumMod val="50000"/>
                </a:schemeClr>
              </a:solidFill>
            </a:endParaRPr>
          </a:p>
          <a:p>
            <a:pPr marL="742950" lvl="1" indent="-285750">
              <a:buFont typeface="Arial" panose="020B0604020202020204" pitchFamily="34" charset="0"/>
              <a:buChar char="•"/>
            </a:pPr>
            <a:r>
              <a:rPr lang="es-ES" sz="1400" dirty="0">
                <a:solidFill>
                  <a:schemeClr val="accent1">
                    <a:lumMod val="50000"/>
                  </a:schemeClr>
                </a:solidFill>
                <a:latin typeface="Courier New" panose="02070309020205020404" pitchFamily="49" charset="0"/>
                <a:cs typeface="Courier New" panose="02070309020205020404" pitchFamily="49" charset="0"/>
              </a:rPr>
              <a:t>“single”</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a:solidFill>
                  <a:schemeClr val="accent1">
                    <a:lumMod val="50000"/>
                  </a:schemeClr>
                </a:solidFill>
              </a:rPr>
              <a:t>(Single </a:t>
            </a:r>
            <a:r>
              <a:rPr lang="es-ES" sz="1600" dirty="0" err="1">
                <a:solidFill>
                  <a:schemeClr val="accent1">
                    <a:lumMod val="50000"/>
                  </a:schemeClr>
                </a:solidFill>
              </a:rPr>
              <a:t>Linkage</a:t>
            </a:r>
            <a:r>
              <a:rPr lang="es-ES" sz="1600" dirty="0">
                <a:solidFill>
                  <a:schemeClr val="accent1">
                    <a:lumMod val="50000"/>
                  </a:schemeClr>
                </a:solidFill>
              </a:rPr>
              <a:t>): Fusiona grupos basándose en la distancia mínima entre sus puntos de datos más cercanos. En otras palabras, busca los dos grupos cuyo punto más cercano entre sí tenga la menor distancia.</a:t>
            </a:r>
          </a:p>
          <a:p>
            <a:pPr lvl="1"/>
            <a:endParaRPr lang="es-ES" sz="1600" dirty="0">
              <a:solidFill>
                <a:schemeClr val="accent1">
                  <a:lumMod val="50000"/>
                </a:schemeClr>
              </a:solidFill>
            </a:endParaRPr>
          </a:p>
          <a:p>
            <a:pPr marL="742950" lvl="1" indent="-285750">
              <a:buFont typeface="Arial" panose="020B0604020202020204" pitchFamily="34" charset="0"/>
              <a:buChar char="•"/>
            </a:pPr>
            <a:r>
              <a:rPr lang="es-ES" sz="1400" dirty="0">
                <a:solidFill>
                  <a:schemeClr val="accent1">
                    <a:lumMod val="50000"/>
                  </a:schemeClr>
                </a:solidFill>
                <a:latin typeface="Courier New" panose="02070309020205020404" pitchFamily="49" charset="0"/>
                <a:cs typeface="Courier New" panose="02070309020205020404" pitchFamily="49" charset="0"/>
              </a:rPr>
              <a:t>“complete”</a:t>
            </a:r>
            <a:r>
              <a:rPr lang="es-ES" sz="1600" dirty="0">
                <a:solidFill>
                  <a:schemeClr val="accent1">
                    <a:lumMod val="50000"/>
                  </a:schemeClr>
                </a:solidFill>
              </a:rPr>
              <a:t> (Complete </a:t>
            </a:r>
            <a:r>
              <a:rPr lang="es-ES" sz="1600" dirty="0" err="1">
                <a:solidFill>
                  <a:schemeClr val="accent1">
                    <a:lumMod val="50000"/>
                  </a:schemeClr>
                </a:solidFill>
              </a:rPr>
              <a:t>Linkage</a:t>
            </a:r>
            <a:r>
              <a:rPr lang="es-ES" sz="1600" dirty="0">
                <a:solidFill>
                  <a:schemeClr val="accent1">
                    <a:lumMod val="50000"/>
                  </a:schemeClr>
                </a:solidFill>
              </a:rPr>
              <a:t>): Fusiona grupos basándose en la distancia máxima entre sus puntos de datos más alejados. Se concentra en la mayor separación entre grupos para decidir la fusión.</a:t>
            </a:r>
          </a:p>
          <a:p>
            <a:pPr lvl="1"/>
            <a:endParaRPr lang="es-ES" sz="1600" dirty="0">
              <a:solidFill>
                <a:schemeClr val="accent1">
                  <a:lumMod val="50000"/>
                </a:schemeClr>
              </a:solidFill>
            </a:endParaRPr>
          </a:p>
          <a:p>
            <a:pPr marL="742950" lvl="1" indent="-285750">
              <a:buFont typeface="Arial" panose="020B0604020202020204" pitchFamily="34" charset="0"/>
              <a:buChar char="•"/>
            </a:pP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average</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600" dirty="0">
                <a:solidFill>
                  <a:schemeClr val="accent1">
                    <a:lumMod val="50000"/>
                  </a:schemeClr>
                </a:solidFill>
              </a:rPr>
              <a:t>(</a:t>
            </a:r>
            <a:r>
              <a:rPr lang="es-ES" sz="1600" dirty="0" err="1">
                <a:solidFill>
                  <a:schemeClr val="accent1">
                    <a:lumMod val="50000"/>
                  </a:schemeClr>
                </a:solidFill>
              </a:rPr>
              <a:t>Average</a:t>
            </a:r>
            <a:r>
              <a:rPr lang="es-ES" sz="1600" dirty="0">
                <a:solidFill>
                  <a:schemeClr val="accent1">
                    <a:lumMod val="50000"/>
                  </a:schemeClr>
                </a:solidFill>
              </a:rPr>
              <a:t> </a:t>
            </a:r>
            <a:r>
              <a:rPr lang="es-ES" sz="1600" dirty="0" err="1">
                <a:solidFill>
                  <a:schemeClr val="accent1">
                    <a:lumMod val="50000"/>
                  </a:schemeClr>
                </a:solidFill>
              </a:rPr>
              <a:t>Linkage</a:t>
            </a:r>
            <a:r>
              <a:rPr lang="es-ES" sz="1600" dirty="0">
                <a:solidFill>
                  <a:schemeClr val="accent1">
                    <a:lumMod val="50000"/>
                  </a:schemeClr>
                </a:solidFill>
              </a:rPr>
              <a:t>): Fusiona grupos basándose en la distancia promedio entre todos los pares posibles de puntos, uno de cada grupo. Considera la distancia global entre los grupos para su unión.</a:t>
            </a:r>
          </a:p>
          <a:p>
            <a:pPr marL="742950" lvl="1" indent="-285750">
              <a:buFont typeface="Arial" panose="020B0604020202020204" pitchFamily="34" charset="0"/>
              <a:buChar char="•"/>
            </a:pPr>
            <a:endParaRPr lang="es-ES" sz="1600" dirty="0">
              <a:solidFill>
                <a:schemeClr val="accent1">
                  <a:lumMod val="50000"/>
                </a:schemeClr>
              </a:solidFill>
            </a:endParaRPr>
          </a:p>
          <a:p>
            <a:pPr marL="742950" lvl="1" indent="-285750">
              <a:buFont typeface="Arial" panose="020B0604020202020204" pitchFamily="34" charset="0"/>
              <a:buChar char="•"/>
            </a:pP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ward</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600" dirty="0">
                <a:solidFill>
                  <a:schemeClr val="accent1">
                    <a:lumMod val="50000"/>
                  </a:schemeClr>
                </a:solidFill>
              </a:rPr>
              <a:t>(</a:t>
            </a:r>
            <a:r>
              <a:rPr lang="es-ES" sz="1600" dirty="0" err="1">
                <a:solidFill>
                  <a:schemeClr val="accent1">
                    <a:lumMod val="50000"/>
                  </a:schemeClr>
                </a:solidFill>
              </a:rPr>
              <a:t>Ward's</a:t>
            </a:r>
            <a:r>
              <a:rPr lang="es-ES" sz="1600" dirty="0">
                <a:solidFill>
                  <a:schemeClr val="accent1">
                    <a:lumMod val="50000"/>
                  </a:schemeClr>
                </a:solidFill>
              </a:rPr>
              <a:t> </a:t>
            </a:r>
            <a:r>
              <a:rPr lang="es-ES" sz="1600" dirty="0" err="1">
                <a:solidFill>
                  <a:schemeClr val="accent1">
                    <a:lumMod val="50000"/>
                  </a:schemeClr>
                </a:solidFill>
              </a:rPr>
              <a:t>Linkage</a:t>
            </a:r>
            <a:r>
              <a:rPr lang="es-ES" sz="1600" dirty="0">
                <a:solidFill>
                  <a:schemeClr val="accent1">
                    <a:lumMod val="50000"/>
                  </a:schemeClr>
                </a:solidFill>
              </a:rPr>
              <a:t>): Fusiona grupos buscando minimizar el incremento de la varianza total dentro del grupo. Busca fusiones que mantengan la homogeneidad interna de los grupos resultantes. Requiere de la métrica </a:t>
            </a:r>
            <a:r>
              <a:rPr lang="es-ES" sz="1600" dirty="0" err="1">
                <a:solidFill>
                  <a:schemeClr val="accent1">
                    <a:lumMod val="50000"/>
                  </a:schemeClr>
                </a:solidFill>
              </a:rPr>
              <a:t>euclídea</a:t>
            </a:r>
            <a:endParaRPr lang="es-ES" sz="1600" dirty="0">
              <a:solidFill>
                <a:schemeClr val="accent1">
                  <a:lumMod val="50000"/>
                </a:schemeClr>
              </a:solidFill>
            </a:endParaRPr>
          </a:p>
        </p:txBody>
      </p:sp>
    </p:spTree>
    <p:extLst>
      <p:ext uri="{BB962C8B-B14F-4D97-AF65-F5344CB8AC3E}">
        <p14:creationId xmlns:p14="http://schemas.microsoft.com/office/powerpoint/2010/main" val="7775898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CuadroTexto 117">
            <a:extLst>
              <a:ext uri="{FF2B5EF4-FFF2-40B4-BE49-F238E27FC236}">
                <a16:creationId xmlns:a16="http://schemas.microsoft.com/office/drawing/2014/main" id="{27BD8127-0CB1-5EAC-4CE8-AA728A016959}"/>
              </a:ext>
            </a:extLst>
          </p:cNvPr>
          <p:cNvSpPr txBox="1"/>
          <p:nvPr/>
        </p:nvSpPr>
        <p:spPr>
          <a:xfrm>
            <a:off x="9020706" y="3818760"/>
            <a:ext cx="2892302" cy="2954655"/>
          </a:xfrm>
          <a:prstGeom prst="rect">
            <a:avLst/>
          </a:prstGeom>
          <a:noFill/>
        </p:spPr>
        <p:txBody>
          <a:bodyPr wrap="square" rtlCol="0">
            <a:spAutoFit/>
          </a:bodyPr>
          <a:lstStyle/>
          <a:p>
            <a:pPr algn="just"/>
            <a:r>
              <a:rPr lang="es-ES" sz="1400" b="1" dirty="0">
                <a:solidFill>
                  <a:schemeClr val="accent1">
                    <a:lumMod val="50000"/>
                  </a:schemeClr>
                </a:solidFill>
              </a:rPr>
              <a:t>Pros:</a:t>
            </a:r>
          </a:p>
          <a:p>
            <a:pPr>
              <a:buFont typeface="Arial" panose="020B0604020202020204" pitchFamily="34" charset="0"/>
              <a:buChar char="•"/>
            </a:pPr>
            <a:r>
              <a:rPr lang="es-ES" sz="1400" dirty="0">
                <a:solidFill>
                  <a:schemeClr val="accent1">
                    <a:lumMod val="50000"/>
                  </a:schemeClr>
                </a:solidFill>
              </a:rPr>
              <a:t> Produce grupos compactos y esféricos.</a:t>
            </a:r>
          </a:p>
          <a:p>
            <a:pPr>
              <a:buFont typeface="Arial" panose="020B0604020202020204" pitchFamily="34" charset="0"/>
              <a:buChar char="•"/>
            </a:pPr>
            <a:r>
              <a:rPr lang="es-ES" sz="1400" dirty="0">
                <a:solidFill>
                  <a:schemeClr val="accent1">
                    <a:lumMod val="50000"/>
                  </a:schemeClr>
                </a:solidFill>
              </a:rPr>
              <a:t> Al minimizar la varianza la partición es más equilibrada</a:t>
            </a:r>
          </a:p>
          <a:p>
            <a:endParaRPr lang="es-ES" sz="1400" dirty="0">
              <a:solidFill>
                <a:schemeClr val="accent1">
                  <a:lumMod val="50000"/>
                </a:schemeClr>
              </a:solidFill>
            </a:endParaRPr>
          </a:p>
          <a:p>
            <a:r>
              <a:rPr lang="es-ES" sz="1400" b="1" dirty="0">
                <a:solidFill>
                  <a:schemeClr val="accent1">
                    <a:lumMod val="50000"/>
                  </a:schemeClr>
                </a:solidFill>
              </a:rPr>
              <a:t>Contras:</a:t>
            </a:r>
          </a:p>
          <a:p>
            <a:pPr>
              <a:buFont typeface="Arial" panose="020B0604020202020204" pitchFamily="34" charset="0"/>
              <a:buChar char="•"/>
            </a:pPr>
            <a:r>
              <a:rPr lang="es-ES" sz="1400" dirty="0">
                <a:solidFill>
                  <a:schemeClr val="accent1">
                    <a:lumMod val="50000"/>
                  </a:schemeClr>
                </a:solidFill>
              </a:rPr>
              <a:t> Es, computacionalmente, el más costoso.</a:t>
            </a:r>
          </a:p>
          <a:p>
            <a:pPr>
              <a:buFont typeface="Arial" panose="020B0604020202020204" pitchFamily="34" charset="0"/>
              <a:buChar char="•"/>
            </a:pPr>
            <a:r>
              <a:rPr lang="es-ES" sz="1400" dirty="0">
                <a:solidFill>
                  <a:schemeClr val="accent1">
                    <a:lumMod val="50000"/>
                  </a:schemeClr>
                </a:solidFill>
              </a:rPr>
              <a:t> Es sensible a la escala de los datos, así que se recomienda estandarizar antes de usar</a:t>
            </a:r>
          </a:p>
          <a:p>
            <a:endParaRPr lang="es-ES" dirty="0"/>
          </a:p>
        </p:txBody>
      </p:sp>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10</a:t>
            </a:fld>
            <a:endParaRPr lang="es-ES" dirty="0">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5" name="CuadroTexto 4">
            <a:extLst>
              <a:ext uri="{FF2B5EF4-FFF2-40B4-BE49-F238E27FC236}">
                <a16:creationId xmlns:a16="http://schemas.microsoft.com/office/drawing/2014/main" id="{D4286E82-FF38-1057-622F-02244AD16F2B}"/>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 (</a:t>
            </a:r>
            <a:r>
              <a:rPr lang="es-ES" sz="1600" dirty="0" err="1">
                <a:solidFill>
                  <a:schemeClr val="accent1">
                    <a:lumMod val="50000"/>
                  </a:schemeClr>
                </a:solidFill>
                <a:latin typeface="Courier New" panose="02070309020205020404" pitchFamily="49" charset="0"/>
                <a:cs typeface="Courier New" panose="02070309020205020404" pitchFamily="49" charset="0"/>
              </a:rPr>
              <a:t>linkage</a:t>
            </a:r>
            <a:r>
              <a:rPr lang="es-ES" sz="2000" dirty="0">
                <a:solidFill>
                  <a:schemeClr val="accent1">
                    <a:lumMod val="50000"/>
                  </a:schemeClr>
                </a:solidFill>
              </a:rPr>
              <a:t>):</a:t>
            </a:r>
          </a:p>
        </p:txBody>
      </p:sp>
      <p:sp>
        <p:nvSpPr>
          <p:cNvPr id="7" name="Rectángulo: esquinas redondeadas 6">
            <a:extLst>
              <a:ext uri="{FF2B5EF4-FFF2-40B4-BE49-F238E27FC236}">
                <a16:creationId xmlns:a16="http://schemas.microsoft.com/office/drawing/2014/main" id="{37C1E777-D0D1-07FC-1403-BB9C8DF03D62}"/>
              </a:ext>
            </a:extLst>
          </p:cNvPr>
          <p:cNvSpPr/>
          <p:nvPr/>
        </p:nvSpPr>
        <p:spPr>
          <a:xfrm>
            <a:off x="302754" y="1086465"/>
            <a:ext cx="2896623" cy="563501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ipse 10">
            <a:extLst>
              <a:ext uri="{FF2B5EF4-FFF2-40B4-BE49-F238E27FC236}">
                <a16:creationId xmlns:a16="http://schemas.microsoft.com/office/drawing/2014/main" id="{4DFE1E19-9AF1-4A26-9939-05ADFBA99A6F}"/>
              </a:ext>
            </a:extLst>
          </p:cNvPr>
          <p:cNvSpPr/>
          <p:nvPr/>
        </p:nvSpPr>
        <p:spPr>
          <a:xfrm>
            <a:off x="699608" y="2153196"/>
            <a:ext cx="754840" cy="1454449"/>
          </a:xfrm>
          <a:prstGeom prst="ellipse">
            <a:avLst/>
          </a:prstGeom>
          <a:solidFill>
            <a:schemeClr val="accent1">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Elipse 11">
            <a:extLst>
              <a:ext uri="{FF2B5EF4-FFF2-40B4-BE49-F238E27FC236}">
                <a16:creationId xmlns:a16="http://schemas.microsoft.com/office/drawing/2014/main" id="{0AA140AB-924C-B8DD-B08B-A5AB626EEB67}"/>
              </a:ext>
            </a:extLst>
          </p:cNvPr>
          <p:cNvSpPr/>
          <p:nvPr/>
        </p:nvSpPr>
        <p:spPr>
          <a:xfrm>
            <a:off x="1860062" y="2408901"/>
            <a:ext cx="1016000" cy="1094154"/>
          </a:xfrm>
          <a:prstGeom prst="ellipse">
            <a:avLst/>
          </a:prstGeom>
          <a:solidFill>
            <a:schemeClr val="accent1">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Elipse 12">
            <a:extLst>
              <a:ext uri="{FF2B5EF4-FFF2-40B4-BE49-F238E27FC236}">
                <a16:creationId xmlns:a16="http://schemas.microsoft.com/office/drawing/2014/main" id="{2B53862E-99BB-9A06-AB26-A2686BD4673B}"/>
              </a:ext>
            </a:extLst>
          </p:cNvPr>
          <p:cNvSpPr/>
          <p:nvPr/>
        </p:nvSpPr>
        <p:spPr>
          <a:xfrm>
            <a:off x="908367" y="2457209"/>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Elipse 13">
            <a:extLst>
              <a:ext uri="{FF2B5EF4-FFF2-40B4-BE49-F238E27FC236}">
                <a16:creationId xmlns:a16="http://schemas.microsoft.com/office/drawing/2014/main" id="{95A953E4-F999-73EB-9F2A-D2DE5A59EB36}"/>
              </a:ext>
            </a:extLst>
          </p:cNvPr>
          <p:cNvSpPr/>
          <p:nvPr/>
        </p:nvSpPr>
        <p:spPr>
          <a:xfrm>
            <a:off x="1193628" y="2751964"/>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Elipse 14">
            <a:extLst>
              <a:ext uri="{FF2B5EF4-FFF2-40B4-BE49-F238E27FC236}">
                <a16:creationId xmlns:a16="http://schemas.microsoft.com/office/drawing/2014/main" id="{C846835B-CB4A-224B-6FD3-E0D49C87FE20}"/>
              </a:ext>
            </a:extLst>
          </p:cNvPr>
          <p:cNvSpPr/>
          <p:nvPr/>
        </p:nvSpPr>
        <p:spPr>
          <a:xfrm>
            <a:off x="842842" y="2978427"/>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Elipse 15">
            <a:extLst>
              <a:ext uri="{FF2B5EF4-FFF2-40B4-BE49-F238E27FC236}">
                <a16:creationId xmlns:a16="http://schemas.microsoft.com/office/drawing/2014/main" id="{CD2E7E72-C846-2EDA-1BD2-76CB64F83C8F}"/>
              </a:ext>
            </a:extLst>
          </p:cNvPr>
          <p:cNvSpPr/>
          <p:nvPr/>
        </p:nvSpPr>
        <p:spPr>
          <a:xfrm>
            <a:off x="1091948" y="3251098"/>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Elipse 16">
            <a:extLst>
              <a:ext uri="{FF2B5EF4-FFF2-40B4-BE49-F238E27FC236}">
                <a16:creationId xmlns:a16="http://schemas.microsoft.com/office/drawing/2014/main" id="{A3CDA7C7-5154-80EE-D6CA-9E7C6FB7DBEB}"/>
              </a:ext>
            </a:extLst>
          </p:cNvPr>
          <p:cNvSpPr/>
          <p:nvPr/>
        </p:nvSpPr>
        <p:spPr>
          <a:xfrm>
            <a:off x="2022059" y="2643964"/>
            <a:ext cx="108000" cy="10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Elipse 17">
            <a:extLst>
              <a:ext uri="{FF2B5EF4-FFF2-40B4-BE49-F238E27FC236}">
                <a16:creationId xmlns:a16="http://schemas.microsoft.com/office/drawing/2014/main" id="{D3019BBF-D4AC-E4B9-2BCE-0348ADE72C2E}"/>
              </a:ext>
            </a:extLst>
          </p:cNvPr>
          <p:cNvSpPr/>
          <p:nvPr/>
        </p:nvSpPr>
        <p:spPr>
          <a:xfrm>
            <a:off x="2526308" y="3197098"/>
            <a:ext cx="108000" cy="10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Elipse 18">
            <a:extLst>
              <a:ext uri="{FF2B5EF4-FFF2-40B4-BE49-F238E27FC236}">
                <a16:creationId xmlns:a16="http://schemas.microsoft.com/office/drawing/2014/main" id="{155010DF-C352-A5DB-423E-B01237A859F5}"/>
              </a:ext>
            </a:extLst>
          </p:cNvPr>
          <p:cNvSpPr/>
          <p:nvPr/>
        </p:nvSpPr>
        <p:spPr>
          <a:xfrm>
            <a:off x="2164912" y="3086427"/>
            <a:ext cx="108000" cy="10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3" name="Conector recto de flecha 22">
            <a:extLst>
              <a:ext uri="{FF2B5EF4-FFF2-40B4-BE49-F238E27FC236}">
                <a16:creationId xmlns:a16="http://schemas.microsoft.com/office/drawing/2014/main" id="{AF6C27BA-3FBA-C295-DD31-1B96CECCA109}"/>
              </a:ext>
            </a:extLst>
          </p:cNvPr>
          <p:cNvCxnSpPr>
            <a:cxnSpLocks/>
            <a:stCxn id="14" idx="6"/>
            <a:endCxn id="17" idx="2"/>
          </p:cNvCxnSpPr>
          <p:nvPr/>
        </p:nvCxnSpPr>
        <p:spPr>
          <a:xfrm flipV="1">
            <a:off x="1301628" y="2697964"/>
            <a:ext cx="720431" cy="108000"/>
          </a:xfrm>
          <a:prstGeom prst="straightConnector1">
            <a:avLst/>
          </a:prstGeom>
          <a:ln w="28575">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id="{EED4EE87-6D13-2481-3A26-9CEE349C3DBD}"/>
              </a:ext>
            </a:extLst>
          </p:cNvPr>
          <p:cNvSpPr txBox="1"/>
          <p:nvPr/>
        </p:nvSpPr>
        <p:spPr>
          <a:xfrm>
            <a:off x="391332" y="1188849"/>
            <a:ext cx="2884757" cy="800219"/>
          </a:xfrm>
          <a:prstGeom prst="rect">
            <a:avLst/>
          </a:prstGeom>
          <a:noFill/>
        </p:spPr>
        <p:txBody>
          <a:bodyPr wrap="square" rtlCol="0">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Single: </a:t>
            </a:r>
            <a:r>
              <a:rPr lang="es-ES" sz="1400" dirty="0">
                <a:solidFill>
                  <a:schemeClr val="accent1">
                    <a:lumMod val="50000"/>
                  </a:schemeClr>
                </a:solidFill>
              </a:rPr>
              <a:t>mínima distancia entre cualquier par de puntos, uno de cada grupo.</a:t>
            </a:r>
          </a:p>
        </p:txBody>
      </p:sp>
      <p:sp>
        <p:nvSpPr>
          <p:cNvPr id="31" name="CuadroTexto 30">
            <a:extLst>
              <a:ext uri="{FF2B5EF4-FFF2-40B4-BE49-F238E27FC236}">
                <a16:creationId xmlns:a16="http://schemas.microsoft.com/office/drawing/2014/main" id="{69A7204E-5007-E952-A6B5-9BE5122CE1F2}"/>
              </a:ext>
            </a:extLst>
          </p:cNvPr>
          <p:cNvSpPr txBox="1"/>
          <p:nvPr/>
        </p:nvSpPr>
        <p:spPr>
          <a:xfrm>
            <a:off x="326942" y="3807068"/>
            <a:ext cx="2743200" cy="3170099"/>
          </a:xfrm>
          <a:prstGeom prst="rect">
            <a:avLst/>
          </a:prstGeom>
          <a:noFill/>
        </p:spPr>
        <p:txBody>
          <a:bodyPr wrap="square" rtlCol="0">
            <a:spAutoFit/>
          </a:bodyPr>
          <a:lstStyle/>
          <a:p>
            <a:pPr algn="just"/>
            <a:r>
              <a:rPr lang="es-ES" sz="1400" b="1" dirty="0">
                <a:solidFill>
                  <a:schemeClr val="accent1">
                    <a:lumMod val="50000"/>
                  </a:schemeClr>
                </a:solidFill>
              </a:rPr>
              <a:t>Pros:</a:t>
            </a:r>
          </a:p>
          <a:p>
            <a:pPr>
              <a:buFont typeface="Arial" panose="020B0604020202020204" pitchFamily="34" charset="0"/>
              <a:buChar char="•"/>
            </a:pPr>
            <a:r>
              <a:rPr lang="es-ES" sz="1400" dirty="0">
                <a:solidFill>
                  <a:schemeClr val="accent1">
                    <a:lumMod val="50000"/>
                  </a:schemeClr>
                </a:solidFill>
              </a:rPr>
              <a:t> Tiende a formar grupos encadenados. Útil para detectar formas lineales o cadenas.</a:t>
            </a:r>
          </a:p>
          <a:p>
            <a:pPr algn="just">
              <a:buFont typeface="Arial" panose="020B0604020202020204" pitchFamily="34" charset="0"/>
              <a:buChar char="•"/>
            </a:pPr>
            <a:r>
              <a:rPr lang="es-ES" sz="1400" dirty="0">
                <a:solidFill>
                  <a:schemeClr val="accent1">
                    <a:lumMod val="50000"/>
                  </a:schemeClr>
                </a:solidFill>
              </a:rPr>
              <a:t> Es eficiente computacionalmente.</a:t>
            </a:r>
          </a:p>
          <a:p>
            <a:pPr algn="just">
              <a:buFont typeface="Arial" panose="020B0604020202020204" pitchFamily="34" charset="0"/>
              <a:buChar char="•"/>
            </a:pPr>
            <a:endParaRPr lang="es-ES" sz="1400" dirty="0">
              <a:solidFill>
                <a:schemeClr val="accent1">
                  <a:lumMod val="50000"/>
                </a:schemeClr>
              </a:solidFill>
            </a:endParaRPr>
          </a:p>
          <a:p>
            <a:pPr algn="just"/>
            <a:r>
              <a:rPr lang="es-ES" sz="1400" b="1" dirty="0">
                <a:solidFill>
                  <a:schemeClr val="accent1">
                    <a:lumMod val="50000"/>
                  </a:schemeClr>
                </a:solidFill>
              </a:rPr>
              <a:t>Contras:</a:t>
            </a:r>
          </a:p>
          <a:p>
            <a:pPr algn="just">
              <a:buFont typeface="Arial" panose="020B0604020202020204" pitchFamily="34" charset="0"/>
              <a:buChar char="•"/>
            </a:pPr>
            <a:r>
              <a:rPr lang="es-ES" sz="1400" dirty="0">
                <a:solidFill>
                  <a:schemeClr val="accent1">
                    <a:lumMod val="50000"/>
                  </a:schemeClr>
                </a:solidFill>
              </a:rPr>
              <a:t> Puede ser sensible al ruido y a los puntos atípicos, un solo punto cercano puede determinar la unión de grupos.</a:t>
            </a:r>
          </a:p>
          <a:p>
            <a:pPr algn="just">
              <a:buFont typeface="Arial" panose="020B0604020202020204" pitchFamily="34" charset="0"/>
              <a:buChar char="•"/>
            </a:pPr>
            <a:r>
              <a:rPr lang="es-ES" sz="1400" dirty="0">
                <a:solidFill>
                  <a:schemeClr val="accent1">
                    <a:lumMod val="50000"/>
                  </a:schemeClr>
                </a:solidFill>
              </a:rPr>
              <a:t> Tiende a formar </a:t>
            </a:r>
            <a:r>
              <a:rPr lang="es-ES" sz="1400" dirty="0" err="1">
                <a:solidFill>
                  <a:schemeClr val="accent1">
                    <a:lumMod val="50000"/>
                  </a:schemeClr>
                </a:solidFill>
              </a:rPr>
              <a:t>clusters</a:t>
            </a:r>
            <a:r>
              <a:rPr lang="es-ES" sz="1400" dirty="0">
                <a:solidFill>
                  <a:schemeClr val="accent1">
                    <a:lumMod val="50000"/>
                  </a:schemeClr>
                </a:solidFill>
              </a:rPr>
              <a:t> largos y delgados en lugar de compactos.</a:t>
            </a:r>
          </a:p>
          <a:p>
            <a:endParaRPr lang="es-ES" dirty="0"/>
          </a:p>
        </p:txBody>
      </p:sp>
      <p:sp>
        <p:nvSpPr>
          <p:cNvPr id="46" name="Rectángulo: esquinas redondeadas 45">
            <a:extLst>
              <a:ext uri="{FF2B5EF4-FFF2-40B4-BE49-F238E27FC236}">
                <a16:creationId xmlns:a16="http://schemas.microsoft.com/office/drawing/2014/main" id="{D622008C-288B-4559-0CA4-ED23928BF486}"/>
              </a:ext>
            </a:extLst>
          </p:cNvPr>
          <p:cNvSpPr/>
          <p:nvPr/>
        </p:nvSpPr>
        <p:spPr>
          <a:xfrm>
            <a:off x="3197961" y="1098755"/>
            <a:ext cx="2896623" cy="563501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Elipse 46">
            <a:extLst>
              <a:ext uri="{FF2B5EF4-FFF2-40B4-BE49-F238E27FC236}">
                <a16:creationId xmlns:a16="http://schemas.microsoft.com/office/drawing/2014/main" id="{AA479E4B-EA17-69B0-A7F7-F38C4D026D8F}"/>
              </a:ext>
            </a:extLst>
          </p:cNvPr>
          <p:cNvSpPr/>
          <p:nvPr/>
        </p:nvSpPr>
        <p:spPr>
          <a:xfrm>
            <a:off x="3594815" y="2165486"/>
            <a:ext cx="754840" cy="1454449"/>
          </a:xfrm>
          <a:prstGeom prst="ellipse">
            <a:avLst/>
          </a:prstGeom>
          <a:solidFill>
            <a:schemeClr val="accent1">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Elipse 47">
            <a:extLst>
              <a:ext uri="{FF2B5EF4-FFF2-40B4-BE49-F238E27FC236}">
                <a16:creationId xmlns:a16="http://schemas.microsoft.com/office/drawing/2014/main" id="{A4E13A99-773B-63D8-525D-C1DB4DBEE170}"/>
              </a:ext>
            </a:extLst>
          </p:cNvPr>
          <p:cNvSpPr/>
          <p:nvPr/>
        </p:nvSpPr>
        <p:spPr>
          <a:xfrm>
            <a:off x="4755269" y="2421191"/>
            <a:ext cx="1016000" cy="1094154"/>
          </a:xfrm>
          <a:prstGeom prst="ellipse">
            <a:avLst/>
          </a:prstGeom>
          <a:solidFill>
            <a:schemeClr val="accent1">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Elipse 48">
            <a:extLst>
              <a:ext uri="{FF2B5EF4-FFF2-40B4-BE49-F238E27FC236}">
                <a16:creationId xmlns:a16="http://schemas.microsoft.com/office/drawing/2014/main" id="{DC22475B-3F22-AD05-B7AD-E7607F733BAC}"/>
              </a:ext>
            </a:extLst>
          </p:cNvPr>
          <p:cNvSpPr/>
          <p:nvPr/>
        </p:nvSpPr>
        <p:spPr>
          <a:xfrm>
            <a:off x="3803574" y="2469499"/>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Elipse 49">
            <a:extLst>
              <a:ext uri="{FF2B5EF4-FFF2-40B4-BE49-F238E27FC236}">
                <a16:creationId xmlns:a16="http://schemas.microsoft.com/office/drawing/2014/main" id="{D978E653-BF32-1929-F967-305D61CEB42D}"/>
              </a:ext>
            </a:extLst>
          </p:cNvPr>
          <p:cNvSpPr/>
          <p:nvPr/>
        </p:nvSpPr>
        <p:spPr>
          <a:xfrm>
            <a:off x="4088835" y="2764254"/>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Elipse 50">
            <a:extLst>
              <a:ext uri="{FF2B5EF4-FFF2-40B4-BE49-F238E27FC236}">
                <a16:creationId xmlns:a16="http://schemas.microsoft.com/office/drawing/2014/main" id="{50AD4F0B-51C3-1237-78A8-CD3F952D203F}"/>
              </a:ext>
            </a:extLst>
          </p:cNvPr>
          <p:cNvSpPr/>
          <p:nvPr/>
        </p:nvSpPr>
        <p:spPr>
          <a:xfrm>
            <a:off x="3738049" y="2990717"/>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Elipse 51">
            <a:extLst>
              <a:ext uri="{FF2B5EF4-FFF2-40B4-BE49-F238E27FC236}">
                <a16:creationId xmlns:a16="http://schemas.microsoft.com/office/drawing/2014/main" id="{7B8B8F93-7691-5BB1-A47D-EAFFF5F99EBB}"/>
              </a:ext>
            </a:extLst>
          </p:cNvPr>
          <p:cNvSpPr/>
          <p:nvPr/>
        </p:nvSpPr>
        <p:spPr>
          <a:xfrm>
            <a:off x="3987155" y="3263388"/>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Elipse 52">
            <a:extLst>
              <a:ext uri="{FF2B5EF4-FFF2-40B4-BE49-F238E27FC236}">
                <a16:creationId xmlns:a16="http://schemas.microsoft.com/office/drawing/2014/main" id="{24B71D08-3778-A8A7-2832-8945F9C32919}"/>
              </a:ext>
            </a:extLst>
          </p:cNvPr>
          <p:cNvSpPr/>
          <p:nvPr/>
        </p:nvSpPr>
        <p:spPr>
          <a:xfrm>
            <a:off x="4917266" y="2656254"/>
            <a:ext cx="108000" cy="10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Elipse 53">
            <a:extLst>
              <a:ext uri="{FF2B5EF4-FFF2-40B4-BE49-F238E27FC236}">
                <a16:creationId xmlns:a16="http://schemas.microsoft.com/office/drawing/2014/main" id="{32DFEAA3-504D-EB7B-5470-869B375B93C5}"/>
              </a:ext>
            </a:extLst>
          </p:cNvPr>
          <p:cNvSpPr/>
          <p:nvPr/>
        </p:nvSpPr>
        <p:spPr>
          <a:xfrm>
            <a:off x="5421515" y="3209388"/>
            <a:ext cx="108000" cy="10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Elipse 54">
            <a:extLst>
              <a:ext uri="{FF2B5EF4-FFF2-40B4-BE49-F238E27FC236}">
                <a16:creationId xmlns:a16="http://schemas.microsoft.com/office/drawing/2014/main" id="{A76C85C3-31DE-FEE7-6550-06176A4704AD}"/>
              </a:ext>
            </a:extLst>
          </p:cNvPr>
          <p:cNvSpPr/>
          <p:nvPr/>
        </p:nvSpPr>
        <p:spPr>
          <a:xfrm>
            <a:off x="5060119" y="3098717"/>
            <a:ext cx="108000" cy="10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56" name="Conector recto de flecha 55">
            <a:extLst>
              <a:ext uri="{FF2B5EF4-FFF2-40B4-BE49-F238E27FC236}">
                <a16:creationId xmlns:a16="http://schemas.microsoft.com/office/drawing/2014/main" id="{2E9414A9-226C-077D-1AB1-A3254FCC2930}"/>
              </a:ext>
            </a:extLst>
          </p:cNvPr>
          <p:cNvCxnSpPr>
            <a:cxnSpLocks/>
            <a:stCxn id="49" idx="5"/>
          </p:cNvCxnSpPr>
          <p:nvPr/>
        </p:nvCxnSpPr>
        <p:spPr>
          <a:xfrm>
            <a:off x="3895758" y="2561683"/>
            <a:ext cx="1525757" cy="701705"/>
          </a:xfrm>
          <a:prstGeom prst="straightConnector1">
            <a:avLst/>
          </a:prstGeom>
          <a:ln w="28575">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CuadroTexto 56">
            <a:extLst>
              <a:ext uri="{FF2B5EF4-FFF2-40B4-BE49-F238E27FC236}">
                <a16:creationId xmlns:a16="http://schemas.microsoft.com/office/drawing/2014/main" id="{239D64A3-035A-128B-E526-831A0E288D8D}"/>
              </a:ext>
            </a:extLst>
          </p:cNvPr>
          <p:cNvSpPr txBox="1"/>
          <p:nvPr/>
        </p:nvSpPr>
        <p:spPr>
          <a:xfrm>
            <a:off x="3286539" y="1201139"/>
            <a:ext cx="2796179" cy="800219"/>
          </a:xfrm>
          <a:prstGeom prst="rect">
            <a:avLst/>
          </a:prstGeom>
          <a:noFill/>
        </p:spPr>
        <p:txBody>
          <a:bodyPr wrap="square" rtlCol="0">
            <a:spAutoFit/>
          </a:bodyPr>
          <a:lstStyle/>
          <a:p>
            <a:r>
              <a:rPr lang="es-ES" sz="1800" dirty="0" err="1">
                <a:solidFill>
                  <a:schemeClr val="accent1">
                    <a:lumMod val="50000"/>
                  </a:schemeClr>
                </a:solidFill>
                <a:latin typeface="Courier New" panose="02070309020205020404" pitchFamily="49" charset="0"/>
                <a:cs typeface="Courier New" panose="02070309020205020404" pitchFamily="49" charset="0"/>
              </a:rPr>
              <a:t>Complete:</a:t>
            </a:r>
            <a:r>
              <a:rPr lang="es-ES" sz="1400" dirty="0" err="1">
                <a:solidFill>
                  <a:schemeClr val="accent1">
                    <a:lumMod val="50000"/>
                  </a:schemeClr>
                </a:solidFill>
              </a:rPr>
              <a:t>máxima</a:t>
            </a:r>
            <a:r>
              <a:rPr lang="es-ES" sz="1400" dirty="0">
                <a:solidFill>
                  <a:schemeClr val="accent1">
                    <a:lumMod val="50000"/>
                  </a:schemeClr>
                </a:solidFill>
              </a:rPr>
              <a:t> distancia entre cualquier par de puntos, uno de cada grupo.</a:t>
            </a:r>
          </a:p>
        </p:txBody>
      </p:sp>
      <p:sp>
        <p:nvSpPr>
          <p:cNvPr id="58" name="CuadroTexto 57">
            <a:extLst>
              <a:ext uri="{FF2B5EF4-FFF2-40B4-BE49-F238E27FC236}">
                <a16:creationId xmlns:a16="http://schemas.microsoft.com/office/drawing/2014/main" id="{E580AEC4-1615-3285-0979-B06A4B57D8D6}"/>
              </a:ext>
            </a:extLst>
          </p:cNvPr>
          <p:cNvSpPr txBox="1"/>
          <p:nvPr/>
        </p:nvSpPr>
        <p:spPr>
          <a:xfrm>
            <a:off x="3222148" y="3819358"/>
            <a:ext cx="2860569" cy="2954655"/>
          </a:xfrm>
          <a:prstGeom prst="rect">
            <a:avLst/>
          </a:prstGeom>
          <a:noFill/>
        </p:spPr>
        <p:txBody>
          <a:bodyPr wrap="square" rtlCol="0">
            <a:spAutoFit/>
          </a:bodyPr>
          <a:lstStyle/>
          <a:p>
            <a:pPr algn="just"/>
            <a:r>
              <a:rPr lang="es-ES" sz="1400" b="1" dirty="0">
                <a:solidFill>
                  <a:schemeClr val="accent1">
                    <a:lumMod val="50000"/>
                  </a:schemeClr>
                </a:solidFill>
              </a:rPr>
              <a:t>Pros:</a:t>
            </a:r>
          </a:p>
          <a:p>
            <a:pPr>
              <a:buFont typeface="Arial" panose="020B0604020202020204" pitchFamily="34" charset="0"/>
              <a:buChar char="•"/>
            </a:pPr>
            <a:r>
              <a:rPr lang="es-ES" sz="1400" dirty="0">
                <a:solidFill>
                  <a:schemeClr val="accent1">
                    <a:lumMod val="50000"/>
                  </a:schemeClr>
                </a:solidFill>
              </a:rPr>
              <a:t> Tiende a formar grupos más compactos o esféricos.</a:t>
            </a:r>
          </a:p>
          <a:p>
            <a:pPr>
              <a:buFont typeface="Arial" panose="020B0604020202020204" pitchFamily="34" charset="0"/>
              <a:buChar char="•"/>
            </a:pPr>
            <a:r>
              <a:rPr lang="es-ES" sz="1400" dirty="0">
                <a:solidFill>
                  <a:schemeClr val="accent1">
                    <a:lumMod val="50000"/>
                  </a:schemeClr>
                </a:solidFill>
              </a:rPr>
              <a:t> Es menos sensible al ruido y a los puntos atípicos que el </a:t>
            </a:r>
            <a:r>
              <a:rPr lang="es-ES" sz="1400" dirty="0">
                <a:solidFill>
                  <a:schemeClr val="accent1">
                    <a:lumMod val="50000"/>
                  </a:schemeClr>
                </a:solidFill>
                <a:latin typeface="Courier New" panose="02070309020205020404" pitchFamily="49" charset="0"/>
                <a:cs typeface="Courier New" panose="02070309020205020404" pitchFamily="49" charset="0"/>
              </a:rPr>
              <a:t>single.</a:t>
            </a:r>
            <a:endParaRPr lang="es-ES" sz="1400" dirty="0">
              <a:solidFill>
                <a:schemeClr val="accent1">
                  <a:lumMod val="50000"/>
                </a:schemeClr>
              </a:solidFill>
            </a:endParaRPr>
          </a:p>
          <a:p>
            <a:endParaRPr lang="es-ES" sz="1400" dirty="0">
              <a:solidFill>
                <a:schemeClr val="accent1">
                  <a:lumMod val="50000"/>
                </a:schemeClr>
              </a:solidFill>
            </a:endParaRPr>
          </a:p>
          <a:p>
            <a:r>
              <a:rPr lang="es-ES" sz="1400" b="1" dirty="0">
                <a:solidFill>
                  <a:schemeClr val="accent1">
                    <a:lumMod val="50000"/>
                  </a:schemeClr>
                </a:solidFill>
              </a:rPr>
              <a:t>Contras:</a:t>
            </a:r>
          </a:p>
          <a:p>
            <a:pPr>
              <a:buFont typeface="Arial" panose="020B0604020202020204" pitchFamily="34" charset="0"/>
              <a:buChar char="•"/>
            </a:pPr>
            <a:r>
              <a:rPr lang="es-ES" sz="1400" dirty="0">
                <a:solidFill>
                  <a:schemeClr val="accent1">
                    <a:lumMod val="50000"/>
                  </a:schemeClr>
                </a:solidFill>
              </a:rPr>
              <a:t> Es computacionalmente más costoso que el </a:t>
            </a:r>
            <a:r>
              <a:rPr lang="es-ES" sz="1400" dirty="0">
                <a:solidFill>
                  <a:schemeClr val="accent1">
                    <a:lumMod val="50000"/>
                  </a:schemeClr>
                </a:solidFill>
                <a:latin typeface="Courier New" panose="02070309020205020404" pitchFamily="49" charset="0"/>
                <a:cs typeface="Courier New" panose="02070309020205020404" pitchFamily="49" charset="0"/>
              </a:rPr>
              <a:t>single</a:t>
            </a:r>
            <a:r>
              <a:rPr lang="es-ES" sz="1400" dirty="0">
                <a:solidFill>
                  <a:schemeClr val="accent1">
                    <a:lumMod val="50000"/>
                  </a:schemeClr>
                </a:solidFill>
              </a:rPr>
              <a:t> </a:t>
            </a:r>
            <a:r>
              <a:rPr lang="es-ES" sz="1400" dirty="0" err="1">
                <a:solidFill>
                  <a:schemeClr val="accent1">
                    <a:lumMod val="50000"/>
                  </a:schemeClr>
                </a:solidFill>
              </a:rPr>
              <a:t>linkage</a:t>
            </a:r>
            <a:r>
              <a:rPr lang="es-ES" sz="1400" dirty="0">
                <a:solidFill>
                  <a:schemeClr val="accent1">
                    <a:lumMod val="50000"/>
                  </a:schemeClr>
                </a:solidFill>
              </a:rPr>
              <a:t>.</a:t>
            </a:r>
          </a:p>
          <a:p>
            <a:pPr>
              <a:buFont typeface="Arial" panose="020B0604020202020204" pitchFamily="34" charset="0"/>
              <a:buChar char="•"/>
            </a:pPr>
            <a:r>
              <a:rPr lang="es-ES" sz="1400" dirty="0">
                <a:solidFill>
                  <a:schemeClr val="accent1">
                    <a:lumMod val="50000"/>
                  </a:schemeClr>
                </a:solidFill>
              </a:rPr>
              <a:t>Puede distorsionar la forma real de los grupos al enfocarse en la distancia máxima </a:t>
            </a:r>
          </a:p>
          <a:p>
            <a:endParaRPr lang="es-ES" dirty="0"/>
          </a:p>
        </p:txBody>
      </p:sp>
      <p:sp>
        <p:nvSpPr>
          <p:cNvPr id="62" name="Rectángulo: esquinas redondeadas 61">
            <a:extLst>
              <a:ext uri="{FF2B5EF4-FFF2-40B4-BE49-F238E27FC236}">
                <a16:creationId xmlns:a16="http://schemas.microsoft.com/office/drawing/2014/main" id="{4F0621EB-80A3-E899-6901-34D8D63FF7A5}"/>
              </a:ext>
            </a:extLst>
          </p:cNvPr>
          <p:cNvSpPr/>
          <p:nvPr/>
        </p:nvSpPr>
        <p:spPr>
          <a:xfrm>
            <a:off x="6102137" y="1046219"/>
            <a:ext cx="2896623" cy="563501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3" name="Elipse 62">
            <a:extLst>
              <a:ext uri="{FF2B5EF4-FFF2-40B4-BE49-F238E27FC236}">
                <a16:creationId xmlns:a16="http://schemas.microsoft.com/office/drawing/2014/main" id="{4421CBEA-19F0-7E0E-84FF-51EAA94E1498}"/>
              </a:ext>
            </a:extLst>
          </p:cNvPr>
          <p:cNvSpPr/>
          <p:nvPr/>
        </p:nvSpPr>
        <p:spPr>
          <a:xfrm>
            <a:off x="6498991" y="2112950"/>
            <a:ext cx="754840" cy="1454449"/>
          </a:xfrm>
          <a:prstGeom prst="ellipse">
            <a:avLst/>
          </a:prstGeom>
          <a:solidFill>
            <a:schemeClr val="accent1">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4" name="Elipse 63">
            <a:extLst>
              <a:ext uri="{FF2B5EF4-FFF2-40B4-BE49-F238E27FC236}">
                <a16:creationId xmlns:a16="http://schemas.microsoft.com/office/drawing/2014/main" id="{A5029285-6BBD-6CC0-657B-CD36D9391533}"/>
              </a:ext>
            </a:extLst>
          </p:cNvPr>
          <p:cNvSpPr/>
          <p:nvPr/>
        </p:nvSpPr>
        <p:spPr>
          <a:xfrm>
            <a:off x="7659445" y="2368655"/>
            <a:ext cx="1016000" cy="1094154"/>
          </a:xfrm>
          <a:prstGeom prst="ellipse">
            <a:avLst/>
          </a:prstGeom>
          <a:solidFill>
            <a:schemeClr val="accent1">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5" name="Elipse 64">
            <a:extLst>
              <a:ext uri="{FF2B5EF4-FFF2-40B4-BE49-F238E27FC236}">
                <a16:creationId xmlns:a16="http://schemas.microsoft.com/office/drawing/2014/main" id="{D8CE421F-D51B-D8AE-81B4-83571610FD04}"/>
              </a:ext>
            </a:extLst>
          </p:cNvPr>
          <p:cNvSpPr/>
          <p:nvPr/>
        </p:nvSpPr>
        <p:spPr>
          <a:xfrm>
            <a:off x="6707750" y="2416963"/>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6" name="Elipse 65">
            <a:extLst>
              <a:ext uri="{FF2B5EF4-FFF2-40B4-BE49-F238E27FC236}">
                <a16:creationId xmlns:a16="http://schemas.microsoft.com/office/drawing/2014/main" id="{B78DA7DC-64E6-7EC6-CCB2-BD14373E4FDB}"/>
              </a:ext>
            </a:extLst>
          </p:cNvPr>
          <p:cNvSpPr/>
          <p:nvPr/>
        </p:nvSpPr>
        <p:spPr>
          <a:xfrm>
            <a:off x="6993011" y="2711718"/>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7" name="Elipse 66">
            <a:extLst>
              <a:ext uri="{FF2B5EF4-FFF2-40B4-BE49-F238E27FC236}">
                <a16:creationId xmlns:a16="http://schemas.microsoft.com/office/drawing/2014/main" id="{F73FA64B-E1EC-1B19-0C34-F97E8E54A53E}"/>
              </a:ext>
            </a:extLst>
          </p:cNvPr>
          <p:cNvSpPr/>
          <p:nvPr/>
        </p:nvSpPr>
        <p:spPr>
          <a:xfrm>
            <a:off x="6642225" y="2938181"/>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Elipse 67">
            <a:extLst>
              <a:ext uri="{FF2B5EF4-FFF2-40B4-BE49-F238E27FC236}">
                <a16:creationId xmlns:a16="http://schemas.microsoft.com/office/drawing/2014/main" id="{331D8AFB-F4FE-C201-361E-FFA89F534A54}"/>
              </a:ext>
            </a:extLst>
          </p:cNvPr>
          <p:cNvSpPr/>
          <p:nvPr/>
        </p:nvSpPr>
        <p:spPr>
          <a:xfrm>
            <a:off x="6891331" y="3210852"/>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9" name="Elipse 68">
            <a:extLst>
              <a:ext uri="{FF2B5EF4-FFF2-40B4-BE49-F238E27FC236}">
                <a16:creationId xmlns:a16="http://schemas.microsoft.com/office/drawing/2014/main" id="{1B0EDF0A-C6ED-DA08-687F-E257376A7F93}"/>
              </a:ext>
            </a:extLst>
          </p:cNvPr>
          <p:cNvSpPr/>
          <p:nvPr/>
        </p:nvSpPr>
        <p:spPr>
          <a:xfrm>
            <a:off x="7821442" y="2603718"/>
            <a:ext cx="108000" cy="10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 name="Elipse 69">
            <a:extLst>
              <a:ext uri="{FF2B5EF4-FFF2-40B4-BE49-F238E27FC236}">
                <a16:creationId xmlns:a16="http://schemas.microsoft.com/office/drawing/2014/main" id="{3C7FFA62-E9D7-7BEB-A778-05B58D4BCA38}"/>
              </a:ext>
            </a:extLst>
          </p:cNvPr>
          <p:cNvSpPr/>
          <p:nvPr/>
        </p:nvSpPr>
        <p:spPr>
          <a:xfrm>
            <a:off x="8325691" y="3156852"/>
            <a:ext cx="108000" cy="10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 name="Elipse 70">
            <a:extLst>
              <a:ext uri="{FF2B5EF4-FFF2-40B4-BE49-F238E27FC236}">
                <a16:creationId xmlns:a16="http://schemas.microsoft.com/office/drawing/2014/main" id="{72A01623-2B53-CA51-18A6-4EC3108F5A35}"/>
              </a:ext>
            </a:extLst>
          </p:cNvPr>
          <p:cNvSpPr/>
          <p:nvPr/>
        </p:nvSpPr>
        <p:spPr>
          <a:xfrm>
            <a:off x="7964295" y="3046181"/>
            <a:ext cx="108000" cy="10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72" name="Conector recto de flecha 71">
            <a:extLst>
              <a:ext uri="{FF2B5EF4-FFF2-40B4-BE49-F238E27FC236}">
                <a16:creationId xmlns:a16="http://schemas.microsoft.com/office/drawing/2014/main" id="{8C8BF352-6EAB-2054-85F8-A1E19185B60C}"/>
              </a:ext>
            </a:extLst>
          </p:cNvPr>
          <p:cNvCxnSpPr>
            <a:cxnSpLocks/>
            <a:stCxn id="65" idx="5"/>
          </p:cNvCxnSpPr>
          <p:nvPr/>
        </p:nvCxnSpPr>
        <p:spPr>
          <a:xfrm>
            <a:off x="6799934" y="2509147"/>
            <a:ext cx="1525757" cy="701705"/>
          </a:xfrm>
          <a:prstGeom prst="straightConnector1">
            <a:avLst/>
          </a:prstGeom>
          <a:ln w="127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3" name="CuadroTexto 72">
            <a:extLst>
              <a:ext uri="{FF2B5EF4-FFF2-40B4-BE49-F238E27FC236}">
                <a16:creationId xmlns:a16="http://schemas.microsoft.com/office/drawing/2014/main" id="{DB2408B8-09E9-EB1A-8AB8-7EEA3AA7A8D8}"/>
              </a:ext>
            </a:extLst>
          </p:cNvPr>
          <p:cNvSpPr txBox="1"/>
          <p:nvPr/>
        </p:nvSpPr>
        <p:spPr>
          <a:xfrm>
            <a:off x="6126325" y="1148603"/>
            <a:ext cx="2860570" cy="800219"/>
          </a:xfrm>
          <a:prstGeom prst="rect">
            <a:avLst/>
          </a:prstGeom>
          <a:noFill/>
        </p:spPr>
        <p:txBody>
          <a:bodyPr wrap="square" rtlCol="0">
            <a:spAutoFit/>
          </a:bodyPr>
          <a:lstStyle/>
          <a:p>
            <a:r>
              <a:rPr lang="es-ES" dirty="0" err="1">
                <a:solidFill>
                  <a:schemeClr val="accent1">
                    <a:lumMod val="50000"/>
                  </a:schemeClr>
                </a:solidFill>
                <a:latin typeface="Courier New" panose="02070309020205020404" pitchFamily="49" charset="0"/>
                <a:cs typeface="Courier New" panose="02070309020205020404" pitchFamily="49" charset="0"/>
              </a:rPr>
              <a:t>Average</a:t>
            </a:r>
            <a:r>
              <a:rPr lang="es-ES" sz="1800" dirty="0" err="1">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rPr>
              <a:t>promedio</a:t>
            </a:r>
            <a:r>
              <a:rPr lang="es-ES" sz="1400" dirty="0">
                <a:solidFill>
                  <a:schemeClr val="accent1">
                    <a:lumMod val="50000"/>
                  </a:schemeClr>
                </a:solidFill>
              </a:rPr>
              <a:t> de todas las distancias entre pares de puntos, uno de cada grupo.</a:t>
            </a:r>
          </a:p>
        </p:txBody>
      </p:sp>
      <p:sp>
        <p:nvSpPr>
          <p:cNvPr id="74" name="CuadroTexto 73">
            <a:extLst>
              <a:ext uri="{FF2B5EF4-FFF2-40B4-BE49-F238E27FC236}">
                <a16:creationId xmlns:a16="http://schemas.microsoft.com/office/drawing/2014/main" id="{95DA5A27-483E-A669-53BC-500B3F2B5E19}"/>
              </a:ext>
            </a:extLst>
          </p:cNvPr>
          <p:cNvSpPr txBox="1"/>
          <p:nvPr/>
        </p:nvSpPr>
        <p:spPr>
          <a:xfrm>
            <a:off x="6114011" y="3818760"/>
            <a:ext cx="2892302" cy="2954655"/>
          </a:xfrm>
          <a:prstGeom prst="rect">
            <a:avLst/>
          </a:prstGeom>
          <a:noFill/>
        </p:spPr>
        <p:txBody>
          <a:bodyPr wrap="square" rtlCol="0">
            <a:spAutoFit/>
          </a:bodyPr>
          <a:lstStyle/>
          <a:p>
            <a:pPr algn="just"/>
            <a:r>
              <a:rPr lang="es-ES" sz="1400" b="1" dirty="0">
                <a:solidFill>
                  <a:schemeClr val="accent1">
                    <a:lumMod val="50000"/>
                  </a:schemeClr>
                </a:solidFill>
              </a:rPr>
              <a:t>Pros:</a:t>
            </a:r>
            <a:endParaRPr lang="es-ES" sz="1400" dirty="0">
              <a:solidFill>
                <a:schemeClr val="accent1">
                  <a:lumMod val="50000"/>
                </a:schemeClr>
              </a:solidFill>
            </a:endParaRPr>
          </a:p>
          <a:p>
            <a:pPr>
              <a:buFont typeface="Arial" panose="020B0604020202020204" pitchFamily="34" charset="0"/>
              <a:buChar char="•"/>
            </a:pPr>
            <a:r>
              <a:rPr lang="es-ES" sz="1400" dirty="0">
                <a:solidFill>
                  <a:schemeClr val="accent1">
                    <a:lumMod val="50000"/>
                  </a:schemeClr>
                </a:solidFill>
              </a:rPr>
              <a:t>Tiende a equilibrar las propiedades de los enlaces </a:t>
            </a:r>
            <a:r>
              <a:rPr lang="es-ES" sz="1400" dirty="0">
                <a:solidFill>
                  <a:schemeClr val="accent1">
                    <a:lumMod val="50000"/>
                  </a:schemeClr>
                </a:solidFill>
                <a:latin typeface="Courier New" panose="02070309020205020404" pitchFamily="49" charset="0"/>
                <a:cs typeface="Courier New" panose="02070309020205020404" pitchFamily="49" charset="0"/>
              </a:rPr>
              <a:t>single</a:t>
            </a:r>
            <a:r>
              <a:rPr lang="es-ES" sz="1400" dirty="0">
                <a:solidFill>
                  <a:schemeClr val="accent1">
                    <a:lumMod val="50000"/>
                  </a:schemeClr>
                </a:solidFill>
              </a:rPr>
              <a:t> y </a:t>
            </a:r>
            <a:r>
              <a:rPr lang="es-ES" sz="1400" dirty="0">
                <a:solidFill>
                  <a:schemeClr val="accent1">
                    <a:lumMod val="50000"/>
                  </a:schemeClr>
                </a:solidFill>
                <a:latin typeface="Courier New" panose="02070309020205020404" pitchFamily="49" charset="0"/>
                <a:cs typeface="Courier New" panose="02070309020205020404" pitchFamily="49" charset="0"/>
              </a:rPr>
              <a:t>complete</a:t>
            </a:r>
            <a:r>
              <a:rPr lang="es-ES" sz="1400" dirty="0">
                <a:solidFill>
                  <a:schemeClr val="accent1">
                    <a:lumMod val="50000"/>
                  </a:schemeClr>
                </a:solidFill>
              </a:rPr>
              <a:t>.</a:t>
            </a:r>
          </a:p>
          <a:p>
            <a:pPr>
              <a:buFont typeface="Arial" panose="020B0604020202020204" pitchFamily="34" charset="0"/>
              <a:buChar char="•"/>
            </a:pPr>
            <a:r>
              <a:rPr lang="es-ES" sz="1400" dirty="0">
                <a:solidFill>
                  <a:schemeClr val="accent1">
                    <a:lumMod val="50000"/>
                  </a:schemeClr>
                </a:solidFill>
              </a:rPr>
              <a:t>Produce grupos de tamaño más uniforme. </a:t>
            </a:r>
          </a:p>
          <a:p>
            <a:endParaRPr lang="es-ES" sz="1400" dirty="0">
              <a:solidFill>
                <a:schemeClr val="accent1">
                  <a:lumMod val="50000"/>
                </a:schemeClr>
              </a:solidFill>
            </a:endParaRPr>
          </a:p>
          <a:p>
            <a:r>
              <a:rPr lang="es-ES" sz="1400" b="1" dirty="0">
                <a:solidFill>
                  <a:schemeClr val="accent1">
                    <a:lumMod val="50000"/>
                  </a:schemeClr>
                </a:solidFill>
              </a:rPr>
              <a:t>Contras:</a:t>
            </a:r>
          </a:p>
          <a:p>
            <a:pPr>
              <a:buFont typeface="Arial" panose="020B0604020202020204" pitchFamily="34" charset="0"/>
              <a:buChar char="•"/>
            </a:pPr>
            <a:r>
              <a:rPr lang="es-ES" sz="1400" dirty="0">
                <a:solidFill>
                  <a:schemeClr val="accent1">
                    <a:lumMod val="50000"/>
                  </a:schemeClr>
                </a:solidFill>
              </a:rPr>
              <a:t> Es más lento que el </a:t>
            </a:r>
            <a:r>
              <a:rPr lang="es-ES" sz="1400" dirty="0">
                <a:solidFill>
                  <a:schemeClr val="accent1">
                    <a:lumMod val="50000"/>
                  </a:schemeClr>
                </a:solidFill>
                <a:latin typeface="Courier New" panose="02070309020205020404" pitchFamily="49" charset="0"/>
                <a:cs typeface="Courier New" panose="02070309020205020404" pitchFamily="49" charset="0"/>
              </a:rPr>
              <a:t>single</a:t>
            </a:r>
            <a:r>
              <a:rPr lang="es-ES" sz="1400" dirty="0">
                <a:solidFill>
                  <a:schemeClr val="accent1">
                    <a:lumMod val="50000"/>
                  </a:schemeClr>
                </a:solidFill>
              </a:rPr>
              <a:t> </a:t>
            </a:r>
            <a:r>
              <a:rPr lang="es-ES" sz="1400" dirty="0" err="1">
                <a:solidFill>
                  <a:schemeClr val="accent1">
                    <a:lumMod val="50000"/>
                  </a:schemeClr>
                </a:solidFill>
              </a:rPr>
              <a:t>linkage</a:t>
            </a:r>
            <a:r>
              <a:rPr lang="es-ES" sz="1400" dirty="0">
                <a:solidFill>
                  <a:schemeClr val="accent1">
                    <a:lumMod val="50000"/>
                  </a:schemeClr>
                </a:solidFill>
              </a:rPr>
              <a:t>.</a:t>
            </a:r>
          </a:p>
          <a:p>
            <a:pPr>
              <a:buFont typeface="Arial" panose="020B0604020202020204" pitchFamily="34" charset="0"/>
              <a:buChar char="•"/>
            </a:pPr>
            <a:r>
              <a:rPr lang="es-ES" sz="1400" dirty="0">
                <a:solidFill>
                  <a:schemeClr val="accent1">
                    <a:lumMod val="50000"/>
                  </a:schemeClr>
                </a:solidFill>
              </a:rPr>
              <a:t>Al promediar, en ocasiones no refleja las relaciones entre puntos.</a:t>
            </a:r>
          </a:p>
          <a:p>
            <a:endParaRPr lang="es-ES" dirty="0"/>
          </a:p>
        </p:txBody>
      </p:sp>
      <p:cxnSp>
        <p:nvCxnSpPr>
          <p:cNvPr id="75" name="Conector recto de flecha 74">
            <a:extLst>
              <a:ext uri="{FF2B5EF4-FFF2-40B4-BE49-F238E27FC236}">
                <a16:creationId xmlns:a16="http://schemas.microsoft.com/office/drawing/2014/main" id="{F5333480-C013-7A7F-3163-2D9E488585A1}"/>
              </a:ext>
            </a:extLst>
          </p:cNvPr>
          <p:cNvCxnSpPr>
            <a:cxnSpLocks/>
          </p:cNvCxnSpPr>
          <p:nvPr/>
        </p:nvCxnSpPr>
        <p:spPr>
          <a:xfrm>
            <a:off x="6815750" y="2469499"/>
            <a:ext cx="1005692" cy="192048"/>
          </a:xfrm>
          <a:prstGeom prst="straightConnector1">
            <a:avLst/>
          </a:prstGeom>
          <a:ln w="127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8" name="Conector recto de flecha 77">
            <a:extLst>
              <a:ext uri="{FF2B5EF4-FFF2-40B4-BE49-F238E27FC236}">
                <a16:creationId xmlns:a16="http://schemas.microsoft.com/office/drawing/2014/main" id="{1C450ED4-21CA-0E88-C163-A4B76765F848}"/>
              </a:ext>
            </a:extLst>
          </p:cNvPr>
          <p:cNvCxnSpPr>
            <a:cxnSpLocks/>
            <a:endCxn id="71" idx="2"/>
          </p:cNvCxnSpPr>
          <p:nvPr/>
        </p:nvCxnSpPr>
        <p:spPr>
          <a:xfrm>
            <a:off x="6815750" y="2524963"/>
            <a:ext cx="1148545" cy="575218"/>
          </a:xfrm>
          <a:prstGeom prst="straightConnector1">
            <a:avLst/>
          </a:prstGeom>
          <a:ln w="127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1" name="Conector recto de flecha 80">
            <a:extLst>
              <a:ext uri="{FF2B5EF4-FFF2-40B4-BE49-F238E27FC236}">
                <a16:creationId xmlns:a16="http://schemas.microsoft.com/office/drawing/2014/main" id="{0CB2153B-EDFA-A0E6-0B8F-1A0E3DEC51C4}"/>
              </a:ext>
            </a:extLst>
          </p:cNvPr>
          <p:cNvCxnSpPr>
            <a:cxnSpLocks/>
          </p:cNvCxnSpPr>
          <p:nvPr/>
        </p:nvCxnSpPr>
        <p:spPr>
          <a:xfrm flipV="1">
            <a:off x="7101011" y="2705947"/>
            <a:ext cx="720431" cy="58307"/>
          </a:xfrm>
          <a:prstGeom prst="straightConnector1">
            <a:avLst/>
          </a:prstGeom>
          <a:ln w="127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4" name="Conector recto de flecha 83">
            <a:extLst>
              <a:ext uri="{FF2B5EF4-FFF2-40B4-BE49-F238E27FC236}">
                <a16:creationId xmlns:a16="http://schemas.microsoft.com/office/drawing/2014/main" id="{9B470CA2-7A77-800F-2B14-9EAC7D3491F1}"/>
              </a:ext>
            </a:extLst>
          </p:cNvPr>
          <p:cNvCxnSpPr>
            <a:cxnSpLocks/>
            <a:endCxn id="69" idx="3"/>
          </p:cNvCxnSpPr>
          <p:nvPr/>
        </p:nvCxnSpPr>
        <p:spPr>
          <a:xfrm flipV="1">
            <a:off x="6750225" y="2695902"/>
            <a:ext cx="1087033" cy="294815"/>
          </a:xfrm>
          <a:prstGeom prst="straightConnector1">
            <a:avLst/>
          </a:prstGeom>
          <a:ln w="127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7" name="Conector recto de flecha 86">
            <a:extLst>
              <a:ext uri="{FF2B5EF4-FFF2-40B4-BE49-F238E27FC236}">
                <a16:creationId xmlns:a16="http://schemas.microsoft.com/office/drawing/2014/main" id="{0A743159-FC5C-FA3A-503F-452C7DDE3B9E}"/>
              </a:ext>
            </a:extLst>
          </p:cNvPr>
          <p:cNvCxnSpPr>
            <a:cxnSpLocks/>
            <a:endCxn id="69" idx="2"/>
          </p:cNvCxnSpPr>
          <p:nvPr/>
        </p:nvCxnSpPr>
        <p:spPr>
          <a:xfrm flipV="1">
            <a:off x="6913048" y="2657718"/>
            <a:ext cx="908394" cy="536709"/>
          </a:xfrm>
          <a:prstGeom prst="straightConnector1">
            <a:avLst/>
          </a:prstGeom>
          <a:ln w="127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0" name="Conector recto de flecha 89">
            <a:extLst>
              <a:ext uri="{FF2B5EF4-FFF2-40B4-BE49-F238E27FC236}">
                <a16:creationId xmlns:a16="http://schemas.microsoft.com/office/drawing/2014/main" id="{0D72314F-3E67-F6DB-3683-24443E8B086C}"/>
              </a:ext>
            </a:extLst>
          </p:cNvPr>
          <p:cNvCxnSpPr>
            <a:cxnSpLocks/>
          </p:cNvCxnSpPr>
          <p:nvPr/>
        </p:nvCxnSpPr>
        <p:spPr>
          <a:xfrm>
            <a:off x="7099595" y="2805964"/>
            <a:ext cx="1218543" cy="400753"/>
          </a:xfrm>
          <a:prstGeom prst="straightConnector1">
            <a:avLst/>
          </a:prstGeom>
          <a:ln w="127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Conector recto de flecha 92">
            <a:extLst>
              <a:ext uri="{FF2B5EF4-FFF2-40B4-BE49-F238E27FC236}">
                <a16:creationId xmlns:a16="http://schemas.microsoft.com/office/drawing/2014/main" id="{D14D7CDE-903B-9D60-DA40-E7E35E647A6A}"/>
              </a:ext>
            </a:extLst>
          </p:cNvPr>
          <p:cNvCxnSpPr>
            <a:cxnSpLocks/>
            <a:stCxn id="67" idx="5"/>
            <a:endCxn id="70" idx="2"/>
          </p:cNvCxnSpPr>
          <p:nvPr/>
        </p:nvCxnSpPr>
        <p:spPr>
          <a:xfrm>
            <a:off x="6734409" y="3030365"/>
            <a:ext cx="1591282" cy="180487"/>
          </a:xfrm>
          <a:prstGeom prst="straightConnector1">
            <a:avLst/>
          </a:prstGeom>
          <a:ln w="127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Conector recto de flecha 95">
            <a:extLst>
              <a:ext uri="{FF2B5EF4-FFF2-40B4-BE49-F238E27FC236}">
                <a16:creationId xmlns:a16="http://schemas.microsoft.com/office/drawing/2014/main" id="{C50F1F62-C3DB-44CC-B737-C3E6D0CA2A7F}"/>
              </a:ext>
            </a:extLst>
          </p:cNvPr>
          <p:cNvCxnSpPr>
            <a:cxnSpLocks/>
            <a:stCxn id="68" idx="5"/>
            <a:endCxn id="70" idx="3"/>
          </p:cNvCxnSpPr>
          <p:nvPr/>
        </p:nvCxnSpPr>
        <p:spPr>
          <a:xfrm flipV="1">
            <a:off x="6983515" y="3249036"/>
            <a:ext cx="1357992" cy="54000"/>
          </a:xfrm>
          <a:prstGeom prst="straightConnector1">
            <a:avLst/>
          </a:prstGeom>
          <a:ln w="127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9" name="Conector recto de flecha 98">
            <a:extLst>
              <a:ext uri="{FF2B5EF4-FFF2-40B4-BE49-F238E27FC236}">
                <a16:creationId xmlns:a16="http://schemas.microsoft.com/office/drawing/2014/main" id="{9DFAD3F4-7F6F-F5EF-66D4-E05C8B95AD2C}"/>
              </a:ext>
            </a:extLst>
          </p:cNvPr>
          <p:cNvCxnSpPr>
            <a:cxnSpLocks/>
            <a:stCxn id="68" idx="7"/>
          </p:cNvCxnSpPr>
          <p:nvPr/>
        </p:nvCxnSpPr>
        <p:spPr>
          <a:xfrm flipV="1">
            <a:off x="6983515" y="3154181"/>
            <a:ext cx="980780" cy="72487"/>
          </a:xfrm>
          <a:prstGeom prst="straightConnector1">
            <a:avLst/>
          </a:prstGeom>
          <a:ln w="127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2" name="Conector recto de flecha 101">
            <a:extLst>
              <a:ext uri="{FF2B5EF4-FFF2-40B4-BE49-F238E27FC236}">
                <a16:creationId xmlns:a16="http://schemas.microsoft.com/office/drawing/2014/main" id="{D7EA92E0-6324-A808-1BAE-97B011897D8C}"/>
              </a:ext>
            </a:extLst>
          </p:cNvPr>
          <p:cNvCxnSpPr>
            <a:cxnSpLocks/>
            <a:stCxn id="67" idx="5"/>
            <a:endCxn id="71" idx="2"/>
          </p:cNvCxnSpPr>
          <p:nvPr/>
        </p:nvCxnSpPr>
        <p:spPr>
          <a:xfrm>
            <a:off x="6734409" y="3030365"/>
            <a:ext cx="1229886" cy="69816"/>
          </a:xfrm>
          <a:prstGeom prst="straightConnector1">
            <a:avLst/>
          </a:prstGeom>
          <a:ln w="127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Rectángulo: esquinas redondeadas 105">
            <a:extLst>
              <a:ext uri="{FF2B5EF4-FFF2-40B4-BE49-F238E27FC236}">
                <a16:creationId xmlns:a16="http://schemas.microsoft.com/office/drawing/2014/main" id="{650A1958-0C1C-FDFF-E501-7380F37812A0}"/>
              </a:ext>
            </a:extLst>
          </p:cNvPr>
          <p:cNvSpPr/>
          <p:nvPr/>
        </p:nvSpPr>
        <p:spPr>
          <a:xfrm>
            <a:off x="9008832" y="1046219"/>
            <a:ext cx="2896623" cy="563501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7" name="CuadroTexto 116">
            <a:extLst>
              <a:ext uri="{FF2B5EF4-FFF2-40B4-BE49-F238E27FC236}">
                <a16:creationId xmlns:a16="http://schemas.microsoft.com/office/drawing/2014/main" id="{4209E28C-305C-3D58-EF72-507C50F95D2F}"/>
              </a:ext>
            </a:extLst>
          </p:cNvPr>
          <p:cNvSpPr txBox="1"/>
          <p:nvPr/>
        </p:nvSpPr>
        <p:spPr>
          <a:xfrm>
            <a:off x="9036572" y="1180525"/>
            <a:ext cx="2860570" cy="1661993"/>
          </a:xfrm>
          <a:prstGeom prst="rect">
            <a:avLst/>
          </a:prstGeom>
          <a:noFill/>
        </p:spPr>
        <p:txBody>
          <a:bodyPr wrap="square" rtlCol="0">
            <a:spAutoFit/>
          </a:bodyPr>
          <a:lstStyle/>
          <a:p>
            <a:r>
              <a:rPr lang="es-ES" dirty="0">
                <a:solidFill>
                  <a:schemeClr val="accent1">
                    <a:lumMod val="50000"/>
                  </a:schemeClr>
                </a:solidFill>
                <a:latin typeface="Courier New" panose="02070309020205020404" pitchFamily="49" charset="0"/>
                <a:cs typeface="Courier New" panose="02070309020205020404" pitchFamily="49" charset="0"/>
              </a:rPr>
              <a:t>Ward</a:t>
            </a:r>
            <a:r>
              <a:rPr lang="es-ES" sz="1800" dirty="0">
                <a:solidFill>
                  <a:schemeClr val="accent1">
                    <a:lumMod val="50000"/>
                  </a:schemeClr>
                </a:solidFill>
                <a:latin typeface="Courier New" panose="02070309020205020404" pitchFamily="49" charset="0"/>
                <a:cs typeface="Courier New" panose="02070309020205020404" pitchFamily="49" charset="0"/>
              </a:rPr>
              <a:t>:</a:t>
            </a:r>
            <a:r>
              <a:rPr lang="es-ES" sz="1400" dirty="0">
                <a:solidFill>
                  <a:schemeClr val="accent1">
                    <a:lumMod val="50000"/>
                  </a:schemeClr>
                </a:solidFill>
              </a:rPr>
              <a:t>(mínima varianza) La distancia entre dos </a:t>
            </a:r>
            <a:r>
              <a:rPr lang="es-ES" sz="1400" dirty="0" err="1">
                <a:solidFill>
                  <a:schemeClr val="accent1">
                    <a:lumMod val="50000"/>
                  </a:schemeClr>
                </a:solidFill>
              </a:rPr>
              <a:t>clusters</a:t>
            </a:r>
            <a:r>
              <a:rPr lang="es-ES" sz="1400" dirty="0">
                <a:solidFill>
                  <a:schemeClr val="accent1">
                    <a:lumMod val="50000"/>
                  </a:schemeClr>
                </a:solidFill>
              </a:rPr>
              <a:t> es la cantidad por la cual aumenta la suma de los cuadrados de las distancias dentro de cada </a:t>
            </a:r>
            <a:r>
              <a:rPr lang="es-ES" sz="1400" dirty="0" err="1">
                <a:solidFill>
                  <a:schemeClr val="accent1">
                    <a:lumMod val="50000"/>
                  </a:schemeClr>
                </a:solidFill>
              </a:rPr>
              <a:t>cluster</a:t>
            </a:r>
            <a:r>
              <a:rPr lang="es-ES" sz="1400" dirty="0">
                <a:solidFill>
                  <a:schemeClr val="accent1">
                    <a:lumMod val="50000"/>
                  </a:schemeClr>
                </a:solidFill>
              </a:rPr>
              <a:t> si se unieran. Lo que aumentaría la varianza si se uniesen.</a:t>
            </a:r>
          </a:p>
        </p:txBody>
      </p:sp>
    </p:spTree>
    <p:extLst>
      <p:ext uri="{BB962C8B-B14F-4D97-AF65-F5344CB8AC3E}">
        <p14:creationId xmlns:p14="http://schemas.microsoft.com/office/powerpoint/2010/main" val="16896563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37C1E777-D0D1-07FC-1403-BB9C8DF03D62}"/>
              </a:ext>
            </a:extLst>
          </p:cNvPr>
          <p:cNvSpPr/>
          <p:nvPr/>
        </p:nvSpPr>
        <p:spPr>
          <a:xfrm>
            <a:off x="302754" y="1086465"/>
            <a:ext cx="6805969" cy="5635012"/>
          </a:xfrm>
          <a:prstGeom prst="roundRect">
            <a:avLst>
              <a:gd name="adj" fmla="val 672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Elipse 12">
            <a:extLst>
              <a:ext uri="{FF2B5EF4-FFF2-40B4-BE49-F238E27FC236}">
                <a16:creationId xmlns:a16="http://schemas.microsoft.com/office/drawing/2014/main" id="{2B53862E-99BB-9A06-AB26-A2686BD4673B}"/>
              </a:ext>
            </a:extLst>
          </p:cNvPr>
          <p:cNvSpPr/>
          <p:nvPr/>
        </p:nvSpPr>
        <p:spPr>
          <a:xfrm>
            <a:off x="892087"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P1</a:t>
            </a:r>
          </a:p>
        </p:txBody>
      </p:sp>
      <p:sp>
        <p:nvSpPr>
          <p:cNvPr id="8" name="Elipse 7">
            <a:extLst>
              <a:ext uri="{FF2B5EF4-FFF2-40B4-BE49-F238E27FC236}">
                <a16:creationId xmlns:a16="http://schemas.microsoft.com/office/drawing/2014/main" id="{D6E4C654-8726-30C5-7618-6A74485A61CA}"/>
              </a:ext>
            </a:extLst>
          </p:cNvPr>
          <p:cNvSpPr/>
          <p:nvPr/>
        </p:nvSpPr>
        <p:spPr>
          <a:xfrm>
            <a:off x="1447516" y="505914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P2</a:t>
            </a:r>
          </a:p>
        </p:txBody>
      </p:sp>
      <p:sp>
        <p:nvSpPr>
          <p:cNvPr id="9" name="Elipse 8">
            <a:extLst>
              <a:ext uri="{FF2B5EF4-FFF2-40B4-BE49-F238E27FC236}">
                <a16:creationId xmlns:a16="http://schemas.microsoft.com/office/drawing/2014/main" id="{8FE39C4E-E8B5-F744-5B9A-AF166379A85C}"/>
              </a:ext>
            </a:extLst>
          </p:cNvPr>
          <p:cNvSpPr/>
          <p:nvPr/>
        </p:nvSpPr>
        <p:spPr>
          <a:xfrm>
            <a:off x="5591633"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P3</a:t>
            </a:r>
          </a:p>
        </p:txBody>
      </p:sp>
      <p:sp>
        <p:nvSpPr>
          <p:cNvPr id="10" name="Elipse 9">
            <a:extLst>
              <a:ext uri="{FF2B5EF4-FFF2-40B4-BE49-F238E27FC236}">
                <a16:creationId xmlns:a16="http://schemas.microsoft.com/office/drawing/2014/main" id="{4D4536D0-EF07-8598-4EF4-C8AA3A864005}"/>
              </a:ext>
            </a:extLst>
          </p:cNvPr>
          <p:cNvSpPr/>
          <p:nvPr/>
        </p:nvSpPr>
        <p:spPr>
          <a:xfrm>
            <a:off x="5951633" y="5411535"/>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P4</a:t>
            </a:r>
          </a:p>
        </p:txBody>
      </p:sp>
      <p:sp>
        <p:nvSpPr>
          <p:cNvPr id="20" name="Elipse 19">
            <a:extLst>
              <a:ext uri="{FF2B5EF4-FFF2-40B4-BE49-F238E27FC236}">
                <a16:creationId xmlns:a16="http://schemas.microsoft.com/office/drawing/2014/main" id="{107557BF-0E02-4D7E-EB13-773A1DC49CEB}"/>
              </a:ext>
            </a:extLst>
          </p:cNvPr>
          <p:cNvSpPr/>
          <p:nvPr/>
        </p:nvSpPr>
        <p:spPr>
          <a:xfrm>
            <a:off x="6522887" y="1239284"/>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P6</a:t>
            </a:r>
          </a:p>
        </p:txBody>
      </p:sp>
      <p:sp>
        <p:nvSpPr>
          <p:cNvPr id="21" name="Elipse 20">
            <a:extLst>
              <a:ext uri="{FF2B5EF4-FFF2-40B4-BE49-F238E27FC236}">
                <a16:creationId xmlns:a16="http://schemas.microsoft.com/office/drawing/2014/main" id="{FC878616-5F75-2A77-5698-0E2EEED4E27B}"/>
              </a:ext>
            </a:extLst>
          </p:cNvPr>
          <p:cNvSpPr/>
          <p:nvPr/>
        </p:nvSpPr>
        <p:spPr>
          <a:xfrm>
            <a:off x="5083633" y="213360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P5</a:t>
            </a:r>
          </a:p>
        </p:txBody>
      </p:sp>
      <p:sp>
        <p:nvSpPr>
          <p:cNvPr id="22" name="Elipse 21">
            <a:extLst>
              <a:ext uri="{FF2B5EF4-FFF2-40B4-BE49-F238E27FC236}">
                <a16:creationId xmlns:a16="http://schemas.microsoft.com/office/drawing/2014/main" id="{EC0EDBC2-AADF-F66C-0AA7-5B8E7D9B91FF}"/>
              </a:ext>
            </a:extLst>
          </p:cNvPr>
          <p:cNvSpPr/>
          <p:nvPr/>
        </p:nvSpPr>
        <p:spPr>
          <a:xfrm>
            <a:off x="3437729" y="355632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600" b="1" dirty="0"/>
              <a:t>P7</a:t>
            </a:r>
          </a:p>
        </p:txBody>
      </p:sp>
      <p:sp>
        <p:nvSpPr>
          <p:cNvPr id="2" name="CuadroTexto 1">
            <a:extLst>
              <a:ext uri="{FF2B5EF4-FFF2-40B4-BE49-F238E27FC236}">
                <a16:creationId xmlns:a16="http://schemas.microsoft.com/office/drawing/2014/main" id="{EC2DC7CD-39E7-7D11-707D-E127CAE9239A}"/>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 (</a:t>
            </a:r>
            <a:r>
              <a:rPr lang="es-ES" sz="1600" dirty="0" err="1">
                <a:solidFill>
                  <a:schemeClr val="accent1">
                    <a:lumMod val="50000"/>
                  </a:schemeClr>
                </a:solidFill>
                <a:latin typeface="Courier New" panose="02070309020205020404" pitchFamily="49" charset="0"/>
                <a:cs typeface="Courier New" panose="02070309020205020404" pitchFamily="49" charset="0"/>
              </a:rPr>
              <a:t>linkage</a:t>
            </a:r>
            <a:r>
              <a:rPr lang="es-ES" sz="2000" dirty="0">
                <a:solidFill>
                  <a:schemeClr val="accent1">
                    <a:lumMod val="50000"/>
                  </a:schemeClr>
                </a:solidFill>
              </a:rPr>
              <a:t>):</a:t>
            </a:r>
          </a:p>
        </p:txBody>
      </p:sp>
    </p:spTree>
    <p:extLst>
      <p:ext uri="{BB962C8B-B14F-4D97-AF65-F5344CB8AC3E}">
        <p14:creationId xmlns:p14="http://schemas.microsoft.com/office/powerpoint/2010/main" val="42847765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Elipse 23">
            <a:extLst>
              <a:ext uri="{FF2B5EF4-FFF2-40B4-BE49-F238E27FC236}">
                <a16:creationId xmlns:a16="http://schemas.microsoft.com/office/drawing/2014/main" id="{63652C12-0DD3-BCF6-E01C-48B26F39252E}"/>
              </a:ext>
            </a:extLst>
          </p:cNvPr>
          <p:cNvSpPr/>
          <p:nvPr/>
        </p:nvSpPr>
        <p:spPr>
          <a:xfrm>
            <a:off x="4958904" y="867207"/>
            <a:ext cx="2088000" cy="2088000"/>
          </a:xfrm>
          <a:prstGeom prst="ellipse">
            <a:avLst/>
          </a:prstGeom>
          <a:solidFill>
            <a:schemeClr val="accent2">
              <a:lumMod val="75000"/>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C3</a:t>
            </a:r>
          </a:p>
        </p:txBody>
      </p:sp>
      <p:sp>
        <p:nvSpPr>
          <p:cNvPr id="12" name="Elipse 11">
            <a:extLst>
              <a:ext uri="{FF2B5EF4-FFF2-40B4-BE49-F238E27FC236}">
                <a16:creationId xmlns:a16="http://schemas.microsoft.com/office/drawing/2014/main" id="{0AA140AB-924C-B8DD-B08B-A5AB626EEB67}"/>
              </a:ext>
            </a:extLst>
          </p:cNvPr>
          <p:cNvSpPr/>
          <p:nvPr/>
        </p:nvSpPr>
        <p:spPr>
          <a:xfrm>
            <a:off x="5443633" y="5253953"/>
            <a:ext cx="936000" cy="936000"/>
          </a:xfrm>
          <a:prstGeom prst="ellipse">
            <a:avLst/>
          </a:prstGeom>
          <a:solidFill>
            <a:schemeClr val="accent6">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324000" bIns="288000" rtlCol="0" anchor="ctr"/>
          <a:lstStyle/>
          <a:p>
            <a:pPr algn="ctr"/>
            <a:r>
              <a:rPr lang="es-ES" b="1" dirty="0">
                <a:solidFill>
                  <a:schemeClr val="tx1"/>
                </a:solidFill>
              </a:rPr>
              <a:t>C2</a:t>
            </a:r>
          </a:p>
        </p:txBody>
      </p:sp>
      <p:sp>
        <p:nvSpPr>
          <p:cNvPr id="25" name="Elipse 24">
            <a:extLst>
              <a:ext uri="{FF2B5EF4-FFF2-40B4-BE49-F238E27FC236}">
                <a16:creationId xmlns:a16="http://schemas.microsoft.com/office/drawing/2014/main" id="{7DB428D1-A5E8-3132-5201-D135E7B5387B}"/>
              </a:ext>
            </a:extLst>
          </p:cNvPr>
          <p:cNvSpPr>
            <a:spLocks noChangeAspect="1"/>
          </p:cNvSpPr>
          <p:nvPr/>
        </p:nvSpPr>
        <p:spPr>
          <a:xfrm>
            <a:off x="749155" y="4976398"/>
            <a:ext cx="1319322" cy="1319322"/>
          </a:xfrm>
          <a:prstGeom prst="ellipse">
            <a:avLst/>
          </a:prstGeom>
          <a:solidFill>
            <a:srgbClr val="7030A0">
              <a:alpha val="32000"/>
            </a:srgb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C1</a:t>
            </a:r>
          </a:p>
        </p:txBody>
      </p:sp>
      <p:sp>
        <p:nvSpPr>
          <p:cNvPr id="7" name="Rectángulo: esquinas redondeadas 6">
            <a:extLst>
              <a:ext uri="{FF2B5EF4-FFF2-40B4-BE49-F238E27FC236}">
                <a16:creationId xmlns:a16="http://schemas.microsoft.com/office/drawing/2014/main" id="{37C1E777-D0D1-07FC-1403-BB9C8DF03D62}"/>
              </a:ext>
            </a:extLst>
          </p:cNvPr>
          <p:cNvSpPr/>
          <p:nvPr/>
        </p:nvSpPr>
        <p:spPr>
          <a:xfrm>
            <a:off x="302754" y="1086465"/>
            <a:ext cx="6805969" cy="5635012"/>
          </a:xfrm>
          <a:prstGeom prst="roundRect">
            <a:avLst>
              <a:gd name="adj" fmla="val 672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8FE39C4E-E8B5-F744-5B9A-AF166379A85C}"/>
              </a:ext>
            </a:extLst>
          </p:cNvPr>
          <p:cNvSpPr/>
          <p:nvPr/>
        </p:nvSpPr>
        <p:spPr>
          <a:xfrm>
            <a:off x="5591633"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P3</a:t>
            </a:r>
          </a:p>
        </p:txBody>
      </p:sp>
      <p:sp>
        <p:nvSpPr>
          <p:cNvPr id="10" name="Elipse 9">
            <a:extLst>
              <a:ext uri="{FF2B5EF4-FFF2-40B4-BE49-F238E27FC236}">
                <a16:creationId xmlns:a16="http://schemas.microsoft.com/office/drawing/2014/main" id="{4D4536D0-EF07-8598-4EF4-C8AA3A864005}"/>
              </a:ext>
            </a:extLst>
          </p:cNvPr>
          <p:cNvSpPr/>
          <p:nvPr/>
        </p:nvSpPr>
        <p:spPr>
          <a:xfrm>
            <a:off x="5951633" y="5411535"/>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P4</a:t>
            </a:r>
          </a:p>
        </p:txBody>
      </p:sp>
      <p:sp>
        <p:nvSpPr>
          <p:cNvPr id="20" name="Elipse 19">
            <a:extLst>
              <a:ext uri="{FF2B5EF4-FFF2-40B4-BE49-F238E27FC236}">
                <a16:creationId xmlns:a16="http://schemas.microsoft.com/office/drawing/2014/main" id="{107557BF-0E02-4D7E-EB13-773A1DC49CEB}"/>
              </a:ext>
            </a:extLst>
          </p:cNvPr>
          <p:cNvSpPr/>
          <p:nvPr/>
        </p:nvSpPr>
        <p:spPr>
          <a:xfrm>
            <a:off x="6522887" y="1239284"/>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P6</a:t>
            </a:r>
          </a:p>
        </p:txBody>
      </p:sp>
      <p:sp>
        <p:nvSpPr>
          <p:cNvPr id="21" name="Elipse 20">
            <a:extLst>
              <a:ext uri="{FF2B5EF4-FFF2-40B4-BE49-F238E27FC236}">
                <a16:creationId xmlns:a16="http://schemas.microsoft.com/office/drawing/2014/main" id="{FC878616-5F75-2A77-5698-0E2EEED4E27B}"/>
              </a:ext>
            </a:extLst>
          </p:cNvPr>
          <p:cNvSpPr/>
          <p:nvPr/>
        </p:nvSpPr>
        <p:spPr>
          <a:xfrm>
            <a:off x="5083633" y="213360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P5</a:t>
            </a:r>
          </a:p>
        </p:txBody>
      </p:sp>
      <p:sp>
        <p:nvSpPr>
          <p:cNvPr id="22" name="Elipse 21">
            <a:extLst>
              <a:ext uri="{FF2B5EF4-FFF2-40B4-BE49-F238E27FC236}">
                <a16:creationId xmlns:a16="http://schemas.microsoft.com/office/drawing/2014/main" id="{EC0EDBC2-AADF-F66C-0AA7-5B8E7D9B91FF}"/>
              </a:ext>
            </a:extLst>
          </p:cNvPr>
          <p:cNvSpPr/>
          <p:nvPr/>
        </p:nvSpPr>
        <p:spPr>
          <a:xfrm>
            <a:off x="3437729" y="355632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600" b="1" dirty="0"/>
              <a:t>P7</a:t>
            </a:r>
          </a:p>
        </p:txBody>
      </p:sp>
      <p:sp>
        <p:nvSpPr>
          <p:cNvPr id="2" name="Rectángulo 1">
            <a:extLst>
              <a:ext uri="{FF2B5EF4-FFF2-40B4-BE49-F238E27FC236}">
                <a16:creationId xmlns:a16="http://schemas.microsoft.com/office/drawing/2014/main" id="{438C2246-075C-BEB1-FC39-19F44050F488}"/>
              </a:ext>
            </a:extLst>
          </p:cNvPr>
          <p:cNvSpPr/>
          <p:nvPr/>
        </p:nvSpPr>
        <p:spPr>
          <a:xfrm>
            <a:off x="5353480" y="635914"/>
            <a:ext cx="1285660" cy="444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Elipse 2">
            <a:extLst>
              <a:ext uri="{FF2B5EF4-FFF2-40B4-BE49-F238E27FC236}">
                <a16:creationId xmlns:a16="http://schemas.microsoft.com/office/drawing/2014/main" id="{941EE461-2311-50AD-149C-91B8D9E50EB1}"/>
              </a:ext>
            </a:extLst>
          </p:cNvPr>
          <p:cNvSpPr/>
          <p:nvPr/>
        </p:nvSpPr>
        <p:spPr>
          <a:xfrm>
            <a:off x="892087"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P1</a:t>
            </a:r>
          </a:p>
        </p:txBody>
      </p:sp>
      <p:sp>
        <p:nvSpPr>
          <p:cNvPr id="4" name="Elipse 3">
            <a:extLst>
              <a:ext uri="{FF2B5EF4-FFF2-40B4-BE49-F238E27FC236}">
                <a16:creationId xmlns:a16="http://schemas.microsoft.com/office/drawing/2014/main" id="{1F80E82A-B184-443C-41E5-E4C1D51FAEE0}"/>
              </a:ext>
            </a:extLst>
          </p:cNvPr>
          <p:cNvSpPr/>
          <p:nvPr/>
        </p:nvSpPr>
        <p:spPr>
          <a:xfrm>
            <a:off x="1447516" y="505914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P2</a:t>
            </a:r>
          </a:p>
        </p:txBody>
      </p:sp>
      <p:sp>
        <p:nvSpPr>
          <p:cNvPr id="8" name="CuadroTexto 7">
            <a:extLst>
              <a:ext uri="{FF2B5EF4-FFF2-40B4-BE49-F238E27FC236}">
                <a16:creationId xmlns:a16="http://schemas.microsoft.com/office/drawing/2014/main" id="{4DD3A607-1FCB-28DC-2C5B-44565D6FED13}"/>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 (</a:t>
            </a:r>
            <a:r>
              <a:rPr lang="es-ES" sz="1600" dirty="0" err="1">
                <a:solidFill>
                  <a:schemeClr val="accent1">
                    <a:lumMod val="50000"/>
                  </a:schemeClr>
                </a:solidFill>
                <a:latin typeface="Courier New" panose="02070309020205020404" pitchFamily="49" charset="0"/>
                <a:cs typeface="Courier New" panose="02070309020205020404" pitchFamily="49" charset="0"/>
              </a:rPr>
              <a:t>linkage</a:t>
            </a:r>
            <a:r>
              <a:rPr lang="es-ES" sz="2000" dirty="0">
                <a:solidFill>
                  <a:schemeClr val="accent1">
                    <a:lumMod val="50000"/>
                  </a:schemeClr>
                </a:solidFill>
              </a:rPr>
              <a:t>):</a:t>
            </a:r>
          </a:p>
        </p:txBody>
      </p:sp>
    </p:spTree>
    <p:extLst>
      <p:ext uri="{BB962C8B-B14F-4D97-AF65-F5344CB8AC3E}">
        <p14:creationId xmlns:p14="http://schemas.microsoft.com/office/powerpoint/2010/main" val="31746046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Elipse 23">
            <a:extLst>
              <a:ext uri="{FF2B5EF4-FFF2-40B4-BE49-F238E27FC236}">
                <a16:creationId xmlns:a16="http://schemas.microsoft.com/office/drawing/2014/main" id="{63652C12-0DD3-BCF6-E01C-48B26F39252E}"/>
              </a:ext>
            </a:extLst>
          </p:cNvPr>
          <p:cNvSpPr/>
          <p:nvPr/>
        </p:nvSpPr>
        <p:spPr>
          <a:xfrm>
            <a:off x="4958904" y="867207"/>
            <a:ext cx="2088000" cy="2088000"/>
          </a:xfrm>
          <a:prstGeom prst="ellipse">
            <a:avLst/>
          </a:prstGeom>
          <a:solidFill>
            <a:schemeClr val="accent2">
              <a:lumMod val="75000"/>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C3</a:t>
            </a:r>
          </a:p>
        </p:txBody>
      </p:sp>
      <p:sp>
        <p:nvSpPr>
          <p:cNvPr id="12" name="Elipse 11">
            <a:extLst>
              <a:ext uri="{FF2B5EF4-FFF2-40B4-BE49-F238E27FC236}">
                <a16:creationId xmlns:a16="http://schemas.microsoft.com/office/drawing/2014/main" id="{0AA140AB-924C-B8DD-B08B-A5AB626EEB67}"/>
              </a:ext>
            </a:extLst>
          </p:cNvPr>
          <p:cNvSpPr/>
          <p:nvPr/>
        </p:nvSpPr>
        <p:spPr>
          <a:xfrm>
            <a:off x="5443633" y="5253953"/>
            <a:ext cx="936000" cy="936000"/>
          </a:xfrm>
          <a:prstGeom prst="ellipse">
            <a:avLst/>
          </a:prstGeom>
          <a:solidFill>
            <a:schemeClr val="accent6">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324000" bIns="288000" rtlCol="0" anchor="ctr"/>
          <a:lstStyle/>
          <a:p>
            <a:pPr algn="ctr"/>
            <a:r>
              <a:rPr lang="es-ES" b="1" dirty="0">
                <a:solidFill>
                  <a:schemeClr val="tx1"/>
                </a:solidFill>
              </a:rPr>
              <a:t>C2</a:t>
            </a:r>
          </a:p>
        </p:txBody>
      </p:sp>
      <p:sp>
        <p:nvSpPr>
          <p:cNvPr id="7" name="Rectángulo: esquinas redondeadas 6">
            <a:extLst>
              <a:ext uri="{FF2B5EF4-FFF2-40B4-BE49-F238E27FC236}">
                <a16:creationId xmlns:a16="http://schemas.microsoft.com/office/drawing/2014/main" id="{37C1E777-D0D1-07FC-1403-BB9C8DF03D62}"/>
              </a:ext>
            </a:extLst>
          </p:cNvPr>
          <p:cNvSpPr/>
          <p:nvPr/>
        </p:nvSpPr>
        <p:spPr>
          <a:xfrm>
            <a:off x="302754" y="1086465"/>
            <a:ext cx="6805969" cy="5635012"/>
          </a:xfrm>
          <a:prstGeom prst="roundRect">
            <a:avLst>
              <a:gd name="adj" fmla="val 672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8FE39C4E-E8B5-F744-5B9A-AF166379A85C}"/>
              </a:ext>
            </a:extLst>
          </p:cNvPr>
          <p:cNvSpPr/>
          <p:nvPr/>
        </p:nvSpPr>
        <p:spPr>
          <a:xfrm>
            <a:off x="5591633"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P3</a:t>
            </a:r>
          </a:p>
        </p:txBody>
      </p:sp>
      <p:sp>
        <p:nvSpPr>
          <p:cNvPr id="10" name="Elipse 9">
            <a:extLst>
              <a:ext uri="{FF2B5EF4-FFF2-40B4-BE49-F238E27FC236}">
                <a16:creationId xmlns:a16="http://schemas.microsoft.com/office/drawing/2014/main" id="{4D4536D0-EF07-8598-4EF4-C8AA3A864005}"/>
              </a:ext>
            </a:extLst>
          </p:cNvPr>
          <p:cNvSpPr/>
          <p:nvPr/>
        </p:nvSpPr>
        <p:spPr>
          <a:xfrm>
            <a:off x="5951633" y="5411535"/>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P4</a:t>
            </a:r>
          </a:p>
        </p:txBody>
      </p:sp>
      <p:sp>
        <p:nvSpPr>
          <p:cNvPr id="20" name="Elipse 19">
            <a:extLst>
              <a:ext uri="{FF2B5EF4-FFF2-40B4-BE49-F238E27FC236}">
                <a16:creationId xmlns:a16="http://schemas.microsoft.com/office/drawing/2014/main" id="{107557BF-0E02-4D7E-EB13-773A1DC49CEB}"/>
              </a:ext>
            </a:extLst>
          </p:cNvPr>
          <p:cNvSpPr/>
          <p:nvPr/>
        </p:nvSpPr>
        <p:spPr>
          <a:xfrm>
            <a:off x="6522887" y="1239284"/>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P6</a:t>
            </a:r>
          </a:p>
        </p:txBody>
      </p:sp>
      <p:sp>
        <p:nvSpPr>
          <p:cNvPr id="21" name="Elipse 20">
            <a:extLst>
              <a:ext uri="{FF2B5EF4-FFF2-40B4-BE49-F238E27FC236}">
                <a16:creationId xmlns:a16="http://schemas.microsoft.com/office/drawing/2014/main" id="{FC878616-5F75-2A77-5698-0E2EEED4E27B}"/>
              </a:ext>
            </a:extLst>
          </p:cNvPr>
          <p:cNvSpPr/>
          <p:nvPr/>
        </p:nvSpPr>
        <p:spPr>
          <a:xfrm>
            <a:off x="5083633" y="213360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P5</a:t>
            </a:r>
          </a:p>
        </p:txBody>
      </p:sp>
      <p:sp>
        <p:nvSpPr>
          <p:cNvPr id="22" name="Elipse 21">
            <a:extLst>
              <a:ext uri="{FF2B5EF4-FFF2-40B4-BE49-F238E27FC236}">
                <a16:creationId xmlns:a16="http://schemas.microsoft.com/office/drawing/2014/main" id="{EC0EDBC2-AADF-F66C-0AA7-5B8E7D9B91FF}"/>
              </a:ext>
            </a:extLst>
          </p:cNvPr>
          <p:cNvSpPr/>
          <p:nvPr/>
        </p:nvSpPr>
        <p:spPr>
          <a:xfrm>
            <a:off x="3437729" y="355632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600" b="1" dirty="0"/>
              <a:t>P7</a:t>
            </a:r>
          </a:p>
        </p:txBody>
      </p:sp>
      <p:cxnSp>
        <p:nvCxnSpPr>
          <p:cNvPr id="27" name="Conector recto de flecha 26">
            <a:extLst>
              <a:ext uri="{FF2B5EF4-FFF2-40B4-BE49-F238E27FC236}">
                <a16:creationId xmlns:a16="http://schemas.microsoft.com/office/drawing/2014/main" id="{BF1B51DC-61D7-B1CF-9619-327D62F8B9E7}"/>
              </a:ext>
            </a:extLst>
          </p:cNvPr>
          <p:cNvCxnSpPr>
            <a:cxnSpLocks/>
            <a:stCxn id="22" idx="7"/>
            <a:endCxn id="21" idx="3"/>
          </p:cNvCxnSpPr>
          <p:nvPr/>
        </p:nvCxnSpPr>
        <p:spPr>
          <a:xfrm flipV="1">
            <a:off x="3745008" y="2440879"/>
            <a:ext cx="1391346" cy="1168165"/>
          </a:xfrm>
          <a:prstGeom prst="straightConnector1">
            <a:avLst/>
          </a:prstGeom>
          <a:ln w="508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FAE026FF-3873-829C-2028-4AEF2B434A75}"/>
              </a:ext>
            </a:extLst>
          </p:cNvPr>
          <p:cNvCxnSpPr>
            <a:cxnSpLocks/>
            <a:stCxn id="11" idx="7"/>
            <a:endCxn id="22" idx="3"/>
          </p:cNvCxnSpPr>
          <p:nvPr/>
        </p:nvCxnSpPr>
        <p:spPr>
          <a:xfrm flipV="1">
            <a:off x="1754795" y="3863602"/>
            <a:ext cx="1735655" cy="1248262"/>
          </a:xfrm>
          <a:prstGeom prst="straightConnector1">
            <a:avLst/>
          </a:prstGeom>
          <a:ln w="28575">
            <a:solidFill>
              <a:schemeClr val="accent6">
                <a:lumMod val="7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C4DD4ACC-93CA-C88E-D56F-D537F08B024F}"/>
              </a:ext>
            </a:extLst>
          </p:cNvPr>
          <p:cNvCxnSpPr>
            <a:cxnSpLocks/>
            <a:stCxn id="9" idx="1"/>
            <a:endCxn id="22" idx="5"/>
          </p:cNvCxnSpPr>
          <p:nvPr/>
        </p:nvCxnSpPr>
        <p:spPr>
          <a:xfrm flipH="1" flipV="1">
            <a:off x="3745008" y="3863602"/>
            <a:ext cx="1899346" cy="1945369"/>
          </a:xfrm>
          <a:prstGeom prst="straightConnector1">
            <a:avLst/>
          </a:prstGeom>
          <a:ln w="28575">
            <a:solidFill>
              <a:schemeClr val="accent6">
                <a:lumMod val="7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D8AF0FEB-E6AA-F2C9-82AA-280AA8E6270E}"/>
              </a:ext>
            </a:extLst>
          </p:cNvPr>
          <p:cNvCxnSpPr>
            <a:cxnSpLocks/>
          </p:cNvCxnSpPr>
          <p:nvPr/>
        </p:nvCxnSpPr>
        <p:spPr>
          <a:xfrm>
            <a:off x="7350041" y="1342874"/>
            <a:ext cx="814666" cy="0"/>
          </a:xfrm>
          <a:prstGeom prst="straightConnector1">
            <a:avLst/>
          </a:prstGeom>
          <a:ln w="2857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6E7ADA92-854B-8965-43EB-0C4CA36525CF}"/>
                  </a:ext>
                </a:extLst>
              </p:cNvPr>
              <p:cNvSpPr txBox="1"/>
              <p:nvPr/>
            </p:nvSpPr>
            <p:spPr>
              <a:xfrm>
                <a:off x="8164707" y="1168596"/>
                <a:ext cx="6096982"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Single: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C3</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39" name="CuadroTexto 38">
                <a:extLst>
                  <a:ext uri="{FF2B5EF4-FFF2-40B4-BE49-F238E27FC236}">
                    <a16:creationId xmlns:a16="http://schemas.microsoft.com/office/drawing/2014/main" id="{6E7ADA92-854B-8965-43EB-0C4CA36525CF}"/>
                  </a:ext>
                </a:extLst>
              </p:cNvPr>
              <p:cNvSpPr txBox="1">
                <a:spLocks noRot="1" noChangeAspect="1" noMove="1" noResize="1" noEditPoints="1" noAdjustHandles="1" noChangeArrowheads="1" noChangeShapeType="1" noTextEdit="1"/>
              </p:cNvSpPr>
              <p:nvPr/>
            </p:nvSpPr>
            <p:spPr>
              <a:xfrm>
                <a:off x="8164707" y="1168596"/>
                <a:ext cx="6096982" cy="369332"/>
              </a:xfrm>
              <a:prstGeom prst="rect">
                <a:avLst/>
              </a:prstGeom>
              <a:blipFill>
                <a:blip r:embed="rId2"/>
                <a:stretch>
                  <a:fillRect l="-799" t="-11667" b="-28333"/>
                </a:stretch>
              </a:blipFill>
            </p:spPr>
            <p:txBody>
              <a:bodyPr/>
              <a:lstStyle/>
              <a:p>
                <a:r>
                  <a:rPr lang="es-ES">
                    <a:noFill/>
                  </a:rPr>
                  <a:t> </a:t>
                </a:r>
              </a:p>
            </p:txBody>
          </p:sp>
        </mc:Fallback>
      </mc:AlternateContent>
      <p:sp>
        <p:nvSpPr>
          <p:cNvPr id="2" name="Rectángulo 1">
            <a:extLst>
              <a:ext uri="{FF2B5EF4-FFF2-40B4-BE49-F238E27FC236}">
                <a16:creationId xmlns:a16="http://schemas.microsoft.com/office/drawing/2014/main" id="{E53C1AE3-554C-6C12-DF51-11FF09A332DF}"/>
              </a:ext>
            </a:extLst>
          </p:cNvPr>
          <p:cNvSpPr/>
          <p:nvPr/>
        </p:nvSpPr>
        <p:spPr>
          <a:xfrm>
            <a:off x="5353480" y="635914"/>
            <a:ext cx="1285660" cy="444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Elipse 2">
            <a:extLst>
              <a:ext uri="{FF2B5EF4-FFF2-40B4-BE49-F238E27FC236}">
                <a16:creationId xmlns:a16="http://schemas.microsoft.com/office/drawing/2014/main" id="{DD3A1CEE-0DB5-35A0-E1D6-016057841A23}"/>
              </a:ext>
            </a:extLst>
          </p:cNvPr>
          <p:cNvSpPr>
            <a:spLocks noChangeAspect="1"/>
          </p:cNvSpPr>
          <p:nvPr/>
        </p:nvSpPr>
        <p:spPr>
          <a:xfrm>
            <a:off x="749155" y="4976398"/>
            <a:ext cx="1319322" cy="1319322"/>
          </a:xfrm>
          <a:prstGeom prst="ellipse">
            <a:avLst/>
          </a:prstGeom>
          <a:solidFill>
            <a:srgbClr val="7030A0">
              <a:alpha val="32000"/>
            </a:srgb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C1</a:t>
            </a:r>
          </a:p>
        </p:txBody>
      </p:sp>
      <p:sp>
        <p:nvSpPr>
          <p:cNvPr id="4" name="Elipse 3">
            <a:extLst>
              <a:ext uri="{FF2B5EF4-FFF2-40B4-BE49-F238E27FC236}">
                <a16:creationId xmlns:a16="http://schemas.microsoft.com/office/drawing/2014/main" id="{8A94086C-8762-BCDA-94ED-31C96886D76E}"/>
              </a:ext>
            </a:extLst>
          </p:cNvPr>
          <p:cNvSpPr/>
          <p:nvPr/>
        </p:nvSpPr>
        <p:spPr>
          <a:xfrm>
            <a:off x="892087"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P1</a:t>
            </a:r>
          </a:p>
        </p:txBody>
      </p:sp>
      <p:sp>
        <p:nvSpPr>
          <p:cNvPr id="11" name="Elipse 10">
            <a:extLst>
              <a:ext uri="{FF2B5EF4-FFF2-40B4-BE49-F238E27FC236}">
                <a16:creationId xmlns:a16="http://schemas.microsoft.com/office/drawing/2014/main" id="{65324957-BE22-D228-F00D-95CCD317FCB9}"/>
              </a:ext>
            </a:extLst>
          </p:cNvPr>
          <p:cNvSpPr/>
          <p:nvPr/>
        </p:nvSpPr>
        <p:spPr>
          <a:xfrm>
            <a:off x="1447516" y="505914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P2</a:t>
            </a:r>
          </a:p>
        </p:txBody>
      </p:sp>
      <p:sp>
        <p:nvSpPr>
          <p:cNvPr id="8" name="CuadroTexto 7">
            <a:extLst>
              <a:ext uri="{FF2B5EF4-FFF2-40B4-BE49-F238E27FC236}">
                <a16:creationId xmlns:a16="http://schemas.microsoft.com/office/drawing/2014/main" id="{30BE2343-644F-0695-D366-BAFA4590C09B}"/>
              </a:ext>
            </a:extLst>
          </p:cNvPr>
          <p:cNvSpPr txBox="1"/>
          <p:nvPr/>
        </p:nvSpPr>
        <p:spPr>
          <a:xfrm>
            <a:off x="232597" y="499684"/>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 (</a:t>
            </a:r>
            <a:r>
              <a:rPr lang="es-ES" sz="1600" dirty="0" err="1">
                <a:solidFill>
                  <a:schemeClr val="accent1">
                    <a:lumMod val="50000"/>
                  </a:schemeClr>
                </a:solidFill>
                <a:latin typeface="Courier New" panose="02070309020205020404" pitchFamily="49" charset="0"/>
                <a:cs typeface="Courier New" panose="02070309020205020404" pitchFamily="49" charset="0"/>
              </a:rPr>
              <a:t>linkage</a:t>
            </a:r>
            <a:r>
              <a:rPr lang="es-ES" sz="2000" dirty="0">
                <a:solidFill>
                  <a:schemeClr val="accent1">
                    <a:lumMod val="50000"/>
                  </a:schemeClr>
                </a:solidFill>
              </a:rPr>
              <a:t>):</a:t>
            </a:r>
          </a:p>
        </p:txBody>
      </p:sp>
    </p:spTree>
    <p:extLst>
      <p:ext uri="{BB962C8B-B14F-4D97-AF65-F5344CB8AC3E}">
        <p14:creationId xmlns:p14="http://schemas.microsoft.com/office/powerpoint/2010/main" val="7831663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Elipse 42">
            <a:extLst>
              <a:ext uri="{FF2B5EF4-FFF2-40B4-BE49-F238E27FC236}">
                <a16:creationId xmlns:a16="http://schemas.microsoft.com/office/drawing/2014/main" id="{D32DA319-A228-AC49-1526-0A7E83DC31EC}"/>
              </a:ext>
            </a:extLst>
          </p:cNvPr>
          <p:cNvSpPr>
            <a:spLocks noChangeAspect="1"/>
          </p:cNvSpPr>
          <p:nvPr/>
        </p:nvSpPr>
        <p:spPr>
          <a:xfrm>
            <a:off x="3147695" y="668047"/>
            <a:ext cx="4657151" cy="4398771"/>
          </a:xfrm>
          <a:prstGeom prst="ellipse">
            <a:avLst/>
          </a:prstGeom>
          <a:solidFill>
            <a:schemeClr val="accent2">
              <a:lumMod val="75000"/>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C3</a:t>
            </a:r>
          </a:p>
        </p:txBody>
      </p:sp>
      <p:sp>
        <p:nvSpPr>
          <p:cNvPr id="12" name="Elipse 11">
            <a:extLst>
              <a:ext uri="{FF2B5EF4-FFF2-40B4-BE49-F238E27FC236}">
                <a16:creationId xmlns:a16="http://schemas.microsoft.com/office/drawing/2014/main" id="{0AA140AB-924C-B8DD-B08B-A5AB626EEB67}"/>
              </a:ext>
            </a:extLst>
          </p:cNvPr>
          <p:cNvSpPr/>
          <p:nvPr/>
        </p:nvSpPr>
        <p:spPr>
          <a:xfrm>
            <a:off x="5443633" y="5253953"/>
            <a:ext cx="936000" cy="936000"/>
          </a:xfrm>
          <a:prstGeom prst="ellipse">
            <a:avLst/>
          </a:prstGeom>
          <a:solidFill>
            <a:schemeClr val="accent6">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324000" bIns="288000" rtlCol="0" anchor="ctr"/>
          <a:lstStyle/>
          <a:p>
            <a:pPr algn="ctr"/>
            <a:r>
              <a:rPr lang="es-ES" b="1" dirty="0">
                <a:solidFill>
                  <a:schemeClr val="tx1"/>
                </a:solidFill>
              </a:rPr>
              <a:t>C2</a:t>
            </a:r>
          </a:p>
        </p:txBody>
      </p:sp>
      <p:sp>
        <p:nvSpPr>
          <p:cNvPr id="7" name="Rectángulo: esquinas redondeadas 6">
            <a:extLst>
              <a:ext uri="{FF2B5EF4-FFF2-40B4-BE49-F238E27FC236}">
                <a16:creationId xmlns:a16="http://schemas.microsoft.com/office/drawing/2014/main" id="{37C1E777-D0D1-07FC-1403-BB9C8DF03D62}"/>
              </a:ext>
            </a:extLst>
          </p:cNvPr>
          <p:cNvSpPr/>
          <p:nvPr/>
        </p:nvSpPr>
        <p:spPr>
          <a:xfrm>
            <a:off x="302754" y="1086465"/>
            <a:ext cx="6805969" cy="5635012"/>
          </a:xfrm>
          <a:prstGeom prst="roundRect">
            <a:avLst>
              <a:gd name="adj" fmla="val 672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8FE39C4E-E8B5-F744-5B9A-AF166379A85C}"/>
              </a:ext>
            </a:extLst>
          </p:cNvPr>
          <p:cNvSpPr/>
          <p:nvPr/>
        </p:nvSpPr>
        <p:spPr>
          <a:xfrm>
            <a:off x="5591633"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P3</a:t>
            </a:r>
          </a:p>
        </p:txBody>
      </p:sp>
      <p:sp>
        <p:nvSpPr>
          <p:cNvPr id="10" name="Elipse 9">
            <a:extLst>
              <a:ext uri="{FF2B5EF4-FFF2-40B4-BE49-F238E27FC236}">
                <a16:creationId xmlns:a16="http://schemas.microsoft.com/office/drawing/2014/main" id="{4D4536D0-EF07-8598-4EF4-C8AA3A864005}"/>
              </a:ext>
            </a:extLst>
          </p:cNvPr>
          <p:cNvSpPr/>
          <p:nvPr/>
        </p:nvSpPr>
        <p:spPr>
          <a:xfrm>
            <a:off x="5951633" y="5411535"/>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P4</a:t>
            </a:r>
          </a:p>
        </p:txBody>
      </p:sp>
      <p:sp>
        <p:nvSpPr>
          <p:cNvPr id="20" name="Elipse 19">
            <a:extLst>
              <a:ext uri="{FF2B5EF4-FFF2-40B4-BE49-F238E27FC236}">
                <a16:creationId xmlns:a16="http://schemas.microsoft.com/office/drawing/2014/main" id="{107557BF-0E02-4D7E-EB13-773A1DC49CEB}"/>
              </a:ext>
            </a:extLst>
          </p:cNvPr>
          <p:cNvSpPr/>
          <p:nvPr/>
        </p:nvSpPr>
        <p:spPr>
          <a:xfrm>
            <a:off x="6522887" y="1239284"/>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P6</a:t>
            </a:r>
          </a:p>
        </p:txBody>
      </p:sp>
      <p:sp>
        <p:nvSpPr>
          <p:cNvPr id="21" name="Elipse 20">
            <a:extLst>
              <a:ext uri="{FF2B5EF4-FFF2-40B4-BE49-F238E27FC236}">
                <a16:creationId xmlns:a16="http://schemas.microsoft.com/office/drawing/2014/main" id="{FC878616-5F75-2A77-5698-0E2EEED4E27B}"/>
              </a:ext>
            </a:extLst>
          </p:cNvPr>
          <p:cNvSpPr/>
          <p:nvPr/>
        </p:nvSpPr>
        <p:spPr>
          <a:xfrm>
            <a:off x="5083633" y="213360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P5</a:t>
            </a:r>
          </a:p>
        </p:txBody>
      </p:sp>
      <p:sp>
        <p:nvSpPr>
          <p:cNvPr id="22" name="Elipse 21">
            <a:extLst>
              <a:ext uri="{FF2B5EF4-FFF2-40B4-BE49-F238E27FC236}">
                <a16:creationId xmlns:a16="http://schemas.microsoft.com/office/drawing/2014/main" id="{EC0EDBC2-AADF-F66C-0AA7-5B8E7D9B91FF}"/>
              </a:ext>
            </a:extLst>
          </p:cNvPr>
          <p:cNvSpPr/>
          <p:nvPr/>
        </p:nvSpPr>
        <p:spPr>
          <a:xfrm>
            <a:off x="3437729" y="355632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600" b="1" dirty="0"/>
              <a:t>P7</a:t>
            </a:r>
          </a:p>
        </p:txBody>
      </p:sp>
      <p:cxnSp>
        <p:nvCxnSpPr>
          <p:cNvPr id="36" name="Conector recto de flecha 35">
            <a:extLst>
              <a:ext uri="{FF2B5EF4-FFF2-40B4-BE49-F238E27FC236}">
                <a16:creationId xmlns:a16="http://schemas.microsoft.com/office/drawing/2014/main" id="{D8AF0FEB-E6AA-F2C9-82AA-280AA8E6270E}"/>
              </a:ext>
            </a:extLst>
          </p:cNvPr>
          <p:cNvCxnSpPr>
            <a:cxnSpLocks/>
          </p:cNvCxnSpPr>
          <p:nvPr/>
        </p:nvCxnSpPr>
        <p:spPr>
          <a:xfrm>
            <a:off x="7350041" y="1342874"/>
            <a:ext cx="814666" cy="0"/>
          </a:xfrm>
          <a:prstGeom prst="straightConnector1">
            <a:avLst/>
          </a:prstGeom>
          <a:ln w="2857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6E7ADA92-854B-8965-43EB-0C4CA36525CF}"/>
                  </a:ext>
                </a:extLst>
              </p:cNvPr>
              <p:cNvSpPr txBox="1"/>
              <p:nvPr/>
            </p:nvSpPr>
            <p:spPr>
              <a:xfrm>
                <a:off x="8164707" y="1168596"/>
                <a:ext cx="6096982"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Single: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C3</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39" name="CuadroTexto 38">
                <a:extLst>
                  <a:ext uri="{FF2B5EF4-FFF2-40B4-BE49-F238E27FC236}">
                    <a16:creationId xmlns:a16="http://schemas.microsoft.com/office/drawing/2014/main" id="{6E7ADA92-854B-8965-43EB-0C4CA36525CF}"/>
                  </a:ext>
                </a:extLst>
              </p:cNvPr>
              <p:cNvSpPr txBox="1">
                <a:spLocks noRot="1" noChangeAspect="1" noMove="1" noResize="1" noEditPoints="1" noAdjustHandles="1" noChangeArrowheads="1" noChangeShapeType="1" noTextEdit="1"/>
              </p:cNvSpPr>
              <p:nvPr/>
            </p:nvSpPr>
            <p:spPr>
              <a:xfrm>
                <a:off x="8164707" y="1168596"/>
                <a:ext cx="6096982" cy="369332"/>
              </a:xfrm>
              <a:prstGeom prst="rect">
                <a:avLst/>
              </a:prstGeom>
              <a:blipFill>
                <a:blip r:embed="rId3"/>
                <a:stretch>
                  <a:fillRect l="-799" t="-11667" b="-28333"/>
                </a:stretch>
              </a:blipFill>
            </p:spPr>
            <p:txBody>
              <a:bodyPr/>
              <a:lstStyle/>
              <a:p>
                <a:r>
                  <a:rPr lang="es-ES">
                    <a:noFill/>
                  </a:rPr>
                  <a:t> </a:t>
                </a:r>
              </a:p>
            </p:txBody>
          </p:sp>
        </mc:Fallback>
      </mc:AlternateContent>
      <p:sp>
        <p:nvSpPr>
          <p:cNvPr id="2" name="Rectángulo 1">
            <a:extLst>
              <a:ext uri="{FF2B5EF4-FFF2-40B4-BE49-F238E27FC236}">
                <a16:creationId xmlns:a16="http://schemas.microsoft.com/office/drawing/2014/main" id="{592F81FC-DA30-3F52-DAC2-B6D319444A4C}"/>
              </a:ext>
            </a:extLst>
          </p:cNvPr>
          <p:cNvSpPr/>
          <p:nvPr/>
        </p:nvSpPr>
        <p:spPr>
          <a:xfrm>
            <a:off x="4102195" y="799086"/>
            <a:ext cx="2846328" cy="2809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Rectángulo 2">
            <a:extLst>
              <a:ext uri="{FF2B5EF4-FFF2-40B4-BE49-F238E27FC236}">
                <a16:creationId xmlns:a16="http://schemas.microsoft.com/office/drawing/2014/main" id="{82C213D6-39A2-3C4E-EF24-C61F4E821322}"/>
              </a:ext>
            </a:extLst>
          </p:cNvPr>
          <p:cNvSpPr/>
          <p:nvPr/>
        </p:nvSpPr>
        <p:spPr>
          <a:xfrm>
            <a:off x="4321858" y="565887"/>
            <a:ext cx="2407002" cy="2960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3">
            <a:extLst>
              <a:ext uri="{FF2B5EF4-FFF2-40B4-BE49-F238E27FC236}">
                <a16:creationId xmlns:a16="http://schemas.microsoft.com/office/drawing/2014/main" id="{FD95561A-1A6E-8730-8FFF-3306FA870971}"/>
              </a:ext>
            </a:extLst>
          </p:cNvPr>
          <p:cNvSpPr/>
          <p:nvPr/>
        </p:nvSpPr>
        <p:spPr>
          <a:xfrm>
            <a:off x="7113307" y="1274202"/>
            <a:ext cx="236532" cy="3215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1A9036E5-8D88-6332-24A8-991025BF9E4F}"/>
              </a:ext>
            </a:extLst>
          </p:cNvPr>
          <p:cNvSpPr/>
          <p:nvPr/>
        </p:nvSpPr>
        <p:spPr>
          <a:xfrm>
            <a:off x="7329975" y="1550235"/>
            <a:ext cx="553574" cy="31100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4" name="Conector recto de flecha 13">
            <a:extLst>
              <a:ext uri="{FF2B5EF4-FFF2-40B4-BE49-F238E27FC236}">
                <a16:creationId xmlns:a16="http://schemas.microsoft.com/office/drawing/2014/main" id="{031A16FF-8272-8773-E35B-431A527F4F1E}"/>
              </a:ext>
            </a:extLst>
          </p:cNvPr>
          <p:cNvCxnSpPr>
            <a:cxnSpLocks/>
          </p:cNvCxnSpPr>
          <p:nvPr/>
        </p:nvCxnSpPr>
        <p:spPr>
          <a:xfrm flipV="1">
            <a:off x="3745008" y="2440879"/>
            <a:ext cx="1391346" cy="1168165"/>
          </a:xfrm>
          <a:prstGeom prst="straightConnector1">
            <a:avLst/>
          </a:prstGeom>
          <a:ln w="508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4A9AEF7A-D90C-048D-FDEA-BB147387709A}"/>
              </a:ext>
            </a:extLst>
          </p:cNvPr>
          <p:cNvCxnSpPr>
            <a:cxnSpLocks/>
            <a:stCxn id="19" idx="7"/>
          </p:cNvCxnSpPr>
          <p:nvPr/>
        </p:nvCxnSpPr>
        <p:spPr>
          <a:xfrm flipV="1">
            <a:off x="1754795" y="3863602"/>
            <a:ext cx="1735655" cy="1248262"/>
          </a:xfrm>
          <a:prstGeom prst="straightConnector1">
            <a:avLst/>
          </a:prstGeom>
          <a:ln w="28575">
            <a:solidFill>
              <a:schemeClr val="accent6">
                <a:lumMod val="7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E8254B5F-5986-8F7C-6AA6-322A4A0516BA}"/>
              </a:ext>
            </a:extLst>
          </p:cNvPr>
          <p:cNvCxnSpPr>
            <a:cxnSpLocks/>
          </p:cNvCxnSpPr>
          <p:nvPr/>
        </p:nvCxnSpPr>
        <p:spPr>
          <a:xfrm flipH="1" flipV="1">
            <a:off x="3745008" y="3863602"/>
            <a:ext cx="1899346" cy="1945369"/>
          </a:xfrm>
          <a:prstGeom prst="straightConnector1">
            <a:avLst/>
          </a:prstGeom>
          <a:ln w="28575">
            <a:solidFill>
              <a:schemeClr val="accent6">
                <a:lumMod val="7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Elipse 16">
            <a:extLst>
              <a:ext uri="{FF2B5EF4-FFF2-40B4-BE49-F238E27FC236}">
                <a16:creationId xmlns:a16="http://schemas.microsoft.com/office/drawing/2014/main" id="{5E787925-8911-4FB7-FA30-791798600CE4}"/>
              </a:ext>
            </a:extLst>
          </p:cNvPr>
          <p:cNvSpPr>
            <a:spLocks noChangeAspect="1"/>
          </p:cNvSpPr>
          <p:nvPr/>
        </p:nvSpPr>
        <p:spPr>
          <a:xfrm>
            <a:off x="749155" y="4976398"/>
            <a:ext cx="1319322" cy="1319322"/>
          </a:xfrm>
          <a:prstGeom prst="ellipse">
            <a:avLst/>
          </a:prstGeom>
          <a:solidFill>
            <a:srgbClr val="7030A0">
              <a:alpha val="32000"/>
            </a:srgb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C1</a:t>
            </a:r>
          </a:p>
        </p:txBody>
      </p:sp>
      <p:sp>
        <p:nvSpPr>
          <p:cNvPr id="18" name="Elipse 17">
            <a:extLst>
              <a:ext uri="{FF2B5EF4-FFF2-40B4-BE49-F238E27FC236}">
                <a16:creationId xmlns:a16="http://schemas.microsoft.com/office/drawing/2014/main" id="{E69820D8-5FB7-1F62-10A2-DBF9A7A55755}"/>
              </a:ext>
            </a:extLst>
          </p:cNvPr>
          <p:cNvSpPr/>
          <p:nvPr/>
        </p:nvSpPr>
        <p:spPr>
          <a:xfrm>
            <a:off x="892087"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P1</a:t>
            </a:r>
          </a:p>
        </p:txBody>
      </p:sp>
      <p:sp>
        <p:nvSpPr>
          <p:cNvPr id="19" name="Elipse 18">
            <a:extLst>
              <a:ext uri="{FF2B5EF4-FFF2-40B4-BE49-F238E27FC236}">
                <a16:creationId xmlns:a16="http://schemas.microsoft.com/office/drawing/2014/main" id="{ADD2B470-7E40-E5AA-5F93-A38DAAC2F72A}"/>
              </a:ext>
            </a:extLst>
          </p:cNvPr>
          <p:cNvSpPr/>
          <p:nvPr/>
        </p:nvSpPr>
        <p:spPr>
          <a:xfrm>
            <a:off x="1447516" y="505914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P2</a:t>
            </a:r>
          </a:p>
        </p:txBody>
      </p:sp>
      <p:sp>
        <p:nvSpPr>
          <p:cNvPr id="8" name="CuadroTexto 7">
            <a:extLst>
              <a:ext uri="{FF2B5EF4-FFF2-40B4-BE49-F238E27FC236}">
                <a16:creationId xmlns:a16="http://schemas.microsoft.com/office/drawing/2014/main" id="{34672915-68FA-13CB-350B-6F96922BC8FB}"/>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 (</a:t>
            </a:r>
            <a:r>
              <a:rPr lang="es-ES" sz="1600" dirty="0" err="1">
                <a:solidFill>
                  <a:schemeClr val="accent1">
                    <a:lumMod val="50000"/>
                  </a:schemeClr>
                </a:solidFill>
                <a:latin typeface="Courier New" panose="02070309020205020404" pitchFamily="49" charset="0"/>
                <a:cs typeface="Courier New" panose="02070309020205020404" pitchFamily="49" charset="0"/>
              </a:rPr>
              <a:t>linkage</a:t>
            </a:r>
            <a:r>
              <a:rPr lang="es-ES" sz="2000" dirty="0">
                <a:solidFill>
                  <a:schemeClr val="accent1">
                    <a:lumMod val="50000"/>
                  </a:schemeClr>
                </a:solidFill>
              </a:rPr>
              <a:t>):</a:t>
            </a:r>
          </a:p>
        </p:txBody>
      </p:sp>
    </p:spTree>
    <p:extLst>
      <p:ext uri="{BB962C8B-B14F-4D97-AF65-F5344CB8AC3E}">
        <p14:creationId xmlns:p14="http://schemas.microsoft.com/office/powerpoint/2010/main" val="28439808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Elipse 28">
            <a:extLst>
              <a:ext uri="{FF2B5EF4-FFF2-40B4-BE49-F238E27FC236}">
                <a16:creationId xmlns:a16="http://schemas.microsoft.com/office/drawing/2014/main" id="{56B363EF-F9AF-4350-DFE8-49526A1D96B0}"/>
              </a:ext>
            </a:extLst>
          </p:cNvPr>
          <p:cNvSpPr/>
          <p:nvPr/>
        </p:nvSpPr>
        <p:spPr>
          <a:xfrm>
            <a:off x="5443633" y="5253953"/>
            <a:ext cx="936000" cy="936000"/>
          </a:xfrm>
          <a:prstGeom prst="ellipse">
            <a:avLst/>
          </a:prstGeom>
          <a:solidFill>
            <a:schemeClr val="accent6">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324000" bIns="288000" rtlCol="0" anchor="ctr"/>
          <a:lstStyle/>
          <a:p>
            <a:pPr algn="ctr"/>
            <a:r>
              <a:rPr lang="es-ES" b="1" dirty="0">
                <a:solidFill>
                  <a:schemeClr val="tx1"/>
                </a:solidFill>
              </a:rPr>
              <a:t>C2</a:t>
            </a:r>
          </a:p>
        </p:txBody>
      </p:sp>
      <p:sp>
        <p:nvSpPr>
          <p:cNvPr id="24" name="Elipse 23">
            <a:extLst>
              <a:ext uri="{FF2B5EF4-FFF2-40B4-BE49-F238E27FC236}">
                <a16:creationId xmlns:a16="http://schemas.microsoft.com/office/drawing/2014/main" id="{63652C12-0DD3-BCF6-E01C-48B26F39252E}"/>
              </a:ext>
            </a:extLst>
          </p:cNvPr>
          <p:cNvSpPr/>
          <p:nvPr/>
        </p:nvSpPr>
        <p:spPr>
          <a:xfrm>
            <a:off x="4958904" y="867207"/>
            <a:ext cx="2088000" cy="2088000"/>
          </a:xfrm>
          <a:prstGeom prst="ellipse">
            <a:avLst/>
          </a:prstGeom>
          <a:solidFill>
            <a:schemeClr val="accent2">
              <a:lumMod val="75000"/>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C3</a:t>
            </a:r>
          </a:p>
        </p:txBody>
      </p:sp>
      <p:sp>
        <p:nvSpPr>
          <p:cNvPr id="7" name="Rectángulo: esquinas redondeadas 6">
            <a:extLst>
              <a:ext uri="{FF2B5EF4-FFF2-40B4-BE49-F238E27FC236}">
                <a16:creationId xmlns:a16="http://schemas.microsoft.com/office/drawing/2014/main" id="{37C1E777-D0D1-07FC-1403-BB9C8DF03D62}"/>
              </a:ext>
            </a:extLst>
          </p:cNvPr>
          <p:cNvSpPr/>
          <p:nvPr/>
        </p:nvSpPr>
        <p:spPr>
          <a:xfrm>
            <a:off x="302754" y="1086465"/>
            <a:ext cx="6805969" cy="5635012"/>
          </a:xfrm>
          <a:prstGeom prst="roundRect">
            <a:avLst>
              <a:gd name="adj" fmla="val 672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8FE39C4E-E8B5-F744-5B9A-AF166379A85C}"/>
              </a:ext>
            </a:extLst>
          </p:cNvPr>
          <p:cNvSpPr/>
          <p:nvPr/>
        </p:nvSpPr>
        <p:spPr>
          <a:xfrm>
            <a:off x="5591633"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P3</a:t>
            </a:r>
          </a:p>
        </p:txBody>
      </p:sp>
      <p:sp>
        <p:nvSpPr>
          <p:cNvPr id="10" name="Elipse 9">
            <a:extLst>
              <a:ext uri="{FF2B5EF4-FFF2-40B4-BE49-F238E27FC236}">
                <a16:creationId xmlns:a16="http://schemas.microsoft.com/office/drawing/2014/main" id="{4D4536D0-EF07-8598-4EF4-C8AA3A864005}"/>
              </a:ext>
            </a:extLst>
          </p:cNvPr>
          <p:cNvSpPr/>
          <p:nvPr/>
        </p:nvSpPr>
        <p:spPr>
          <a:xfrm>
            <a:off x="5951633" y="5411535"/>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P4</a:t>
            </a:r>
          </a:p>
        </p:txBody>
      </p:sp>
      <p:sp>
        <p:nvSpPr>
          <p:cNvPr id="20" name="Elipse 19">
            <a:extLst>
              <a:ext uri="{FF2B5EF4-FFF2-40B4-BE49-F238E27FC236}">
                <a16:creationId xmlns:a16="http://schemas.microsoft.com/office/drawing/2014/main" id="{107557BF-0E02-4D7E-EB13-773A1DC49CEB}"/>
              </a:ext>
            </a:extLst>
          </p:cNvPr>
          <p:cNvSpPr/>
          <p:nvPr/>
        </p:nvSpPr>
        <p:spPr>
          <a:xfrm>
            <a:off x="6522887" y="1239284"/>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P6</a:t>
            </a:r>
          </a:p>
        </p:txBody>
      </p:sp>
      <p:sp>
        <p:nvSpPr>
          <p:cNvPr id="21" name="Elipse 20">
            <a:extLst>
              <a:ext uri="{FF2B5EF4-FFF2-40B4-BE49-F238E27FC236}">
                <a16:creationId xmlns:a16="http://schemas.microsoft.com/office/drawing/2014/main" id="{FC878616-5F75-2A77-5698-0E2EEED4E27B}"/>
              </a:ext>
            </a:extLst>
          </p:cNvPr>
          <p:cNvSpPr/>
          <p:nvPr/>
        </p:nvSpPr>
        <p:spPr>
          <a:xfrm>
            <a:off x="5083633" y="213360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P5</a:t>
            </a:r>
          </a:p>
        </p:txBody>
      </p:sp>
      <p:sp>
        <p:nvSpPr>
          <p:cNvPr id="22" name="Elipse 21">
            <a:extLst>
              <a:ext uri="{FF2B5EF4-FFF2-40B4-BE49-F238E27FC236}">
                <a16:creationId xmlns:a16="http://schemas.microsoft.com/office/drawing/2014/main" id="{EC0EDBC2-AADF-F66C-0AA7-5B8E7D9B91FF}"/>
              </a:ext>
            </a:extLst>
          </p:cNvPr>
          <p:cNvSpPr/>
          <p:nvPr/>
        </p:nvSpPr>
        <p:spPr>
          <a:xfrm>
            <a:off x="3437729" y="355632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600" b="1" dirty="0"/>
              <a:t>P7</a:t>
            </a:r>
          </a:p>
        </p:txBody>
      </p:sp>
      <p:cxnSp>
        <p:nvCxnSpPr>
          <p:cNvPr id="36" name="Conector recto de flecha 35">
            <a:extLst>
              <a:ext uri="{FF2B5EF4-FFF2-40B4-BE49-F238E27FC236}">
                <a16:creationId xmlns:a16="http://schemas.microsoft.com/office/drawing/2014/main" id="{D8AF0FEB-E6AA-F2C9-82AA-280AA8E6270E}"/>
              </a:ext>
            </a:extLst>
          </p:cNvPr>
          <p:cNvCxnSpPr>
            <a:cxnSpLocks/>
          </p:cNvCxnSpPr>
          <p:nvPr/>
        </p:nvCxnSpPr>
        <p:spPr>
          <a:xfrm>
            <a:off x="7350041" y="1342874"/>
            <a:ext cx="814666" cy="0"/>
          </a:xfrm>
          <a:prstGeom prst="straightConnector1">
            <a:avLst/>
          </a:prstGeom>
          <a:ln w="2857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6E7ADA92-854B-8965-43EB-0C4CA36525CF}"/>
                  </a:ext>
                </a:extLst>
              </p:cNvPr>
              <p:cNvSpPr txBox="1"/>
              <p:nvPr/>
            </p:nvSpPr>
            <p:spPr>
              <a:xfrm>
                <a:off x="8164707" y="1168596"/>
                <a:ext cx="3285941"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Single: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C3</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39" name="CuadroTexto 38">
                <a:extLst>
                  <a:ext uri="{FF2B5EF4-FFF2-40B4-BE49-F238E27FC236}">
                    <a16:creationId xmlns:a16="http://schemas.microsoft.com/office/drawing/2014/main" id="{6E7ADA92-854B-8965-43EB-0C4CA36525CF}"/>
                  </a:ext>
                </a:extLst>
              </p:cNvPr>
              <p:cNvSpPr txBox="1">
                <a:spLocks noRot="1" noChangeAspect="1" noMove="1" noResize="1" noEditPoints="1" noAdjustHandles="1" noChangeArrowheads="1" noChangeShapeType="1" noTextEdit="1"/>
              </p:cNvSpPr>
              <p:nvPr/>
            </p:nvSpPr>
            <p:spPr>
              <a:xfrm>
                <a:off x="8164707" y="1168596"/>
                <a:ext cx="3285941" cy="369332"/>
              </a:xfrm>
              <a:prstGeom prst="rect">
                <a:avLst/>
              </a:prstGeom>
              <a:blipFill>
                <a:blip r:embed="rId3"/>
                <a:stretch>
                  <a:fillRect l="-1484" t="-11667" b="-28333"/>
                </a:stretch>
              </a:blipFill>
            </p:spPr>
            <p:txBody>
              <a:bodyPr/>
              <a:lstStyle/>
              <a:p>
                <a:r>
                  <a:rPr lang="es-ES">
                    <a:noFill/>
                  </a:rPr>
                  <a:t> </a:t>
                </a:r>
              </a:p>
            </p:txBody>
          </p:sp>
        </mc:Fallback>
      </mc:AlternateContent>
      <p:cxnSp>
        <p:nvCxnSpPr>
          <p:cNvPr id="2" name="Conector recto de flecha 1">
            <a:extLst>
              <a:ext uri="{FF2B5EF4-FFF2-40B4-BE49-F238E27FC236}">
                <a16:creationId xmlns:a16="http://schemas.microsoft.com/office/drawing/2014/main" id="{1510F8BD-31B1-5B43-F698-DE0F05373706}"/>
              </a:ext>
            </a:extLst>
          </p:cNvPr>
          <p:cNvCxnSpPr>
            <a:cxnSpLocks/>
          </p:cNvCxnSpPr>
          <p:nvPr/>
        </p:nvCxnSpPr>
        <p:spPr>
          <a:xfrm>
            <a:off x="7350041" y="2020316"/>
            <a:ext cx="814666"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 name="Conector recto de flecha 2">
            <a:extLst>
              <a:ext uri="{FF2B5EF4-FFF2-40B4-BE49-F238E27FC236}">
                <a16:creationId xmlns:a16="http://schemas.microsoft.com/office/drawing/2014/main" id="{8BD2451B-7D2E-B260-BE30-E7D41AF4ED64}"/>
              </a:ext>
            </a:extLst>
          </p:cNvPr>
          <p:cNvCxnSpPr>
            <a:cxnSpLocks/>
            <a:stCxn id="22" idx="7"/>
            <a:endCxn id="20" idx="3"/>
          </p:cNvCxnSpPr>
          <p:nvPr/>
        </p:nvCxnSpPr>
        <p:spPr>
          <a:xfrm flipV="1">
            <a:off x="3745008" y="1546563"/>
            <a:ext cx="2830600" cy="2062481"/>
          </a:xfrm>
          <a:prstGeom prst="straightConnector1">
            <a:avLst/>
          </a:prstGeom>
          <a:ln w="28575">
            <a:solidFill>
              <a:srgbClr val="C00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C6153AEF-E7B5-52A1-CF8E-14BAA2FF17D0}"/>
              </a:ext>
            </a:extLst>
          </p:cNvPr>
          <p:cNvCxnSpPr>
            <a:cxnSpLocks/>
            <a:stCxn id="31" idx="7"/>
          </p:cNvCxnSpPr>
          <p:nvPr/>
        </p:nvCxnSpPr>
        <p:spPr>
          <a:xfrm flipV="1">
            <a:off x="1199366" y="3863602"/>
            <a:ext cx="2314990" cy="1945369"/>
          </a:xfrm>
          <a:prstGeom prst="straightConnector1">
            <a:avLst/>
          </a:prstGeom>
          <a:ln w="28575">
            <a:solidFill>
              <a:srgbClr val="C00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CEEFF322-1D7F-4731-4C72-67231FBC8CCE}"/>
              </a:ext>
            </a:extLst>
          </p:cNvPr>
          <p:cNvCxnSpPr>
            <a:cxnSpLocks/>
            <a:stCxn id="10" idx="1"/>
            <a:endCxn id="22" idx="5"/>
          </p:cNvCxnSpPr>
          <p:nvPr/>
        </p:nvCxnSpPr>
        <p:spPr>
          <a:xfrm flipH="1" flipV="1">
            <a:off x="3745008" y="3863602"/>
            <a:ext cx="2259346" cy="1600654"/>
          </a:xfrm>
          <a:prstGeom prst="straightConnector1">
            <a:avLst/>
          </a:prstGeom>
          <a:ln w="444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A63B7B98-EFAA-B01D-F7E9-9B03C3B08269}"/>
              </a:ext>
            </a:extLst>
          </p:cNvPr>
          <p:cNvSpPr txBox="1"/>
          <p:nvPr/>
        </p:nvSpPr>
        <p:spPr>
          <a:xfrm>
            <a:off x="8164707" y="1845728"/>
            <a:ext cx="3426183"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Complete:</a:t>
            </a:r>
            <a:endParaRPr lang="es-ES" dirty="0"/>
          </a:p>
        </p:txBody>
      </p:sp>
      <p:sp>
        <p:nvSpPr>
          <p:cNvPr id="19" name="Rectángulo 18">
            <a:extLst>
              <a:ext uri="{FF2B5EF4-FFF2-40B4-BE49-F238E27FC236}">
                <a16:creationId xmlns:a16="http://schemas.microsoft.com/office/drawing/2014/main" id="{944154F8-FABB-296D-AC73-D9C53796A059}"/>
              </a:ext>
            </a:extLst>
          </p:cNvPr>
          <p:cNvSpPr/>
          <p:nvPr/>
        </p:nvSpPr>
        <p:spPr>
          <a:xfrm>
            <a:off x="5353480" y="635914"/>
            <a:ext cx="1285660" cy="444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Elipse 29">
            <a:extLst>
              <a:ext uri="{FF2B5EF4-FFF2-40B4-BE49-F238E27FC236}">
                <a16:creationId xmlns:a16="http://schemas.microsoft.com/office/drawing/2014/main" id="{19627A0B-BA06-CB1A-05AB-7984BE8D8E6C}"/>
              </a:ext>
            </a:extLst>
          </p:cNvPr>
          <p:cNvSpPr>
            <a:spLocks noChangeAspect="1"/>
          </p:cNvSpPr>
          <p:nvPr/>
        </p:nvSpPr>
        <p:spPr>
          <a:xfrm>
            <a:off x="749155" y="4976398"/>
            <a:ext cx="1319322" cy="1319322"/>
          </a:xfrm>
          <a:prstGeom prst="ellipse">
            <a:avLst/>
          </a:prstGeom>
          <a:solidFill>
            <a:srgbClr val="7030A0">
              <a:alpha val="32000"/>
            </a:srgb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C1</a:t>
            </a:r>
          </a:p>
        </p:txBody>
      </p:sp>
      <p:sp>
        <p:nvSpPr>
          <p:cNvPr id="31" name="Elipse 30">
            <a:extLst>
              <a:ext uri="{FF2B5EF4-FFF2-40B4-BE49-F238E27FC236}">
                <a16:creationId xmlns:a16="http://schemas.microsoft.com/office/drawing/2014/main" id="{1D7819FE-CA10-3C99-DE0C-097A5915C571}"/>
              </a:ext>
            </a:extLst>
          </p:cNvPr>
          <p:cNvSpPr/>
          <p:nvPr/>
        </p:nvSpPr>
        <p:spPr>
          <a:xfrm>
            <a:off x="892087"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P1</a:t>
            </a:r>
          </a:p>
        </p:txBody>
      </p:sp>
      <p:sp>
        <p:nvSpPr>
          <p:cNvPr id="32" name="Elipse 31">
            <a:extLst>
              <a:ext uri="{FF2B5EF4-FFF2-40B4-BE49-F238E27FC236}">
                <a16:creationId xmlns:a16="http://schemas.microsoft.com/office/drawing/2014/main" id="{8A1D0E88-73A2-344C-881E-8017AE75BFFE}"/>
              </a:ext>
            </a:extLst>
          </p:cNvPr>
          <p:cNvSpPr/>
          <p:nvPr/>
        </p:nvSpPr>
        <p:spPr>
          <a:xfrm>
            <a:off x="1447516" y="505914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P2</a:t>
            </a:r>
          </a:p>
        </p:txBody>
      </p:sp>
      <p:sp>
        <p:nvSpPr>
          <p:cNvPr id="4" name="CuadroTexto 3">
            <a:extLst>
              <a:ext uri="{FF2B5EF4-FFF2-40B4-BE49-F238E27FC236}">
                <a16:creationId xmlns:a16="http://schemas.microsoft.com/office/drawing/2014/main" id="{2A2A8C64-4CF2-65D7-357E-70282D76309C}"/>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 (</a:t>
            </a:r>
            <a:r>
              <a:rPr lang="es-ES" sz="1600" dirty="0" err="1">
                <a:solidFill>
                  <a:schemeClr val="accent1">
                    <a:lumMod val="50000"/>
                  </a:schemeClr>
                </a:solidFill>
                <a:latin typeface="Courier New" panose="02070309020205020404" pitchFamily="49" charset="0"/>
                <a:cs typeface="Courier New" panose="02070309020205020404" pitchFamily="49" charset="0"/>
              </a:rPr>
              <a:t>linkage</a:t>
            </a:r>
            <a:r>
              <a:rPr lang="es-ES" sz="2000" dirty="0">
                <a:solidFill>
                  <a:schemeClr val="accent1">
                    <a:lumMod val="50000"/>
                  </a:schemeClr>
                </a:solidFill>
              </a:rPr>
              <a:t>):</a:t>
            </a:r>
          </a:p>
        </p:txBody>
      </p:sp>
    </p:spTree>
    <p:extLst>
      <p:ext uri="{BB962C8B-B14F-4D97-AF65-F5344CB8AC3E}">
        <p14:creationId xmlns:p14="http://schemas.microsoft.com/office/powerpoint/2010/main" val="35076304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lipse 11">
            <a:extLst>
              <a:ext uri="{FF2B5EF4-FFF2-40B4-BE49-F238E27FC236}">
                <a16:creationId xmlns:a16="http://schemas.microsoft.com/office/drawing/2014/main" id="{0AA140AB-924C-B8DD-B08B-A5AB626EEB67}"/>
              </a:ext>
            </a:extLst>
          </p:cNvPr>
          <p:cNvSpPr/>
          <p:nvPr/>
        </p:nvSpPr>
        <p:spPr>
          <a:xfrm>
            <a:off x="2964329" y="2961618"/>
            <a:ext cx="3783106" cy="3504923"/>
          </a:xfrm>
          <a:prstGeom prst="ellipse">
            <a:avLst/>
          </a:prstGeom>
          <a:solidFill>
            <a:schemeClr val="accent6">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lIns="252000" tIns="0" rIns="0" bIns="972000" rtlCol="0" anchor="ctr"/>
          <a:lstStyle/>
          <a:p>
            <a:pPr algn="ctr"/>
            <a:r>
              <a:rPr lang="es-ES" b="1" dirty="0">
                <a:solidFill>
                  <a:schemeClr val="tx1"/>
                </a:solidFill>
              </a:rPr>
              <a:t>C2</a:t>
            </a:r>
          </a:p>
        </p:txBody>
      </p:sp>
      <p:sp>
        <p:nvSpPr>
          <p:cNvPr id="24" name="Elipse 23">
            <a:extLst>
              <a:ext uri="{FF2B5EF4-FFF2-40B4-BE49-F238E27FC236}">
                <a16:creationId xmlns:a16="http://schemas.microsoft.com/office/drawing/2014/main" id="{63652C12-0DD3-BCF6-E01C-48B26F39252E}"/>
              </a:ext>
            </a:extLst>
          </p:cNvPr>
          <p:cNvSpPr/>
          <p:nvPr/>
        </p:nvSpPr>
        <p:spPr>
          <a:xfrm>
            <a:off x="4958904" y="867207"/>
            <a:ext cx="2088000" cy="2088000"/>
          </a:xfrm>
          <a:prstGeom prst="ellipse">
            <a:avLst/>
          </a:prstGeom>
          <a:solidFill>
            <a:schemeClr val="accent2">
              <a:lumMod val="75000"/>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C3</a:t>
            </a:r>
          </a:p>
        </p:txBody>
      </p:sp>
      <p:sp>
        <p:nvSpPr>
          <p:cNvPr id="7" name="Rectángulo: esquinas redondeadas 6">
            <a:extLst>
              <a:ext uri="{FF2B5EF4-FFF2-40B4-BE49-F238E27FC236}">
                <a16:creationId xmlns:a16="http://schemas.microsoft.com/office/drawing/2014/main" id="{37C1E777-D0D1-07FC-1403-BB9C8DF03D62}"/>
              </a:ext>
            </a:extLst>
          </p:cNvPr>
          <p:cNvSpPr/>
          <p:nvPr/>
        </p:nvSpPr>
        <p:spPr>
          <a:xfrm>
            <a:off x="302754" y="1086465"/>
            <a:ext cx="6805969" cy="5635012"/>
          </a:xfrm>
          <a:prstGeom prst="roundRect">
            <a:avLst>
              <a:gd name="adj" fmla="val 672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8FE39C4E-E8B5-F744-5B9A-AF166379A85C}"/>
              </a:ext>
            </a:extLst>
          </p:cNvPr>
          <p:cNvSpPr/>
          <p:nvPr/>
        </p:nvSpPr>
        <p:spPr>
          <a:xfrm>
            <a:off x="5591633"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P3</a:t>
            </a:r>
          </a:p>
        </p:txBody>
      </p:sp>
      <p:sp>
        <p:nvSpPr>
          <p:cNvPr id="10" name="Elipse 9">
            <a:extLst>
              <a:ext uri="{FF2B5EF4-FFF2-40B4-BE49-F238E27FC236}">
                <a16:creationId xmlns:a16="http://schemas.microsoft.com/office/drawing/2014/main" id="{4D4536D0-EF07-8598-4EF4-C8AA3A864005}"/>
              </a:ext>
            </a:extLst>
          </p:cNvPr>
          <p:cNvSpPr/>
          <p:nvPr/>
        </p:nvSpPr>
        <p:spPr>
          <a:xfrm>
            <a:off x="5951633" y="5411535"/>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P4</a:t>
            </a:r>
          </a:p>
        </p:txBody>
      </p:sp>
      <p:sp>
        <p:nvSpPr>
          <p:cNvPr id="20" name="Elipse 19">
            <a:extLst>
              <a:ext uri="{FF2B5EF4-FFF2-40B4-BE49-F238E27FC236}">
                <a16:creationId xmlns:a16="http://schemas.microsoft.com/office/drawing/2014/main" id="{107557BF-0E02-4D7E-EB13-773A1DC49CEB}"/>
              </a:ext>
            </a:extLst>
          </p:cNvPr>
          <p:cNvSpPr/>
          <p:nvPr/>
        </p:nvSpPr>
        <p:spPr>
          <a:xfrm>
            <a:off x="6522887" y="1239284"/>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P6</a:t>
            </a:r>
          </a:p>
        </p:txBody>
      </p:sp>
      <p:sp>
        <p:nvSpPr>
          <p:cNvPr id="21" name="Elipse 20">
            <a:extLst>
              <a:ext uri="{FF2B5EF4-FFF2-40B4-BE49-F238E27FC236}">
                <a16:creationId xmlns:a16="http://schemas.microsoft.com/office/drawing/2014/main" id="{FC878616-5F75-2A77-5698-0E2EEED4E27B}"/>
              </a:ext>
            </a:extLst>
          </p:cNvPr>
          <p:cNvSpPr/>
          <p:nvPr/>
        </p:nvSpPr>
        <p:spPr>
          <a:xfrm>
            <a:off x="5083633" y="213360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P5</a:t>
            </a:r>
          </a:p>
        </p:txBody>
      </p:sp>
      <p:sp>
        <p:nvSpPr>
          <p:cNvPr id="22" name="Elipse 21">
            <a:extLst>
              <a:ext uri="{FF2B5EF4-FFF2-40B4-BE49-F238E27FC236}">
                <a16:creationId xmlns:a16="http://schemas.microsoft.com/office/drawing/2014/main" id="{EC0EDBC2-AADF-F66C-0AA7-5B8E7D9B91FF}"/>
              </a:ext>
            </a:extLst>
          </p:cNvPr>
          <p:cNvSpPr/>
          <p:nvPr/>
        </p:nvSpPr>
        <p:spPr>
          <a:xfrm>
            <a:off x="3437729" y="355632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600" b="1" dirty="0"/>
              <a:t>P7</a:t>
            </a:r>
          </a:p>
        </p:txBody>
      </p:sp>
      <p:cxnSp>
        <p:nvCxnSpPr>
          <p:cNvPr id="36" name="Conector recto de flecha 35">
            <a:extLst>
              <a:ext uri="{FF2B5EF4-FFF2-40B4-BE49-F238E27FC236}">
                <a16:creationId xmlns:a16="http://schemas.microsoft.com/office/drawing/2014/main" id="{D8AF0FEB-E6AA-F2C9-82AA-280AA8E6270E}"/>
              </a:ext>
            </a:extLst>
          </p:cNvPr>
          <p:cNvCxnSpPr>
            <a:cxnSpLocks/>
          </p:cNvCxnSpPr>
          <p:nvPr/>
        </p:nvCxnSpPr>
        <p:spPr>
          <a:xfrm>
            <a:off x="7350041" y="1342874"/>
            <a:ext cx="814666" cy="0"/>
          </a:xfrm>
          <a:prstGeom prst="straightConnector1">
            <a:avLst/>
          </a:prstGeom>
          <a:ln w="2857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6E7ADA92-854B-8965-43EB-0C4CA36525CF}"/>
                  </a:ext>
                </a:extLst>
              </p:cNvPr>
              <p:cNvSpPr txBox="1"/>
              <p:nvPr/>
            </p:nvSpPr>
            <p:spPr>
              <a:xfrm>
                <a:off x="8164707" y="1168596"/>
                <a:ext cx="3285941"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Single: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C3</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39" name="CuadroTexto 38">
                <a:extLst>
                  <a:ext uri="{FF2B5EF4-FFF2-40B4-BE49-F238E27FC236}">
                    <a16:creationId xmlns:a16="http://schemas.microsoft.com/office/drawing/2014/main" id="{6E7ADA92-854B-8965-43EB-0C4CA36525CF}"/>
                  </a:ext>
                </a:extLst>
              </p:cNvPr>
              <p:cNvSpPr txBox="1">
                <a:spLocks noRot="1" noChangeAspect="1" noMove="1" noResize="1" noEditPoints="1" noAdjustHandles="1" noChangeArrowheads="1" noChangeShapeType="1" noTextEdit="1"/>
              </p:cNvSpPr>
              <p:nvPr/>
            </p:nvSpPr>
            <p:spPr>
              <a:xfrm>
                <a:off x="8164707" y="1168596"/>
                <a:ext cx="3285941" cy="369332"/>
              </a:xfrm>
              <a:prstGeom prst="rect">
                <a:avLst/>
              </a:prstGeom>
              <a:blipFill>
                <a:blip r:embed="rId3"/>
                <a:stretch>
                  <a:fillRect l="-1484" t="-11667" b="-28333"/>
                </a:stretch>
              </a:blipFill>
            </p:spPr>
            <p:txBody>
              <a:bodyPr/>
              <a:lstStyle/>
              <a:p>
                <a:r>
                  <a:rPr lang="es-ES">
                    <a:noFill/>
                  </a:rPr>
                  <a:t> </a:t>
                </a:r>
              </a:p>
            </p:txBody>
          </p:sp>
        </mc:Fallback>
      </mc:AlternateContent>
      <p:cxnSp>
        <p:nvCxnSpPr>
          <p:cNvPr id="2" name="Conector recto de flecha 1">
            <a:extLst>
              <a:ext uri="{FF2B5EF4-FFF2-40B4-BE49-F238E27FC236}">
                <a16:creationId xmlns:a16="http://schemas.microsoft.com/office/drawing/2014/main" id="{1510F8BD-31B1-5B43-F698-DE0F05373706}"/>
              </a:ext>
            </a:extLst>
          </p:cNvPr>
          <p:cNvCxnSpPr>
            <a:cxnSpLocks/>
          </p:cNvCxnSpPr>
          <p:nvPr/>
        </p:nvCxnSpPr>
        <p:spPr>
          <a:xfrm>
            <a:off x="7350041" y="2020316"/>
            <a:ext cx="814666"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 name="Conector recto de flecha 2">
            <a:extLst>
              <a:ext uri="{FF2B5EF4-FFF2-40B4-BE49-F238E27FC236}">
                <a16:creationId xmlns:a16="http://schemas.microsoft.com/office/drawing/2014/main" id="{8BD2451B-7D2E-B260-BE30-E7D41AF4ED64}"/>
              </a:ext>
            </a:extLst>
          </p:cNvPr>
          <p:cNvCxnSpPr>
            <a:cxnSpLocks/>
            <a:stCxn id="22" idx="7"/>
            <a:endCxn id="20" idx="3"/>
          </p:cNvCxnSpPr>
          <p:nvPr/>
        </p:nvCxnSpPr>
        <p:spPr>
          <a:xfrm flipV="1">
            <a:off x="3745008" y="1546563"/>
            <a:ext cx="2830600" cy="2062481"/>
          </a:xfrm>
          <a:prstGeom prst="straightConnector1">
            <a:avLst/>
          </a:prstGeom>
          <a:ln w="28575">
            <a:solidFill>
              <a:srgbClr val="C00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C6153AEF-E7B5-52A1-CF8E-14BAA2FF17D0}"/>
              </a:ext>
            </a:extLst>
          </p:cNvPr>
          <p:cNvCxnSpPr>
            <a:cxnSpLocks/>
            <a:stCxn id="11" idx="7"/>
            <a:endCxn id="22" idx="3"/>
          </p:cNvCxnSpPr>
          <p:nvPr/>
        </p:nvCxnSpPr>
        <p:spPr>
          <a:xfrm flipV="1">
            <a:off x="1199366" y="3863602"/>
            <a:ext cx="2291084" cy="1945369"/>
          </a:xfrm>
          <a:prstGeom prst="straightConnector1">
            <a:avLst/>
          </a:prstGeom>
          <a:ln w="28575">
            <a:solidFill>
              <a:srgbClr val="C00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CEEFF322-1D7F-4731-4C72-67231FBC8CCE}"/>
              </a:ext>
            </a:extLst>
          </p:cNvPr>
          <p:cNvCxnSpPr>
            <a:cxnSpLocks/>
            <a:stCxn id="10" idx="1"/>
            <a:endCxn id="22" idx="5"/>
          </p:cNvCxnSpPr>
          <p:nvPr/>
        </p:nvCxnSpPr>
        <p:spPr>
          <a:xfrm flipH="1" flipV="1">
            <a:off x="3745008" y="3863602"/>
            <a:ext cx="2259346" cy="1600654"/>
          </a:xfrm>
          <a:prstGeom prst="straightConnector1">
            <a:avLst/>
          </a:prstGeom>
          <a:ln w="444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A63B7B98-EFAA-B01D-F7E9-9B03C3B08269}"/>
                  </a:ext>
                </a:extLst>
              </p:cNvPr>
              <p:cNvSpPr txBox="1"/>
              <p:nvPr/>
            </p:nvSpPr>
            <p:spPr>
              <a:xfrm>
                <a:off x="8164707" y="1845728"/>
                <a:ext cx="3426183"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Complete: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C2</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8" name="CuadroTexto 17">
                <a:extLst>
                  <a:ext uri="{FF2B5EF4-FFF2-40B4-BE49-F238E27FC236}">
                    <a16:creationId xmlns:a16="http://schemas.microsoft.com/office/drawing/2014/main" id="{A63B7B98-EFAA-B01D-F7E9-9B03C3B08269}"/>
                  </a:ext>
                </a:extLst>
              </p:cNvPr>
              <p:cNvSpPr txBox="1">
                <a:spLocks noRot="1" noChangeAspect="1" noMove="1" noResize="1" noEditPoints="1" noAdjustHandles="1" noChangeArrowheads="1" noChangeShapeType="1" noTextEdit="1"/>
              </p:cNvSpPr>
              <p:nvPr/>
            </p:nvSpPr>
            <p:spPr>
              <a:xfrm>
                <a:off x="8164707" y="1845728"/>
                <a:ext cx="3426183" cy="369332"/>
              </a:xfrm>
              <a:prstGeom prst="rect">
                <a:avLst/>
              </a:prstGeom>
              <a:blipFill>
                <a:blip r:embed="rId4"/>
                <a:stretch>
                  <a:fillRect l="-1423" t="-11667" b="-28333"/>
                </a:stretch>
              </a:blipFill>
            </p:spPr>
            <p:txBody>
              <a:bodyPr/>
              <a:lstStyle/>
              <a:p>
                <a:r>
                  <a:rPr lang="es-ES">
                    <a:noFill/>
                  </a:rPr>
                  <a:t> </a:t>
                </a:r>
              </a:p>
            </p:txBody>
          </p:sp>
        </mc:Fallback>
      </mc:AlternateContent>
      <p:sp>
        <p:nvSpPr>
          <p:cNvPr id="19" name="Rectángulo 18">
            <a:extLst>
              <a:ext uri="{FF2B5EF4-FFF2-40B4-BE49-F238E27FC236}">
                <a16:creationId xmlns:a16="http://schemas.microsoft.com/office/drawing/2014/main" id="{944154F8-FABB-296D-AC73-D9C53796A059}"/>
              </a:ext>
            </a:extLst>
          </p:cNvPr>
          <p:cNvSpPr/>
          <p:nvPr/>
        </p:nvSpPr>
        <p:spPr>
          <a:xfrm>
            <a:off x="5353480" y="635914"/>
            <a:ext cx="1285660" cy="444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Elipse 3">
            <a:extLst>
              <a:ext uri="{FF2B5EF4-FFF2-40B4-BE49-F238E27FC236}">
                <a16:creationId xmlns:a16="http://schemas.microsoft.com/office/drawing/2014/main" id="{872BF150-E029-65BF-C4BA-831D08E2A6B8}"/>
              </a:ext>
            </a:extLst>
          </p:cNvPr>
          <p:cNvSpPr>
            <a:spLocks noChangeAspect="1"/>
          </p:cNvSpPr>
          <p:nvPr/>
        </p:nvSpPr>
        <p:spPr>
          <a:xfrm>
            <a:off x="749155" y="4976398"/>
            <a:ext cx="1319322" cy="1319322"/>
          </a:xfrm>
          <a:prstGeom prst="ellipse">
            <a:avLst/>
          </a:prstGeom>
          <a:solidFill>
            <a:srgbClr val="7030A0">
              <a:alpha val="32000"/>
            </a:srgb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C1</a:t>
            </a:r>
          </a:p>
        </p:txBody>
      </p:sp>
      <p:sp>
        <p:nvSpPr>
          <p:cNvPr id="11" name="Elipse 10">
            <a:extLst>
              <a:ext uri="{FF2B5EF4-FFF2-40B4-BE49-F238E27FC236}">
                <a16:creationId xmlns:a16="http://schemas.microsoft.com/office/drawing/2014/main" id="{DA6458AE-3235-9FD1-9171-54E945FD88D5}"/>
              </a:ext>
            </a:extLst>
          </p:cNvPr>
          <p:cNvSpPr/>
          <p:nvPr/>
        </p:nvSpPr>
        <p:spPr>
          <a:xfrm>
            <a:off x="892087"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P1</a:t>
            </a:r>
          </a:p>
        </p:txBody>
      </p:sp>
      <p:sp>
        <p:nvSpPr>
          <p:cNvPr id="15" name="Elipse 14">
            <a:extLst>
              <a:ext uri="{FF2B5EF4-FFF2-40B4-BE49-F238E27FC236}">
                <a16:creationId xmlns:a16="http://schemas.microsoft.com/office/drawing/2014/main" id="{A06AB07E-4593-BB77-78F8-F4AC854B9B4A}"/>
              </a:ext>
            </a:extLst>
          </p:cNvPr>
          <p:cNvSpPr/>
          <p:nvPr/>
        </p:nvSpPr>
        <p:spPr>
          <a:xfrm>
            <a:off x="1447516" y="505914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P2</a:t>
            </a:r>
          </a:p>
        </p:txBody>
      </p:sp>
      <p:sp>
        <p:nvSpPr>
          <p:cNvPr id="8" name="CuadroTexto 7">
            <a:extLst>
              <a:ext uri="{FF2B5EF4-FFF2-40B4-BE49-F238E27FC236}">
                <a16:creationId xmlns:a16="http://schemas.microsoft.com/office/drawing/2014/main" id="{AC2F4F5B-F312-D2C5-6410-0EEBA5F095DE}"/>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 (</a:t>
            </a:r>
            <a:r>
              <a:rPr lang="es-ES" sz="1600" dirty="0" err="1">
                <a:solidFill>
                  <a:schemeClr val="accent1">
                    <a:lumMod val="50000"/>
                  </a:schemeClr>
                </a:solidFill>
                <a:latin typeface="Courier New" panose="02070309020205020404" pitchFamily="49" charset="0"/>
                <a:cs typeface="Courier New" panose="02070309020205020404" pitchFamily="49" charset="0"/>
              </a:rPr>
              <a:t>linkage</a:t>
            </a:r>
            <a:r>
              <a:rPr lang="es-ES" sz="2000" dirty="0">
                <a:solidFill>
                  <a:schemeClr val="accent1">
                    <a:lumMod val="50000"/>
                  </a:schemeClr>
                </a:solidFill>
              </a:rPr>
              <a:t>):</a:t>
            </a:r>
          </a:p>
        </p:txBody>
      </p:sp>
    </p:spTree>
    <p:extLst>
      <p:ext uri="{BB962C8B-B14F-4D97-AF65-F5344CB8AC3E}">
        <p14:creationId xmlns:p14="http://schemas.microsoft.com/office/powerpoint/2010/main" val="22985726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Elipse 28">
            <a:extLst>
              <a:ext uri="{FF2B5EF4-FFF2-40B4-BE49-F238E27FC236}">
                <a16:creationId xmlns:a16="http://schemas.microsoft.com/office/drawing/2014/main" id="{56B363EF-F9AF-4350-DFE8-49526A1D96B0}"/>
              </a:ext>
            </a:extLst>
          </p:cNvPr>
          <p:cNvSpPr/>
          <p:nvPr/>
        </p:nvSpPr>
        <p:spPr>
          <a:xfrm>
            <a:off x="5443633" y="5253953"/>
            <a:ext cx="936000" cy="936000"/>
          </a:xfrm>
          <a:prstGeom prst="ellipse">
            <a:avLst/>
          </a:prstGeom>
          <a:solidFill>
            <a:schemeClr val="accent6">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324000" bIns="288000" rtlCol="0" anchor="ctr"/>
          <a:lstStyle/>
          <a:p>
            <a:pPr algn="ctr"/>
            <a:r>
              <a:rPr lang="es-ES" b="1" dirty="0">
                <a:solidFill>
                  <a:schemeClr val="tx1"/>
                </a:solidFill>
              </a:rPr>
              <a:t>C2</a:t>
            </a:r>
          </a:p>
        </p:txBody>
      </p:sp>
      <p:sp>
        <p:nvSpPr>
          <p:cNvPr id="24" name="Elipse 23">
            <a:extLst>
              <a:ext uri="{FF2B5EF4-FFF2-40B4-BE49-F238E27FC236}">
                <a16:creationId xmlns:a16="http://schemas.microsoft.com/office/drawing/2014/main" id="{63652C12-0DD3-BCF6-E01C-48B26F39252E}"/>
              </a:ext>
            </a:extLst>
          </p:cNvPr>
          <p:cNvSpPr/>
          <p:nvPr/>
        </p:nvSpPr>
        <p:spPr>
          <a:xfrm>
            <a:off x="4958904" y="867207"/>
            <a:ext cx="2088000" cy="2088000"/>
          </a:xfrm>
          <a:prstGeom prst="ellipse">
            <a:avLst/>
          </a:prstGeom>
          <a:solidFill>
            <a:schemeClr val="accent2">
              <a:lumMod val="75000"/>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C3</a:t>
            </a:r>
          </a:p>
        </p:txBody>
      </p:sp>
      <p:sp>
        <p:nvSpPr>
          <p:cNvPr id="7" name="Rectángulo: esquinas redondeadas 6">
            <a:extLst>
              <a:ext uri="{FF2B5EF4-FFF2-40B4-BE49-F238E27FC236}">
                <a16:creationId xmlns:a16="http://schemas.microsoft.com/office/drawing/2014/main" id="{37C1E777-D0D1-07FC-1403-BB9C8DF03D62}"/>
              </a:ext>
            </a:extLst>
          </p:cNvPr>
          <p:cNvSpPr/>
          <p:nvPr/>
        </p:nvSpPr>
        <p:spPr>
          <a:xfrm>
            <a:off x="302754" y="1086465"/>
            <a:ext cx="6805969" cy="5635012"/>
          </a:xfrm>
          <a:prstGeom prst="roundRect">
            <a:avLst>
              <a:gd name="adj" fmla="val 672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8FE39C4E-E8B5-F744-5B9A-AF166379A85C}"/>
              </a:ext>
            </a:extLst>
          </p:cNvPr>
          <p:cNvSpPr/>
          <p:nvPr/>
        </p:nvSpPr>
        <p:spPr>
          <a:xfrm>
            <a:off x="5591633"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P3</a:t>
            </a:r>
          </a:p>
        </p:txBody>
      </p:sp>
      <p:sp>
        <p:nvSpPr>
          <p:cNvPr id="10" name="Elipse 9">
            <a:extLst>
              <a:ext uri="{FF2B5EF4-FFF2-40B4-BE49-F238E27FC236}">
                <a16:creationId xmlns:a16="http://schemas.microsoft.com/office/drawing/2014/main" id="{4D4536D0-EF07-8598-4EF4-C8AA3A864005}"/>
              </a:ext>
            </a:extLst>
          </p:cNvPr>
          <p:cNvSpPr/>
          <p:nvPr/>
        </p:nvSpPr>
        <p:spPr>
          <a:xfrm>
            <a:off x="5951633" y="5411535"/>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P4</a:t>
            </a:r>
          </a:p>
        </p:txBody>
      </p:sp>
      <p:sp>
        <p:nvSpPr>
          <p:cNvPr id="20" name="Elipse 19">
            <a:extLst>
              <a:ext uri="{FF2B5EF4-FFF2-40B4-BE49-F238E27FC236}">
                <a16:creationId xmlns:a16="http://schemas.microsoft.com/office/drawing/2014/main" id="{107557BF-0E02-4D7E-EB13-773A1DC49CEB}"/>
              </a:ext>
            </a:extLst>
          </p:cNvPr>
          <p:cNvSpPr/>
          <p:nvPr/>
        </p:nvSpPr>
        <p:spPr>
          <a:xfrm>
            <a:off x="6522887" y="1239284"/>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P6</a:t>
            </a:r>
          </a:p>
        </p:txBody>
      </p:sp>
      <p:sp>
        <p:nvSpPr>
          <p:cNvPr id="21" name="Elipse 20">
            <a:extLst>
              <a:ext uri="{FF2B5EF4-FFF2-40B4-BE49-F238E27FC236}">
                <a16:creationId xmlns:a16="http://schemas.microsoft.com/office/drawing/2014/main" id="{FC878616-5F75-2A77-5698-0E2EEED4E27B}"/>
              </a:ext>
            </a:extLst>
          </p:cNvPr>
          <p:cNvSpPr/>
          <p:nvPr/>
        </p:nvSpPr>
        <p:spPr>
          <a:xfrm>
            <a:off x="5083633" y="213360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P5</a:t>
            </a:r>
          </a:p>
        </p:txBody>
      </p:sp>
      <p:sp>
        <p:nvSpPr>
          <p:cNvPr id="22" name="Elipse 21">
            <a:extLst>
              <a:ext uri="{FF2B5EF4-FFF2-40B4-BE49-F238E27FC236}">
                <a16:creationId xmlns:a16="http://schemas.microsoft.com/office/drawing/2014/main" id="{EC0EDBC2-AADF-F66C-0AA7-5B8E7D9B91FF}"/>
              </a:ext>
            </a:extLst>
          </p:cNvPr>
          <p:cNvSpPr/>
          <p:nvPr/>
        </p:nvSpPr>
        <p:spPr>
          <a:xfrm>
            <a:off x="3437729" y="355632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600" b="1" dirty="0"/>
              <a:t>P7</a:t>
            </a:r>
          </a:p>
        </p:txBody>
      </p:sp>
      <p:cxnSp>
        <p:nvCxnSpPr>
          <p:cNvPr id="36" name="Conector recto de flecha 35">
            <a:extLst>
              <a:ext uri="{FF2B5EF4-FFF2-40B4-BE49-F238E27FC236}">
                <a16:creationId xmlns:a16="http://schemas.microsoft.com/office/drawing/2014/main" id="{D8AF0FEB-E6AA-F2C9-82AA-280AA8E6270E}"/>
              </a:ext>
            </a:extLst>
          </p:cNvPr>
          <p:cNvCxnSpPr>
            <a:cxnSpLocks/>
          </p:cNvCxnSpPr>
          <p:nvPr/>
        </p:nvCxnSpPr>
        <p:spPr>
          <a:xfrm>
            <a:off x="7350041" y="1342874"/>
            <a:ext cx="814666" cy="0"/>
          </a:xfrm>
          <a:prstGeom prst="straightConnector1">
            <a:avLst/>
          </a:prstGeom>
          <a:ln w="2857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6E7ADA92-854B-8965-43EB-0C4CA36525CF}"/>
                  </a:ext>
                </a:extLst>
              </p:cNvPr>
              <p:cNvSpPr txBox="1"/>
              <p:nvPr/>
            </p:nvSpPr>
            <p:spPr>
              <a:xfrm>
                <a:off x="8164707" y="1168596"/>
                <a:ext cx="3285941"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Single: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C3</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39" name="CuadroTexto 38">
                <a:extLst>
                  <a:ext uri="{FF2B5EF4-FFF2-40B4-BE49-F238E27FC236}">
                    <a16:creationId xmlns:a16="http://schemas.microsoft.com/office/drawing/2014/main" id="{6E7ADA92-854B-8965-43EB-0C4CA36525CF}"/>
                  </a:ext>
                </a:extLst>
              </p:cNvPr>
              <p:cNvSpPr txBox="1">
                <a:spLocks noRot="1" noChangeAspect="1" noMove="1" noResize="1" noEditPoints="1" noAdjustHandles="1" noChangeArrowheads="1" noChangeShapeType="1" noTextEdit="1"/>
              </p:cNvSpPr>
              <p:nvPr/>
            </p:nvSpPr>
            <p:spPr>
              <a:xfrm>
                <a:off x="8164707" y="1168596"/>
                <a:ext cx="3285941" cy="369332"/>
              </a:xfrm>
              <a:prstGeom prst="rect">
                <a:avLst/>
              </a:prstGeom>
              <a:blipFill>
                <a:blip r:embed="rId3"/>
                <a:stretch>
                  <a:fillRect l="-1484" t="-11667" b="-28333"/>
                </a:stretch>
              </a:blipFill>
            </p:spPr>
            <p:txBody>
              <a:bodyPr/>
              <a:lstStyle/>
              <a:p>
                <a:r>
                  <a:rPr lang="es-ES">
                    <a:noFill/>
                  </a:rPr>
                  <a:t> </a:t>
                </a:r>
              </a:p>
            </p:txBody>
          </p:sp>
        </mc:Fallback>
      </mc:AlternateContent>
      <p:cxnSp>
        <p:nvCxnSpPr>
          <p:cNvPr id="2" name="Conector recto de flecha 1">
            <a:extLst>
              <a:ext uri="{FF2B5EF4-FFF2-40B4-BE49-F238E27FC236}">
                <a16:creationId xmlns:a16="http://schemas.microsoft.com/office/drawing/2014/main" id="{1510F8BD-31B1-5B43-F698-DE0F05373706}"/>
              </a:ext>
            </a:extLst>
          </p:cNvPr>
          <p:cNvCxnSpPr>
            <a:cxnSpLocks/>
          </p:cNvCxnSpPr>
          <p:nvPr/>
        </p:nvCxnSpPr>
        <p:spPr>
          <a:xfrm>
            <a:off x="7350041" y="2020316"/>
            <a:ext cx="814666"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A63B7B98-EFAA-B01D-F7E9-9B03C3B08269}"/>
                  </a:ext>
                </a:extLst>
              </p:cNvPr>
              <p:cNvSpPr txBox="1"/>
              <p:nvPr/>
            </p:nvSpPr>
            <p:spPr>
              <a:xfrm>
                <a:off x="8164707" y="1845728"/>
                <a:ext cx="3426183"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Complete: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C2</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8" name="CuadroTexto 17">
                <a:extLst>
                  <a:ext uri="{FF2B5EF4-FFF2-40B4-BE49-F238E27FC236}">
                    <a16:creationId xmlns:a16="http://schemas.microsoft.com/office/drawing/2014/main" id="{A63B7B98-EFAA-B01D-F7E9-9B03C3B08269}"/>
                  </a:ext>
                </a:extLst>
              </p:cNvPr>
              <p:cNvSpPr txBox="1">
                <a:spLocks noRot="1" noChangeAspect="1" noMove="1" noResize="1" noEditPoints="1" noAdjustHandles="1" noChangeArrowheads="1" noChangeShapeType="1" noTextEdit="1"/>
              </p:cNvSpPr>
              <p:nvPr/>
            </p:nvSpPr>
            <p:spPr>
              <a:xfrm>
                <a:off x="8164707" y="1845728"/>
                <a:ext cx="3426183" cy="369332"/>
              </a:xfrm>
              <a:prstGeom prst="rect">
                <a:avLst/>
              </a:prstGeom>
              <a:blipFill>
                <a:blip r:embed="rId4"/>
                <a:stretch>
                  <a:fillRect l="-1423" t="-11667" b="-28333"/>
                </a:stretch>
              </a:blipFill>
            </p:spPr>
            <p:txBody>
              <a:bodyPr/>
              <a:lstStyle/>
              <a:p>
                <a:r>
                  <a:rPr lang="es-ES">
                    <a:noFill/>
                  </a:rPr>
                  <a:t> </a:t>
                </a:r>
              </a:p>
            </p:txBody>
          </p:sp>
        </mc:Fallback>
      </mc:AlternateContent>
      <p:sp>
        <p:nvSpPr>
          <p:cNvPr id="19" name="Rectángulo 18">
            <a:extLst>
              <a:ext uri="{FF2B5EF4-FFF2-40B4-BE49-F238E27FC236}">
                <a16:creationId xmlns:a16="http://schemas.microsoft.com/office/drawing/2014/main" id="{944154F8-FABB-296D-AC73-D9C53796A059}"/>
              </a:ext>
            </a:extLst>
          </p:cNvPr>
          <p:cNvSpPr/>
          <p:nvPr/>
        </p:nvSpPr>
        <p:spPr>
          <a:xfrm>
            <a:off x="5353480" y="635914"/>
            <a:ext cx="1285660" cy="444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Elipse 3">
            <a:extLst>
              <a:ext uri="{FF2B5EF4-FFF2-40B4-BE49-F238E27FC236}">
                <a16:creationId xmlns:a16="http://schemas.microsoft.com/office/drawing/2014/main" id="{F045079F-7683-A036-87ED-BF3AFCF5F8E6}"/>
              </a:ext>
            </a:extLst>
          </p:cNvPr>
          <p:cNvSpPr>
            <a:spLocks noChangeAspect="1"/>
          </p:cNvSpPr>
          <p:nvPr/>
        </p:nvSpPr>
        <p:spPr>
          <a:xfrm>
            <a:off x="749155" y="4976398"/>
            <a:ext cx="1319322" cy="1319322"/>
          </a:xfrm>
          <a:prstGeom prst="ellipse">
            <a:avLst/>
          </a:prstGeom>
          <a:solidFill>
            <a:srgbClr val="7030A0">
              <a:alpha val="32000"/>
            </a:srgb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C1</a:t>
            </a:r>
          </a:p>
        </p:txBody>
      </p:sp>
      <p:sp>
        <p:nvSpPr>
          <p:cNvPr id="11" name="Elipse 10">
            <a:extLst>
              <a:ext uri="{FF2B5EF4-FFF2-40B4-BE49-F238E27FC236}">
                <a16:creationId xmlns:a16="http://schemas.microsoft.com/office/drawing/2014/main" id="{38F6EB3A-59B6-C0A1-199A-26604835D7AE}"/>
              </a:ext>
            </a:extLst>
          </p:cNvPr>
          <p:cNvSpPr/>
          <p:nvPr/>
        </p:nvSpPr>
        <p:spPr>
          <a:xfrm>
            <a:off x="892087"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P1</a:t>
            </a:r>
          </a:p>
        </p:txBody>
      </p:sp>
      <p:sp>
        <p:nvSpPr>
          <p:cNvPr id="12" name="Elipse 11">
            <a:extLst>
              <a:ext uri="{FF2B5EF4-FFF2-40B4-BE49-F238E27FC236}">
                <a16:creationId xmlns:a16="http://schemas.microsoft.com/office/drawing/2014/main" id="{F09785B3-0005-DCA1-DC5C-960101FE5AD2}"/>
              </a:ext>
            </a:extLst>
          </p:cNvPr>
          <p:cNvSpPr/>
          <p:nvPr/>
        </p:nvSpPr>
        <p:spPr>
          <a:xfrm>
            <a:off x="1447516" y="505914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P2</a:t>
            </a:r>
          </a:p>
        </p:txBody>
      </p:sp>
      <p:cxnSp>
        <p:nvCxnSpPr>
          <p:cNvPr id="15" name="Conector recto de flecha 14">
            <a:extLst>
              <a:ext uri="{FF2B5EF4-FFF2-40B4-BE49-F238E27FC236}">
                <a16:creationId xmlns:a16="http://schemas.microsoft.com/office/drawing/2014/main" id="{08B5115F-CEE4-9D70-83EA-AC0125730329}"/>
              </a:ext>
            </a:extLst>
          </p:cNvPr>
          <p:cNvCxnSpPr>
            <a:cxnSpLocks/>
          </p:cNvCxnSpPr>
          <p:nvPr/>
        </p:nvCxnSpPr>
        <p:spPr>
          <a:xfrm>
            <a:off x="7350041" y="2668763"/>
            <a:ext cx="814666"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4789E28D-1A15-776A-9077-6E7325743CD3}"/>
              </a:ext>
            </a:extLst>
          </p:cNvPr>
          <p:cNvSpPr txBox="1"/>
          <p:nvPr/>
        </p:nvSpPr>
        <p:spPr>
          <a:xfrm>
            <a:off x="8164706" y="2493600"/>
            <a:ext cx="3426183" cy="369332"/>
          </a:xfrm>
          <a:prstGeom prst="rect">
            <a:avLst/>
          </a:prstGeom>
          <a:noFill/>
        </p:spPr>
        <p:txBody>
          <a:bodyPr wrap="square">
            <a:spAutoFit/>
          </a:bodyPr>
          <a:lstStyle/>
          <a:p>
            <a:r>
              <a:rPr lang="es-ES" sz="1800" dirty="0" err="1">
                <a:solidFill>
                  <a:schemeClr val="accent1">
                    <a:lumMod val="50000"/>
                  </a:schemeClr>
                </a:solidFill>
                <a:latin typeface="Courier New" panose="02070309020205020404" pitchFamily="49" charset="0"/>
                <a:cs typeface="Courier New" panose="02070309020205020404" pitchFamily="49" charset="0"/>
              </a:rPr>
              <a:t>Average</a:t>
            </a:r>
            <a:r>
              <a:rPr lang="es-ES" sz="1800" dirty="0">
                <a:solidFill>
                  <a:schemeClr val="accent1">
                    <a:lumMod val="50000"/>
                  </a:schemeClr>
                </a:solidFill>
                <a:latin typeface="Courier New" panose="02070309020205020404" pitchFamily="49" charset="0"/>
                <a:cs typeface="Courier New" panose="02070309020205020404" pitchFamily="49" charset="0"/>
              </a:rPr>
              <a:t>:</a:t>
            </a:r>
            <a:endParaRPr lang="es-ES" dirty="0"/>
          </a:p>
        </p:txBody>
      </p:sp>
      <p:cxnSp>
        <p:nvCxnSpPr>
          <p:cNvPr id="23" name="Conector recto de flecha 22">
            <a:extLst>
              <a:ext uri="{FF2B5EF4-FFF2-40B4-BE49-F238E27FC236}">
                <a16:creationId xmlns:a16="http://schemas.microsoft.com/office/drawing/2014/main" id="{F27AFC81-0ACA-BDF2-5DC7-9AA33293F3D9}"/>
              </a:ext>
            </a:extLst>
          </p:cNvPr>
          <p:cNvCxnSpPr>
            <a:cxnSpLocks/>
            <a:stCxn id="22" idx="7"/>
          </p:cNvCxnSpPr>
          <p:nvPr/>
        </p:nvCxnSpPr>
        <p:spPr>
          <a:xfrm flipV="1">
            <a:off x="3745008" y="2396565"/>
            <a:ext cx="1338625" cy="1212479"/>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01B59BB1-7FA4-86F1-079B-17621885D088}"/>
              </a:ext>
            </a:extLst>
          </p:cNvPr>
          <p:cNvCxnSpPr>
            <a:cxnSpLocks/>
            <a:stCxn id="22" idx="7"/>
            <a:endCxn id="20" idx="3"/>
          </p:cNvCxnSpPr>
          <p:nvPr/>
        </p:nvCxnSpPr>
        <p:spPr>
          <a:xfrm flipV="1">
            <a:off x="3745008" y="1546563"/>
            <a:ext cx="2830600" cy="2062481"/>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A30A2DC9-4D90-D10D-D7D0-A20104D9483D}"/>
              </a:ext>
            </a:extLst>
          </p:cNvPr>
          <p:cNvCxnSpPr>
            <a:cxnSpLocks/>
            <a:stCxn id="22" idx="5"/>
            <a:endCxn id="10" idx="1"/>
          </p:cNvCxnSpPr>
          <p:nvPr/>
        </p:nvCxnSpPr>
        <p:spPr>
          <a:xfrm>
            <a:off x="3745008" y="3863602"/>
            <a:ext cx="2259346" cy="1600654"/>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0768874E-9577-1FEF-4403-E8370D92A63B}"/>
              </a:ext>
            </a:extLst>
          </p:cNvPr>
          <p:cNvCxnSpPr>
            <a:cxnSpLocks/>
            <a:stCxn id="22" idx="5"/>
            <a:endCxn id="9" idx="1"/>
          </p:cNvCxnSpPr>
          <p:nvPr/>
        </p:nvCxnSpPr>
        <p:spPr>
          <a:xfrm>
            <a:off x="3745008" y="3863602"/>
            <a:ext cx="1899346" cy="1945369"/>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D7618613-34FC-3916-82D9-6351D9206F79}"/>
              </a:ext>
            </a:extLst>
          </p:cNvPr>
          <p:cNvCxnSpPr>
            <a:cxnSpLocks/>
            <a:stCxn id="12" idx="7"/>
            <a:endCxn id="22" idx="3"/>
          </p:cNvCxnSpPr>
          <p:nvPr/>
        </p:nvCxnSpPr>
        <p:spPr>
          <a:xfrm flipV="1">
            <a:off x="1754795" y="3863602"/>
            <a:ext cx="1735655" cy="1248262"/>
          </a:xfrm>
          <a:prstGeom prst="straightConnector1">
            <a:avLst/>
          </a:prstGeom>
          <a:ln w="444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54D784E1-34A1-3458-73FF-0FCAD00871CF}"/>
              </a:ext>
            </a:extLst>
          </p:cNvPr>
          <p:cNvCxnSpPr>
            <a:cxnSpLocks/>
            <a:stCxn id="11" idx="7"/>
            <a:endCxn id="22" idx="3"/>
          </p:cNvCxnSpPr>
          <p:nvPr/>
        </p:nvCxnSpPr>
        <p:spPr>
          <a:xfrm flipV="1">
            <a:off x="1199366" y="3863602"/>
            <a:ext cx="2291084" cy="1945369"/>
          </a:xfrm>
          <a:prstGeom prst="straightConnector1">
            <a:avLst/>
          </a:prstGeom>
          <a:ln w="444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0D422DCF-31A4-7ACF-3457-D1E733654334}"/>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 (</a:t>
            </a:r>
            <a:r>
              <a:rPr lang="es-ES" sz="1600" dirty="0" err="1">
                <a:solidFill>
                  <a:schemeClr val="accent1">
                    <a:lumMod val="50000"/>
                  </a:schemeClr>
                </a:solidFill>
                <a:latin typeface="Courier New" panose="02070309020205020404" pitchFamily="49" charset="0"/>
                <a:cs typeface="Courier New" panose="02070309020205020404" pitchFamily="49" charset="0"/>
              </a:rPr>
              <a:t>linkage</a:t>
            </a:r>
            <a:r>
              <a:rPr lang="es-ES" sz="2000" dirty="0">
                <a:solidFill>
                  <a:schemeClr val="accent1">
                    <a:lumMod val="50000"/>
                  </a:schemeClr>
                </a:solidFill>
              </a:rPr>
              <a:t>):</a:t>
            </a:r>
          </a:p>
        </p:txBody>
      </p:sp>
    </p:spTree>
    <p:extLst>
      <p:ext uri="{BB962C8B-B14F-4D97-AF65-F5344CB8AC3E}">
        <p14:creationId xmlns:p14="http://schemas.microsoft.com/office/powerpoint/2010/main" val="13585176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ipse 3">
            <a:extLst>
              <a:ext uri="{FF2B5EF4-FFF2-40B4-BE49-F238E27FC236}">
                <a16:creationId xmlns:a16="http://schemas.microsoft.com/office/drawing/2014/main" id="{F045079F-7683-A036-87ED-BF3AFCF5F8E6}"/>
              </a:ext>
            </a:extLst>
          </p:cNvPr>
          <p:cNvSpPr>
            <a:spLocks noChangeAspect="1"/>
          </p:cNvSpPr>
          <p:nvPr/>
        </p:nvSpPr>
        <p:spPr>
          <a:xfrm>
            <a:off x="382494" y="2862933"/>
            <a:ext cx="3799448" cy="3799448"/>
          </a:xfrm>
          <a:prstGeom prst="ellipse">
            <a:avLst/>
          </a:prstGeom>
          <a:solidFill>
            <a:srgbClr val="7030A0">
              <a:alpha val="32000"/>
            </a:srgb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bIns="1044000" rtlCol="0" anchor="ctr"/>
          <a:lstStyle/>
          <a:p>
            <a:pPr algn="ctr"/>
            <a:r>
              <a:rPr lang="es-ES" b="1" dirty="0">
                <a:solidFill>
                  <a:schemeClr val="tx1"/>
                </a:solidFill>
              </a:rPr>
              <a:t>C1</a:t>
            </a:r>
          </a:p>
        </p:txBody>
      </p:sp>
      <p:sp>
        <p:nvSpPr>
          <p:cNvPr id="29" name="Elipse 28">
            <a:extLst>
              <a:ext uri="{FF2B5EF4-FFF2-40B4-BE49-F238E27FC236}">
                <a16:creationId xmlns:a16="http://schemas.microsoft.com/office/drawing/2014/main" id="{56B363EF-F9AF-4350-DFE8-49526A1D96B0}"/>
              </a:ext>
            </a:extLst>
          </p:cNvPr>
          <p:cNvSpPr/>
          <p:nvPr/>
        </p:nvSpPr>
        <p:spPr>
          <a:xfrm>
            <a:off x="5443633" y="5253953"/>
            <a:ext cx="936000" cy="936000"/>
          </a:xfrm>
          <a:prstGeom prst="ellipse">
            <a:avLst/>
          </a:prstGeom>
          <a:solidFill>
            <a:schemeClr val="accent6">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324000" bIns="288000" rtlCol="0" anchor="ctr"/>
          <a:lstStyle/>
          <a:p>
            <a:pPr algn="ctr"/>
            <a:r>
              <a:rPr lang="es-ES" b="1" dirty="0">
                <a:solidFill>
                  <a:schemeClr val="tx1"/>
                </a:solidFill>
              </a:rPr>
              <a:t>C2</a:t>
            </a:r>
          </a:p>
        </p:txBody>
      </p:sp>
      <p:sp>
        <p:nvSpPr>
          <p:cNvPr id="24" name="Elipse 23">
            <a:extLst>
              <a:ext uri="{FF2B5EF4-FFF2-40B4-BE49-F238E27FC236}">
                <a16:creationId xmlns:a16="http://schemas.microsoft.com/office/drawing/2014/main" id="{63652C12-0DD3-BCF6-E01C-48B26F39252E}"/>
              </a:ext>
            </a:extLst>
          </p:cNvPr>
          <p:cNvSpPr/>
          <p:nvPr/>
        </p:nvSpPr>
        <p:spPr>
          <a:xfrm>
            <a:off x="4958904" y="867207"/>
            <a:ext cx="2088000" cy="2088000"/>
          </a:xfrm>
          <a:prstGeom prst="ellipse">
            <a:avLst/>
          </a:prstGeom>
          <a:solidFill>
            <a:schemeClr val="accent2">
              <a:lumMod val="75000"/>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C3</a:t>
            </a:r>
          </a:p>
        </p:txBody>
      </p:sp>
      <p:sp>
        <p:nvSpPr>
          <p:cNvPr id="7" name="Rectángulo: esquinas redondeadas 6">
            <a:extLst>
              <a:ext uri="{FF2B5EF4-FFF2-40B4-BE49-F238E27FC236}">
                <a16:creationId xmlns:a16="http://schemas.microsoft.com/office/drawing/2014/main" id="{37C1E777-D0D1-07FC-1403-BB9C8DF03D62}"/>
              </a:ext>
            </a:extLst>
          </p:cNvPr>
          <p:cNvSpPr/>
          <p:nvPr/>
        </p:nvSpPr>
        <p:spPr>
          <a:xfrm>
            <a:off x="302754" y="1086465"/>
            <a:ext cx="6805969" cy="5635012"/>
          </a:xfrm>
          <a:prstGeom prst="roundRect">
            <a:avLst>
              <a:gd name="adj" fmla="val 672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8FE39C4E-E8B5-F744-5B9A-AF166379A85C}"/>
              </a:ext>
            </a:extLst>
          </p:cNvPr>
          <p:cNvSpPr/>
          <p:nvPr/>
        </p:nvSpPr>
        <p:spPr>
          <a:xfrm>
            <a:off x="5591633"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P3</a:t>
            </a:r>
          </a:p>
        </p:txBody>
      </p:sp>
      <p:sp>
        <p:nvSpPr>
          <p:cNvPr id="10" name="Elipse 9">
            <a:extLst>
              <a:ext uri="{FF2B5EF4-FFF2-40B4-BE49-F238E27FC236}">
                <a16:creationId xmlns:a16="http://schemas.microsoft.com/office/drawing/2014/main" id="{4D4536D0-EF07-8598-4EF4-C8AA3A864005}"/>
              </a:ext>
            </a:extLst>
          </p:cNvPr>
          <p:cNvSpPr/>
          <p:nvPr/>
        </p:nvSpPr>
        <p:spPr>
          <a:xfrm>
            <a:off x="5951633" y="5411535"/>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P4</a:t>
            </a:r>
          </a:p>
        </p:txBody>
      </p:sp>
      <p:sp>
        <p:nvSpPr>
          <p:cNvPr id="20" name="Elipse 19">
            <a:extLst>
              <a:ext uri="{FF2B5EF4-FFF2-40B4-BE49-F238E27FC236}">
                <a16:creationId xmlns:a16="http://schemas.microsoft.com/office/drawing/2014/main" id="{107557BF-0E02-4D7E-EB13-773A1DC49CEB}"/>
              </a:ext>
            </a:extLst>
          </p:cNvPr>
          <p:cNvSpPr/>
          <p:nvPr/>
        </p:nvSpPr>
        <p:spPr>
          <a:xfrm>
            <a:off x="6522887" y="1239284"/>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P6</a:t>
            </a:r>
          </a:p>
        </p:txBody>
      </p:sp>
      <p:sp>
        <p:nvSpPr>
          <p:cNvPr id="21" name="Elipse 20">
            <a:extLst>
              <a:ext uri="{FF2B5EF4-FFF2-40B4-BE49-F238E27FC236}">
                <a16:creationId xmlns:a16="http://schemas.microsoft.com/office/drawing/2014/main" id="{FC878616-5F75-2A77-5698-0E2EEED4E27B}"/>
              </a:ext>
            </a:extLst>
          </p:cNvPr>
          <p:cNvSpPr/>
          <p:nvPr/>
        </p:nvSpPr>
        <p:spPr>
          <a:xfrm>
            <a:off x="5083633" y="213360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P5</a:t>
            </a:r>
          </a:p>
        </p:txBody>
      </p:sp>
      <p:sp>
        <p:nvSpPr>
          <p:cNvPr id="22" name="Elipse 21">
            <a:extLst>
              <a:ext uri="{FF2B5EF4-FFF2-40B4-BE49-F238E27FC236}">
                <a16:creationId xmlns:a16="http://schemas.microsoft.com/office/drawing/2014/main" id="{EC0EDBC2-AADF-F66C-0AA7-5B8E7D9B91FF}"/>
              </a:ext>
            </a:extLst>
          </p:cNvPr>
          <p:cNvSpPr/>
          <p:nvPr/>
        </p:nvSpPr>
        <p:spPr>
          <a:xfrm>
            <a:off x="3437729" y="355632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600" b="1" dirty="0"/>
              <a:t>P7</a:t>
            </a:r>
          </a:p>
        </p:txBody>
      </p:sp>
      <p:cxnSp>
        <p:nvCxnSpPr>
          <p:cNvPr id="36" name="Conector recto de flecha 35">
            <a:extLst>
              <a:ext uri="{FF2B5EF4-FFF2-40B4-BE49-F238E27FC236}">
                <a16:creationId xmlns:a16="http://schemas.microsoft.com/office/drawing/2014/main" id="{D8AF0FEB-E6AA-F2C9-82AA-280AA8E6270E}"/>
              </a:ext>
            </a:extLst>
          </p:cNvPr>
          <p:cNvCxnSpPr>
            <a:cxnSpLocks/>
          </p:cNvCxnSpPr>
          <p:nvPr/>
        </p:nvCxnSpPr>
        <p:spPr>
          <a:xfrm>
            <a:off x="7350041" y="1342874"/>
            <a:ext cx="814666" cy="0"/>
          </a:xfrm>
          <a:prstGeom prst="straightConnector1">
            <a:avLst/>
          </a:prstGeom>
          <a:ln w="2857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6E7ADA92-854B-8965-43EB-0C4CA36525CF}"/>
                  </a:ext>
                </a:extLst>
              </p:cNvPr>
              <p:cNvSpPr txBox="1"/>
              <p:nvPr/>
            </p:nvSpPr>
            <p:spPr>
              <a:xfrm>
                <a:off x="8164707" y="1168596"/>
                <a:ext cx="3285941"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Single: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C3</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39" name="CuadroTexto 38">
                <a:extLst>
                  <a:ext uri="{FF2B5EF4-FFF2-40B4-BE49-F238E27FC236}">
                    <a16:creationId xmlns:a16="http://schemas.microsoft.com/office/drawing/2014/main" id="{6E7ADA92-854B-8965-43EB-0C4CA36525CF}"/>
                  </a:ext>
                </a:extLst>
              </p:cNvPr>
              <p:cNvSpPr txBox="1">
                <a:spLocks noRot="1" noChangeAspect="1" noMove="1" noResize="1" noEditPoints="1" noAdjustHandles="1" noChangeArrowheads="1" noChangeShapeType="1" noTextEdit="1"/>
              </p:cNvSpPr>
              <p:nvPr/>
            </p:nvSpPr>
            <p:spPr>
              <a:xfrm>
                <a:off x="8164707" y="1168596"/>
                <a:ext cx="3285941" cy="369332"/>
              </a:xfrm>
              <a:prstGeom prst="rect">
                <a:avLst/>
              </a:prstGeom>
              <a:blipFill>
                <a:blip r:embed="rId3"/>
                <a:stretch>
                  <a:fillRect l="-1484" t="-11667" b="-28333"/>
                </a:stretch>
              </a:blipFill>
            </p:spPr>
            <p:txBody>
              <a:bodyPr/>
              <a:lstStyle/>
              <a:p>
                <a:r>
                  <a:rPr lang="es-ES">
                    <a:noFill/>
                  </a:rPr>
                  <a:t> </a:t>
                </a:r>
              </a:p>
            </p:txBody>
          </p:sp>
        </mc:Fallback>
      </mc:AlternateContent>
      <p:cxnSp>
        <p:nvCxnSpPr>
          <p:cNvPr id="2" name="Conector recto de flecha 1">
            <a:extLst>
              <a:ext uri="{FF2B5EF4-FFF2-40B4-BE49-F238E27FC236}">
                <a16:creationId xmlns:a16="http://schemas.microsoft.com/office/drawing/2014/main" id="{1510F8BD-31B1-5B43-F698-DE0F05373706}"/>
              </a:ext>
            </a:extLst>
          </p:cNvPr>
          <p:cNvCxnSpPr>
            <a:cxnSpLocks/>
          </p:cNvCxnSpPr>
          <p:nvPr/>
        </p:nvCxnSpPr>
        <p:spPr>
          <a:xfrm>
            <a:off x="7350041" y="2020316"/>
            <a:ext cx="814666"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A63B7B98-EFAA-B01D-F7E9-9B03C3B08269}"/>
                  </a:ext>
                </a:extLst>
              </p:cNvPr>
              <p:cNvSpPr txBox="1"/>
              <p:nvPr/>
            </p:nvSpPr>
            <p:spPr>
              <a:xfrm>
                <a:off x="8164707" y="1845728"/>
                <a:ext cx="3426183"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Complete: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C2</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8" name="CuadroTexto 17">
                <a:extLst>
                  <a:ext uri="{FF2B5EF4-FFF2-40B4-BE49-F238E27FC236}">
                    <a16:creationId xmlns:a16="http://schemas.microsoft.com/office/drawing/2014/main" id="{A63B7B98-EFAA-B01D-F7E9-9B03C3B08269}"/>
                  </a:ext>
                </a:extLst>
              </p:cNvPr>
              <p:cNvSpPr txBox="1">
                <a:spLocks noRot="1" noChangeAspect="1" noMove="1" noResize="1" noEditPoints="1" noAdjustHandles="1" noChangeArrowheads="1" noChangeShapeType="1" noTextEdit="1"/>
              </p:cNvSpPr>
              <p:nvPr/>
            </p:nvSpPr>
            <p:spPr>
              <a:xfrm>
                <a:off x="8164707" y="1845728"/>
                <a:ext cx="3426183" cy="369332"/>
              </a:xfrm>
              <a:prstGeom prst="rect">
                <a:avLst/>
              </a:prstGeom>
              <a:blipFill>
                <a:blip r:embed="rId4"/>
                <a:stretch>
                  <a:fillRect l="-1423" t="-11667" b="-28333"/>
                </a:stretch>
              </a:blipFill>
            </p:spPr>
            <p:txBody>
              <a:bodyPr/>
              <a:lstStyle/>
              <a:p>
                <a:r>
                  <a:rPr lang="es-ES">
                    <a:noFill/>
                  </a:rPr>
                  <a:t> </a:t>
                </a:r>
              </a:p>
            </p:txBody>
          </p:sp>
        </mc:Fallback>
      </mc:AlternateContent>
      <p:sp>
        <p:nvSpPr>
          <p:cNvPr id="19" name="Rectángulo 18">
            <a:extLst>
              <a:ext uri="{FF2B5EF4-FFF2-40B4-BE49-F238E27FC236}">
                <a16:creationId xmlns:a16="http://schemas.microsoft.com/office/drawing/2014/main" id="{944154F8-FABB-296D-AC73-D9C53796A059}"/>
              </a:ext>
            </a:extLst>
          </p:cNvPr>
          <p:cNvSpPr/>
          <p:nvPr/>
        </p:nvSpPr>
        <p:spPr>
          <a:xfrm>
            <a:off x="5353480" y="635914"/>
            <a:ext cx="1285660" cy="444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ipse 10">
            <a:extLst>
              <a:ext uri="{FF2B5EF4-FFF2-40B4-BE49-F238E27FC236}">
                <a16:creationId xmlns:a16="http://schemas.microsoft.com/office/drawing/2014/main" id="{38F6EB3A-59B6-C0A1-199A-26604835D7AE}"/>
              </a:ext>
            </a:extLst>
          </p:cNvPr>
          <p:cNvSpPr/>
          <p:nvPr/>
        </p:nvSpPr>
        <p:spPr>
          <a:xfrm>
            <a:off x="892087"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P1</a:t>
            </a:r>
          </a:p>
        </p:txBody>
      </p:sp>
      <p:sp>
        <p:nvSpPr>
          <p:cNvPr id="12" name="Elipse 11">
            <a:extLst>
              <a:ext uri="{FF2B5EF4-FFF2-40B4-BE49-F238E27FC236}">
                <a16:creationId xmlns:a16="http://schemas.microsoft.com/office/drawing/2014/main" id="{F09785B3-0005-DCA1-DC5C-960101FE5AD2}"/>
              </a:ext>
            </a:extLst>
          </p:cNvPr>
          <p:cNvSpPr/>
          <p:nvPr/>
        </p:nvSpPr>
        <p:spPr>
          <a:xfrm>
            <a:off x="1447516" y="505914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P2</a:t>
            </a:r>
          </a:p>
        </p:txBody>
      </p:sp>
      <p:cxnSp>
        <p:nvCxnSpPr>
          <p:cNvPr id="15" name="Conector recto de flecha 14">
            <a:extLst>
              <a:ext uri="{FF2B5EF4-FFF2-40B4-BE49-F238E27FC236}">
                <a16:creationId xmlns:a16="http://schemas.microsoft.com/office/drawing/2014/main" id="{08B5115F-CEE4-9D70-83EA-AC0125730329}"/>
              </a:ext>
            </a:extLst>
          </p:cNvPr>
          <p:cNvCxnSpPr>
            <a:cxnSpLocks/>
          </p:cNvCxnSpPr>
          <p:nvPr/>
        </p:nvCxnSpPr>
        <p:spPr>
          <a:xfrm>
            <a:off x="7350041" y="2668763"/>
            <a:ext cx="814666"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4789E28D-1A15-776A-9077-6E7325743CD3}"/>
                  </a:ext>
                </a:extLst>
              </p:cNvPr>
              <p:cNvSpPr txBox="1"/>
              <p:nvPr/>
            </p:nvSpPr>
            <p:spPr>
              <a:xfrm>
                <a:off x="8164706" y="2493600"/>
                <a:ext cx="3426183" cy="369332"/>
              </a:xfrm>
              <a:prstGeom prst="rect">
                <a:avLst/>
              </a:prstGeom>
              <a:noFill/>
            </p:spPr>
            <p:txBody>
              <a:bodyPr wrap="square">
                <a:spAutoFit/>
              </a:bodyPr>
              <a:lstStyle/>
              <a:p>
                <a:r>
                  <a:rPr lang="es-ES" sz="1800" dirty="0" err="1">
                    <a:solidFill>
                      <a:schemeClr val="accent1">
                        <a:lumMod val="50000"/>
                      </a:schemeClr>
                    </a:solidFill>
                    <a:latin typeface="Courier New" panose="02070309020205020404" pitchFamily="49" charset="0"/>
                    <a:cs typeface="Courier New" panose="02070309020205020404" pitchFamily="49" charset="0"/>
                  </a:rPr>
                  <a:t>Average</a:t>
                </a:r>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C1</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7" name="CuadroTexto 16">
                <a:extLst>
                  <a:ext uri="{FF2B5EF4-FFF2-40B4-BE49-F238E27FC236}">
                    <a16:creationId xmlns:a16="http://schemas.microsoft.com/office/drawing/2014/main" id="{4789E28D-1A15-776A-9077-6E7325743CD3}"/>
                  </a:ext>
                </a:extLst>
              </p:cNvPr>
              <p:cNvSpPr txBox="1">
                <a:spLocks noRot="1" noChangeAspect="1" noMove="1" noResize="1" noEditPoints="1" noAdjustHandles="1" noChangeArrowheads="1" noChangeShapeType="1" noTextEdit="1"/>
              </p:cNvSpPr>
              <p:nvPr/>
            </p:nvSpPr>
            <p:spPr>
              <a:xfrm>
                <a:off x="8164706" y="2493600"/>
                <a:ext cx="3426183" cy="369332"/>
              </a:xfrm>
              <a:prstGeom prst="rect">
                <a:avLst/>
              </a:prstGeom>
              <a:blipFill>
                <a:blip r:embed="rId5"/>
                <a:stretch>
                  <a:fillRect l="-1423" t="-9836" b="-26230"/>
                </a:stretch>
              </a:blipFill>
            </p:spPr>
            <p:txBody>
              <a:bodyPr/>
              <a:lstStyle/>
              <a:p>
                <a:r>
                  <a:rPr lang="es-ES">
                    <a:noFill/>
                  </a:rPr>
                  <a:t> </a:t>
                </a:r>
              </a:p>
            </p:txBody>
          </p:sp>
        </mc:Fallback>
      </mc:AlternateContent>
      <p:cxnSp>
        <p:nvCxnSpPr>
          <p:cNvPr id="23" name="Conector recto de flecha 22">
            <a:extLst>
              <a:ext uri="{FF2B5EF4-FFF2-40B4-BE49-F238E27FC236}">
                <a16:creationId xmlns:a16="http://schemas.microsoft.com/office/drawing/2014/main" id="{F27AFC81-0ACA-BDF2-5DC7-9AA33293F3D9}"/>
              </a:ext>
            </a:extLst>
          </p:cNvPr>
          <p:cNvCxnSpPr>
            <a:cxnSpLocks/>
            <a:stCxn id="22" idx="7"/>
          </p:cNvCxnSpPr>
          <p:nvPr/>
        </p:nvCxnSpPr>
        <p:spPr>
          <a:xfrm flipV="1">
            <a:off x="3745008" y="2396565"/>
            <a:ext cx="1338625" cy="1212479"/>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01B59BB1-7FA4-86F1-079B-17621885D088}"/>
              </a:ext>
            </a:extLst>
          </p:cNvPr>
          <p:cNvCxnSpPr>
            <a:cxnSpLocks/>
            <a:stCxn id="22" idx="7"/>
            <a:endCxn id="20" idx="3"/>
          </p:cNvCxnSpPr>
          <p:nvPr/>
        </p:nvCxnSpPr>
        <p:spPr>
          <a:xfrm flipV="1">
            <a:off x="3745008" y="1546563"/>
            <a:ext cx="2830600" cy="2062481"/>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A30A2DC9-4D90-D10D-D7D0-A20104D9483D}"/>
              </a:ext>
            </a:extLst>
          </p:cNvPr>
          <p:cNvCxnSpPr>
            <a:cxnSpLocks/>
            <a:stCxn id="22" idx="5"/>
            <a:endCxn id="10" idx="1"/>
          </p:cNvCxnSpPr>
          <p:nvPr/>
        </p:nvCxnSpPr>
        <p:spPr>
          <a:xfrm>
            <a:off x="3745008" y="3863602"/>
            <a:ext cx="2259346" cy="1600654"/>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0768874E-9577-1FEF-4403-E8370D92A63B}"/>
              </a:ext>
            </a:extLst>
          </p:cNvPr>
          <p:cNvCxnSpPr>
            <a:cxnSpLocks/>
            <a:stCxn id="22" idx="5"/>
            <a:endCxn id="9" idx="1"/>
          </p:cNvCxnSpPr>
          <p:nvPr/>
        </p:nvCxnSpPr>
        <p:spPr>
          <a:xfrm>
            <a:off x="3745008" y="3863602"/>
            <a:ext cx="1899346" cy="1945369"/>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D7618613-34FC-3916-82D9-6351D9206F79}"/>
              </a:ext>
            </a:extLst>
          </p:cNvPr>
          <p:cNvCxnSpPr>
            <a:cxnSpLocks/>
            <a:stCxn id="12" idx="7"/>
            <a:endCxn id="22" idx="3"/>
          </p:cNvCxnSpPr>
          <p:nvPr/>
        </p:nvCxnSpPr>
        <p:spPr>
          <a:xfrm flipV="1">
            <a:off x="1754795" y="3863602"/>
            <a:ext cx="1735655" cy="1248262"/>
          </a:xfrm>
          <a:prstGeom prst="straightConnector1">
            <a:avLst/>
          </a:prstGeom>
          <a:ln w="444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54D784E1-34A1-3458-73FF-0FCAD00871CF}"/>
              </a:ext>
            </a:extLst>
          </p:cNvPr>
          <p:cNvCxnSpPr>
            <a:cxnSpLocks/>
            <a:stCxn id="11" idx="7"/>
            <a:endCxn id="22" idx="3"/>
          </p:cNvCxnSpPr>
          <p:nvPr/>
        </p:nvCxnSpPr>
        <p:spPr>
          <a:xfrm flipV="1">
            <a:off x="1199366" y="3863602"/>
            <a:ext cx="2291084" cy="1945369"/>
          </a:xfrm>
          <a:prstGeom prst="straightConnector1">
            <a:avLst/>
          </a:prstGeom>
          <a:ln w="444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D45DFDC8-BED5-FD3A-8300-1D74DDC78F95}"/>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 (</a:t>
            </a:r>
            <a:r>
              <a:rPr lang="es-ES" sz="1600" dirty="0" err="1">
                <a:solidFill>
                  <a:schemeClr val="accent1">
                    <a:lumMod val="50000"/>
                  </a:schemeClr>
                </a:solidFill>
                <a:latin typeface="Courier New" panose="02070309020205020404" pitchFamily="49" charset="0"/>
                <a:cs typeface="Courier New" panose="02070309020205020404" pitchFamily="49" charset="0"/>
              </a:rPr>
              <a:t>linkage</a:t>
            </a:r>
            <a:r>
              <a:rPr lang="es-ES" sz="2000" dirty="0">
                <a:solidFill>
                  <a:schemeClr val="accent1">
                    <a:lumMod val="50000"/>
                  </a:schemeClr>
                </a:solidFill>
              </a:rPr>
              <a:t>):</a:t>
            </a:r>
          </a:p>
        </p:txBody>
      </p:sp>
    </p:spTree>
    <p:extLst>
      <p:ext uri="{BB962C8B-B14F-4D97-AF65-F5344CB8AC3E}">
        <p14:creationId xmlns:p14="http://schemas.microsoft.com/office/powerpoint/2010/main" val="285081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Elipse 23">
            <a:extLst>
              <a:ext uri="{FF2B5EF4-FFF2-40B4-BE49-F238E27FC236}">
                <a16:creationId xmlns:a16="http://schemas.microsoft.com/office/drawing/2014/main" id="{63652C12-0DD3-BCF6-E01C-48B26F39252E}"/>
              </a:ext>
            </a:extLst>
          </p:cNvPr>
          <p:cNvSpPr/>
          <p:nvPr/>
        </p:nvSpPr>
        <p:spPr>
          <a:xfrm>
            <a:off x="4958904" y="867207"/>
            <a:ext cx="2088000" cy="2088000"/>
          </a:xfrm>
          <a:prstGeom prst="ellipse">
            <a:avLst/>
          </a:prstGeom>
          <a:solidFill>
            <a:schemeClr val="accent2">
              <a:lumMod val="75000"/>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C3</a:t>
            </a:r>
          </a:p>
        </p:txBody>
      </p:sp>
      <p:sp>
        <p:nvSpPr>
          <p:cNvPr id="12" name="Elipse 11">
            <a:extLst>
              <a:ext uri="{FF2B5EF4-FFF2-40B4-BE49-F238E27FC236}">
                <a16:creationId xmlns:a16="http://schemas.microsoft.com/office/drawing/2014/main" id="{0AA140AB-924C-B8DD-B08B-A5AB626EEB67}"/>
              </a:ext>
            </a:extLst>
          </p:cNvPr>
          <p:cNvSpPr/>
          <p:nvPr/>
        </p:nvSpPr>
        <p:spPr>
          <a:xfrm>
            <a:off x="5443633" y="5253953"/>
            <a:ext cx="936000" cy="936000"/>
          </a:xfrm>
          <a:prstGeom prst="ellipse">
            <a:avLst/>
          </a:prstGeom>
          <a:solidFill>
            <a:schemeClr val="accent6">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324000" bIns="288000" rtlCol="0" anchor="ctr"/>
          <a:lstStyle/>
          <a:p>
            <a:pPr algn="ctr"/>
            <a:r>
              <a:rPr lang="es-ES" b="1" dirty="0">
                <a:solidFill>
                  <a:schemeClr val="tx1"/>
                </a:solidFill>
              </a:rPr>
              <a:t>C2</a:t>
            </a:r>
          </a:p>
        </p:txBody>
      </p:sp>
      <p:sp>
        <p:nvSpPr>
          <p:cNvPr id="25" name="Elipse 24">
            <a:extLst>
              <a:ext uri="{FF2B5EF4-FFF2-40B4-BE49-F238E27FC236}">
                <a16:creationId xmlns:a16="http://schemas.microsoft.com/office/drawing/2014/main" id="{7DB428D1-A5E8-3132-5201-D135E7B5387B}"/>
              </a:ext>
            </a:extLst>
          </p:cNvPr>
          <p:cNvSpPr>
            <a:spLocks noChangeAspect="1"/>
          </p:cNvSpPr>
          <p:nvPr/>
        </p:nvSpPr>
        <p:spPr>
          <a:xfrm>
            <a:off x="749155" y="4976398"/>
            <a:ext cx="1319322" cy="1319322"/>
          </a:xfrm>
          <a:prstGeom prst="ellipse">
            <a:avLst/>
          </a:prstGeom>
          <a:solidFill>
            <a:srgbClr val="7030A0">
              <a:alpha val="32000"/>
            </a:srgb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C1</a:t>
            </a:r>
          </a:p>
        </p:txBody>
      </p:sp>
      <p:sp>
        <p:nvSpPr>
          <p:cNvPr id="7" name="Rectángulo: esquinas redondeadas 6">
            <a:extLst>
              <a:ext uri="{FF2B5EF4-FFF2-40B4-BE49-F238E27FC236}">
                <a16:creationId xmlns:a16="http://schemas.microsoft.com/office/drawing/2014/main" id="{37C1E777-D0D1-07FC-1403-BB9C8DF03D62}"/>
              </a:ext>
            </a:extLst>
          </p:cNvPr>
          <p:cNvSpPr/>
          <p:nvPr/>
        </p:nvSpPr>
        <p:spPr>
          <a:xfrm>
            <a:off x="302754" y="1086465"/>
            <a:ext cx="6805969" cy="5635012"/>
          </a:xfrm>
          <a:prstGeom prst="roundRect">
            <a:avLst>
              <a:gd name="adj" fmla="val 672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8FE39C4E-E8B5-F744-5B9A-AF166379A85C}"/>
              </a:ext>
            </a:extLst>
          </p:cNvPr>
          <p:cNvSpPr/>
          <p:nvPr/>
        </p:nvSpPr>
        <p:spPr>
          <a:xfrm>
            <a:off x="5591633"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P3</a:t>
            </a:r>
          </a:p>
        </p:txBody>
      </p:sp>
      <p:sp>
        <p:nvSpPr>
          <p:cNvPr id="10" name="Elipse 9">
            <a:extLst>
              <a:ext uri="{FF2B5EF4-FFF2-40B4-BE49-F238E27FC236}">
                <a16:creationId xmlns:a16="http://schemas.microsoft.com/office/drawing/2014/main" id="{4D4536D0-EF07-8598-4EF4-C8AA3A864005}"/>
              </a:ext>
            </a:extLst>
          </p:cNvPr>
          <p:cNvSpPr/>
          <p:nvPr/>
        </p:nvSpPr>
        <p:spPr>
          <a:xfrm>
            <a:off x="5951633" y="5411535"/>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P4</a:t>
            </a:r>
          </a:p>
        </p:txBody>
      </p:sp>
      <p:sp>
        <p:nvSpPr>
          <p:cNvPr id="20" name="Elipse 19">
            <a:extLst>
              <a:ext uri="{FF2B5EF4-FFF2-40B4-BE49-F238E27FC236}">
                <a16:creationId xmlns:a16="http://schemas.microsoft.com/office/drawing/2014/main" id="{107557BF-0E02-4D7E-EB13-773A1DC49CEB}"/>
              </a:ext>
            </a:extLst>
          </p:cNvPr>
          <p:cNvSpPr/>
          <p:nvPr/>
        </p:nvSpPr>
        <p:spPr>
          <a:xfrm>
            <a:off x="6522887" y="1239284"/>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P6</a:t>
            </a:r>
          </a:p>
        </p:txBody>
      </p:sp>
      <p:sp>
        <p:nvSpPr>
          <p:cNvPr id="21" name="Elipse 20">
            <a:extLst>
              <a:ext uri="{FF2B5EF4-FFF2-40B4-BE49-F238E27FC236}">
                <a16:creationId xmlns:a16="http://schemas.microsoft.com/office/drawing/2014/main" id="{FC878616-5F75-2A77-5698-0E2EEED4E27B}"/>
              </a:ext>
            </a:extLst>
          </p:cNvPr>
          <p:cNvSpPr/>
          <p:nvPr/>
        </p:nvSpPr>
        <p:spPr>
          <a:xfrm>
            <a:off x="5083633" y="213360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P5</a:t>
            </a:r>
          </a:p>
        </p:txBody>
      </p:sp>
      <p:sp>
        <p:nvSpPr>
          <p:cNvPr id="22" name="Elipse 21">
            <a:extLst>
              <a:ext uri="{FF2B5EF4-FFF2-40B4-BE49-F238E27FC236}">
                <a16:creationId xmlns:a16="http://schemas.microsoft.com/office/drawing/2014/main" id="{EC0EDBC2-AADF-F66C-0AA7-5B8E7D9B91FF}"/>
              </a:ext>
            </a:extLst>
          </p:cNvPr>
          <p:cNvSpPr/>
          <p:nvPr/>
        </p:nvSpPr>
        <p:spPr>
          <a:xfrm>
            <a:off x="3437729" y="355632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600" b="1" dirty="0"/>
              <a:t>P7</a:t>
            </a:r>
          </a:p>
        </p:txBody>
      </p:sp>
      <p:sp>
        <p:nvSpPr>
          <p:cNvPr id="2" name="Rectángulo 1">
            <a:extLst>
              <a:ext uri="{FF2B5EF4-FFF2-40B4-BE49-F238E27FC236}">
                <a16:creationId xmlns:a16="http://schemas.microsoft.com/office/drawing/2014/main" id="{438C2246-075C-BEB1-FC39-19F44050F488}"/>
              </a:ext>
            </a:extLst>
          </p:cNvPr>
          <p:cNvSpPr/>
          <p:nvPr/>
        </p:nvSpPr>
        <p:spPr>
          <a:xfrm>
            <a:off x="5353480" y="635914"/>
            <a:ext cx="1285660" cy="444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Elipse 2">
            <a:extLst>
              <a:ext uri="{FF2B5EF4-FFF2-40B4-BE49-F238E27FC236}">
                <a16:creationId xmlns:a16="http://schemas.microsoft.com/office/drawing/2014/main" id="{941EE461-2311-50AD-149C-91B8D9E50EB1}"/>
              </a:ext>
            </a:extLst>
          </p:cNvPr>
          <p:cNvSpPr/>
          <p:nvPr/>
        </p:nvSpPr>
        <p:spPr>
          <a:xfrm>
            <a:off x="892087"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P1</a:t>
            </a:r>
          </a:p>
        </p:txBody>
      </p:sp>
      <p:sp>
        <p:nvSpPr>
          <p:cNvPr id="4" name="Elipse 3">
            <a:extLst>
              <a:ext uri="{FF2B5EF4-FFF2-40B4-BE49-F238E27FC236}">
                <a16:creationId xmlns:a16="http://schemas.microsoft.com/office/drawing/2014/main" id="{1F80E82A-B184-443C-41E5-E4C1D51FAEE0}"/>
              </a:ext>
            </a:extLst>
          </p:cNvPr>
          <p:cNvSpPr/>
          <p:nvPr/>
        </p:nvSpPr>
        <p:spPr>
          <a:xfrm>
            <a:off x="1447516" y="505914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P2</a:t>
            </a:r>
          </a:p>
        </p:txBody>
      </p:sp>
      <p:cxnSp>
        <p:nvCxnSpPr>
          <p:cNvPr id="8" name="Conector recto de flecha 7">
            <a:extLst>
              <a:ext uri="{FF2B5EF4-FFF2-40B4-BE49-F238E27FC236}">
                <a16:creationId xmlns:a16="http://schemas.microsoft.com/office/drawing/2014/main" id="{B850307E-5559-4F27-D526-12454E1FD3EA}"/>
              </a:ext>
            </a:extLst>
          </p:cNvPr>
          <p:cNvCxnSpPr>
            <a:cxnSpLocks/>
          </p:cNvCxnSpPr>
          <p:nvPr/>
        </p:nvCxnSpPr>
        <p:spPr>
          <a:xfrm>
            <a:off x="7350041" y="1342874"/>
            <a:ext cx="814666" cy="0"/>
          </a:xfrm>
          <a:prstGeom prst="straightConnector1">
            <a:avLst/>
          </a:prstGeom>
          <a:ln w="2857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E30B482-F5C6-61DD-F966-BCA240043060}"/>
                  </a:ext>
                </a:extLst>
              </p:cNvPr>
              <p:cNvSpPr txBox="1"/>
              <p:nvPr/>
            </p:nvSpPr>
            <p:spPr>
              <a:xfrm>
                <a:off x="8164707" y="1168596"/>
                <a:ext cx="3285941"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Single: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C3</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1" name="CuadroTexto 10">
                <a:extLst>
                  <a:ext uri="{FF2B5EF4-FFF2-40B4-BE49-F238E27FC236}">
                    <a16:creationId xmlns:a16="http://schemas.microsoft.com/office/drawing/2014/main" id="{6E30B482-F5C6-61DD-F966-BCA240043060}"/>
                  </a:ext>
                </a:extLst>
              </p:cNvPr>
              <p:cNvSpPr txBox="1">
                <a:spLocks noRot="1" noChangeAspect="1" noMove="1" noResize="1" noEditPoints="1" noAdjustHandles="1" noChangeArrowheads="1" noChangeShapeType="1" noTextEdit="1"/>
              </p:cNvSpPr>
              <p:nvPr/>
            </p:nvSpPr>
            <p:spPr>
              <a:xfrm>
                <a:off x="8164707" y="1168596"/>
                <a:ext cx="3285941" cy="369332"/>
              </a:xfrm>
              <a:prstGeom prst="rect">
                <a:avLst/>
              </a:prstGeom>
              <a:blipFill>
                <a:blip r:embed="rId2"/>
                <a:stretch>
                  <a:fillRect l="-1484" t="-11667" b="-28333"/>
                </a:stretch>
              </a:blipFill>
            </p:spPr>
            <p:txBody>
              <a:bodyPr/>
              <a:lstStyle/>
              <a:p>
                <a:r>
                  <a:rPr lang="es-ES">
                    <a:noFill/>
                  </a:rPr>
                  <a:t> </a:t>
                </a:r>
              </a:p>
            </p:txBody>
          </p:sp>
        </mc:Fallback>
      </mc:AlternateContent>
      <p:cxnSp>
        <p:nvCxnSpPr>
          <p:cNvPr id="13" name="Conector recto de flecha 12">
            <a:extLst>
              <a:ext uri="{FF2B5EF4-FFF2-40B4-BE49-F238E27FC236}">
                <a16:creationId xmlns:a16="http://schemas.microsoft.com/office/drawing/2014/main" id="{E9F654BD-6A39-B905-966C-DAE73FF3C577}"/>
              </a:ext>
            </a:extLst>
          </p:cNvPr>
          <p:cNvCxnSpPr>
            <a:cxnSpLocks/>
          </p:cNvCxnSpPr>
          <p:nvPr/>
        </p:nvCxnSpPr>
        <p:spPr>
          <a:xfrm>
            <a:off x="7350041" y="2020316"/>
            <a:ext cx="814666"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58412168-5AF9-EF21-AF08-26C7A450041A}"/>
                  </a:ext>
                </a:extLst>
              </p:cNvPr>
              <p:cNvSpPr txBox="1"/>
              <p:nvPr/>
            </p:nvSpPr>
            <p:spPr>
              <a:xfrm>
                <a:off x="8164707" y="1845728"/>
                <a:ext cx="3426183"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Complete: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C2</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4" name="CuadroTexto 13">
                <a:extLst>
                  <a:ext uri="{FF2B5EF4-FFF2-40B4-BE49-F238E27FC236}">
                    <a16:creationId xmlns:a16="http://schemas.microsoft.com/office/drawing/2014/main" id="{58412168-5AF9-EF21-AF08-26C7A450041A}"/>
                  </a:ext>
                </a:extLst>
              </p:cNvPr>
              <p:cNvSpPr txBox="1">
                <a:spLocks noRot="1" noChangeAspect="1" noMove="1" noResize="1" noEditPoints="1" noAdjustHandles="1" noChangeArrowheads="1" noChangeShapeType="1" noTextEdit="1"/>
              </p:cNvSpPr>
              <p:nvPr/>
            </p:nvSpPr>
            <p:spPr>
              <a:xfrm>
                <a:off x="8164707" y="1845728"/>
                <a:ext cx="3426183" cy="369332"/>
              </a:xfrm>
              <a:prstGeom prst="rect">
                <a:avLst/>
              </a:prstGeom>
              <a:blipFill>
                <a:blip r:embed="rId3"/>
                <a:stretch>
                  <a:fillRect l="-1423" t="-11667" b="-28333"/>
                </a:stretch>
              </a:blipFill>
            </p:spPr>
            <p:txBody>
              <a:bodyPr/>
              <a:lstStyle/>
              <a:p>
                <a:r>
                  <a:rPr lang="es-ES">
                    <a:noFill/>
                  </a:rPr>
                  <a:t> </a:t>
                </a:r>
              </a:p>
            </p:txBody>
          </p:sp>
        </mc:Fallback>
      </mc:AlternateContent>
      <p:cxnSp>
        <p:nvCxnSpPr>
          <p:cNvPr id="15" name="Conector recto de flecha 14">
            <a:extLst>
              <a:ext uri="{FF2B5EF4-FFF2-40B4-BE49-F238E27FC236}">
                <a16:creationId xmlns:a16="http://schemas.microsoft.com/office/drawing/2014/main" id="{96FC8BCC-7813-1C6A-7755-5145917A2C1B}"/>
              </a:ext>
            </a:extLst>
          </p:cNvPr>
          <p:cNvCxnSpPr>
            <a:cxnSpLocks/>
          </p:cNvCxnSpPr>
          <p:nvPr/>
        </p:nvCxnSpPr>
        <p:spPr>
          <a:xfrm>
            <a:off x="7350041" y="2668763"/>
            <a:ext cx="814666"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AD54715-2398-B805-08C9-5473EAC7966D}"/>
                  </a:ext>
                </a:extLst>
              </p:cNvPr>
              <p:cNvSpPr txBox="1"/>
              <p:nvPr/>
            </p:nvSpPr>
            <p:spPr>
              <a:xfrm>
                <a:off x="8164706" y="2493600"/>
                <a:ext cx="3426183" cy="369332"/>
              </a:xfrm>
              <a:prstGeom prst="rect">
                <a:avLst/>
              </a:prstGeom>
              <a:noFill/>
            </p:spPr>
            <p:txBody>
              <a:bodyPr wrap="square">
                <a:spAutoFit/>
              </a:bodyPr>
              <a:lstStyle/>
              <a:p>
                <a:r>
                  <a:rPr lang="es-ES" sz="1800" dirty="0" err="1">
                    <a:solidFill>
                      <a:schemeClr val="accent1">
                        <a:lumMod val="50000"/>
                      </a:schemeClr>
                    </a:solidFill>
                    <a:latin typeface="Courier New" panose="02070309020205020404" pitchFamily="49" charset="0"/>
                    <a:cs typeface="Courier New" panose="02070309020205020404" pitchFamily="49" charset="0"/>
                  </a:rPr>
                  <a:t>Average</a:t>
                </a:r>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C1</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6" name="CuadroTexto 15">
                <a:extLst>
                  <a:ext uri="{FF2B5EF4-FFF2-40B4-BE49-F238E27FC236}">
                    <a16:creationId xmlns:a16="http://schemas.microsoft.com/office/drawing/2014/main" id="{DAD54715-2398-B805-08C9-5473EAC7966D}"/>
                  </a:ext>
                </a:extLst>
              </p:cNvPr>
              <p:cNvSpPr txBox="1">
                <a:spLocks noRot="1" noChangeAspect="1" noMove="1" noResize="1" noEditPoints="1" noAdjustHandles="1" noChangeArrowheads="1" noChangeShapeType="1" noTextEdit="1"/>
              </p:cNvSpPr>
              <p:nvPr/>
            </p:nvSpPr>
            <p:spPr>
              <a:xfrm>
                <a:off x="8164706" y="2493600"/>
                <a:ext cx="3426183" cy="369332"/>
              </a:xfrm>
              <a:prstGeom prst="rect">
                <a:avLst/>
              </a:prstGeom>
              <a:blipFill>
                <a:blip r:embed="rId4"/>
                <a:stretch>
                  <a:fillRect l="-1423" t="-9836" b="-26230"/>
                </a:stretch>
              </a:blipFill>
            </p:spPr>
            <p:txBody>
              <a:bodyPr/>
              <a:lstStyle/>
              <a:p>
                <a:r>
                  <a:rPr lang="es-ES">
                    <a:noFill/>
                  </a:rPr>
                  <a:t> </a:t>
                </a:r>
              </a:p>
            </p:txBody>
          </p:sp>
        </mc:Fallback>
      </mc:AlternateContent>
      <p:sp>
        <p:nvSpPr>
          <p:cNvPr id="17" name="CuadroTexto 16">
            <a:extLst>
              <a:ext uri="{FF2B5EF4-FFF2-40B4-BE49-F238E27FC236}">
                <a16:creationId xmlns:a16="http://schemas.microsoft.com/office/drawing/2014/main" id="{CF29D2D4-A063-A008-85E5-546681945BC8}"/>
              </a:ext>
            </a:extLst>
          </p:cNvPr>
          <p:cNvSpPr txBox="1"/>
          <p:nvPr/>
        </p:nvSpPr>
        <p:spPr>
          <a:xfrm>
            <a:off x="8164706" y="3186991"/>
            <a:ext cx="3426183"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Ward:</a:t>
            </a:r>
            <a:endParaRPr lang="es-ES" dirty="0"/>
          </a:p>
        </p:txBody>
      </p:sp>
      <p:sp>
        <p:nvSpPr>
          <p:cNvPr id="6" name="CuadroTexto 5">
            <a:extLst>
              <a:ext uri="{FF2B5EF4-FFF2-40B4-BE49-F238E27FC236}">
                <a16:creationId xmlns:a16="http://schemas.microsoft.com/office/drawing/2014/main" id="{AA16868F-40FB-B39A-C42D-999AF40A3BB3}"/>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 (</a:t>
            </a:r>
            <a:r>
              <a:rPr lang="es-ES" sz="1600" dirty="0" err="1">
                <a:solidFill>
                  <a:schemeClr val="accent1">
                    <a:lumMod val="50000"/>
                  </a:schemeClr>
                </a:solidFill>
                <a:latin typeface="Courier New" panose="02070309020205020404" pitchFamily="49" charset="0"/>
                <a:cs typeface="Courier New" panose="02070309020205020404" pitchFamily="49" charset="0"/>
              </a:rPr>
              <a:t>linkage</a:t>
            </a:r>
            <a:r>
              <a:rPr lang="es-ES" sz="2000" dirty="0">
                <a:solidFill>
                  <a:schemeClr val="accent1">
                    <a:lumMod val="50000"/>
                  </a:schemeClr>
                </a:solidFill>
              </a:rPr>
              <a:t>):</a:t>
            </a:r>
          </a:p>
        </p:txBody>
      </p:sp>
    </p:spTree>
    <p:extLst>
      <p:ext uri="{BB962C8B-B14F-4D97-AF65-F5344CB8AC3E}">
        <p14:creationId xmlns:p14="http://schemas.microsoft.com/office/powerpoint/2010/main" val="31096808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4665C3AF-7B7E-873A-0D45-56B4116BA787}"/>
              </a:ext>
            </a:extLst>
          </p:cNvPr>
          <p:cNvSpPr>
            <a:spLocks noChangeAspect="1"/>
          </p:cNvSpPr>
          <p:nvPr/>
        </p:nvSpPr>
        <p:spPr>
          <a:xfrm>
            <a:off x="382494" y="2862933"/>
            <a:ext cx="3799448" cy="3799448"/>
          </a:xfrm>
          <a:prstGeom prst="ellipse">
            <a:avLst/>
          </a:prstGeom>
          <a:solidFill>
            <a:srgbClr val="7030A0">
              <a:alpha val="32000"/>
            </a:srgb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bIns="1044000" rtlCol="0" anchor="ctr"/>
          <a:lstStyle/>
          <a:p>
            <a:pPr algn="ctr"/>
            <a:r>
              <a:rPr lang="es-ES" b="1" dirty="0">
                <a:solidFill>
                  <a:schemeClr val="tx1"/>
                </a:solidFill>
              </a:rPr>
              <a:t>C1</a:t>
            </a:r>
          </a:p>
        </p:txBody>
      </p:sp>
      <p:sp>
        <p:nvSpPr>
          <p:cNvPr id="18" name="Elipse 17">
            <a:extLst>
              <a:ext uri="{FF2B5EF4-FFF2-40B4-BE49-F238E27FC236}">
                <a16:creationId xmlns:a16="http://schemas.microsoft.com/office/drawing/2014/main" id="{82DEB5BB-C736-D90C-E6A5-DE83317A709F}"/>
              </a:ext>
            </a:extLst>
          </p:cNvPr>
          <p:cNvSpPr/>
          <p:nvPr/>
        </p:nvSpPr>
        <p:spPr>
          <a:xfrm>
            <a:off x="2964329" y="2961618"/>
            <a:ext cx="3783106" cy="3504923"/>
          </a:xfrm>
          <a:prstGeom prst="ellipse">
            <a:avLst/>
          </a:prstGeom>
          <a:solidFill>
            <a:schemeClr val="accent6">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lIns="252000" tIns="1332000" rIns="0" bIns="0" rtlCol="0" anchor="ctr"/>
          <a:lstStyle/>
          <a:p>
            <a:pPr algn="ctr"/>
            <a:r>
              <a:rPr lang="es-ES" b="1" dirty="0">
                <a:solidFill>
                  <a:schemeClr val="tx1"/>
                </a:solidFill>
              </a:rPr>
              <a:t>C2</a:t>
            </a:r>
          </a:p>
        </p:txBody>
      </p:sp>
      <p:sp>
        <p:nvSpPr>
          <p:cNvPr id="19" name="Elipse 18">
            <a:extLst>
              <a:ext uri="{FF2B5EF4-FFF2-40B4-BE49-F238E27FC236}">
                <a16:creationId xmlns:a16="http://schemas.microsoft.com/office/drawing/2014/main" id="{F263943C-F016-C29E-734A-DE4AACD792AA}"/>
              </a:ext>
            </a:extLst>
          </p:cNvPr>
          <p:cNvSpPr>
            <a:spLocks noChangeAspect="1"/>
          </p:cNvSpPr>
          <p:nvPr/>
        </p:nvSpPr>
        <p:spPr>
          <a:xfrm>
            <a:off x="3147695" y="668047"/>
            <a:ext cx="4657151" cy="4398771"/>
          </a:xfrm>
          <a:prstGeom prst="ellipse">
            <a:avLst/>
          </a:prstGeom>
          <a:solidFill>
            <a:schemeClr val="accent2">
              <a:lumMod val="75000"/>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lIns="972000" bIns="324000" rtlCol="0" anchor="ctr"/>
          <a:lstStyle/>
          <a:p>
            <a:pPr algn="ctr"/>
            <a:r>
              <a:rPr lang="es-ES" b="1" dirty="0">
                <a:solidFill>
                  <a:schemeClr val="tx1"/>
                </a:solidFill>
              </a:rPr>
              <a:t>C3</a:t>
            </a:r>
          </a:p>
        </p:txBody>
      </p:sp>
      <p:sp>
        <p:nvSpPr>
          <p:cNvPr id="23" name="Rectángulo 22">
            <a:extLst>
              <a:ext uri="{FF2B5EF4-FFF2-40B4-BE49-F238E27FC236}">
                <a16:creationId xmlns:a16="http://schemas.microsoft.com/office/drawing/2014/main" id="{8A473970-2686-D4C1-3FB9-EDF74E22858D}"/>
              </a:ext>
            </a:extLst>
          </p:cNvPr>
          <p:cNvSpPr/>
          <p:nvPr/>
        </p:nvSpPr>
        <p:spPr>
          <a:xfrm>
            <a:off x="7113307" y="1274202"/>
            <a:ext cx="236532" cy="3215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Rectángulo 25">
            <a:extLst>
              <a:ext uri="{FF2B5EF4-FFF2-40B4-BE49-F238E27FC236}">
                <a16:creationId xmlns:a16="http://schemas.microsoft.com/office/drawing/2014/main" id="{DE0B9802-D097-96E6-612A-FE448F74D63F}"/>
              </a:ext>
            </a:extLst>
          </p:cNvPr>
          <p:cNvSpPr/>
          <p:nvPr/>
        </p:nvSpPr>
        <p:spPr>
          <a:xfrm>
            <a:off x="7329975" y="1550235"/>
            <a:ext cx="553574" cy="31100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D4286E82-FF38-1057-622F-02244AD16F2B}"/>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a:t>
            </a:r>
          </a:p>
        </p:txBody>
      </p:sp>
      <p:sp>
        <p:nvSpPr>
          <p:cNvPr id="7" name="Rectángulo: esquinas redondeadas 6">
            <a:extLst>
              <a:ext uri="{FF2B5EF4-FFF2-40B4-BE49-F238E27FC236}">
                <a16:creationId xmlns:a16="http://schemas.microsoft.com/office/drawing/2014/main" id="{37C1E777-D0D1-07FC-1403-BB9C8DF03D62}"/>
              </a:ext>
            </a:extLst>
          </p:cNvPr>
          <p:cNvSpPr/>
          <p:nvPr/>
        </p:nvSpPr>
        <p:spPr>
          <a:xfrm>
            <a:off x="302754" y="1086465"/>
            <a:ext cx="6805969" cy="5635012"/>
          </a:xfrm>
          <a:prstGeom prst="roundRect">
            <a:avLst>
              <a:gd name="adj" fmla="val 672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8FE39C4E-E8B5-F744-5B9A-AF166379A85C}"/>
              </a:ext>
            </a:extLst>
          </p:cNvPr>
          <p:cNvSpPr/>
          <p:nvPr/>
        </p:nvSpPr>
        <p:spPr>
          <a:xfrm>
            <a:off x="5591633"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P3</a:t>
            </a:r>
          </a:p>
        </p:txBody>
      </p:sp>
      <p:sp>
        <p:nvSpPr>
          <p:cNvPr id="10" name="Elipse 9">
            <a:extLst>
              <a:ext uri="{FF2B5EF4-FFF2-40B4-BE49-F238E27FC236}">
                <a16:creationId xmlns:a16="http://schemas.microsoft.com/office/drawing/2014/main" id="{4D4536D0-EF07-8598-4EF4-C8AA3A864005}"/>
              </a:ext>
            </a:extLst>
          </p:cNvPr>
          <p:cNvSpPr/>
          <p:nvPr/>
        </p:nvSpPr>
        <p:spPr>
          <a:xfrm>
            <a:off x="5951633" y="5411535"/>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P4</a:t>
            </a:r>
          </a:p>
        </p:txBody>
      </p:sp>
      <p:sp>
        <p:nvSpPr>
          <p:cNvPr id="20" name="Elipse 19">
            <a:extLst>
              <a:ext uri="{FF2B5EF4-FFF2-40B4-BE49-F238E27FC236}">
                <a16:creationId xmlns:a16="http://schemas.microsoft.com/office/drawing/2014/main" id="{107557BF-0E02-4D7E-EB13-773A1DC49CEB}"/>
              </a:ext>
            </a:extLst>
          </p:cNvPr>
          <p:cNvSpPr/>
          <p:nvPr/>
        </p:nvSpPr>
        <p:spPr>
          <a:xfrm>
            <a:off x="6522887" y="1239284"/>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P6</a:t>
            </a:r>
          </a:p>
        </p:txBody>
      </p:sp>
      <p:sp>
        <p:nvSpPr>
          <p:cNvPr id="21" name="Elipse 20">
            <a:extLst>
              <a:ext uri="{FF2B5EF4-FFF2-40B4-BE49-F238E27FC236}">
                <a16:creationId xmlns:a16="http://schemas.microsoft.com/office/drawing/2014/main" id="{FC878616-5F75-2A77-5698-0E2EEED4E27B}"/>
              </a:ext>
            </a:extLst>
          </p:cNvPr>
          <p:cNvSpPr/>
          <p:nvPr/>
        </p:nvSpPr>
        <p:spPr>
          <a:xfrm>
            <a:off x="5083633" y="213360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P5</a:t>
            </a:r>
          </a:p>
        </p:txBody>
      </p:sp>
      <p:sp>
        <p:nvSpPr>
          <p:cNvPr id="22" name="Elipse 21">
            <a:extLst>
              <a:ext uri="{FF2B5EF4-FFF2-40B4-BE49-F238E27FC236}">
                <a16:creationId xmlns:a16="http://schemas.microsoft.com/office/drawing/2014/main" id="{EC0EDBC2-AADF-F66C-0AA7-5B8E7D9B91FF}"/>
              </a:ext>
            </a:extLst>
          </p:cNvPr>
          <p:cNvSpPr/>
          <p:nvPr/>
        </p:nvSpPr>
        <p:spPr>
          <a:xfrm>
            <a:off x="3437729" y="355632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600" b="1" dirty="0"/>
              <a:t>P7</a:t>
            </a:r>
          </a:p>
        </p:txBody>
      </p:sp>
      <p:sp>
        <p:nvSpPr>
          <p:cNvPr id="2" name="Rectángulo 1">
            <a:extLst>
              <a:ext uri="{FF2B5EF4-FFF2-40B4-BE49-F238E27FC236}">
                <a16:creationId xmlns:a16="http://schemas.microsoft.com/office/drawing/2014/main" id="{438C2246-075C-BEB1-FC39-19F44050F488}"/>
              </a:ext>
            </a:extLst>
          </p:cNvPr>
          <p:cNvSpPr/>
          <p:nvPr/>
        </p:nvSpPr>
        <p:spPr>
          <a:xfrm>
            <a:off x="4046071" y="771266"/>
            <a:ext cx="3062652" cy="3087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Elipse 2">
            <a:extLst>
              <a:ext uri="{FF2B5EF4-FFF2-40B4-BE49-F238E27FC236}">
                <a16:creationId xmlns:a16="http://schemas.microsoft.com/office/drawing/2014/main" id="{941EE461-2311-50AD-149C-91B8D9E50EB1}"/>
              </a:ext>
            </a:extLst>
          </p:cNvPr>
          <p:cNvSpPr/>
          <p:nvPr/>
        </p:nvSpPr>
        <p:spPr>
          <a:xfrm>
            <a:off x="892087"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P1</a:t>
            </a:r>
          </a:p>
        </p:txBody>
      </p:sp>
      <p:sp>
        <p:nvSpPr>
          <p:cNvPr id="4" name="Elipse 3">
            <a:extLst>
              <a:ext uri="{FF2B5EF4-FFF2-40B4-BE49-F238E27FC236}">
                <a16:creationId xmlns:a16="http://schemas.microsoft.com/office/drawing/2014/main" id="{1F80E82A-B184-443C-41E5-E4C1D51FAEE0}"/>
              </a:ext>
            </a:extLst>
          </p:cNvPr>
          <p:cNvSpPr/>
          <p:nvPr/>
        </p:nvSpPr>
        <p:spPr>
          <a:xfrm>
            <a:off x="1447516" y="505914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P2</a:t>
            </a:r>
          </a:p>
        </p:txBody>
      </p:sp>
      <p:cxnSp>
        <p:nvCxnSpPr>
          <p:cNvPr id="8" name="Conector recto de flecha 7">
            <a:extLst>
              <a:ext uri="{FF2B5EF4-FFF2-40B4-BE49-F238E27FC236}">
                <a16:creationId xmlns:a16="http://schemas.microsoft.com/office/drawing/2014/main" id="{B850307E-5559-4F27-D526-12454E1FD3EA}"/>
              </a:ext>
            </a:extLst>
          </p:cNvPr>
          <p:cNvCxnSpPr>
            <a:cxnSpLocks/>
          </p:cNvCxnSpPr>
          <p:nvPr/>
        </p:nvCxnSpPr>
        <p:spPr>
          <a:xfrm>
            <a:off x="7350041" y="1342874"/>
            <a:ext cx="814666" cy="0"/>
          </a:xfrm>
          <a:prstGeom prst="straightConnector1">
            <a:avLst/>
          </a:prstGeom>
          <a:ln w="2857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E30B482-F5C6-61DD-F966-BCA240043060}"/>
                  </a:ext>
                </a:extLst>
              </p:cNvPr>
              <p:cNvSpPr txBox="1"/>
              <p:nvPr/>
            </p:nvSpPr>
            <p:spPr>
              <a:xfrm>
                <a:off x="8164707" y="1168596"/>
                <a:ext cx="3285941"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Single: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C3</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1" name="CuadroTexto 10">
                <a:extLst>
                  <a:ext uri="{FF2B5EF4-FFF2-40B4-BE49-F238E27FC236}">
                    <a16:creationId xmlns:a16="http://schemas.microsoft.com/office/drawing/2014/main" id="{6E30B482-F5C6-61DD-F966-BCA240043060}"/>
                  </a:ext>
                </a:extLst>
              </p:cNvPr>
              <p:cNvSpPr txBox="1">
                <a:spLocks noRot="1" noChangeAspect="1" noMove="1" noResize="1" noEditPoints="1" noAdjustHandles="1" noChangeArrowheads="1" noChangeShapeType="1" noTextEdit="1"/>
              </p:cNvSpPr>
              <p:nvPr/>
            </p:nvSpPr>
            <p:spPr>
              <a:xfrm>
                <a:off x="8164707" y="1168596"/>
                <a:ext cx="3285941" cy="369332"/>
              </a:xfrm>
              <a:prstGeom prst="rect">
                <a:avLst/>
              </a:prstGeom>
              <a:blipFill>
                <a:blip r:embed="rId2"/>
                <a:stretch>
                  <a:fillRect l="-1484" t="-11667" b="-28333"/>
                </a:stretch>
              </a:blipFill>
            </p:spPr>
            <p:txBody>
              <a:bodyPr/>
              <a:lstStyle/>
              <a:p>
                <a:r>
                  <a:rPr lang="es-ES">
                    <a:noFill/>
                  </a:rPr>
                  <a:t> </a:t>
                </a:r>
              </a:p>
            </p:txBody>
          </p:sp>
        </mc:Fallback>
      </mc:AlternateContent>
      <p:cxnSp>
        <p:nvCxnSpPr>
          <p:cNvPr id="13" name="Conector recto de flecha 12">
            <a:extLst>
              <a:ext uri="{FF2B5EF4-FFF2-40B4-BE49-F238E27FC236}">
                <a16:creationId xmlns:a16="http://schemas.microsoft.com/office/drawing/2014/main" id="{E9F654BD-6A39-B905-966C-DAE73FF3C577}"/>
              </a:ext>
            </a:extLst>
          </p:cNvPr>
          <p:cNvCxnSpPr>
            <a:cxnSpLocks/>
          </p:cNvCxnSpPr>
          <p:nvPr/>
        </p:nvCxnSpPr>
        <p:spPr>
          <a:xfrm>
            <a:off x="7350041" y="2020316"/>
            <a:ext cx="814666"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58412168-5AF9-EF21-AF08-26C7A450041A}"/>
                  </a:ext>
                </a:extLst>
              </p:cNvPr>
              <p:cNvSpPr txBox="1"/>
              <p:nvPr/>
            </p:nvSpPr>
            <p:spPr>
              <a:xfrm>
                <a:off x="8164707" y="1845728"/>
                <a:ext cx="3426183"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Complete: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C2</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4" name="CuadroTexto 13">
                <a:extLst>
                  <a:ext uri="{FF2B5EF4-FFF2-40B4-BE49-F238E27FC236}">
                    <a16:creationId xmlns:a16="http://schemas.microsoft.com/office/drawing/2014/main" id="{58412168-5AF9-EF21-AF08-26C7A450041A}"/>
                  </a:ext>
                </a:extLst>
              </p:cNvPr>
              <p:cNvSpPr txBox="1">
                <a:spLocks noRot="1" noChangeAspect="1" noMove="1" noResize="1" noEditPoints="1" noAdjustHandles="1" noChangeArrowheads="1" noChangeShapeType="1" noTextEdit="1"/>
              </p:cNvSpPr>
              <p:nvPr/>
            </p:nvSpPr>
            <p:spPr>
              <a:xfrm>
                <a:off x="8164707" y="1845728"/>
                <a:ext cx="3426183" cy="369332"/>
              </a:xfrm>
              <a:prstGeom prst="rect">
                <a:avLst/>
              </a:prstGeom>
              <a:blipFill>
                <a:blip r:embed="rId3"/>
                <a:stretch>
                  <a:fillRect l="-1423" t="-11667" b="-28333"/>
                </a:stretch>
              </a:blipFill>
            </p:spPr>
            <p:txBody>
              <a:bodyPr/>
              <a:lstStyle/>
              <a:p>
                <a:r>
                  <a:rPr lang="es-ES">
                    <a:noFill/>
                  </a:rPr>
                  <a:t> </a:t>
                </a:r>
              </a:p>
            </p:txBody>
          </p:sp>
        </mc:Fallback>
      </mc:AlternateContent>
      <p:cxnSp>
        <p:nvCxnSpPr>
          <p:cNvPr id="15" name="Conector recto de flecha 14">
            <a:extLst>
              <a:ext uri="{FF2B5EF4-FFF2-40B4-BE49-F238E27FC236}">
                <a16:creationId xmlns:a16="http://schemas.microsoft.com/office/drawing/2014/main" id="{96FC8BCC-7813-1C6A-7755-5145917A2C1B}"/>
              </a:ext>
            </a:extLst>
          </p:cNvPr>
          <p:cNvCxnSpPr>
            <a:cxnSpLocks/>
          </p:cNvCxnSpPr>
          <p:nvPr/>
        </p:nvCxnSpPr>
        <p:spPr>
          <a:xfrm>
            <a:off x="7350041" y="2668763"/>
            <a:ext cx="814666"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AD54715-2398-B805-08C9-5473EAC7966D}"/>
                  </a:ext>
                </a:extLst>
              </p:cNvPr>
              <p:cNvSpPr txBox="1"/>
              <p:nvPr/>
            </p:nvSpPr>
            <p:spPr>
              <a:xfrm>
                <a:off x="8164706" y="2493600"/>
                <a:ext cx="3426183" cy="369332"/>
              </a:xfrm>
              <a:prstGeom prst="rect">
                <a:avLst/>
              </a:prstGeom>
              <a:noFill/>
            </p:spPr>
            <p:txBody>
              <a:bodyPr wrap="square">
                <a:spAutoFit/>
              </a:bodyPr>
              <a:lstStyle/>
              <a:p>
                <a:r>
                  <a:rPr lang="es-ES" sz="1800" dirty="0" err="1">
                    <a:solidFill>
                      <a:schemeClr val="accent1">
                        <a:lumMod val="50000"/>
                      </a:schemeClr>
                    </a:solidFill>
                    <a:latin typeface="Courier New" panose="02070309020205020404" pitchFamily="49" charset="0"/>
                    <a:cs typeface="Courier New" panose="02070309020205020404" pitchFamily="49" charset="0"/>
                  </a:rPr>
                  <a:t>Average</a:t>
                </a:r>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C1</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6" name="CuadroTexto 15">
                <a:extLst>
                  <a:ext uri="{FF2B5EF4-FFF2-40B4-BE49-F238E27FC236}">
                    <a16:creationId xmlns:a16="http://schemas.microsoft.com/office/drawing/2014/main" id="{DAD54715-2398-B805-08C9-5473EAC7966D}"/>
                  </a:ext>
                </a:extLst>
              </p:cNvPr>
              <p:cNvSpPr txBox="1">
                <a:spLocks noRot="1" noChangeAspect="1" noMove="1" noResize="1" noEditPoints="1" noAdjustHandles="1" noChangeArrowheads="1" noChangeShapeType="1" noTextEdit="1"/>
              </p:cNvSpPr>
              <p:nvPr/>
            </p:nvSpPr>
            <p:spPr>
              <a:xfrm>
                <a:off x="8164706" y="2493600"/>
                <a:ext cx="3426183" cy="369332"/>
              </a:xfrm>
              <a:prstGeom prst="rect">
                <a:avLst/>
              </a:prstGeom>
              <a:blipFill>
                <a:blip r:embed="rId4"/>
                <a:stretch>
                  <a:fillRect l="-1423" t="-9836" b="-2623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CF29D2D4-A063-A008-85E5-546681945BC8}"/>
                  </a:ext>
                </a:extLst>
              </p:cNvPr>
              <p:cNvSpPr txBox="1"/>
              <p:nvPr/>
            </p:nvSpPr>
            <p:spPr>
              <a:xfrm>
                <a:off x="8164706" y="3186991"/>
                <a:ext cx="3426183"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Ward: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C2</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7" name="CuadroTexto 16">
                <a:extLst>
                  <a:ext uri="{FF2B5EF4-FFF2-40B4-BE49-F238E27FC236}">
                    <a16:creationId xmlns:a16="http://schemas.microsoft.com/office/drawing/2014/main" id="{CF29D2D4-A063-A008-85E5-546681945BC8}"/>
                  </a:ext>
                </a:extLst>
              </p:cNvPr>
              <p:cNvSpPr txBox="1">
                <a:spLocks noRot="1" noChangeAspect="1" noMove="1" noResize="1" noEditPoints="1" noAdjustHandles="1" noChangeArrowheads="1" noChangeShapeType="1" noTextEdit="1"/>
              </p:cNvSpPr>
              <p:nvPr/>
            </p:nvSpPr>
            <p:spPr>
              <a:xfrm>
                <a:off x="8164706" y="3186991"/>
                <a:ext cx="3426183" cy="369332"/>
              </a:xfrm>
              <a:prstGeom prst="rect">
                <a:avLst/>
              </a:prstGeom>
              <a:blipFill>
                <a:blip r:embed="rId5"/>
                <a:stretch>
                  <a:fillRect l="-1423" t="-11667" b="-28333"/>
                </a:stretch>
              </a:blipFill>
            </p:spPr>
            <p:txBody>
              <a:bodyPr/>
              <a:lstStyle/>
              <a:p>
                <a:r>
                  <a:rPr lang="es-ES">
                    <a:noFill/>
                  </a:rPr>
                  <a:t> </a:t>
                </a:r>
              </a:p>
            </p:txBody>
          </p:sp>
        </mc:Fallback>
      </mc:AlternateContent>
      <p:sp>
        <p:nvSpPr>
          <p:cNvPr id="27" name="Rectángulo 26">
            <a:extLst>
              <a:ext uri="{FF2B5EF4-FFF2-40B4-BE49-F238E27FC236}">
                <a16:creationId xmlns:a16="http://schemas.microsoft.com/office/drawing/2014/main" id="{B1273518-3A91-C9AC-A565-BBF2222F003B}"/>
              </a:ext>
            </a:extLst>
          </p:cNvPr>
          <p:cNvSpPr/>
          <p:nvPr/>
        </p:nvSpPr>
        <p:spPr>
          <a:xfrm>
            <a:off x="4721412" y="544278"/>
            <a:ext cx="2026024" cy="3502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627035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B5AC-A805-D835-E95F-3654AD3B4C0C}"/>
            </a:ext>
          </a:extLst>
        </p:cNvPr>
        <p:cNvGrpSpPr/>
        <p:nvPr/>
      </p:nvGrpSpPr>
      <p:grpSpPr>
        <a:xfrm>
          <a:off x="0" y="0"/>
          <a:ext cx="0" cy="0"/>
          <a:chOff x="0" y="0"/>
          <a:chExt cx="0" cy="0"/>
        </a:xfrm>
      </p:grpSpPr>
      <p:sp>
        <p:nvSpPr>
          <p:cNvPr id="18" name="Elipse 17">
            <a:extLst>
              <a:ext uri="{FF2B5EF4-FFF2-40B4-BE49-F238E27FC236}">
                <a16:creationId xmlns:a16="http://schemas.microsoft.com/office/drawing/2014/main" id="{24BB72D9-7352-1DAA-0B29-93A666FBF4F2}"/>
              </a:ext>
            </a:extLst>
          </p:cNvPr>
          <p:cNvSpPr/>
          <p:nvPr/>
        </p:nvSpPr>
        <p:spPr>
          <a:xfrm>
            <a:off x="2964329" y="2961618"/>
            <a:ext cx="3783106" cy="3504923"/>
          </a:xfrm>
          <a:prstGeom prst="ellipse">
            <a:avLst/>
          </a:prstGeom>
          <a:solidFill>
            <a:schemeClr val="accent6">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lIns="252000" tIns="1332000" rIns="0" bIns="0" rtlCol="0" anchor="ctr"/>
          <a:lstStyle/>
          <a:p>
            <a:pPr algn="ctr"/>
            <a:r>
              <a:rPr lang="es-ES" b="1" dirty="0">
                <a:solidFill>
                  <a:schemeClr val="tx1"/>
                </a:solidFill>
              </a:rPr>
              <a:t>C2</a:t>
            </a:r>
          </a:p>
        </p:txBody>
      </p:sp>
      <p:sp>
        <p:nvSpPr>
          <p:cNvPr id="23" name="Rectángulo 22">
            <a:extLst>
              <a:ext uri="{FF2B5EF4-FFF2-40B4-BE49-F238E27FC236}">
                <a16:creationId xmlns:a16="http://schemas.microsoft.com/office/drawing/2014/main" id="{39F298A1-860A-84AF-298E-C52E1E122C44}"/>
              </a:ext>
            </a:extLst>
          </p:cNvPr>
          <p:cNvSpPr/>
          <p:nvPr/>
        </p:nvSpPr>
        <p:spPr>
          <a:xfrm>
            <a:off x="7113307" y="1274202"/>
            <a:ext cx="236532" cy="3215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Rectángulo 25">
            <a:extLst>
              <a:ext uri="{FF2B5EF4-FFF2-40B4-BE49-F238E27FC236}">
                <a16:creationId xmlns:a16="http://schemas.microsoft.com/office/drawing/2014/main" id="{0C777E1A-F406-03E8-8676-2EACACC441A9}"/>
              </a:ext>
            </a:extLst>
          </p:cNvPr>
          <p:cNvSpPr/>
          <p:nvPr/>
        </p:nvSpPr>
        <p:spPr>
          <a:xfrm>
            <a:off x="7329975" y="1550235"/>
            <a:ext cx="553574" cy="31100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0CFF7468-E36A-0F47-5C39-DA9B980596C2}"/>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a:t>
            </a:r>
          </a:p>
        </p:txBody>
      </p:sp>
      <p:sp>
        <p:nvSpPr>
          <p:cNvPr id="7" name="Rectángulo: esquinas redondeadas 6">
            <a:extLst>
              <a:ext uri="{FF2B5EF4-FFF2-40B4-BE49-F238E27FC236}">
                <a16:creationId xmlns:a16="http://schemas.microsoft.com/office/drawing/2014/main" id="{B7BE183E-51F0-6258-B057-B8B77AC263B7}"/>
              </a:ext>
            </a:extLst>
          </p:cNvPr>
          <p:cNvSpPr/>
          <p:nvPr/>
        </p:nvSpPr>
        <p:spPr>
          <a:xfrm>
            <a:off x="302754" y="1086465"/>
            <a:ext cx="6805969" cy="5635012"/>
          </a:xfrm>
          <a:prstGeom prst="roundRect">
            <a:avLst>
              <a:gd name="adj" fmla="val 672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2BDB6E59-472C-84F8-3F82-BF67AF661FB4}"/>
              </a:ext>
            </a:extLst>
          </p:cNvPr>
          <p:cNvSpPr/>
          <p:nvPr/>
        </p:nvSpPr>
        <p:spPr>
          <a:xfrm>
            <a:off x="5591633"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P3</a:t>
            </a:r>
          </a:p>
        </p:txBody>
      </p:sp>
      <p:sp>
        <p:nvSpPr>
          <p:cNvPr id="10" name="Elipse 9">
            <a:extLst>
              <a:ext uri="{FF2B5EF4-FFF2-40B4-BE49-F238E27FC236}">
                <a16:creationId xmlns:a16="http://schemas.microsoft.com/office/drawing/2014/main" id="{6BF90710-0EC9-EC2A-52DE-EBD2A3134A4B}"/>
              </a:ext>
            </a:extLst>
          </p:cNvPr>
          <p:cNvSpPr/>
          <p:nvPr/>
        </p:nvSpPr>
        <p:spPr>
          <a:xfrm>
            <a:off x="5951633" y="5411535"/>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P4</a:t>
            </a:r>
          </a:p>
        </p:txBody>
      </p:sp>
      <p:sp>
        <p:nvSpPr>
          <p:cNvPr id="20" name="Elipse 19">
            <a:extLst>
              <a:ext uri="{FF2B5EF4-FFF2-40B4-BE49-F238E27FC236}">
                <a16:creationId xmlns:a16="http://schemas.microsoft.com/office/drawing/2014/main" id="{7CF49D4D-F173-D403-93F1-2089EF0AEC32}"/>
              </a:ext>
            </a:extLst>
          </p:cNvPr>
          <p:cNvSpPr/>
          <p:nvPr/>
        </p:nvSpPr>
        <p:spPr>
          <a:xfrm>
            <a:off x="6522887" y="1239284"/>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P6</a:t>
            </a:r>
          </a:p>
        </p:txBody>
      </p:sp>
      <p:sp>
        <p:nvSpPr>
          <p:cNvPr id="21" name="Elipse 20">
            <a:extLst>
              <a:ext uri="{FF2B5EF4-FFF2-40B4-BE49-F238E27FC236}">
                <a16:creationId xmlns:a16="http://schemas.microsoft.com/office/drawing/2014/main" id="{971D8418-E326-27DE-9CBB-FABEA6A5E0A0}"/>
              </a:ext>
            </a:extLst>
          </p:cNvPr>
          <p:cNvSpPr/>
          <p:nvPr/>
        </p:nvSpPr>
        <p:spPr>
          <a:xfrm>
            <a:off x="5083633" y="213360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dirty="0"/>
              <a:t>P5</a:t>
            </a:r>
          </a:p>
        </p:txBody>
      </p:sp>
      <p:sp>
        <p:nvSpPr>
          <p:cNvPr id="22" name="Elipse 21">
            <a:extLst>
              <a:ext uri="{FF2B5EF4-FFF2-40B4-BE49-F238E27FC236}">
                <a16:creationId xmlns:a16="http://schemas.microsoft.com/office/drawing/2014/main" id="{94341F85-42E0-4EB0-54D7-6BB6B83190D4}"/>
              </a:ext>
            </a:extLst>
          </p:cNvPr>
          <p:cNvSpPr/>
          <p:nvPr/>
        </p:nvSpPr>
        <p:spPr>
          <a:xfrm>
            <a:off x="3437729" y="355632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600" b="1" dirty="0"/>
              <a:t>P7</a:t>
            </a:r>
          </a:p>
        </p:txBody>
      </p:sp>
      <p:sp>
        <p:nvSpPr>
          <p:cNvPr id="2" name="Rectángulo 1">
            <a:extLst>
              <a:ext uri="{FF2B5EF4-FFF2-40B4-BE49-F238E27FC236}">
                <a16:creationId xmlns:a16="http://schemas.microsoft.com/office/drawing/2014/main" id="{74564B67-75D5-2B33-7D06-30CFE0EFB3B3}"/>
              </a:ext>
            </a:extLst>
          </p:cNvPr>
          <p:cNvSpPr/>
          <p:nvPr/>
        </p:nvSpPr>
        <p:spPr>
          <a:xfrm>
            <a:off x="4046071" y="771266"/>
            <a:ext cx="3062652" cy="3087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Elipse 2">
            <a:extLst>
              <a:ext uri="{FF2B5EF4-FFF2-40B4-BE49-F238E27FC236}">
                <a16:creationId xmlns:a16="http://schemas.microsoft.com/office/drawing/2014/main" id="{A2A79F8B-87FC-78A2-FDF4-9938CE82778D}"/>
              </a:ext>
            </a:extLst>
          </p:cNvPr>
          <p:cNvSpPr/>
          <p:nvPr/>
        </p:nvSpPr>
        <p:spPr>
          <a:xfrm>
            <a:off x="892087" y="575625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P1</a:t>
            </a:r>
          </a:p>
        </p:txBody>
      </p:sp>
      <p:sp>
        <p:nvSpPr>
          <p:cNvPr id="4" name="Elipse 3">
            <a:extLst>
              <a:ext uri="{FF2B5EF4-FFF2-40B4-BE49-F238E27FC236}">
                <a16:creationId xmlns:a16="http://schemas.microsoft.com/office/drawing/2014/main" id="{5F3218BD-370E-3557-521A-5E56AC923807}"/>
              </a:ext>
            </a:extLst>
          </p:cNvPr>
          <p:cNvSpPr/>
          <p:nvPr/>
        </p:nvSpPr>
        <p:spPr>
          <a:xfrm>
            <a:off x="1447516" y="5059143"/>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dirty="0"/>
              <a:t>P2</a:t>
            </a:r>
          </a:p>
        </p:txBody>
      </p:sp>
      <p:cxnSp>
        <p:nvCxnSpPr>
          <p:cNvPr id="8" name="Conector recto de flecha 7">
            <a:extLst>
              <a:ext uri="{FF2B5EF4-FFF2-40B4-BE49-F238E27FC236}">
                <a16:creationId xmlns:a16="http://schemas.microsoft.com/office/drawing/2014/main" id="{C4DE2095-936F-2444-43E3-1A655CAA3940}"/>
              </a:ext>
            </a:extLst>
          </p:cNvPr>
          <p:cNvCxnSpPr>
            <a:cxnSpLocks/>
          </p:cNvCxnSpPr>
          <p:nvPr/>
        </p:nvCxnSpPr>
        <p:spPr>
          <a:xfrm>
            <a:off x="7350041" y="1342874"/>
            <a:ext cx="814666" cy="0"/>
          </a:xfrm>
          <a:prstGeom prst="straightConnector1">
            <a:avLst/>
          </a:prstGeom>
          <a:ln w="2857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5CF25253-01AE-5E7A-F856-32EB6E231D86}"/>
                  </a:ext>
                </a:extLst>
              </p:cNvPr>
              <p:cNvSpPr txBox="1"/>
              <p:nvPr/>
            </p:nvSpPr>
            <p:spPr>
              <a:xfrm>
                <a:off x="8164707" y="1168596"/>
                <a:ext cx="3285941"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Single: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C3</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1" name="CuadroTexto 10">
                <a:extLst>
                  <a:ext uri="{FF2B5EF4-FFF2-40B4-BE49-F238E27FC236}">
                    <a16:creationId xmlns:a16="http://schemas.microsoft.com/office/drawing/2014/main" id="{6E30B482-F5C6-61DD-F966-BCA240043060}"/>
                  </a:ext>
                </a:extLst>
              </p:cNvPr>
              <p:cNvSpPr txBox="1">
                <a:spLocks noRot="1" noChangeAspect="1" noMove="1" noResize="1" noEditPoints="1" noAdjustHandles="1" noChangeArrowheads="1" noChangeShapeType="1" noTextEdit="1"/>
              </p:cNvSpPr>
              <p:nvPr/>
            </p:nvSpPr>
            <p:spPr>
              <a:xfrm>
                <a:off x="8164707" y="1168596"/>
                <a:ext cx="3285941" cy="369332"/>
              </a:xfrm>
              <a:prstGeom prst="rect">
                <a:avLst/>
              </a:prstGeom>
              <a:blipFill>
                <a:blip r:embed="rId2"/>
                <a:stretch>
                  <a:fillRect l="-1484" t="-11667" b="-28333"/>
                </a:stretch>
              </a:blipFill>
            </p:spPr>
            <p:txBody>
              <a:bodyPr/>
              <a:lstStyle/>
              <a:p>
                <a:r>
                  <a:rPr lang="es-ES">
                    <a:noFill/>
                  </a:rPr>
                  <a:t> </a:t>
                </a:r>
              </a:p>
            </p:txBody>
          </p:sp>
        </mc:Fallback>
      </mc:AlternateContent>
      <p:cxnSp>
        <p:nvCxnSpPr>
          <p:cNvPr id="13" name="Conector recto de flecha 12">
            <a:extLst>
              <a:ext uri="{FF2B5EF4-FFF2-40B4-BE49-F238E27FC236}">
                <a16:creationId xmlns:a16="http://schemas.microsoft.com/office/drawing/2014/main" id="{91662D12-51F4-8D5A-AF6D-4A281329227C}"/>
              </a:ext>
            </a:extLst>
          </p:cNvPr>
          <p:cNvCxnSpPr>
            <a:cxnSpLocks/>
          </p:cNvCxnSpPr>
          <p:nvPr/>
        </p:nvCxnSpPr>
        <p:spPr>
          <a:xfrm>
            <a:off x="7350041" y="2020316"/>
            <a:ext cx="814666"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12BF13AD-E8DB-DA3C-EAD3-5FB7CE220F54}"/>
                  </a:ext>
                </a:extLst>
              </p:cNvPr>
              <p:cNvSpPr txBox="1"/>
              <p:nvPr/>
            </p:nvSpPr>
            <p:spPr>
              <a:xfrm>
                <a:off x="8164707" y="1845728"/>
                <a:ext cx="3426183"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Complete: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C2</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4" name="CuadroTexto 13">
                <a:extLst>
                  <a:ext uri="{FF2B5EF4-FFF2-40B4-BE49-F238E27FC236}">
                    <a16:creationId xmlns:a16="http://schemas.microsoft.com/office/drawing/2014/main" id="{58412168-5AF9-EF21-AF08-26C7A450041A}"/>
                  </a:ext>
                </a:extLst>
              </p:cNvPr>
              <p:cNvSpPr txBox="1">
                <a:spLocks noRot="1" noChangeAspect="1" noMove="1" noResize="1" noEditPoints="1" noAdjustHandles="1" noChangeArrowheads="1" noChangeShapeType="1" noTextEdit="1"/>
              </p:cNvSpPr>
              <p:nvPr/>
            </p:nvSpPr>
            <p:spPr>
              <a:xfrm>
                <a:off x="8164707" y="1845728"/>
                <a:ext cx="3426183" cy="369332"/>
              </a:xfrm>
              <a:prstGeom prst="rect">
                <a:avLst/>
              </a:prstGeom>
              <a:blipFill>
                <a:blip r:embed="rId3"/>
                <a:stretch>
                  <a:fillRect l="-1423" t="-11667" b="-28333"/>
                </a:stretch>
              </a:blipFill>
            </p:spPr>
            <p:txBody>
              <a:bodyPr/>
              <a:lstStyle/>
              <a:p>
                <a:r>
                  <a:rPr lang="es-ES">
                    <a:noFill/>
                  </a:rPr>
                  <a:t> </a:t>
                </a:r>
              </a:p>
            </p:txBody>
          </p:sp>
        </mc:Fallback>
      </mc:AlternateContent>
      <p:cxnSp>
        <p:nvCxnSpPr>
          <p:cNvPr id="15" name="Conector recto de flecha 14">
            <a:extLst>
              <a:ext uri="{FF2B5EF4-FFF2-40B4-BE49-F238E27FC236}">
                <a16:creationId xmlns:a16="http://schemas.microsoft.com/office/drawing/2014/main" id="{57A3E8A3-92EA-0BBB-FD9B-AE357E5267EA}"/>
              </a:ext>
            </a:extLst>
          </p:cNvPr>
          <p:cNvCxnSpPr>
            <a:cxnSpLocks/>
          </p:cNvCxnSpPr>
          <p:nvPr/>
        </p:nvCxnSpPr>
        <p:spPr>
          <a:xfrm>
            <a:off x="7350041" y="2668763"/>
            <a:ext cx="814666"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21E18740-AA8A-9933-2240-BD89B0A8AA09}"/>
                  </a:ext>
                </a:extLst>
              </p:cNvPr>
              <p:cNvSpPr txBox="1"/>
              <p:nvPr/>
            </p:nvSpPr>
            <p:spPr>
              <a:xfrm>
                <a:off x="8164706" y="2493600"/>
                <a:ext cx="3426183" cy="369332"/>
              </a:xfrm>
              <a:prstGeom prst="rect">
                <a:avLst/>
              </a:prstGeom>
              <a:noFill/>
            </p:spPr>
            <p:txBody>
              <a:bodyPr wrap="square">
                <a:spAutoFit/>
              </a:bodyPr>
              <a:lstStyle/>
              <a:p>
                <a:r>
                  <a:rPr lang="es-ES" sz="1800" dirty="0" err="1">
                    <a:solidFill>
                      <a:schemeClr val="accent1">
                        <a:lumMod val="50000"/>
                      </a:schemeClr>
                    </a:solidFill>
                    <a:latin typeface="Courier New" panose="02070309020205020404" pitchFamily="49" charset="0"/>
                    <a:cs typeface="Courier New" panose="02070309020205020404" pitchFamily="49" charset="0"/>
                  </a:rPr>
                  <a:t>Average</a:t>
                </a:r>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C1</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6" name="CuadroTexto 15">
                <a:extLst>
                  <a:ext uri="{FF2B5EF4-FFF2-40B4-BE49-F238E27FC236}">
                    <a16:creationId xmlns:a16="http://schemas.microsoft.com/office/drawing/2014/main" id="{DAD54715-2398-B805-08C9-5473EAC7966D}"/>
                  </a:ext>
                </a:extLst>
              </p:cNvPr>
              <p:cNvSpPr txBox="1">
                <a:spLocks noRot="1" noChangeAspect="1" noMove="1" noResize="1" noEditPoints="1" noAdjustHandles="1" noChangeArrowheads="1" noChangeShapeType="1" noTextEdit="1"/>
              </p:cNvSpPr>
              <p:nvPr/>
            </p:nvSpPr>
            <p:spPr>
              <a:xfrm>
                <a:off x="8164706" y="2493600"/>
                <a:ext cx="3426183" cy="369332"/>
              </a:xfrm>
              <a:prstGeom prst="rect">
                <a:avLst/>
              </a:prstGeom>
              <a:blipFill>
                <a:blip r:embed="rId4"/>
                <a:stretch>
                  <a:fillRect l="-1423" t="-9836" b="-2623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D2F79E6-11BF-CDA9-E6B4-03397466799A}"/>
                  </a:ext>
                </a:extLst>
              </p:cNvPr>
              <p:cNvSpPr txBox="1"/>
              <p:nvPr/>
            </p:nvSpPr>
            <p:spPr>
              <a:xfrm>
                <a:off x="8164706" y="3186991"/>
                <a:ext cx="3426183" cy="369332"/>
              </a:xfrm>
              <a:prstGeom prst="rect">
                <a:avLst/>
              </a:prstGeom>
              <a:noFill/>
            </p:spPr>
            <p:txBody>
              <a:bodyPr wrap="square">
                <a:spAutoFit/>
              </a:bodyPr>
              <a:lstStyle/>
              <a:p>
                <a:r>
                  <a:rPr lang="es-ES" sz="1800" dirty="0">
                    <a:solidFill>
                      <a:schemeClr val="accent1">
                        <a:lumMod val="50000"/>
                      </a:schemeClr>
                    </a:solidFill>
                    <a:latin typeface="Courier New" panose="02070309020205020404" pitchFamily="49" charset="0"/>
                    <a:cs typeface="Courier New" panose="02070309020205020404" pitchFamily="49" charset="0"/>
                  </a:rPr>
                  <a:t>Ward: </a:t>
                </a:r>
                <a:r>
                  <a:rPr lang="es-ES" sz="1800" dirty="0">
                    <a:solidFill>
                      <a:schemeClr val="accent1">
                        <a:lumMod val="50000"/>
                      </a:schemeClr>
                    </a:solidFill>
                    <a:cs typeface="Courier New" panose="02070309020205020404" pitchFamily="49" charset="0"/>
                  </a:rPr>
                  <a:t>P7</a:t>
                </a:r>
                <a:r>
                  <a:rPr lang="es-ES" sz="1800" dirty="0">
                    <a:solidFill>
                      <a:schemeClr val="accent1">
                        <a:lumMod val="50000"/>
                      </a:schemeClr>
                    </a:solidFill>
                    <a:latin typeface="Courier New" panose="02070309020205020404" pitchFamily="49" charset="0"/>
                    <a:cs typeface="Courier New" panose="02070309020205020404" pitchFamily="49" charset="0"/>
                  </a:rPr>
                  <a:t> </a:t>
                </a:r>
                <a14:m>
                  <m:oMath xmlns:m="http://schemas.openxmlformats.org/officeDocument/2006/math">
                    <m:r>
                      <a:rPr lang="es-ES" sz="1800" i="1" smtClean="0">
                        <a:solidFill>
                          <a:schemeClr val="accent1">
                            <a:lumMod val="50000"/>
                          </a:schemeClr>
                        </a:solidFill>
                        <a:latin typeface="Cambria Math" panose="02040503050406030204" pitchFamily="18" charset="0"/>
                        <a:ea typeface="Cambria Math" panose="02040503050406030204" pitchFamily="18" charset="0"/>
                        <a:cs typeface="Courier New" panose="02070309020205020404" pitchFamily="49" charset="0"/>
                      </a:rPr>
                      <m:t>∈</m:t>
                    </m:r>
                  </m:oMath>
                </a14:m>
                <a:r>
                  <a:rPr lang="es-ES" sz="1800"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cs typeface="Courier New" panose="02070309020205020404" pitchFamily="49" charset="0"/>
                  </a:rPr>
                  <a:t>C2</a:t>
                </a:r>
                <a:r>
                  <a:rPr lang="es-ES" sz="1800" dirty="0">
                    <a:solidFill>
                      <a:schemeClr val="accent1">
                        <a:lumMod val="50000"/>
                      </a:schemeClr>
                    </a:solidFill>
                    <a:latin typeface="Courier New" panose="02070309020205020404" pitchFamily="49" charset="0"/>
                    <a:cs typeface="Courier New" panose="02070309020205020404" pitchFamily="49" charset="0"/>
                  </a:rPr>
                  <a:t> </a:t>
                </a:r>
                <a:endParaRPr lang="es-ES" dirty="0"/>
              </a:p>
            </p:txBody>
          </p:sp>
        </mc:Choice>
        <mc:Fallback xmlns="">
          <p:sp>
            <p:nvSpPr>
              <p:cNvPr id="17" name="CuadroTexto 16">
                <a:extLst>
                  <a:ext uri="{FF2B5EF4-FFF2-40B4-BE49-F238E27FC236}">
                    <a16:creationId xmlns:a16="http://schemas.microsoft.com/office/drawing/2014/main" id="{CF29D2D4-A063-A008-85E5-546681945BC8}"/>
                  </a:ext>
                </a:extLst>
              </p:cNvPr>
              <p:cNvSpPr txBox="1">
                <a:spLocks noRot="1" noChangeAspect="1" noMove="1" noResize="1" noEditPoints="1" noAdjustHandles="1" noChangeArrowheads="1" noChangeShapeType="1" noTextEdit="1"/>
              </p:cNvSpPr>
              <p:nvPr/>
            </p:nvSpPr>
            <p:spPr>
              <a:xfrm>
                <a:off x="8164706" y="3186991"/>
                <a:ext cx="3426183" cy="369332"/>
              </a:xfrm>
              <a:prstGeom prst="rect">
                <a:avLst/>
              </a:prstGeom>
              <a:blipFill>
                <a:blip r:embed="rId5"/>
                <a:stretch>
                  <a:fillRect l="-1423" t="-11667" b="-28333"/>
                </a:stretch>
              </a:blipFill>
            </p:spPr>
            <p:txBody>
              <a:bodyPr/>
              <a:lstStyle/>
              <a:p>
                <a:r>
                  <a:rPr lang="es-ES">
                    <a:noFill/>
                  </a:rPr>
                  <a:t> </a:t>
                </a:r>
              </a:p>
            </p:txBody>
          </p:sp>
        </mc:Fallback>
      </mc:AlternateContent>
      <p:sp>
        <p:nvSpPr>
          <p:cNvPr id="27" name="Rectángulo 26">
            <a:extLst>
              <a:ext uri="{FF2B5EF4-FFF2-40B4-BE49-F238E27FC236}">
                <a16:creationId xmlns:a16="http://schemas.microsoft.com/office/drawing/2014/main" id="{BE58535D-5A1A-8C1E-07C2-0F7E20CA50B6}"/>
              </a:ext>
            </a:extLst>
          </p:cNvPr>
          <p:cNvSpPr/>
          <p:nvPr/>
        </p:nvSpPr>
        <p:spPr>
          <a:xfrm>
            <a:off x="4721412" y="544278"/>
            <a:ext cx="2026024" cy="3502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7758400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4" name="Marcador de número de diapositiva 1">
            <a:extLst>
              <a:ext uri="{FF2B5EF4-FFF2-40B4-BE49-F238E27FC236}">
                <a16:creationId xmlns:a16="http://schemas.microsoft.com/office/drawing/2014/main" id="{2B676A0C-B311-06E8-FDDC-70C2E1F562AD}"/>
              </a:ext>
            </a:extLst>
          </p:cNvPr>
          <p:cNvSpPr>
            <a:spLocks noGrp="1"/>
          </p:cNvSpPr>
          <p:nvPr>
            <p:ph type="sldNum" sz="quarter" idx="12"/>
          </p:nvPr>
        </p:nvSpPr>
        <p:spPr>
          <a:xfrm>
            <a:off x="8610600" y="6356352"/>
            <a:ext cx="2743200" cy="365125"/>
          </a:xfrm>
        </p:spPr>
        <p:txBody>
          <a:bodyPr/>
          <a:lstStyle/>
          <a:p>
            <a:fld id="{5104FCC0-1602-4E53-A4A9-B84AD752D31B}" type="slidenum">
              <a:rPr lang="es-ES" smtClean="0">
                <a:solidFill>
                  <a:prstClr val="black">
                    <a:tint val="75000"/>
                  </a:prstClr>
                </a:solidFill>
              </a:rPr>
              <a:pPr/>
              <a:t>22</a:t>
            </a:fld>
            <a:endParaRPr lang="es-ES" dirty="0">
              <a:solidFill>
                <a:prstClr val="black">
                  <a:tint val="75000"/>
                </a:prstClr>
              </a:solidFill>
            </a:endParaRPr>
          </a:p>
        </p:txBody>
      </p:sp>
      <p:pic>
        <p:nvPicPr>
          <p:cNvPr id="8" name="Imagen 7">
            <a:hlinkClick r:id="rId2"/>
            <a:extLst>
              <a:ext uri="{FF2B5EF4-FFF2-40B4-BE49-F238E27FC236}">
                <a16:creationId xmlns:a16="http://schemas.microsoft.com/office/drawing/2014/main" id="{570CC872-1097-678F-D0DF-7C6789E2F03B}"/>
              </a:ext>
            </a:extLst>
          </p:cNvPr>
          <p:cNvPicPr>
            <a:picLocks noChangeAspect="1"/>
          </p:cNvPicPr>
          <p:nvPr/>
        </p:nvPicPr>
        <p:blipFill>
          <a:blip r:embed="rId3"/>
          <a:stretch>
            <a:fillRect/>
          </a:stretch>
        </p:blipFill>
        <p:spPr>
          <a:xfrm>
            <a:off x="197958" y="860796"/>
            <a:ext cx="5695992" cy="5962694"/>
          </a:xfrm>
          <a:prstGeom prst="rect">
            <a:avLst/>
          </a:prstGeom>
        </p:spPr>
      </p:pic>
      <p:sp>
        <p:nvSpPr>
          <p:cNvPr id="20" name="CuadroTexto 19">
            <a:extLst>
              <a:ext uri="{FF2B5EF4-FFF2-40B4-BE49-F238E27FC236}">
                <a16:creationId xmlns:a16="http://schemas.microsoft.com/office/drawing/2014/main" id="{62A88EEA-E0B2-D80E-CFA4-B0B8837A2876}"/>
              </a:ext>
            </a:extLst>
          </p:cNvPr>
          <p:cNvSpPr txBox="1"/>
          <p:nvPr/>
        </p:nvSpPr>
        <p:spPr>
          <a:xfrm>
            <a:off x="6042698" y="1307434"/>
            <a:ext cx="6149302" cy="3416320"/>
          </a:xfrm>
          <a:prstGeom prst="rect">
            <a:avLst/>
          </a:prstGeom>
          <a:noFill/>
        </p:spPr>
        <p:txBody>
          <a:bodyPr wrap="square" rtlCol="0">
            <a:spAutoFit/>
          </a:bodyPr>
          <a:lstStyle/>
          <a:p>
            <a:pPr algn="l"/>
            <a:r>
              <a:rPr lang="en-US" b="0" i="0" dirty="0">
                <a:solidFill>
                  <a:schemeClr val="accent1">
                    <a:lumMod val="50000"/>
                  </a:schemeClr>
                </a:solidFill>
                <a:effectLst/>
                <a:highlight>
                  <a:srgbClr val="FFFFFF"/>
                </a:highlight>
              </a:rPr>
              <a:t>“ The main observations to make are:</a:t>
            </a:r>
          </a:p>
          <a:p>
            <a:pPr algn="l"/>
            <a:endParaRPr lang="en-US" b="0" i="0" dirty="0">
              <a:solidFill>
                <a:schemeClr val="accent1">
                  <a:lumMod val="50000"/>
                </a:schemeClr>
              </a:solidFill>
              <a:effectLst/>
              <a:highlight>
                <a:srgbClr val="FFFFFF"/>
              </a:highlight>
            </a:endParaRPr>
          </a:p>
          <a:p>
            <a:pPr marL="285750" indent="-285750" algn="l">
              <a:buFont typeface="Arial" panose="020B0604020202020204" pitchFamily="34" charset="0"/>
              <a:buChar char="•"/>
            </a:pPr>
            <a:r>
              <a:rPr lang="en-US" b="0" i="0" dirty="0">
                <a:solidFill>
                  <a:schemeClr val="accent1">
                    <a:lumMod val="50000"/>
                  </a:schemeClr>
                </a:solidFill>
                <a:effectLst/>
                <a:highlight>
                  <a:srgbClr val="FFFFFF"/>
                </a:highlight>
                <a:latin typeface="Courier New" panose="02070309020205020404" pitchFamily="49" charset="0"/>
                <a:cs typeface="Courier New" panose="02070309020205020404" pitchFamily="49" charset="0"/>
              </a:rPr>
              <a:t>single</a:t>
            </a:r>
            <a:r>
              <a:rPr lang="en-US" b="0" i="0" dirty="0">
                <a:solidFill>
                  <a:schemeClr val="accent1">
                    <a:lumMod val="50000"/>
                  </a:schemeClr>
                </a:solidFill>
                <a:effectLst/>
                <a:highlight>
                  <a:srgbClr val="FFFFFF"/>
                </a:highlight>
              </a:rPr>
              <a:t> linkage is fast, and can perform well on non-globular data, but it performs poorly in the presence of noise.</a:t>
            </a:r>
          </a:p>
          <a:p>
            <a:pPr marL="285750" indent="-285750" algn="l">
              <a:buFont typeface="Arial" panose="020B0604020202020204" pitchFamily="34" charset="0"/>
              <a:buChar char="•"/>
            </a:pPr>
            <a:endParaRPr lang="en-US" dirty="0">
              <a:solidFill>
                <a:schemeClr val="accent1">
                  <a:lumMod val="50000"/>
                </a:schemeClr>
              </a:solidFill>
              <a:highlight>
                <a:srgbClr val="FFFFFF"/>
              </a:highlight>
            </a:endParaRPr>
          </a:p>
          <a:p>
            <a:pPr marL="285750" indent="-285750" algn="l">
              <a:buFont typeface="Arial" panose="020B0604020202020204" pitchFamily="34" charset="0"/>
              <a:buChar char="•"/>
            </a:pPr>
            <a:r>
              <a:rPr lang="en-US" dirty="0">
                <a:solidFill>
                  <a:schemeClr val="accent1">
                    <a:lumMod val="50000"/>
                  </a:schemeClr>
                </a:solidFill>
                <a:highlight>
                  <a:srgbClr val="FFFFFF"/>
                </a:highlight>
                <a:latin typeface="Courier New" panose="02070309020205020404" pitchFamily="49" charset="0"/>
                <a:cs typeface="Courier New" panose="02070309020205020404" pitchFamily="49" charset="0"/>
              </a:rPr>
              <a:t>average</a:t>
            </a:r>
            <a:r>
              <a:rPr lang="en-US" b="0" i="0" dirty="0">
                <a:solidFill>
                  <a:schemeClr val="accent1">
                    <a:lumMod val="50000"/>
                  </a:schemeClr>
                </a:solidFill>
                <a:effectLst/>
                <a:highlight>
                  <a:srgbClr val="FFFFFF"/>
                </a:highlight>
              </a:rPr>
              <a:t> and </a:t>
            </a:r>
            <a:r>
              <a:rPr lang="en-US" dirty="0">
                <a:solidFill>
                  <a:schemeClr val="accent1">
                    <a:lumMod val="50000"/>
                  </a:schemeClr>
                </a:solidFill>
                <a:highlight>
                  <a:srgbClr val="FFFFFF"/>
                </a:highlight>
                <a:latin typeface="Courier New" panose="02070309020205020404" pitchFamily="49" charset="0"/>
                <a:cs typeface="Courier New" panose="02070309020205020404" pitchFamily="49" charset="0"/>
              </a:rPr>
              <a:t>complete</a:t>
            </a:r>
            <a:r>
              <a:rPr lang="en-US" b="0" i="0" dirty="0">
                <a:solidFill>
                  <a:schemeClr val="accent1">
                    <a:lumMod val="50000"/>
                  </a:schemeClr>
                </a:solidFill>
                <a:effectLst/>
                <a:highlight>
                  <a:srgbClr val="FFFFFF"/>
                </a:highlight>
              </a:rPr>
              <a:t> linkage perform well on cleanly separated globular clusters, but have mixed results otherwise.</a:t>
            </a:r>
          </a:p>
          <a:p>
            <a:pPr marL="285750" indent="-285750" algn="l">
              <a:buFont typeface="Arial" panose="020B0604020202020204" pitchFamily="34" charset="0"/>
              <a:buChar char="•"/>
            </a:pPr>
            <a:endParaRPr lang="en-US" dirty="0">
              <a:solidFill>
                <a:schemeClr val="accent1">
                  <a:lumMod val="50000"/>
                </a:schemeClr>
              </a:solidFill>
              <a:highlight>
                <a:srgbClr val="FFFFFF"/>
              </a:highlight>
            </a:endParaRPr>
          </a:p>
          <a:p>
            <a:pPr marL="285750" indent="-285750" algn="l">
              <a:buFont typeface="Arial" panose="020B0604020202020204" pitchFamily="34" charset="0"/>
              <a:buChar char="•"/>
            </a:pPr>
            <a:r>
              <a:rPr lang="en-US" b="0" i="0" dirty="0">
                <a:solidFill>
                  <a:schemeClr val="accent1">
                    <a:lumMod val="50000"/>
                  </a:schemeClr>
                </a:solidFill>
                <a:effectLst/>
                <a:highlight>
                  <a:srgbClr val="FFFFFF"/>
                </a:highlight>
              </a:rPr>
              <a:t> </a:t>
            </a:r>
            <a:r>
              <a:rPr lang="en-US" b="0" i="0" dirty="0">
                <a:solidFill>
                  <a:schemeClr val="accent1">
                    <a:lumMod val="50000"/>
                  </a:schemeClr>
                </a:solidFill>
                <a:effectLst/>
                <a:highlight>
                  <a:srgbClr val="FFFFFF"/>
                </a:highlight>
                <a:latin typeface="Courier New" panose="02070309020205020404" pitchFamily="49" charset="0"/>
                <a:cs typeface="Courier New" panose="02070309020205020404" pitchFamily="49" charset="0"/>
              </a:rPr>
              <a:t>w</a:t>
            </a:r>
            <a:r>
              <a:rPr lang="en-US" dirty="0">
                <a:solidFill>
                  <a:schemeClr val="accent1">
                    <a:lumMod val="50000"/>
                  </a:schemeClr>
                </a:solidFill>
                <a:highlight>
                  <a:srgbClr val="FFFFFF"/>
                </a:highlight>
                <a:latin typeface="Courier New" panose="02070309020205020404" pitchFamily="49" charset="0"/>
                <a:cs typeface="Courier New" panose="02070309020205020404" pitchFamily="49" charset="0"/>
              </a:rPr>
              <a:t>ard</a:t>
            </a:r>
            <a:r>
              <a:rPr lang="en-US" b="0" i="0" dirty="0">
                <a:solidFill>
                  <a:schemeClr val="accent1">
                    <a:lumMod val="50000"/>
                  </a:schemeClr>
                </a:solidFill>
                <a:effectLst/>
                <a:highlight>
                  <a:srgbClr val="FFFFFF"/>
                </a:highlight>
              </a:rPr>
              <a:t> is the most effective method for noisy data “</a:t>
            </a:r>
          </a:p>
          <a:p>
            <a:endParaRPr lang="es-ES" dirty="0"/>
          </a:p>
        </p:txBody>
      </p:sp>
      <p:sp>
        <p:nvSpPr>
          <p:cNvPr id="2" name="CuadroTexto 1">
            <a:extLst>
              <a:ext uri="{FF2B5EF4-FFF2-40B4-BE49-F238E27FC236}">
                <a16:creationId xmlns:a16="http://schemas.microsoft.com/office/drawing/2014/main" id="{F101AF5A-BD4C-8000-5DCE-28B76FDC0889}"/>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Efecto del método de agrupamiento (</a:t>
            </a:r>
            <a:r>
              <a:rPr lang="es-ES" sz="1600" dirty="0" err="1">
                <a:solidFill>
                  <a:schemeClr val="accent1">
                    <a:lumMod val="50000"/>
                  </a:schemeClr>
                </a:solidFill>
                <a:latin typeface="Courier New" panose="02070309020205020404" pitchFamily="49" charset="0"/>
                <a:cs typeface="Courier New" panose="02070309020205020404" pitchFamily="49" charset="0"/>
              </a:rPr>
              <a:t>linkage</a:t>
            </a:r>
            <a:r>
              <a:rPr lang="es-ES" sz="2000" dirty="0">
                <a:solidFill>
                  <a:schemeClr val="accent1">
                    <a:lumMod val="50000"/>
                  </a:schemeClr>
                </a:solidFill>
              </a:rPr>
              <a:t>):</a:t>
            </a:r>
          </a:p>
        </p:txBody>
      </p:sp>
    </p:spTree>
    <p:extLst>
      <p:ext uri="{BB962C8B-B14F-4D97-AF65-F5344CB8AC3E}">
        <p14:creationId xmlns:p14="http://schemas.microsoft.com/office/powerpoint/2010/main" val="33348461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23</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028591" y="136523"/>
            <a:ext cx="3067982" cy="461665"/>
          </a:xfrm>
          <a:prstGeom prst="rect">
            <a:avLst/>
          </a:prstGeom>
          <a:noFill/>
        </p:spPr>
        <p:txBody>
          <a:bodyPr wrap="square" rtlCol="0">
            <a:spAutoFit/>
          </a:bodyPr>
          <a:lstStyle/>
          <a:p>
            <a:r>
              <a:rPr lang="es-ES" sz="2400" b="1" dirty="0" err="1">
                <a:solidFill>
                  <a:schemeClr val="accent1">
                    <a:lumMod val="50000"/>
                  </a:schemeClr>
                </a:solidFill>
              </a:rPr>
              <a:t>Hierarchical</a:t>
            </a:r>
            <a:r>
              <a:rPr lang="es-ES" sz="2400" b="1" dirty="0">
                <a:solidFill>
                  <a:schemeClr val="accent1">
                    <a:lumMod val="50000"/>
                  </a:schemeClr>
                </a:solidFill>
              </a:rPr>
              <a:t> </a:t>
            </a:r>
            <a:r>
              <a:rPr lang="es-ES" sz="2400" b="1" dirty="0" err="1">
                <a:solidFill>
                  <a:schemeClr val="accent1">
                    <a:lumMod val="50000"/>
                  </a:schemeClr>
                </a:solidFill>
              </a:rPr>
              <a:t>Clustering</a:t>
            </a:r>
            <a:endParaRPr lang="es-ES" sz="8800" b="1" dirty="0">
              <a:solidFill>
                <a:schemeClr val="accent1">
                  <a:lumMod val="50000"/>
                </a:scheme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1797254" y="1119374"/>
            <a:ext cx="9876881" cy="498598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800" b="1" dirty="0" err="1">
                <a:solidFill>
                  <a:schemeClr val="accent5">
                    <a:lumMod val="20000"/>
                    <a:lumOff val="80000"/>
                  </a:schemeClr>
                </a:solidFill>
              </a:rPr>
              <a:t>Estrategias</a:t>
            </a:r>
            <a:r>
              <a:rPr lang="en-US" sz="2800" b="1" dirty="0">
                <a:solidFill>
                  <a:schemeClr val="accent5">
                    <a:lumMod val="20000"/>
                    <a:lumOff val="80000"/>
                  </a:schemeClr>
                </a:solidFill>
              </a:rPr>
              <a:t> de </a:t>
            </a:r>
            <a:r>
              <a:rPr lang="en-US" sz="2800" b="1" i="1" dirty="0">
                <a:solidFill>
                  <a:schemeClr val="accent5">
                    <a:lumMod val="20000"/>
                    <a:lumOff val="80000"/>
                  </a:schemeClr>
                </a:solidFill>
              </a:rPr>
              <a:t>Clustering</a:t>
            </a:r>
            <a:r>
              <a:rPr lang="en-US" sz="2800" b="1" dirty="0">
                <a:solidFill>
                  <a:schemeClr val="accent5">
                    <a:lumMod val="20000"/>
                    <a:lumOff val="80000"/>
                  </a:schemeClr>
                </a:solidFill>
              </a:rPr>
              <a:t>.</a:t>
            </a:r>
          </a:p>
          <a:p>
            <a:pPr marL="285750" indent="-285750">
              <a:lnSpc>
                <a:spcPct val="150000"/>
              </a:lnSpc>
              <a:buFont typeface="Arial" panose="020B0604020202020204" pitchFamily="34" charset="0"/>
              <a:buChar char="•"/>
            </a:pPr>
            <a:r>
              <a:rPr lang="es-ES" sz="2800" b="1" dirty="0">
                <a:solidFill>
                  <a:schemeClr val="accent5">
                    <a:lumMod val="20000"/>
                    <a:lumOff val="80000"/>
                  </a:schemeClr>
                </a:solidFill>
              </a:rPr>
              <a:t>Parámetros del </a:t>
            </a:r>
            <a:r>
              <a:rPr lang="es-ES" sz="2800" b="1" i="1" dirty="0" err="1">
                <a:solidFill>
                  <a:schemeClr val="accent5">
                    <a:lumMod val="20000"/>
                    <a:lumOff val="80000"/>
                  </a:schemeClr>
                </a:solidFill>
              </a:rPr>
              <a:t>Clustering</a:t>
            </a:r>
            <a:r>
              <a:rPr lang="es-ES" sz="2800" b="1" dirty="0">
                <a:solidFill>
                  <a:schemeClr val="accent5">
                    <a:lumMod val="20000"/>
                    <a:lumOff val="80000"/>
                  </a:schemeClr>
                </a:solidFill>
              </a:rPr>
              <a:t>.</a:t>
            </a:r>
          </a:p>
          <a:p>
            <a:pPr marL="742950" lvl="1" indent="-285750">
              <a:lnSpc>
                <a:spcPct val="150000"/>
              </a:lnSpc>
              <a:buFont typeface="Arial" panose="020B0604020202020204" pitchFamily="34" charset="0"/>
              <a:buChar char="•"/>
            </a:pPr>
            <a:r>
              <a:rPr lang="es-ES" sz="2400" b="1" dirty="0">
                <a:solidFill>
                  <a:schemeClr val="accent5">
                    <a:lumMod val="20000"/>
                    <a:lumOff val="80000"/>
                  </a:schemeClr>
                </a:solidFill>
              </a:rPr>
              <a:t>Métrica.</a:t>
            </a:r>
          </a:p>
          <a:p>
            <a:pPr marL="742950" lvl="1" indent="-285750">
              <a:lnSpc>
                <a:spcPct val="150000"/>
              </a:lnSpc>
              <a:buFont typeface="Arial" panose="020B0604020202020204" pitchFamily="34" charset="0"/>
              <a:buChar char="•"/>
            </a:pPr>
            <a:r>
              <a:rPr lang="es-ES" sz="2400" b="1" dirty="0">
                <a:solidFill>
                  <a:schemeClr val="accent5">
                    <a:lumMod val="20000"/>
                    <a:lumOff val="80000"/>
                  </a:schemeClr>
                </a:solidFill>
              </a:rPr>
              <a:t>Método de agrupamiento</a:t>
            </a:r>
            <a:endParaRPr lang="es-ES" sz="2800" b="1" dirty="0">
              <a:solidFill>
                <a:schemeClr val="accent5">
                  <a:lumMod val="20000"/>
                  <a:lumOff val="80000"/>
                </a:schemeClr>
              </a:solidFill>
            </a:endParaRPr>
          </a:p>
          <a:p>
            <a:pPr marL="285750" indent="-285750">
              <a:lnSpc>
                <a:spcPct val="150000"/>
              </a:lnSpc>
              <a:buFont typeface="Arial" panose="020B0604020202020204" pitchFamily="34" charset="0"/>
              <a:buChar char="•"/>
            </a:pPr>
            <a:r>
              <a:rPr lang="es-ES" sz="2800" b="1" dirty="0">
                <a:solidFill>
                  <a:schemeClr val="accent1">
                    <a:lumMod val="50000"/>
                  </a:schemeClr>
                </a:solidFill>
              </a:rPr>
              <a:t>Número Óptimo de Grupos.</a:t>
            </a:r>
          </a:p>
          <a:p>
            <a:pPr marL="742950" lvl="1" indent="-285750">
              <a:lnSpc>
                <a:spcPct val="150000"/>
              </a:lnSpc>
              <a:buFont typeface="Arial" panose="020B0604020202020204" pitchFamily="34" charset="0"/>
              <a:buChar char="•"/>
            </a:pPr>
            <a:r>
              <a:rPr lang="es-ES" sz="2400" b="1" dirty="0">
                <a:solidFill>
                  <a:schemeClr val="accent1">
                    <a:lumMod val="50000"/>
                  </a:schemeClr>
                </a:solidFill>
              </a:rPr>
              <a:t>Método del codo.</a:t>
            </a:r>
          </a:p>
          <a:p>
            <a:pPr marL="285750" indent="-285750">
              <a:lnSpc>
                <a:spcPct val="150000"/>
              </a:lnSpc>
              <a:buFont typeface="Arial" panose="020B0604020202020204" pitchFamily="34" charset="0"/>
              <a:buChar char="•"/>
            </a:pPr>
            <a:r>
              <a:rPr lang="es-ES" sz="2800" b="1" dirty="0">
                <a:solidFill>
                  <a:schemeClr val="accent5">
                    <a:lumMod val="20000"/>
                    <a:lumOff val="80000"/>
                  </a:schemeClr>
                </a:solidFill>
              </a:rPr>
              <a:t>Ventajas e inconvenientes del Agrupamiento Jerárquico.</a:t>
            </a:r>
          </a:p>
          <a:p>
            <a:pPr marL="285750" indent="-285750">
              <a:lnSpc>
                <a:spcPct val="150000"/>
              </a:lnSpc>
              <a:buFont typeface="Arial" panose="020B0604020202020204" pitchFamily="34" charset="0"/>
              <a:buChar char="•"/>
            </a:pPr>
            <a:r>
              <a:rPr lang="es-ES" sz="2800" b="1" dirty="0">
                <a:solidFill>
                  <a:schemeClr val="accent5">
                    <a:lumMod val="20000"/>
                    <a:lumOff val="80000"/>
                  </a:schemeClr>
                </a:solidFill>
              </a:rPr>
              <a:t>Implementación del algoritmo.</a:t>
            </a:r>
          </a:p>
        </p:txBody>
      </p:sp>
    </p:spTree>
    <p:extLst>
      <p:ext uri="{BB962C8B-B14F-4D97-AF65-F5344CB8AC3E}">
        <p14:creationId xmlns:p14="http://schemas.microsoft.com/office/powerpoint/2010/main" val="38727751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5" name="CuadroTexto 4">
            <a:extLst>
              <a:ext uri="{FF2B5EF4-FFF2-40B4-BE49-F238E27FC236}">
                <a16:creationId xmlns:a16="http://schemas.microsoft.com/office/drawing/2014/main" id="{D4286E82-FF38-1057-622F-02244AD16F2B}"/>
              </a:ext>
            </a:extLst>
          </p:cNvPr>
          <p:cNvSpPr txBox="1"/>
          <p:nvPr/>
        </p:nvSpPr>
        <p:spPr>
          <a:xfrm>
            <a:off x="300424" y="371039"/>
            <a:ext cx="11849741" cy="3170099"/>
          </a:xfrm>
          <a:prstGeom prst="rect">
            <a:avLst/>
          </a:prstGeom>
          <a:noFill/>
        </p:spPr>
        <p:txBody>
          <a:bodyPr wrap="square" rtlCol="0">
            <a:spAutoFit/>
          </a:bodyPr>
          <a:lstStyle/>
          <a:p>
            <a:r>
              <a:rPr lang="es-ES" sz="2000" dirty="0">
                <a:solidFill>
                  <a:schemeClr val="accent1">
                    <a:lumMod val="50000"/>
                  </a:schemeClr>
                </a:solidFill>
              </a:rPr>
              <a:t>Número óptimo de grupos:</a:t>
            </a:r>
          </a:p>
          <a:p>
            <a:endParaRPr lang="es-ES" sz="2000" dirty="0">
              <a:solidFill>
                <a:schemeClr val="accent1">
                  <a:lumMod val="50000"/>
                </a:schemeClr>
              </a:solidFill>
            </a:endParaRPr>
          </a:p>
          <a:p>
            <a:r>
              <a:rPr lang="es-ES" sz="1600" b="1" dirty="0">
                <a:solidFill>
                  <a:schemeClr val="accent1">
                    <a:lumMod val="50000"/>
                  </a:schemeClr>
                </a:solidFill>
                <a:highlight>
                  <a:srgbClr val="FFFFFF"/>
                </a:highlight>
              </a:rPr>
              <a:t>Método del Codo (</a:t>
            </a:r>
            <a:r>
              <a:rPr lang="es-ES" sz="1600" b="1" dirty="0" err="1">
                <a:solidFill>
                  <a:schemeClr val="accent1">
                    <a:lumMod val="50000"/>
                  </a:schemeClr>
                </a:solidFill>
                <a:highlight>
                  <a:srgbClr val="FFFFFF"/>
                </a:highlight>
              </a:rPr>
              <a:t>Elbow</a:t>
            </a:r>
            <a:r>
              <a:rPr lang="es-ES" sz="1600" b="1" dirty="0">
                <a:solidFill>
                  <a:schemeClr val="accent1">
                    <a:lumMod val="50000"/>
                  </a:schemeClr>
                </a:solidFill>
                <a:highlight>
                  <a:srgbClr val="FFFFFF"/>
                </a:highlight>
              </a:rPr>
              <a:t> </a:t>
            </a:r>
            <a:r>
              <a:rPr lang="es-ES" sz="1600" b="1" dirty="0" err="1">
                <a:solidFill>
                  <a:schemeClr val="accent1">
                    <a:lumMod val="50000"/>
                  </a:schemeClr>
                </a:solidFill>
                <a:highlight>
                  <a:srgbClr val="FFFFFF"/>
                </a:highlight>
              </a:rPr>
              <a:t>Method</a:t>
            </a:r>
            <a:r>
              <a:rPr lang="es-ES" sz="1600" b="1" dirty="0">
                <a:solidFill>
                  <a:schemeClr val="accent1">
                    <a:lumMod val="50000"/>
                  </a:schemeClr>
                </a:solidFill>
                <a:highlight>
                  <a:srgbClr val="FFFFFF"/>
                </a:highlight>
              </a:rPr>
              <a:t>): </a:t>
            </a:r>
            <a:r>
              <a:rPr lang="es-ES" sz="1600" dirty="0">
                <a:solidFill>
                  <a:schemeClr val="accent1">
                    <a:lumMod val="50000"/>
                  </a:schemeClr>
                </a:solidFill>
                <a:highlight>
                  <a:srgbClr val="FFFFFF"/>
                </a:highlight>
              </a:rPr>
              <a:t>El método consiste en trazar la varianza explicada en función del número de </a:t>
            </a:r>
            <a:r>
              <a:rPr lang="es-ES" sz="1600" dirty="0" err="1">
                <a:solidFill>
                  <a:schemeClr val="accent1">
                    <a:lumMod val="50000"/>
                  </a:schemeClr>
                </a:solidFill>
                <a:highlight>
                  <a:srgbClr val="FFFFFF"/>
                </a:highlight>
              </a:rPr>
              <a:t>clusters</a:t>
            </a:r>
            <a:r>
              <a:rPr lang="es-ES" sz="1600" dirty="0">
                <a:solidFill>
                  <a:schemeClr val="accent1">
                    <a:lumMod val="50000"/>
                  </a:schemeClr>
                </a:solidFill>
                <a:highlight>
                  <a:srgbClr val="FFFFFF"/>
                </a:highlight>
              </a:rPr>
              <a:t> y elegir el "codo" de la curva como el número de </a:t>
            </a:r>
            <a:r>
              <a:rPr lang="es-ES" sz="1600" dirty="0" err="1">
                <a:solidFill>
                  <a:schemeClr val="accent1">
                    <a:lumMod val="50000"/>
                  </a:schemeClr>
                </a:solidFill>
                <a:highlight>
                  <a:srgbClr val="FFFFFF"/>
                </a:highlight>
              </a:rPr>
              <a:t>clusters</a:t>
            </a:r>
            <a:r>
              <a:rPr lang="es-ES" sz="1600" dirty="0">
                <a:solidFill>
                  <a:schemeClr val="accent1">
                    <a:lumMod val="50000"/>
                  </a:schemeClr>
                </a:solidFill>
                <a:highlight>
                  <a:srgbClr val="FFFFFF"/>
                </a:highlight>
              </a:rPr>
              <a:t> a utilizar.</a:t>
            </a:r>
          </a:p>
          <a:p>
            <a:endParaRPr lang="es-ES" sz="1600" b="1" dirty="0">
              <a:solidFill>
                <a:schemeClr val="accent1">
                  <a:lumMod val="50000"/>
                </a:schemeClr>
              </a:solidFill>
              <a:highlight>
                <a:srgbClr val="FFFFFF"/>
              </a:highlight>
            </a:endParaRPr>
          </a:p>
          <a:p>
            <a:pPr marL="285750" indent="-285750">
              <a:buFont typeface="Arial" panose="020B0604020202020204" pitchFamily="34" charset="0"/>
              <a:buChar char="•"/>
            </a:pPr>
            <a:r>
              <a:rPr lang="es-ES" sz="1600" dirty="0">
                <a:solidFill>
                  <a:schemeClr val="accent1">
                    <a:lumMod val="50000"/>
                  </a:schemeClr>
                </a:solidFill>
                <a:highlight>
                  <a:srgbClr val="FFFFFF"/>
                </a:highlight>
              </a:rPr>
              <a:t>Se calcula la distancia </a:t>
            </a:r>
            <a:r>
              <a:rPr lang="es-ES" sz="1600" dirty="0" err="1">
                <a:solidFill>
                  <a:schemeClr val="accent1">
                    <a:lumMod val="50000"/>
                  </a:schemeClr>
                </a:solidFill>
                <a:highlight>
                  <a:srgbClr val="FFFFFF"/>
                </a:highlight>
              </a:rPr>
              <a:t>intra-cluster</a:t>
            </a:r>
            <a:r>
              <a:rPr lang="es-ES" sz="1600" dirty="0">
                <a:solidFill>
                  <a:schemeClr val="accent1">
                    <a:lumMod val="50000"/>
                  </a:schemeClr>
                </a:solidFill>
                <a:highlight>
                  <a:srgbClr val="FFFFFF"/>
                </a:highlight>
              </a:rPr>
              <a:t> en cada grupo en función del número de grupos.</a:t>
            </a:r>
          </a:p>
          <a:p>
            <a:pPr marL="285750" indent="-285750">
              <a:buFont typeface="Arial" panose="020B0604020202020204" pitchFamily="34" charset="0"/>
              <a:buChar char="•"/>
            </a:pPr>
            <a:r>
              <a:rPr lang="es-ES" sz="1600" dirty="0">
                <a:solidFill>
                  <a:schemeClr val="accent1">
                    <a:lumMod val="50000"/>
                  </a:schemeClr>
                </a:solidFill>
                <a:highlight>
                  <a:srgbClr val="FFFFFF"/>
                </a:highlight>
              </a:rPr>
              <a:t>La distancia </a:t>
            </a:r>
            <a:r>
              <a:rPr lang="es-ES" sz="1600" dirty="0" err="1">
                <a:solidFill>
                  <a:schemeClr val="accent1">
                    <a:lumMod val="50000"/>
                  </a:schemeClr>
                </a:solidFill>
                <a:highlight>
                  <a:srgbClr val="FFFFFF"/>
                </a:highlight>
              </a:rPr>
              <a:t>intra-cluster</a:t>
            </a:r>
            <a:r>
              <a:rPr lang="es-ES" sz="1600" dirty="0">
                <a:solidFill>
                  <a:schemeClr val="accent1">
                    <a:lumMod val="50000"/>
                  </a:schemeClr>
                </a:solidFill>
                <a:highlight>
                  <a:srgbClr val="FFFFFF"/>
                </a:highlight>
              </a:rPr>
              <a:t>: </a:t>
            </a:r>
            <a:r>
              <a:rPr lang="en-US" sz="1600" dirty="0">
                <a:solidFill>
                  <a:schemeClr val="accent1">
                    <a:lumMod val="50000"/>
                  </a:schemeClr>
                </a:solidFill>
                <a:highlight>
                  <a:srgbClr val="FFFFFF"/>
                </a:highlight>
              </a:rPr>
              <a:t>WCSS (Within-Cluster Sum of Square) </a:t>
            </a:r>
            <a:r>
              <a:rPr lang="es-ES" sz="1600" dirty="0">
                <a:solidFill>
                  <a:schemeClr val="accent1">
                    <a:lumMod val="50000"/>
                  </a:schemeClr>
                </a:solidFill>
                <a:highlight>
                  <a:srgbClr val="FFFFFF"/>
                </a:highlight>
              </a:rPr>
              <a:t> se calcula como:</a:t>
            </a:r>
          </a:p>
          <a:p>
            <a:pPr marL="285750" indent="-285750">
              <a:buFont typeface="Arial" panose="020B0604020202020204" pitchFamily="34" charset="0"/>
              <a:buChar char="•"/>
            </a:pPr>
            <a:endParaRPr lang="es-ES" sz="1600" dirty="0">
              <a:solidFill>
                <a:schemeClr val="accent1">
                  <a:lumMod val="50000"/>
                </a:schemeClr>
              </a:solidFill>
              <a:highlight>
                <a:srgbClr val="FFFFFF"/>
              </a:highlight>
            </a:endParaRPr>
          </a:p>
          <a:p>
            <a:endParaRPr lang="es-ES" sz="1600" dirty="0">
              <a:solidFill>
                <a:schemeClr val="accent1">
                  <a:lumMod val="50000"/>
                </a:schemeClr>
              </a:solidFill>
              <a:highlight>
                <a:srgbClr val="FFFFFF"/>
              </a:highlight>
            </a:endParaRPr>
          </a:p>
          <a:p>
            <a:endParaRPr lang="es-ES" sz="1600" dirty="0">
              <a:solidFill>
                <a:schemeClr val="accent1">
                  <a:lumMod val="50000"/>
                </a:schemeClr>
              </a:solidFill>
              <a:highlight>
                <a:srgbClr val="FFFFFF"/>
              </a:highlight>
            </a:endParaRPr>
          </a:p>
          <a:p>
            <a:endParaRPr lang="es-ES" sz="1600" dirty="0">
              <a:solidFill>
                <a:schemeClr val="accent1">
                  <a:lumMod val="50000"/>
                </a:schemeClr>
              </a:solidFill>
              <a:highlight>
                <a:srgbClr val="FFFFFF"/>
              </a:highlight>
            </a:endParaRPr>
          </a:p>
          <a:p>
            <a:r>
              <a:rPr lang="es-ES" sz="1600" dirty="0">
                <a:solidFill>
                  <a:schemeClr val="accent1">
                    <a:lumMod val="50000"/>
                  </a:schemeClr>
                </a:solidFill>
                <a:highlight>
                  <a:srgbClr val="FFFFFF"/>
                </a:highlight>
              </a:rPr>
              <a:t>Y representa la suma del cuadrado de las distancias entre cada punto de un grupo y el centroide de dicho grupo extendida a todos los grupos</a:t>
            </a:r>
            <a:endParaRPr lang="es-ES" sz="1600" dirty="0">
              <a:solidFill>
                <a:schemeClr val="accent1">
                  <a:lumMod val="50000"/>
                </a:schemeClr>
              </a:solidFill>
            </a:endParaRPr>
          </a:p>
        </p:txBody>
      </p:sp>
      <p:sp>
        <p:nvSpPr>
          <p:cNvPr id="4" name="Marcador de número de diapositiva 1">
            <a:extLst>
              <a:ext uri="{FF2B5EF4-FFF2-40B4-BE49-F238E27FC236}">
                <a16:creationId xmlns:a16="http://schemas.microsoft.com/office/drawing/2014/main" id="{2B676A0C-B311-06E8-FDDC-70C2E1F562AD}"/>
              </a:ext>
            </a:extLst>
          </p:cNvPr>
          <p:cNvSpPr>
            <a:spLocks noGrp="1"/>
          </p:cNvSpPr>
          <p:nvPr>
            <p:ph type="sldNum" sz="quarter" idx="12"/>
          </p:nvPr>
        </p:nvSpPr>
        <p:spPr>
          <a:xfrm>
            <a:off x="8610600" y="6356352"/>
            <a:ext cx="2743200" cy="365125"/>
          </a:xfrm>
        </p:spPr>
        <p:txBody>
          <a:bodyPr/>
          <a:lstStyle/>
          <a:p>
            <a:fld id="{5104FCC0-1602-4E53-A4A9-B84AD752D31B}" type="slidenum">
              <a:rPr lang="es-ES" smtClean="0">
                <a:solidFill>
                  <a:prstClr val="black">
                    <a:tint val="75000"/>
                  </a:prstClr>
                </a:solidFill>
              </a:rPr>
              <a:pPr/>
              <a:t>24</a:t>
            </a:fld>
            <a:endParaRPr lang="es-ES" dirty="0">
              <a:solidFill>
                <a:prstClr val="black">
                  <a:tint val="75000"/>
                </a:prstClr>
              </a:solidFill>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4623E108-A708-FF9B-B430-8CE62B49AD72}"/>
                  </a:ext>
                </a:extLst>
              </p:cNvPr>
              <p:cNvSpPr txBox="1"/>
              <p:nvPr/>
            </p:nvSpPr>
            <p:spPr>
              <a:xfrm>
                <a:off x="3971364" y="2381624"/>
                <a:ext cx="2452018" cy="7201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600" i="1" smtClean="0">
                          <a:solidFill>
                            <a:schemeClr val="accent1">
                              <a:lumMod val="50000"/>
                            </a:schemeClr>
                          </a:solidFill>
                          <a:latin typeface="Cambria Math" panose="02040503050406030204" pitchFamily="18" charset="0"/>
                        </a:rPr>
                        <m:t>𝑊𝐶𝑆𝑆</m:t>
                      </m:r>
                      <m:r>
                        <a:rPr lang="es-ES" sz="1600" i="1" smtClean="0">
                          <a:solidFill>
                            <a:schemeClr val="accent1">
                              <a:lumMod val="50000"/>
                            </a:schemeClr>
                          </a:solidFill>
                          <a:latin typeface="Cambria Math" panose="02040503050406030204" pitchFamily="18" charset="0"/>
                        </a:rPr>
                        <m:t>=</m:t>
                      </m:r>
                      <m:nary>
                        <m:naryPr>
                          <m:chr m:val="∑"/>
                          <m:ctrlPr>
                            <a:rPr lang="es-ES" sz="1600" i="1">
                              <a:solidFill>
                                <a:schemeClr val="accent1">
                                  <a:lumMod val="50000"/>
                                </a:schemeClr>
                              </a:solidFill>
                              <a:latin typeface="Cambria Math" panose="02040503050406030204" pitchFamily="18" charset="0"/>
                            </a:rPr>
                          </m:ctrlPr>
                        </m:naryPr>
                        <m:sub>
                          <m:r>
                            <m:rPr>
                              <m:brk m:alnAt="23"/>
                            </m:rPr>
                            <a:rPr lang="es-ES" sz="1600" i="1">
                              <a:solidFill>
                                <a:schemeClr val="accent1">
                                  <a:lumMod val="50000"/>
                                </a:schemeClr>
                              </a:solidFill>
                              <a:latin typeface="Cambria Math" panose="02040503050406030204" pitchFamily="18" charset="0"/>
                            </a:rPr>
                            <m:t>𝑗</m:t>
                          </m:r>
                          <m:r>
                            <a:rPr lang="es-ES" sz="1600" i="1">
                              <a:solidFill>
                                <a:schemeClr val="accent1">
                                  <a:lumMod val="50000"/>
                                </a:schemeClr>
                              </a:solidFill>
                              <a:latin typeface="Cambria Math" panose="02040503050406030204" pitchFamily="18" charset="0"/>
                            </a:rPr>
                            <m:t>=1</m:t>
                          </m:r>
                        </m:sub>
                        <m:sup>
                          <m:r>
                            <a:rPr lang="es-ES" sz="1600" i="1">
                              <a:solidFill>
                                <a:schemeClr val="accent1">
                                  <a:lumMod val="50000"/>
                                </a:schemeClr>
                              </a:solidFill>
                              <a:latin typeface="Cambria Math" panose="02040503050406030204" pitchFamily="18" charset="0"/>
                            </a:rPr>
                            <m:t>𝐾</m:t>
                          </m:r>
                        </m:sup>
                        <m:e>
                          <m:nary>
                            <m:naryPr>
                              <m:chr m:val="∑"/>
                              <m:ctrlPr>
                                <a:rPr lang="es-ES" sz="1600" i="1">
                                  <a:solidFill>
                                    <a:schemeClr val="accent1">
                                      <a:lumMod val="50000"/>
                                    </a:schemeClr>
                                  </a:solidFill>
                                  <a:latin typeface="Cambria Math" panose="02040503050406030204" pitchFamily="18" charset="0"/>
                                </a:rPr>
                              </m:ctrlPr>
                            </m:naryPr>
                            <m:sub>
                              <m:r>
                                <m:rPr>
                                  <m:brk m:alnAt="23"/>
                                </m:rPr>
                                <a:rPr lang="es-ES" sz="1600" i="1">
                                  <a:solidFill>
                                    <a:schemeClr val="accent1">
                                      <a:lumMod val="50000"/>
                                    </a:schemeClr>
                                  </a:solidFill>
                                  <a:latin typeface="Cambria Math" panose="02040503050406030204" pitchFamily="18" charset="0"/>
                                </a:rPr>
                                <m:t>𝑖</m:t>
                              </m:r>
                              <m:r>
                                <a:rPr lang="es-ES" sz="1600" i="1">
                                  <a:solidFill>
                                    <a:schemeClr val="accent1">
                                      <a:lumMod val="50000"/>
                                    </a:schemeClr>
                                  </a:solidFill>
                                  <a:latin typeface="Cambria Math" panose="02040503050406030204" pitchFamily="18" charset="0"/>
                                </a:rPr>
                                <m:t>=1</m:t>
                              </m:r>
                            </m:sub>
                            <m:sup>
                              <m:r>
                                <a:rPr lang="es-ES" sz="1600" i="1">
                                  <a:solidFill>
                                    <a:schemeClr val="accent1">
                                      <a:lumMod val="50000"/>
                                    </a:schemeClr>
                                  </a:solidFill>
                                  <a:latin typeface="Cambria Math" panose="02040503050406030204" pitchFamily="18" charset="0"/>
                                </a:rPr>
                                <m:t>𝑁</m:t>
                              </m:r>
                            </m:sup>
                            <m:e>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d>
                                    <m:dPr>
                                      <m:begChr m:val="‖"/>
                                      <m:endChr m:val="‖"/>
                                      <m:ctrlPr>
                                        <a:rPr lang="es-ES" sz="1600"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𝑥</m:t>
                                          </m:r>
                                        </m:e>
                                        <m:sub>
                                          <m:r>
                                            <a:rPr lang="es-ES" sz="1600" i="1">
                                              <a:solidFill>
                                                <a:schemeClr val="accent1">
                                                  <a:lumMod val="50000"/>
                                                </a:schemeClr>
                                              </a:solidFill>
                                              <a:latin typeface="Cambria Math" panose="02040503050406030204" pitchFamily="18" charset="0"/>
                                            </a:rPr>
                                            <m:t>𝑖</m:t>
                                          </m:r>
                                        </m:sub>
                                      </m:sSub>
                                      <m:r>
                                        <a:rPr lang="es-ES" sz="1600" i="1">
                                          <a:solidFill>
                                            <a:schemeClr val="accent1">
                                              <a:lumMod val="50000"/>
                                            </a:schemeClr>
                                          </a:solidFill>
                                          <a:latin typeface="Cambria Math" panose="02040503050406030204" pitchFamily="18" charset="0"/>
                                        </a:rPr>
                                        <m:t>−</m:t>
                                      </m:r>
                                      <m:sSup>
                                        <m:sSup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a:solidFill>
                                                <a:schemeClr val="accent1">
                                                  <a:lumMod val="50000"/>
                                                </a:schemeClr>
                                              </a:solidFill>
                                              <a:latin typeface="Cambria Math" panose="02040503050406030204" pitchFamily="18" charset="0"/>
                                              <a:ea typeface="Cambria Math" panose="02040503050406030204" pitchFamily="18" charset="0"/>
                                            </a:rPr>
                                            <m:t>𝝁</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𝑗</m:t>
                                          </m:r>
                                        </m:sup>
                                      </m:sSup>
                                    </m:e>
                                  </m:d>
                                </m:e>
                                <m:sup>
                                  <m:r>
                                    <a:rPr lang="es-ES" sz="1600" i="1">
                                      <a:solidFill>
                                        <a:schemeClr val="accent1">
                                          <a:lumMod val="50000"/>
                                        </a:schemeClr>
                                      </a:solidFill>
                                      <a:latin typeface="Cambria Math" panose="02040503050406030204" pitchFamily="18" charset="0"/>
                                      <a:ea typeface="Cambria Math" panose="02040503050406030204" pitchFamily="18" charset="0"/>
                                    </a:rPr>
                                    <m:t>2</m:t>
                                  </m:r>
                                </m:sup>
                              </m:sSup>
                            </m:e>
                          </m:nary>
                        </m:e>
                      </m:nary>
                    </m:oMath>
                  </m:oMathPara>
                </a14:m>
                <a:endParaRPr lang="es-ES" sz="1600" dirty="0"/>
              </a:p>
            </p:txBody>
          </p:sp>
        </mc:Choice>
        <mc:Fallback xmlns="">
          <p:sp>
            <p:nvSpPr>
              <p:cNvPr id="2" name="CuadroTexto 1">
                <a:extLst>
                  <a:ext uri="{FF2B5EF4-FFF2-40B4-BE49-F238E27FC236}">
                    <a16:creationId xmlns:a16="http://schemas.microsoft.com/office/drawing/2014/main" id="{4623E108-A708-FF9B-B430-8CE62B49AD72}"/>
                  </a:ext>
                </a:extLst>
              </p:cNvPr>
              <p:cNvSpPr txBox="1">
                <a:spLocks noRot="1" noChangeAspect="1" noMove="1" noResize="1" noEditPoints="1" noAdjustHandles="1" noChangeArrowheads="1" noChangeShapeType="1" noTextEdit="1"/>
              </p:cNvSpPr>
              <p:nvPr/>
            </p:nvSpPr>
            <p:spPr>
              <a:xfrm>
                <a:off x="3971364" y="2381624"/>
                <a:ext cx="2452018" cy="720197"/>
              </a:xfrm>
              <a:prstGeom prst="rect">
                <a:avLst/>
              </a:prstGeom>
              <a:blipFill>
                <a:blip r:embed="rId2"/>
                <a:stretch>
                  <a:fillRect/>
                </a:stretch>
              </a:blipFill>
            </p:spPr>
            <p:txBody>
              <a:bodyPr/>
              <a:lstStyle/>
              <a:p>
                <a:r>
                  <a:rPr lang="es-ES">
                    <a:noFill/>
                  </a:rPr>
                  <a:t> </a:t>
                </a:r>
              </a:p>
            </p:txBody>
          </p:sp>
        </mc:Fallback>
      </mc:AlternateContent>
      <p:pic>
        <p:nvPicPr>
          <p:cNvPr id="7" name="Imagen 6">
            <a:extLst>
              <a:ext uri="{FF2B5EF4-FFF2-40B4-BE49-F238E27FC236}">
                <a16:creationId xmlns:a16="http://schemas.microsoft.com/office/drawing/2014/main" id="{6D950EB7-D5AE-CC6A-93DF-1CDDD52E9298}"/>
              </a:ext>
            </a:extLst>
          </p:cNvPr>
          <p:cNvPicPr preferRelativeResize="0">
            <a:picLocks/>
          </p:cNvPicPr>
          <p:nvPr/>
        </p:nvPicPr>
        <p:blipFill>
          <a:blip r:embed="rId3"/>
          <a:stretch>
            <a:fillRect/>
          </a:stretch>
        </p:blipFill>
        <p:spPr>
          <a:xfrm>
            <a:off x="300424" y="3811823"/>
            <a:ext cx="3600000" cy="2880000"/>
          </a:xfrm>
          <a:prstGeom prst="rect">
            <a:avLst/>
          </a:prstGeom>
        </p:spPr>
      </p:pic>
      <p:pic>
        <p:nvPicPr>
          <p:cNvPr id="10" name="Imagen 9">
            <a:extLst>
              <a:ext uri="{FF2B5EF4-FFF2-40B4-BE49-F238E27FC236}">
                <a16:creationId xmlns:a16="http://schemas.microsoft.com/office/drawing/2014/main" id="{92FE250F-1BDE-C174-B1EF-99BD11A88B68}"/>
              </a:ext>
            </a:extLst>
          </p:cNvPr>
          <p:cNvPicPr preferRelativeResize="0">
            <a:picLocks/>
          </p:cNvPicPr>
          <p:nvPr/>
        </p:nvPicPr>
        <p:blipFill>
          <a:blip r:embed="rId4"/>
          <a:stretch>
            <a:fillRect/>
          </a:stretch>
        </p:blipFill>
        <p:spPr>
          <a:xfrm>
            <a:off x="3981823" y="3571676"/>
            <a:ext cx="4135210" cy="3270112"/>
          </a:xfrm>
          <a:prstGeom prst="rect">
            <a:avLst/>
          </a:prstGeom>
        </p:spPr>
      </p:pic>
      <p:pic>
        <p:nvPicPr>
          <p:cNvPr id="12" name="Imagen 11">
            <a:extLst>
              <a:ext uri="{FF2B5EF4-FFF2-40B4-BE49-F238E27FC236}">
                <a16:creationId xmlns:a16="http://schemas.microsoft.com/office/drawing/2014/main" id="{9EFF1BD5-AB6A-0D7B-77E7-95475F8031E6}"/>
              </a:ext>
            </a:extLst>
          </p:cNvPr>
          <p:cNvPicPr>
            <a:picLocks/>
          </p:cNvPicPr>
          <p:nvPr/>
        </p:nvPicPr>
        <p:blipFill>
          <a:blip r:embed="rId5"/>
          <a:stretch>
            <a:fillRect/>
          </a:stretch>
        </p:blipFill>
        <p:spPr>
          <a:xfrm>
            <a:off x="8247367" y="3766732"/>
            <a:ext cx="3600000" cy="2880000"/>
          </a:xfrm>
          <a:prstGeom prst="rect">
            <a:avLst/>
          </a:prstGeom>
        </p:spPr>
      </p:pic>
      <p:sp>
        <p:nvSpPr>
          <p:cNvPr id="13" name="Flecha: hacia abajo 12">
            <a:extLst>
              <a:ext uri="{FF2B5EF4-FFF2-40B4-BE49-F238E27FC236}">
                <a16:creationId xmlns:a16="http://schemas.microsoft.com/office/drawing/2014/main" id="{9240881D-6C17-91C1-7307-F158374C448A}"/>
              </a:ext>
            </a:extLst>
          </p:cNvPr>
          <p:cNvSpPr/>
          <p:nvPr/>
        </p:nvSpPr>
        <p:spPr>
          <a:xfrm>
            <a:off x="5584295" y="5641788"/>
            <a:ext cx="215153" cy="567764"/>
          </a:xfrm>
          <a:prstGeom prst="downArrow">
            <a:avLst/>
          </a:prstGeom>
          <a:solidFill>
            <a:srgbClr val="00B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2A88EEA-E0B2-D80E-CFA4-B0B8837A2876}"/>
                  </a:ext>
                </a:extLst>
              </p:cNvPr>
              <p:cNvSpPr txBox="1"/>
              <p:nvPr/>
            </p:nvSpPr>
            <p:spPr>
              <a:xfrm>
                <a:off x="6741122" y="2233099"/>
                <a:ext cx="4231678" cy="839012"/>
              </a:xfrm>
              <a:prstGeom prst="rect">
                <a:avLst/>
              </a:prstGeom>
              <a:noFill/>
            </p:spPr>
            <p:txBody>
              <a:bodyPr wrap="square" rtlCol="0">
                <a:spAutoFit/>
              </a:bodyPr>
              <a:lstStyle/>
              <a:p>
                <a:pPr marL="285750" indent="-285750" algn="l">
                  <a:buFont typeface="Arial" panose="020B0604020202020204" pitchFamily="34" charset="0"/>
                  <a:buChar char="•"/>
                </a:pPr>
                <a:endParaRPr lang="en-US" dirty="0">
                  <a:solidFill>
                    <a:schemeClr val="accent1">
                      <a:lumMod val="50000"/>
                    </a:schemeClr>
                  </a:solidFill>
                  <a:highlight>
                    <a:srgbClr val="FFFFFF"/>
                  </a:highlight>
                </a:endParaRPr>
              </a:p>
              <a:p>
                <a:pPr marL="285750" indent="-285750">
                  <a:buFont typeface="Arial" panose="020B0604020202020204" pitchFamily="34" charset="0"/>
                  <a:buChar char="•"/>
                </a:pPr>
                <a14:m>
                  <m:oMath xmlns:m="http://schemas.openxmlformats.org/officeDocument/2006/math">
                    <m:r>
                      <a:rPr lang="es-ES" sz="1400" i="1">
                        <a:solidFill>
                          <a:schemeClr val="accent1">
                            <a:lumMod val="50000"/>
                          </a:schemeClr>
                        </a:solidFill>
                        <a:latin typeface="Cambria Math" panose="02040503050406030204" pitchFamily="18" charset="0"/>
                      </a:rPr>
                      <m:t>𝐾</m:t>
                    </m:r>
                    <m:r>
                      <a:rPr lang="es-ES" sz="1400" b="0" i="1" smtClean="0">
                        <a:solidFill>
                          <a:schemeClr val="accent1">
                            <a:lumMod val="50000"/>
                          </a:schemeClr>
                        </a:solidFill>
                        <a:latin typeface="Cambria Math" panose="02040503050406030204" pitchFamily="18" charset="0"/>
                      </a:rPr>
                      <m:t> </m:t>
                    </m:r>
                  </m:oMath>
                </a14:m>
                <a:r>
                  <a:rPr lang="es-ES" sz="1400" dirty="0">
                    <a:solidFill>
                      <a:schemeClr val="accent1">
                        <a:lumMod val="50000"/>
                      </a:schemeClr>
                    </a:solidFill>
                  </a:rPr>
                  <a:t>se refiere al clúster; </a:t>
                </a:r>
                <a14:m>
                  <m:oMath xmlns:m="http://schemas.openxmlformats.org/officeDocument/2006/math">
                    <m:sSup>
                      <m:sSupPr>
                        <m:ctrlPr>
                          <a:rPr lang="es-ES" sz="1400" i="1">
                            <a:solidFill>
                              <a:schemeClr val="accent1">
                                <a:lumMod val="50000"/>
                              </a:schemeClr>
                            </a:solidFill>
                            <a:latin typeface="Cambria Math" panose="02040503050406030204" pitchFamily="18" charset="0"/>
                            <a:ea typeface="Cambria Math" panose="02040503050406030204" pitchFamily="18" charset="0"/>
                          </a:rPr>
                        </m:ctrlPr>
                      </m:sSupPr>
                      <m:e>
                        <m:r>
                          <a:rPr lang="es-ES" sz="1400" b="1" i="1">
                            <a:solidFill>
                              <a:schemeClr val="accent1">
                                <a:lumMod val="50000"/>
                              </a:schemeClr>
                            </a:solidFill>
                            <a:latin typeface="Cambria Math" panose="02040503050406030204" pitchFamily="18" charset="0"/>
                            <a:ea typeface="Cambria Math" panose="02040503050406030204" pitchFamily="18" charset="0"/>
                          </a:rPr>
                          <m:t>𝝁</m:t>
                        </m:r>
                      </m:e>
                      <m:sup>
                        <m:r>
                          <a:rPr lang="es-ES" sz="1400" i="1">
                            <a:solidFill>
                              <a:schemeClr val="accent1">
                                <a:lumMod val="50000"/>
                              </a:schemeClr>
                            </a:solidFill>
                            <a:latin typeface="Cambria Math" panose="02040503050406030204" pitchFamily="18" charset="0"/>
                            <a:ea typeface="Cambria Math" panose="02040503050406030204" pitchFamily="18" charset="0"/>
                          </a:rPr>
                          <m:t>𝑗</m:t>
                        </m:r>
                      </m:sup>
                    </m:sSup>
                  </m:oMath>
                </a14:m>
                <a:r>
                  <a:rPr lang="es-ES" sz="1400" dirty="0">
                    <a:solidFill>
                      <a:schemeClr val="accent1">
                        <a:lumMod val="50000"/>
                      </a:schemeClr>
                    </a:solidFill>
                  </a:rPr>
                  <a:t> punto medio del clúster </a:t>
                </a:r>
                <a14:m>
                  <m:oMath xmlns:m="http://schemas.openxmlformats.org/officeDocument/2006/math">
                    <m:r>
                      <a:rPr lang="es-ES" sz="1400" b="0" i="1" smtClean="0">
                        <a:solidFill>
                          <a:schemeClr val="accent1">
                            <a:lumMod val="50000"/>
                          </a:schemeClr>
                        </a:solidFill>
                        <a:latin typeface="Cambria Math" panose="02040503050406030204" pitchFamily="18" charset="0"/>
                      </a:rPr>
                      <m:t>𝑗</m:t>
                    </m:r>
                  </m:oMath>
                </a14:m>
                <a:r>
                  <a:rPr lang="es-ES" sz="1400" dirty="0">
                    <a:solidFill>
                      <a:schemeClr val="accent1">
                        <a:lumMod val="50000"/>
                      </a:schemeClr>
                    </a:solidFill>
                  </a:rPr>
                  <a:t> </a:t>
                </a:r>
              </a:p>
              <a:p>
                <a:pPr marL="285750" indent="-285750">
                  <a:buFont typeface="Arial" panose="020B0604020202020204" pitchFamily="34" charset="0"/>
                  <a:buChar char="•"/>
                </a:pPr>
                <a14:m>
                  <m:oMath xmlns:m="http://schemas.openxmlformats.org/officeDocument/2006/math">
                    <m:sSub>
                      <m:sSubPr>
                        <m:ctrlPr>
                          <a:rPr lang="es-ES" sz="1400" i="1">
                            <a:solidFill>
                              <a:schemeClr val="accent1">
                                <a:lumMod val="50000"/>
                              </a:schemeClr>
                            </a:solidFill>
                            <a:latin typeface="Cambria Math" panose="02040503050406030204" pitchFamily="18" charset="0"/>
                          </a:rPr>
                        </m:ctrlPr>
                      </m:sSubPr>
                      <m:e>
                        <m:r>
                          <a:rPr lang="es-ES" sz="1400" i="1">
                            <a:solidFill>
                              <a:schemeClr val="accent1">
                                <a:lumMod val="50000"/>
                              </a:schemeClr>
                            </a:solidFill>
                            <a:latin typeface="Cambria Math" panose="02040503050406030204" pitchFamily="18" charset="0"/>
                          </a:rPr>
                          <m:t>𝑥</m:t>
                        </m:r>
                      </m:e>
                      <m:sub>
                        <m:r>
                          <a:rPr lang="es-ES" sz="1400" i="1">
                            <a:solidFill>
                              <a:schemeClr val="accent1">
                                <a:lumMod val="50000"/>
                              </a:schemeClr>
                            </a:solidFill>
                            <a:latin typeface="Cambria Math" panose="02040503050406030204" pitchFamily="18" charset="0"/>
                          </a:rPr>
                          <m:t>𝑖</m:t>
                        </m:r>
                      </m:sub>
                    </m:sSub>
                  </m:oMath>
                </a14:m>
                <a:r>
                  <a:rPr lang="es-ES" sz="1400" dirty="0">
                    <a:solidFill>
                      <a:schemeClr val="accent1">
                        <a:lumMod val="50000"/>
                      </a:schemeClr>
                    </a:solidFill>
                  </a:rPr>
                  <a:t> puntos en el clúster</a:t>
                </a:r>
              </a:p>
            </p:txBody>
          </p:sp>
        </mc:Choice>
        <mc:Fallback xmlns="">
          <p:sp>
            <p:nvSpPr>
              <p:cNvPr id="11" name="CuadroTexto 10">
                <a:extLst>
                  <a:ext uri="{FF2B5EF4-FFF2-40B4-BE49-F238E27FC236}">
                    <a16:creationId xmlns:a16="http://schemas.microsoft.com/office/drawing/2014/main" id="{62A88EEA-E0B2-D80E-CFA4-B0B8837A2876}"/>
                  </a:ext>
                </a:extLst>
              </p:cNvPr>
              <p:cNvSpPr txBox="1">
                <a:spLocks noRot="1" noChangeAspect="1" noMove="1" noResize="1" noEditPoints="1" noAdjustHandles="1" noChangeArrowheads="1" noChangeShapeType="1" noTextEdit="1"/>
              </p:cNvSpPr>
              <p:nvPr/>
            </p:nvSpPr>
            <p:spPr>
              <a:xfrm>
                <a:off x="6741122" y="2233099"/>
                <a:ext cx="4231678" cy="839012"/>
              </a:xfrm>
              <a:prstGeom prst="rect">
                <a:avLst/>
              </a:prstGeom>
              <a:blipFill>
                <a:blip r:embed="rId6"/>
                <a:stretch>
                  <a:fillRect l="-288" b="-3623"/>
                </a:stretch>
              </a:blipFill>
            </p:spPr>
            <p:txBody>
              <a:bodyPr/>
              <a:lstStyle/>
              <a:p>
                <a:r>
                  <a:rPr lang="es-ES">
                    <a:noFill/>
                  </a:rPr>
                  <a:t> </a:t>
                </a:r>
              </a:p>
            </p:txBody>
          </p:sp>
        </mc:Fallback>
      </mc:AlternateContent>
    </p:spTree>
    <p:extLst>
      <p:ext uri="{BB962C8B-B14F-4D97-AF65-F5344CB8AC3E}">
        <p14:creationId xmlns:p14="http://schemas.microsoft.com/office/powerpoint/2010/main" val="34879984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25</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028591" y="136523"/>
            <a:ext cx="3067982" cy="461665"/>
          </a:xfrm>
          <a:prstGeom prst="rect">
            <a:avLst/>
          </a:prstGeom>
          <a:noFill/>
        </p:spPr>
        <p:txBody>
          <a:bodyPr wrap="square" rtlCol="0">
            <a:spAutoFit/>
          </a:bodyPr>
          <a:lstStyle/>
          <a:p>
            <a:r>
              <a:rPr lang="es-ES" sz="2400" b="1" dirty="0" err="1">
                <a:solidFill>
                  <a:schemeClr val="accent1">
                    <a:lumMod val="50000"/>
                  </a:schemeClr>
                </a:solidFill>
              </a:rPr>
              <a:t>Hierarchical</a:t>
            </a:r>
            <a:r>
              <a:rPr lang="es-ES" sz="2400" b="1" dirty="0">
                <a:solidFill>
                  <a:schemeClr val="accent1">
                    <a:lumMod val="50000"/>
                  </a:schemeClr>
                </a:solidFill>
              </a:rPr>
              <a:t> </a:t>
            </a:r>
            <a:r>
              <a:rPr lang="es-ES" sz="2400" b="1" dirty="0" err="1">
                <a:solidFill>
                  <a:schemeClr val="accent1">
                    <a:lumMod val="50000"/>
                  </a:schemeClr>
                </a:solidFill>
              </a:rPr>
              <a:t>Clustering</a:t>
            </a:r>
            <a:endParaRPr lang="es-ES" sz="8800" b="1" dirty="0">
              <a:solidFill>
                <a:schemeClr val="accent1">
                  <a:lumMod val="50000"/>
                </a:scheme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1797254" y="1119374"/>
            <a:ext cx="9876881" cy="49191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800" b="1" dirty="0" err="1">
                <a:solidFill>
                  <a:schemeClr val="accent5">
                    <a:lumMod val="20000"/>
                    <a:lumOff val="80000"/>
                  </a:schemeClr>
                </a:solidFill>
              </a:rPr>
              <a:t>Estrategias</a:t>
            </a:r>
            <a:r>
              <a:rPr lang="en-US" sz="2800" b="1" dirty="0">
                <a:solidFill>
                  <a:schemeClr val="accent5">
                    <a:lumMod val="20000"/>
                    <a:lumOff val="80000"/>
                  </a:schemeClr>
                </a:solidFill>
              </a:rPr>
              <a:t> de </a:t>
            </a:r>
            <a:r>
              <a:rPr lang="en-US" sz="2800" b="1" i="1" dirty="0">
                <a:solidFill>
                  <a:schemeClr val="accent5">
                    <a:lumMod val="20000"/>
                    <a:lumOff val="80000"/>
                  </a:schemeClr>
                </a:solidFill>
              </a:rPr>
              <a:t>Clustering</a:t>
            </a:r>
            <a:r>
              <a:rPr lang="en-US" sz="2800" b="1" dirty="0">
                <a:solidFill>
                  <a:schemeClr val="accent5">
                    <a:lumMod val="20000"/>
                    <a:lumOff val="80000"/>
                  </a:schemeClr>
                </a:solidFill>
              </a:rPr>
              <a:t>.</a:t>
            </a:r>
          </a:p>
          <a:p>
            <a:pPr marL="285750" indent="-285750">
              <a:lnSpc>
                <a:spcPct val="150000"/>
              </a:lnSpc>
              <a:buFont typeface="Arial" panose="020B0604020202020204" pitchFamily="34" charset="0"/>
              <a:buChar char="•"/>
            </a:pPr>
            <a:r>
              <a:rPr lang="es-ES" sz="2800" b="1" dirty="0">
                <a:solidFill>
                  <a:schemeClr val="accent5">
                    <a:lumMod val="20000"/>
                    <a:lumOff val="80000"/>
                  </a:schemeClr>
                </a:solidFill>
              </a:rPr>
              <a:t>Parámetros del </a:t>
            </a:r>
            <a:r>
              <a:rPr lang="es-ES" sz="2800" b="1" i="1" dirty="0" err="1">
                <a:solidFill>
                  <a:schemeClr val="accent5">
                    <a:lumMod val="20000"/>
                    <a:lumOff val="80000"/>
                  </a:schemeClr>
                </a:solidFill>
              </a:rPr>
              <a:t>Clustering</a:t>
            </a:r>
            <a:r>
              <a:rPr lang="es-ES" sz="2800" b="1" dirty="0">
                <a:solidFill>
                  <a:schemeClr val="accent5">
                    <a:lumMod val="20000"/>
                    <a:lumOff val="80000"/>
                  </a:schemeClr>
                </a:solidFill>
              </a:rPr>
              <a:t>.</a:t>
            </a:r>
          </a:p>
          <a:p>
            <a:pPr marL="742950" lvl="1" indent="-285750">
              <a:lnSpc>
                <a:spcPct val="150000"/>
              </a:lnSpc>
              <a:buFont typeface="Arial" panose="020B0604020202020204" pitchFamily="34" charset="0"/>
              <a:buChar char="•"/>
            </a:pPr>
            <a:r>
              <a:rPr lang="es-ES" sz="2400" b="1" dirty="0">
                <a:solidFill>
                  <a:schemeClr val="accent5">
                    <a:lumMod val="20000"/>
                    <a:lumOff val="80000"/>
                  </a:schemeClr>
                </a:solidFill>
              </a:rPr>
              <a:t>Métrica.</a:t>
            </a:r>
          </a:p>
          <a:p>
            <a:pPr marL="742950" lvl="1" indent="-285750">
              <a:lnSpc>
                <a:spcPct val="150000"/>
              </a:lnSpc>
              <a:buFont typeface="Arial" panose="020B0604020202020204" pitchFamily="34" charset="0"/>
              <a:buChar char="•"/>
            </a:pPr>
            <a:r>
              <a:rPr lang="es-ES" sz="2400" b="1" dirty="0">
                <a:solidFill>
                  <a:schemeClr val="accent5">
                    <a:lumMod val="20000"/>
                    <a:lumOff val="80000"/>
                  </a:schemeClr>
                </a:solidFill>
              </a:rPr>
              <a:t>Método de agrupamiento</a:t>
            </a:r>
            <a:endParaRPr lang="es-ES" sz="2800" b="1" dirty="0">
              <a:solidFill>
                <a:schemeClr val="accent5">
                  <a:lumMod val="20000"/>
                  <a:lumOff val="80000"/>
                </a:schemeClr>
              </a:solidFill>
            </a:endParaRPr>
          </a:p>
          <a:p>
            <a:pPr marL="285750" indent="-285750">
              <a:lnSpc>
                <a:spcPct val="150000"/>
              </a:lnSpc>
              <a:buFont typeface="Arial" panose="020B0604020202020204" pitchFamily="34" charset="0"/>
              <a:buChar char="•"/>
            </a:pPr>
            <a:r>
              <a:rPr lang="es-ES" sz="2800" b="1" dirty="0">
                <a:solidFill>
                  <a:schemeClr val="accent5">
                    <a:lumMod val="20000"/>
                    <a:lumOff val="80000"/>
                  </a:schemeClr>
                </a:solidFill>
              </a:rPr>
              <a:t>Número Óptimo de Grupos.</a:t>
            </a:r>
          </a:p>
          <a:p>
            <a:pPr marL="742950" lvl="1" indent="-285750">
              <a:lnSpc>
                <a:spcPct val="150000"/>
              </a:lnSpc>
              <a:buFont typeface="Arial" panose="020B0604020202020204" pitchFamily="34" charset="0"/>
              <a:buChar char="•"/>
            </a:pPr>
            <a:r>
              <a:rPr lang="es-ES" sz="2400" b="1" dirty="0">
                <a:solidFill>
                  <a:schemeClr val="accent5">
                    <a:lumMod val="20000"/>
                    <a:lumOff val="80000"/>
                  </a:schemeClr>
                </a:solidFill>
              </a:rPr>
              <a:t>Método del codo.</a:t>
            </a:r>
          </a:p>
          <a:p>
            <a:pPr marL="285750" indent="-285750">
              <a:lnSpc>
                <a:spcPct val="150000"/>
              </a:lnSpc>
              <a:buFont typeface="Arial" panose="020B0604020202020204" pitchFamily="34" charset="0"/>
              <a:buChar char="•"/>
            </a:pPr>
            <a:r>
              <a:rPr lang="es-ES" sz="2800" b="1" dirty="0">
                <a:solidFill>
                  <a:schemeClr val="accent1">
                    <a:lumMod val="50000"/>
                  </a:schemeClr>
                </a:solidFill>
              </a:rPr>
              <a:t>Ventajas e inconvenientes del Agrupamiento Jerárquico.</a:t>
            </a:r>
          </a:p>
          <a:p>
            <a:pPr marL="285750" indent="-285750">
              <a:lnSpc>
                <a:spcPct val="150000"/>
              </a:lnSpc>
              <a:buFont typeface="Arial" panose="020B0604020202020204" pitchFamily="34" charset="0"/>
              <a:buChar char="•"/>
            </a:pPr>
            <a:r>
              <a:rPr lang="es-ES" sz="2800" b="1" dirty="0">
                <a:solidFill>
                  <a:schemeClr val="accent5">
                    <a:lumMod val="20000"/>
                    <a:lumOff val="80000"/>
                  </a:schemeClr>
                </a:solidFill>
              </a:rPr>
              <a:t>Implementación del algoritmo.</a:t>
            </a:r>
          </a:p>
        </p:txBody>
      </p:sp>
    </p:spTree>
    <p:extLst>
      <p:ext uri="{BB962C8B-B14F-4D97-AF65-F5344CB8AC3E}">
        <p14:creationId xmlns:p14="http://schemas.microsoft.com/office/powerpoint/2010/main" val="17066942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1B43B7A5-1ECB-879E-32D0-EF52E8D612A4}"/>
              </a:ext>
            </a:extLst>
          </p:cNvPr>
          <p:cNvSpPr/>
          <p:nvPr/>
        </p:nvSpPr>
        <p:spPr>
          <a:xfrm>
            <a:off x="334706" y="1963008"/>
            <a:ext cx="5564649" cy="3097160"/>
          </a:xfrm>
          <a:prstGeom prst="roundRect">
            <a:avLst>
              <a:gd name="adj" fmla="val 9238"/>
            </a:avLst>
          </a:prstGeom>
          <a:noFill/>
          <a:ln w="3810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lnSpc>
                <a:spcPct val="150000"/>
              </a:lnSpc>
              <a:buFont typeface="Arial" panose="020B0604020202020204" pitchFamily="34" charset="0"/>
              <a:buChar char="•"/>
            </a:pPr>
            <a:r>
              <a:rPr lang="es-ES" dirty="0" smtClean="0">
                <a:solidFill>
                  <a:schemeClr val="accent1">
                    <a:lumMod val="50000"/>
                  </a:schemeClr>
                </a:solidFill>
              </a:rPr>
              <a:t>Adaptación </a:t>
            </a:r>
            <a:r>
              <a:rPr lang="es-ES" dirty="0">
                <a:solidFill>
                  <a:schemeClr val="accent1">
                    <a:lumMod val="50000"/>
                  </a:schemeClr>
                </a:solidFill>
              </a:rPr>
              <a:t>a diferentes tipos de datos. </a:t>
            </a:r>
          </a:p>
          <a:p>
            <a:pPr marL="285750" indent="-285750">
              <a:lnSpc>
                <a:spcPct val="150000"/>
              </a:lnSpc>
              <a:buFont typeface="Arial" panose="020B0604020202020204" pitchFamily="34" charset="0"/>
              <a:buChar char="•"/>
            </a:pPr>
            <a:r>
              <a:rPr lang="es-ES" dirty="0">
                <a:solidFill>
                  <a:schemeClr val="accent1">
                    <a:lumMod val="50000"/>
                  </a:schemeClr>
                </a:solidFill>
              </a:rPr>
              <a:t>Identificación de estructuras jerárquicas. Permite identificar subgrupos en cada clúster.</a:t>
            </a:r>
          </a:p>
          <a:p>
            <a:pPr marL="285750" indent="-285750">
              <a:lnSpc>
                <a:spcPct val="150000"/>
              </a:lnSpc>
              <a:buFont typeface="Arial" panose="020B0604020202020204" pitchFamily="34" charset="0"/>
              <a:buChar char="•"/>
            </a:pPr>
            <a:r>
              <a:rPr lang="es-ES" dirty="0">
                <a:solidFill>
                  <a:schemeClr val="accent1">
                    <a:lumMod val="50000"/>
                  </a:schemeClr>
                </a:solidFill>
              </a:rPr>
              <a:t>Visualización mediante </a:t>
            </a:r>
            <a:r>
              <a:rPr lang="es-ES" dirty="0" err="1">
                <a:solidFill>
                  <a:schemeClr val="accent1">
                    <a:lumMod val="50000"/>
                  </a:schemeClr>
                </a:solidFill>
              </a:rPr>
              <a:t>dendrogramas</a:t>
            </a:r>
            <a:r>
              <a:rPr lang="es-ES" dirty="0">
                <a:solidFill>
                  <a:schemeClr val="accent1">
                    <a:lumMod val="50000"/>
                  </a:schemeClr>
                </a:solidFill>
              </a:rPr>
              <a:t>. (ahora los vemos)</a:t>
            </a:r>
          </a:p>
        </p:txBody>
      </p:sp>
      <p:sp>
        <p:nvSpPr>
          <p:cNvPr id="8" name="Rectángulo: esquinas redondeadas 7">
            <a:extLst>
              <a:ext uri="{FF2B5EF4-FFF2-40B4-BE49-F238E27FC236}">
                <a16:creationId xmlns:a16="http://schemas.microsoft.com/office/drawing/2014/main" id="{C02BADE9-3A88-9BD7-B938-AAE7D41FCF88}"/>
              </a:ext>
            </a:extLst>
          </p:cNvPr>
          <p:cNvSpPr/>
          <p:nvPr/>
        </p:nvSpPr>
        <p:spPr>
          <a:xfrm>
            <a:off x="6250774" y="1963009"/>
            <a:ext cx="5845797" cy="3097159"/>
          </a:xfrm>
          <a:prstGeom prst="roundRect">
            <a:avLst>
              <a:gd name="adj" fmla="val 9238"/>
            </a:avLst>
          </a:prstGeom>
          <a:noFill/>
          <a:ln w="381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lnSpc>
                <a:spcPct val="150000"/>
              </a:lnSpc>
              <a:buFont typeface="Arial" panose="020B0604020202020204" pitchFamily="34" charset="0"/>
              <a:buChar char="•"/>
            </a:pPr>
            <a:r>
              <a:rPr lang="es-ES" dirty="0">
                <a:solidFill>
                  <a:schemeClr val="accent1">
                    <a:lumMod val="50000"/>
                  </a:schemeClr>
                </a:solidFill>
              </a:rPr>
              <a:t>Alto coste computacional.</a:t>
            </a:r>
          </a:p>
          <a:p>
            <a:pPr marL="285750" indent="-285750">
              <a:lnSpc>
                <a:spcPct val="150000"/>
              </a:lnSpc>
              <a:buFont typeface="Arial" panose="020B0604020202020204" pitchFamily="34" charset="0"/>
              <a:buChar char="•"/>
            </a:pPr>
            <a:r>
              <a:rPr lang="es-ES" dirty="0">
                <a:solidFill>
                  <a:schemeClr val="accent1">
                    <a:lumMod val="50000"/>
                  </a:schemeClr>
                </a:solidFill>
              </a:rPr>
              <a:t>Sensibilidad a los valores atípicos y al ruido.</a:t>
            </a:r>
          </a:p>
          <a:p>
            <a:pPr marL="285750" indent="-285750">
              <a:lnSpc>
                <a:spcPct val="150000"/>
              </a:lnSpc>
              <a:buFont typeface="Arial" panose="020B0604020202020204" pitchFamily="34" charset="0"/>
              <a:buChar char="•"/>
            </a:pPr>
            <a:r>
              <a:rPr lang="es-ES" dirty="0">
                <a:solidFill>
                  <a:schemeClr val="accent1">
                    <a:lumMod val="50000"/>
                  </a:schemeClr>
                </a:solidFill>
              </a:rPr>
              <a:t>Elegir el nivel adecuado de corte en el </a:t>
            </a:r>
            <a:r>
              <a:rPr lang="es-ES" dirty="0" err="1">
                <a:solidFill>
                  <a:schemeClr val="accent1">
                    <a:lumMod val="50000"/>
                  </a:schemeClr>
                </a:solidFill>
              </a:rPr>
              <a:t>dendrograma</a:t>
            </a:r>
            <a:r>
              <a:rPr lang="es-ES" dirty="0">
                <a:solidFill>
                  <a:schemeClr val="accent1">
                    <a:lumMod val="50000"/>
                  </a:schemeClr>
                </a:solidFill>
              </a:rPr>
              <a:t> puede ser subjetivo.</a:t>
            </a:r>
          </a:p>
          <a:p>
            <a:pPr marL="285750" indent="-285750">
              <a:lnSpc>
                <a:spcPct val="150000"/>
              </a:lnSpc>
              <a:buFont typeface="Arial" panose="020B0604020202020204" pitchFamily="34" charset="0"/>
              <a:buChar char="•"/>
            </a:pPr>
            <a:r>
              <a:rPr lang="es-ES" dirty="0">
                <a:solidFill>
                  <a:schemeClr val="accent1">
                    <a:lumMod val="50000"/>
                  </a:schemeClr>
                </a:solidFill>
              </a:rPr>
              <a:t>Con datos de dimensiones muy altas, el rendimiento y precisión del agrupamiento jerárquico se ven afectados.</a:t>
            </a:r>
          </a:p>
        </p:txBody>
      </p:sp>
      <p:sp>
        <p:nvSpPr>
          <p:cNvPr id="13" name="CuadroTexto 12">
            <a:extLst>
              <a:ext uri="{FF2B5EF4-FFF2-40B4-BE49-F238E27FC236}">
                <a16:creationId xmlns:a16="http://schemas.microsoft.com/office/drawing/2014/main" id="{2DDE4A3C-2D0F-A4A8-8573-7A297C162B10}"/>
              </a:ext>
            </a:extLst>
          </p:cNvPr>
          <p:cNvSpPr txBox="1"/>
          <p:nvPr/>
        </p:nvSpPr>
        <p:spPr>
          <a:xfrm>
            <a:off x="2418735" y="1262462"/>
            <a:ext cx="1205330" cy="769441"/>
          </a:xfrm>
          <a:prstGeom prst="rect">
            <a:avLst/>
          </a:prstGeom>
          <a:noFill/>
        </p:spPr>
        <p:txBody>
          <a:bodyPr wrap="none" rtlCol="0">
            <a:spAutoFit/>
          </a:bodyPr>
          <a:lstStyle/>
          <a:p>
            <a:r>
              <a:rPr lang="es-ES" sz="4400" b="1" dirty="0">
                <a:solidFill>
                  <a:schemeClr val="accent6">
                    <a:lumMod val="50000"/>
                  </a:schemeClr>
                </a:solidFill>
              </a:rPr>
              <a:t>Pros</a:t>
            </a:r>
          </a:p>
        </p:txBody>
      </p:sp>
      <p:sp>
        <p:nvSpPr>
          <p:cNvPr id="25" name="CuadroTexto 24">
            <a:extLst>
              <a:ext uri="{FF2B5EF4-FFF2-40B4-BE49-F238E27FC236}">
                <a16:creationId xmlns:a16="http://schemas.microsoft.com/office/drawing/2014/main" id="{1A607836-79D2-9E0E-1B38-185026D81FD5}"/>
              </a:ext>
            </a:extLst>
          </p:cNvPr>
          <p:cNvSpPr txBox="1"/>
          <p:nvPr/>
        </p:nvSpPr>
        <p:spPr>
          <a:xfrm>
            <a:off x="8387899" y="1262462"/>
            <a:ext cx="1313180" cy="769441"/>
          </a:xfrm>
          <a:prstGeom prst="rect">
            <a:avLst/>
          </a:prstGeom>
          <a:noFill/>
        </p:spPr>
        <p:txBody>
          <a:bodyPr wrap="none" rtlCol="0">
            <a:spAutoFit/>
          </a:bodyPr>
          <a:lstStyle/>
          <a:p>
            <a:r>
              <a:rPr lang="es-ES" sz="4400" b="1" dirty="0" err="1">
                <a:solidFill>
                  <a:srgbClr val="C00000"/>
                </a:solidFill>
              </a:rPr>
              <a:t>Cons</a:t>
            </a:r>
            <a:endParaRPr lang="es-ES" sz="4400" b="1" dirty="0">
              <a:solidFill>
                <a:srgbClr val="C00000"/>
              </a:solidFill>
            </a:endParaRPr>
          </a:p>
        </p:txBody>
      </p:sp>
      <p:sp>
        <p:nvSpPr>
          <p:cNvPr id="27" name="CuadroTexto 26">
            <a:extLst>
              <a:ext uri="{FF2B5EF4-FFF2-40B4-BE49-F238E27FC236}">
                <a16:creationId xmlns:a16="http://schemas.microsoft.com/office/drawing/2014/main" id="{DF6797D9-DCB6-3106-D033-5221A728D3EB}"/>
              </a:ext>
            </a:extLst>
          </p:cNvPr>
          <p:cNvSpPr txBox="1"/>
          <p:nvPr/>
        </p:nvSpPr>
        <p:spPr>
          <a:xfrm>
            <a:off x="409402" y="82680"/>
            <a:ext cx="6018058" cy="506292"/>
          </a:xfrm>
          <a:prstGeom prst="rect">
            <a:avLst/>
          </a:prstGeom>
          <a:noFill/>
        </p:spPr>
        <p:txBody>
          <a:bodyPr wrap="none" rtlCol="0">
            <a:spAutoFit/>
          </a:bodyPr>
          <a:lstStyle/>
          <a:p>
            <a:pPr>
              <a:lnSpc>
                <a:spcPct val="150000"/>
              </a:lnSpc>
            </a:pPr>
            <a:r>
              <a:rPr lang="es-ES" sz="2000" dirty="0">
                <a:solidFill>
                  <a:schemeClr val="accent1">
                    <a:lumMod val="50000"/>
                  </a:schemeClr>
                </a:solidFill>
              </a:rPr>
              <a:t>Ventajas e inconvenientes del Agrupamiento Jerárquico.</a:t>
            </a:r>
          </a:p>
        </p:txBody>
      </p:sp>
      <p:sp>
        <p:nvSpPr>
          <p:cNvPr id="9" name="CuadroTexto 8">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Tree>
    <p:extLst>
      <p:ext uri="{BB962C8B-B14F-4D97-AF65-F5344CB8AC3E}">
        <p14:creationId xmlns:p14="http://schemas.microsoft.com/office/powerpoint/2010/main" val="20452229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27</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028591" y="136523"/>
            <a:ext cx="3067982" cy="461665"/>
          </a:xfrm>
          <a:prstGeom prst="rect">
            <a:avLst/>
          </a:prstGeom>
          <a:noFill/>
        </p:spPr>
        <p:txBody>
          <a:bodyPr wrap="square" rtlCol="0">
            <a:spAutoFit/>
          </a:bodyPr>
          <a:lstStyle/>
          <a:p>
            <a:r>
              <a:rPr lang="es-ES" sz="2400" b="1" dirty="0" err="1">
                <a:solidFill>
                  <a:schemeClr val="accent1">
                    <a:lumMod val="50000"/>
                  </a:schemeClr>
                </a:solidFill>
              </a:rPr>
              <a:t>Hierarchical</a:t>
            </a:r>
            <a:r>
              <a:rPr lang="es-ES" sz="2400" b="1" dirty="0">
                <a:solidFill>
                  <a:schemeClr val="accent1">
                    <a:lumMod val="50000"/>
                  </a:schemeClr>
                </a:solidFill>
              </a:rPr>
              <a:t> </a:t>
            </a:r>
            <a:r>
              <a:rPr lang="es-ES" sz="2400" b="1" dirty="0" err="1">
                <a:solidFill>
                  <a:schemeClr val="accent1">
                    <a:lumMod val="50000"/>
                  </a:schemeClr>
                </a:solidFill>
              </a:rPr>
              <a:t>Clustering</a:t>
            </a:r>
            <a:endParaRPr lang="es-ES" sz="8800" b="1" dirty="0">
              <a:solidFill>
                <a:schemeClr val="accent1">
                  <a:lumMod val="50000"/>
                </a:scheme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1797254" y="1119374"/>
            <a:ext cx="9876881" cy="553997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800" b="1" dirty="0" err="1">
                <a:solidFill>
                  <a:schemeClr val="accent5">
                    <a:lumMod val="20000"/>
                    <a:lumOff val="80000"/>
                  </a:schemeClr>
                </a:solidFill>
              </a:rPr>
              <a:t>Estrategias</a:t>
            </a:r>
            <a:r>
              <a:rPr lang="en-US" sz="2800" b="1" dirty="0">
                <a:solidFill>
                  <a:schemeClr val="accent5">
                    <a:lumMod val="20000"/>
                    <a:lumOff val="80000"/>
                  </a:schemeClr>
                </a:solidFill>
              </a:rPr>
              <a:t> de </a:t>
            </a:r>
            <a:r>
              <a:rPr lang="en-US" sz="2800" b="1" i="1" dirty="0">
                <a:solidFill>
                  <a:schemeClr val="accent5">
                    <a:lumMod val="20000"/>
                    <a:lumOff val="80000"/>
                  </a:schemeClr>
                </a:solidFill>
              </a:rPr>
              <a:t>Clustering</a:t>
            </a:r>
            <a:r>
              <a:rPr lang="en-US" sz="2800" b="1" dirty="0">
                <a:solidFill>
                  <a:schemeClr val="accent5">
                    <a:lumMod val="20000"/>
                    <a:lumOff val="80000"/>
                  </a:schemeClr>
                </a:solidFill>
              </a:rPr>
              <a:t>.</a:t>
            </a:r>
          </a:p>
          <a:p>
            <a:pPr marL="285750" indent="-285750">
              <a:lnSpc>
                <a:spcPct val="150000"/>
              </a:lnSpc>
              <a:buFont typeface="Arial" panose="020B0604020202020204" pitchFamily="34" charset="0"/>
              <a:buChar char="•"/>
            </a:pPr>
            <a:r>
              <a:rPr lang="es-ES" sz="2800" b="1" dirty="0">
                <a:solidFill>
                  <a:schemeClr val="accent5">
                    <a:lumMod val="20000"/>
                    <a:lumOff val="80000"/>
                  </a:schemeClr>
                </a:solidFill>
              </a:rPr>
              <a:t>Parámetros del </a:t>
            </a:r>
            <a:r>
              <a:rPr lang="es-ES" sz="2800" b="1" i="1" dirty="0" err="1">
                <a:solidFill>
                  <a:schemeClr val="accent5">
                    <a:lumMod val="20000"/>
                    <a:lumOff val="80000"/>
                  </a:schemeClr>
                </a:solidFill>
              </a:rPr>
              <a:t>Clustering</a:t>
            </a:r>
            <a:r>
              <a:rPr lang="es-ES" sz="2800" b="1" dirty="0">
                <a:solidFill>
                  <a:schemeClr val="accent5">
                    <a:lumMod val="20000"/>
                    <a:lumOff val="80000"/>
                  </a:schemeClr>
                </a:solidFill>
              </a:rPr>
              <a:t>.</a:t>
            </a:r>
          </a:p>
          <a:p>
            <a:pPr marL="742950" lvl="1" indent="-285750">
              <a:lnSpc>
                <a:spcPct val="150000"/>
              </a:lnSpc>
              <a:buFont typeface="Arial" panose="020B0604020202020204" pitchFamily="34" charset="0"/>
              <a:buChar char="•"/>
            </a:pPr>
            <a:r>
              <a:rPr lang="es-ES" sz="2400" b="1" dirty="0">
                <a:solidFill>
                  <a:schemeClr val="accent5">
                    <a:lumMod val="20000"/>
                    <a:lumOff val="80000"/>
                  </a:schemeClr>
                </a:solidFill>
              </a:rPr>
              <a:t>Métrica.</a:t>
            </a:r>
          </a:p>
          <a:p>
            <a:pPr marL="742950" lvl="1" indent="-285750">
              <a:lnSpc>
                <a:spcPct val="150000"/>
              </a:lnSpc>
              <a:buFont typeface="Arial" panose="020B0604020202020204" pitchFamily="34" charset="0"/>
              <a:buChar char="•"/>
            </a:pPr>
            <a:r>
              <a:rPr lang="es-ES" sz="2400" b="1" dirty="0">
                <a:solidFill>
                  <a:schemeClr val="accent5">
                    <a:lumMod val="20000"/>
                    <a:lumOff val="80000"/>
                  </a:schemeClr>
                </a:solidFill>
              </a:rPr>
              <a:t>Método de agrupamiento</a:t>
            </a:r>
            <a:endParaRPr lang="es-ES" sz="2800" b="1" dirty="0">
              <a:solidFill>
                <a:schemeClr val="accent5">
                  <a:lumMod val="20000"/>
                  <a:lumOff val="80000"/>
                </a:schemeClr>
              </a:solidFill>
            </a:endParaRPr>
          </a:p>
          <a:p>
            <a:pPr marL="285750" indent="-285750">
              <a:lnSpc>
                <a:spcPct val="150000"/>
              </a:lnSpc>
              <a:buFont typeface="Arial" panose="020B0604020202020204" pitchFamily="34" charset="0"/>
              <a:buChar char="•"/>
            </a:pPr>
            <a:r>
              <a:rPr lang="es-ES" sz="2800" b="1" dirty="0">
                <a:solidFill>
                  <a:schemeClr val="accent5">
                    <a:lumMod val="20000"/>
                    <a:lumOff val="80000"/>
                  </a:schemeClr>
                </a:solidFill>
              </a:rPr>
              <a:t>Número Óptimo de Grupos.</a:t>
            </a:r>
          </a:p>
          <a:p>
            <a:pPr marL="742950" lvl="1" indent="-285750">
              <a:lnSpc>
                <a:spcPct val="150000"/>
              </a:lnSpc>
              <a:buFont typeface="Arial" panose="020B0604020202020204" pitchFamily="34" charset="0"/>
              <a:buChar char="•"/>
            </a:pPr>
            <a:r>
              <a:rPr lang="es-ES" sz="2400" b="1" dirty="0">
                <a:solidFill>
                  <a:schemeClr val="accent5">
                    <a:lumMod val="20000"/>
                    <a:lumOff val="80000"/>
                  </a:schemeClr>
                </a:solidFill>
              </a:rPr>
              <a:t>Método del codo.</a:t>
            </a:r>
          </a:p>
          <a:p>
            <a:pPr marL="742950" lvl="1" indent="-285750">
              <a:lnSpc>
                <a:spcPct val="150000"/>
              </a:lnSpc>
              <a:buFont typeface="Arial" panose="020B0604020202020204" pitchFamily="34" charset="0"/>
              <a:buChar char="•"/>
            </a:pPr>
            <a:r>
              <a:rPr lang="es-ES" sz="2400" b="1" dirty="0">
                <a:solidFill>
                  <a:schemeClr val="accent5">
                    <a:lumMod val="20000"/>
                    <a:lumOff val="80000"/>
                  </a:schemeClr>
                </a:solidFill>
              </a:rPr>
              <a:t>Método de la silueta.</a:t>
            </a:r>
          </a:p>
          <a:p>
            <a:pPr marL="285750" indent="-285750">
              <a:lnSpc>
                <a:spcPct val="150000"/>
              </a:lnSpc>
              <a:buFont typeface="Arial" panose="020B0604020202020204" pitchFamily="34" charset="0"/>
              <a:buChar char="•"/>
            </a:pPr>
            <a:r>
              <a:rPr lang="es-ES" sz="2800" b="1" dirty="0">
                <a:solidFill>
                  <a:schemeClr val="accent5">
                    <a:lumMod val="20000"/>
                    <a:lumOff val="80000"/>
                  </a:schemeClr>
                </a:solidFill>
              </a:rPr>
              <a:t>Ventajas e inconvenientes del Agrupamiento Jerárquico.</a:t>
            </a:r>
          </a:p>
          <a:p>
            <a:pPr marL="285750" indent="-285750">
              <a:lnSpc>
                <a:spcPct val="150000"/>
              </a:lnSpc>
              <a:buFont typeface="Arial" panose="020B0604020202020204" pitchFamily="34" charset="0"/>
              <a:buChar char="•"/>
            </a:pPr>
            <a:r>
              <a:rPr lang="es-ES" sz="2800" b="1" dirty="0">
                <a:solidFill>
                  <a:schemeClr val="accent1">
                    <a:lumMod val="50000"/>
                  </a:schemeClr>
                </a:solidFill>
              </a:rPr>
              <a:t>Implementación del algoritmo.</a:t>
            </a:r>
          </a:p>
        </p:txBody>
      </p:sp>
    </p:spTree>
    <p:extLst>
      <p:ext uri="{BB962C8B-B14F-4D97-AF65-F5344CB8AC3E}">
        <p14:creationId xmlns:p14="http://schemas.microsoft.com/office/powerpoint/2010/main" val="30567359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7993CC0-FDBD-26F4-7B73-3131004186E5}"/>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28</a:t>
            </a:fld>
            <a:endParaRPr lang="es-ES" dirty="0">
              <a:solidFill>
                <a:prstClr val="black">
                  <a:tint val="75000"/>
                </a:prstClr>
              </a:solidFill>
            </a:endParaRPr>
          </a:p>
        </p:txBody>
      </p:sp>
      <p:sp>
        <p:nvSpPr>
          <p:cNvPr id="2" name="CuadroTexto 1">
            <a:extLst>
              <a:ext uri="{FF2B5EF4-FFF2-40B4-BE49-F238E27FC236}">
                <a16:creationId xmlns:a16="http://schemas.microsoft.com/office/drawing/2014/main" id="{174029F8-3D25-8361-F529-8B5B141325A6}"/>
              </a:ext>
            </a:extLst>
          </p:cNvPr>
          <p:cNvSpPr txBox="1"/>
          <p:nvPr/>
        </p:nvSpPr>
        <p:spPr>
          <a:xfrm>
            <a:off x="427100" y="94478"/>
            <a:ext cx="3687997" cy="506292"/>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s-ES" sz="2000" dirty="0">
                <a:solidFill>
                  <a:schemeClr val="accent1">
                    <a:lumMod val="50000"/>
                  </a:schemeClr>
                </a:solidFill>
              </a:rPr>
              <a:t>Implementación del algoritmo.</a:t>
            </a:r>
          </a:p>
        </p:txBody>
      </p:sp>
      <p:sp>
        <p:nvSpPr>
          <p:cNvPr id="7" name="Rectángulo: esquinas redondeadas 6">
            <a:extLst>
              <a:ext uri="{FF2B5EF4-FFF2-40B4-BE49-F238E27FC236}">
                <a16:creationId xmlns:a16="http://schemas.microsoft.com/office/drawing/2014/main" id="{C60EBAA1-473D-1E2C-0C8A-2FD8853A9F24}"/>
              </a:ext>
            </a:extLst>
          </p:cNvPr>
          <p:cNvSpPr/>
          <p:nvPr/>
        </p:nvSpPr>
        <p:spPr>
          <a:xfrm>
            <a:off x="599722" y="1223290"/>
            <a:ext cx="4343938" cy="1866140"/>
          </a:xfrm>
          <a:prstGeom prst="roundRect">
            <a:avLst/>
          </a:prstGeom>
          <a:solidFill>
            <a:schemeClr val="accent1">
              <a:lumMod val="20000"/>
              <a:lumOff val="80000"/>
              <a:alpha val="55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dirty="0">
                <a:solidFill>
                  <a:schemeClr val="accent1">
                    <a:lumMod val="50000"/>
                  </a:schemeClr>
                </a:solidFill>
              </a:rPr>
              <a:t>Elección variables de entrada.</a:t>
            </a:r>
          </a:p>
          <a:p>
            <a:pPr marL="342900" indent="-342900">
              <a:buFont typeface="Arial" panose="020B0604020202020204" pitchFamily="34" charset="0"/>
              <a:buChar char="•"/>
            </a:pPr>
            <a:r>
              <a:rPr lang="es-ES" dirty="0">
                <a:solidFill>
                  <a:schemeClr val="accent1">
                    <a:lumMod val="50000"/>
                  </a:schemeClr>
                </a:solidFill>
              </a:rPr>
              <a:t>Limpieza de datos.</a:t>
            </a:r>
          </a:p>
          <a:p>
            <a:pPr marL="342900" indent="-342900">
              <a:buFont typeface="Arial" panose="020B0604020202020204" pitchFamily="34" charset="0"/>
              <a:buChar char="•"/>
            </a:pPr>
            <a:r>
              <a:rPr lang="es-ES" dirty="0">
                <a:solidFill>
                  <a:schemeClr val="accent1">
                    <a:lumMod val="50000"/>
                  </a:schemeClr>
                </a:solidFill>
              </a:rPr>
              <a:t>Normalización o Estandarización de Variables Numéricas.</a:t>
            </a:r>
          </a:p>
          <a:p>
            <a:pPr marL="342900" indent="-342900">
              <a:buFont typeface="Arial" panose="020B0604020202020204" pitchFamily="34" charset="0"/>
              <a:buChar char="•"/>
            </a:pPr>
            <a:r>
              <a:rPr lang="es-ES" dirty="0">
                <a:solidFill>
                  <a:schemeClr val="accent1">
                    <a:lumMod val="50000"/>
                  </a:schemeClr>
                </a:solidFill>
              </a:rPr>
              <a:t>Conversión de Variables Categóricas a Formato Numérico.</a:t>
            </a:r>
          </a:p>
        </p:txBody>
      </p:sp>
      <p:sp>
        <p:nvSpPr>
          <p:cNvPr id="9" name="Rectángulo: esquinas redondeadas 8">
            <a:extLst>
              <a:ext uri="{FF2B5EF4-FFF2-40B4-BE49-F238E27FC236}">
                <a16:creationId xmlns:a16="http://schemas.microsoft.com/office/drawing/2014/main" id="{03C497F2-BC04-94F2-4016-595E69315D09}"/>
              </a:ext>
            </a:extLst>
          </p:cNvPr>
          <p:cNvSpPr/>
          <p:nvPr/>
        </p:nvSpPr>
        <p:spPr>
          <a:xfrm>
            <a:off x="599719" y="4144731"/>
            <a:ext cx="4343941" cy="1448201"/>
          </a:xfrm>
          <a:prstGeom prst="roundRect">
            <a:avLst/>
          </a:prstGeom>
          <a:solidFill>
            <a:schemeClr val="accent1">
              <a:lumMod val="20000"/>
              <a:lumOff val="80000"/>
              <a:alpha val="55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dirty="0">
                <a:solidFill>
                  <a:schemeClr val="accent1">
                    <a:lumMod val="50000"/>
                  </a:schemeClr>
                </a:solidFill>
              </a:rPr>
              <a:t>Elección del número de clústeres.</a:t>
            </a:r>
          </a:p>
          <a:p>
            <a:pPr marL="342900" indent="-342900">
              <a:buFont typeface="Arial" panose="020B0604020202020204" pitchFamily="34" charset="0"/>
              <a:buChar char="•"/>
            </a:pPr>
            <a:r>
              <a:rPr lang="es-ES" dirty="0">
                <a:solidFill>
                  <a:schemeClr val="accent1">
                    <a:lumMod val="50000"/>
                  </a:schemeClr>
                </a:solidFill>
              </a:rPr>
              <a:t>Agrupar según la métrica y el método.</a:t>
            </a:r>
          </a:p>
          <a:p>
            <a:pPr marL="342900" indent="-342900">
              <a:buFont typeface="Arial" panose="020B0604020202020204" pitchFamily="34" charset="0"/>
              <a:buChar char="•"/>
            </a:pPr>
            <a:r>
              <a:rPr lang="es-ES" dirty="0">
                <a:solidFill>
                  <a:schemeClr val="accent1">
                    <a:lumMod val="50000"/>
                  </a:schemeClr>
                </a:solidFill>
              </a:rPr>
              <a:t>Evaluación de la bondad del agrupamiento.</a:t>
            </a:r>
          </a:p>
        </p:txBody>
      </p:sp>
      <p:sp>
        <p:nvSpPr>
          <p:cNvPr id="12" name="Flecha: a la derecha 11">
            <a:extLst>
              <a:ext uri="{FF2B5EF4-FFF2-40B4-BE49-F238E27FC236}">
                <a16:creationId xmlns:a16="http://schemas.microsoft.com/office/drawing/2014/main" id="{8DAB3E76-2913-749F-A403-5A7E4377EB43}"/>
              </a:ext>
            </a:extLst>
          </p:cNvPr>
          <p:cNvSpPr/>
          <p:nvPr/>
        </p:nvSpPr>
        <p:spPr>
          <a:xfrm>
            <a:off x="5106143" y="1718798"/>
            <a:ext cx="436552" cy="2536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esquinas redondeadas 14">
            <a:extLst>
              <a:ext uri="{FF2B5EF4-FFF2-40B4-BE49-F238E27FC236}">
                <a16:creationId xmlns:a16="http://schemas.microsoft.com/office/drawing/2014/main" id="{8A4E2ED6-F5CD-8EFB-281E-DA1D797F1F0B}"/>
              </a:ext>
            </a:extLst>
          </p:cNvPr>
          <p:cNvSpPr/>
          <p:nvPr/>
        </p:nvSpPr>
        <p:spPr>
          <a:xfrm>
            <a:off x="5705178" y="608216"/>
            <a:ext cx="6338074" cy="5748136"/>
          </a:xfrm>
          <a:prstGeom prst="roundRect">
            <a:avLst>
              <a:gd name="adj" fmla="val 597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B6D8A1ED-4BA7-7956-4C08-7566AA34D1DA}"/>
              </a:ext>
            </a:extLst>
          </p:cNvPr>
          <p:cNvSpPr txBox="1"/>
          <p:nvPr/>
        </p:nvSpPr>
        <p:spPr>
          <a:xfrm>
            <a:off x="1498436" y="909615"/>
            <a:ext cx="2707857" cy="369332"/>
          </a:xfrm>
          <a:prstGeom prst="rect">
            <a:avLst/>
          </a:prstGeom>
          <a:noFill/>
        </p:spPr>
        <p:txBody>
          <a:bodyPr wrap="none" rtlCol="0">
            <a:spAutoFit/>
          </a:bodyPr>
          <a:lstStyle/>
          <a:p>
            <a:r>
              <a:rPr lang="es-ES" b="1" dirty="0">
                <a:solidFill>
                  <a:schemeClr val="accent1">
                    <a:lumMod val="50000"/>
                  </a:schemeClr>
                </a:solidFill>
              </a:rPr>
              <a:t>Preparación datos entrada</a:t>
            </a:r>
          </a:p>
        </p:txBody>
      </p:sp>
      <p:sp>
        <p:nvSpPr>
          <p:cNvPr id="19" name="CuadroTexto 18">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5" name="Rectángulo 4"/>
          <p:cNvSpPr/>
          <p:nvPr/>
        </p:nvSpPr>
        <p:spPr>
          <a:xfrm>
            <a:off x="5842374" y="909484"/>
            <a:ext cx="6089214" cy="5909310"/>
          </a:xfrm>
          <a:prstGeom prst="rect">
            <a:avLst/>
          </a:prstGeom>
        </p:spPr>
        <p:txBody>
          <a:bodyPr wrap="square">
            <a:spAutoFit/>
          </a:bodyPr>
          <a:lstStyle/>
          <a:p>
            <a:pPr marL="342900" indent="-342900">
              <a:buFont typeface="Arial" panose="020B0604020202020204" pitchFamily="34" charset="0"/>
              <a:buChar char="•"/>
            </a:pPr>
            <a:r>
              <a:rPr lang="es-ES" b="1" dirty="0">
                <a:solidFill>
                  <a:schemeClr val="accent1">
                    <a:lumMod val="50000"/>
                  </a:schemeClr>
                </a:solidFill>
              </a:rPr>
              <a:t>La mayoría de los métodos de </a:t>
            </a:r>
            <a:r>
              <a:rPr lang="es-ES" b="1" dirty="0" err="1">
                <a:solidFill>
                  <a:schemeClr val="accent1">
                    <a:lumMod val="50000"/>
                  </a:schemeClr>
                </a:solidFill>
              </a:rPr>
              <a:t>clustering</a:t>
            </a:r>
            <a:r>
              <a:rPr lang="es-ES" b="1" dirty="0">
                <a:solidFill>
                  <a:schemeClr val="accent1">
                    <a:lumMod val="50000"/>
                  </a:schemeClr>
                </a:solidFill>
              </a:rPr>
              <a:t> jerárquico dependen de la distancia (como la euclidiana), y son sensibles a las escalas de las variables. Por lo tanto, es imprescindible normalizar o estandarizar las variables numéricas para que tengan una escala comparable.</a:t>
            </a:r>
          </a:p>
          <a:p>
            <a:pPr marL="342900" indent="-342900">
              <a:buFont typeface="Arial" panose="020B0604020202020204" pitchFamily="34" charset="0"/>
              <a:buChar char="•"/>
            </a:pPr>
            <a:endParaRPr lang="es-ES" b="1" dirty="0">
              <a:solidFill>
                <a:schemeClr val="accent1">
                  <a:lumMod val="50000"/>
                </a:schemeClr>
              </a:solidFill>
            </a:endParaRPr>
          </a:p>
          <a:p>
            <a:pPr marL="342900" indent="-342900">
              <a:buFont typeface="Arial" panose="020B0604020202020204" pitchFamily="34" charset="0"/>
              <a:buChar char="•"/>
            </a:pPr>
            <a:r>
              <a:rPr lang="es-ES" b="1" dirty="0">
                <a:solidFill>
                  <a:schemeClr val="accent1">
                    <a:lumMod val="50000"/>
                  </a:schemeClr>
                </a:solidFill>
              </a:rPr>
              <a:t>Si hay variables categóricas, deben convertirse a un formato numérico porque las distancias tradicionales no se calculan sobre datos categóricos. También se puede utilizar una definición híbrida de distancia (</a:t>
            </a:r>
            <a:r>
              <a:rPr lang="es-ES" b="1" dirty="0" err="1">
                <a:solidFill>
                  <a:schemeClr val="accent1">
                    <a:lumMod val="50000"/>
                  </a:schemeClr>
                </a:solidFill>
              </a:rPr>
              <a:t>Gower</a:t>
            </a:r>
            <a:r>
              <a:rPr lang="es-ES" b="1" dirty="0">
                <a:solidFill>
                  <a:schemeClr val="accent1">
                    <a:lumMod val="50000"/>
                  </a:schemeClr>
                </a:solidFill>
              </a:rPr>
              <a:t>)</a:t>
            </a:r>
          </a:p>
          <a:p>
            <a:pPr marL="342900" indent="-342900">
              <a:buFont typeface="Arial" panose="020B0604020202020204" pitchFamily="34" charset="0"/>
              <a:buChar char="•"/>
            </a:pPr>
            <a:endParaRPr lang="es-ES" dirty="0">
              <a:solidFill>
                <a:schemeClr val="accent1">
                  <a:lumMod val="50000"/>
                </a:schemeClr>
              </a:solidFill>
            </a:endParaRPr>
          </a:p>
          <a:p>
            <a:pPr marL="342900" indent="-342900">
              <a:buFont typeface="Arial" panose="020B0604020202020204" pitchFamily="34" charset="0"/>
              <a:buChar char="•"/>
            </a:pPr>
            <a:r>
              <a:rPr lang="es-ES" dirty="0">
                <a:solidFill>
                  <a:schemeClr val="accent1">
                    <a:lumMod val="50000"/>
                  </a:schemeClr>
                </a:solidFill>
              </a:rPr>
              <a:t>Los </a:t>
            </a:r>
            <a:r>
              <a:rPr lang="es-ES" dirty="0" err="1">
                <a:solidFill>
                  <a:schemeClr val="accent1">
                    <a:lumMod val="50000"/>
                  </a:schemeClr>
                </a:solidFill>
              </a:rPr>
              <a:t>outliers</a:t>
            </a:r>
            <a:r>
              <a:rPr lang="es-ES" dirty="0">
                <a:solidFill>
                  <a:schemeClr val="accent1">
                    <a:lumMod val="50000"/>
                  </a:schemeClr>
                </a:solidFill>
              </a:rPr>
              <a:t> pueden distorsionar las distancias y, por tanto, la estructura de los clústeres. Detectar y tratar los </a:t>
            </a:r>
            <a:r>
              <a:rPr lang="es-ES" dirty="0" err="1">
                <a:solidFill>
                  <a:schemeClr val="accent1">
                    <a:lumMod val="50000"/>
                  </a:schemeClr>
                </a:solidFill>
              </a:rPr>
              <a:t>outliers</a:t>
            </a:r>
            <a:r>
              <a:rPr lang="es-ES" dirty="0">
                <a:solidFill>
                  <a:schemeClr val="accent1">
                    <a:lumMod val="50000"/>
                  </a:schemeClr>
                </a:solidFill>
              </a:rPr>
              <a:t> suele mejorar la calidad del agrupamiento.</a:t>
            </a:r>
          </a:p>
          <a:p>
            <a:pPr marL="342900" indent="-342900">
              <a:buFont typeface="Arial" panose="020B0604020202020204" pitchFamily="34" charset="0"/>
              <a:buChar char="•"/>
            </a:pPr>
            <a:endParaRPr lang="es-ES" dirty="0">
              <a:solidFill>
                <a:schemeClr val="accent1">
                  <a:lumMod val="50000"/>
                </a:schemeClr>
              </a:solidFill>
            </a:endParaRPr>
          </a:p>
          <a:p>
            <a:pPr marL="342900" indent="-342900">
              <a:buFont typeface="Arial" panose="020B0604020202020204" pitchFamily="34" charset="0"/>
              <a:buChar char="•"/>
            </a:pPr>
            <a:r>
              <a:rPr lang="es-ES" dirty="0">
                <a:solidFill>
                  <a:schemeClr val="accent1">
                    <a:lumMod val="50000"/>
                  </a:schemeClr>
                </a:solidFill>
              </a:rPr>
              <a:t>Con un número elevado de variables el </a:t>
            </a:r>
            <a:r>
              <a:rPr lang="es-ES" dirty="0" err="1">
                <a:solidFill>
                  <a:schemeClr val="accent1">
                    <a:lumMod val="50000"/>
                  </a:schemeClr>
                </a:solidFill>
              </a:rPr>
              <a:t>clustering</a:t>
            </a:r>
            <a:r>
              <a:rPr lang="es-ES" dirty="0">
                <a:solidFill>
                  <a:schemeClr val="accent1">
                    <a:lumMod val="50000"/>
                  </a:schemeClr>
                </a:solidFill>
              </a:rPr>
              <a:t> puede perder precisión debido a la "maldición de la </a:t>
            </a:r>
            <a:r>
              <a:rPr lang="es-ES" dirty="0" err="1">
                <a:solidFill>
                  <a:schemeClr val="accent1">
                    <a:lumMod val="50000"/>
                  </a:schemeClr>
                </a:solidFill>
              </a:rPr>
              <a:t>dimensionalidad</a:t>
            </a:r>
            <a:r>
              <a:rPr lang="es-ES" dirty="0">
                <a:solidFill>
                  <a:schemeClr val="accent1">
                    <a:lumMod val="50000"/>
                  </a:schemeClr>
                </a:solidFill>
              </a:rPr>
              <a:t>". Aplicar PCA puede hacer que el agrupamiento sea más efectivo.</a:t>
            </a:r>
          </a:p>
          <a:p>
            <a:pPr marL="342900" indent="-342900">
              <a:buFont typeface="Arial" panose="020B0604020202020204" pitchFamily="34" charset="0"/>
              <a:buChar char="•"/>
            </a:pPr>
            <a:endParaRPr lang="es-ES" dirty="0">
              <a:solidFill>
                <a:schemeClr val="accent1">
                  <a:lumMod val="50000"/>
                </a:schemeClr>
              </a:solidFill>
            </a:endParaRPr>
          </a:p>
          <a:p>
            <a:pPr marL="342900" indent="-342900">
              <a:buFont typeface="Arial" panose="020B0604020202020204" pitchFamily="34" charset="0"/>
              <a:buChar char="•"/>
            </a:pPr>
            <a:endParaRPr lang="es-ES" dirty="0">
              <a:solidFill>
                <a:schemeClr val="accent1">
                  <a:lumMod val="50000"/>
                </a:schemeClr>
              </a:solidFill>
            </a:endParaRPr>
          </a:p>
        </p:txBody>
      </p:sp>
      <p:sp>
        <p:nvSpPr>
          <p:cNvPr id="39" name="CuadroTexto 38">
            <a:extLst>
              <a:ext uri="{FF2B5EF4-FFF2-40B4-BE49-F238E27FC236}">
                <a16:creationId xmlns:a16="http://schemas.microsoft.com/office/drawing/2014/main" id="{992131C0-B0E9-1EC2-9A54-9645B71419AD}"/>
              </a:ext>
            </a:extLst>
          </p:cNvPr>
          <p:cNvSpPr txBox="1"/>
          <p:nvPr/>
        </p:nvSpPr>
        <p:spPr>
          <a:xfrm>
            <a:off x="1089978" y="3775399"/>
            <a:ext cx="3363421" cy="369332"/>
          </a:xfrm>
          <a:prstGeom prst="rect">
            <a:avLst/>
          </a:prstGeom>
          <a:noFill/>
        </p:spPr>
        <p:txBody>
          <a:bodyPr wrap="none" rtlCol="0">
            <a:spAutoFit/>
          </a:bodyPr>
          <a:lstStyle/>
          <a:p>
            <a:r>
              <a:rPr lang="es-ES" b="1" dirty="0">
                <a:solidFill>
                  <a:schemeClr val="accent1">
                    <a:lumMod val="50000"/>
                  </a:schemeClr>
                </a:solidFill>
              </a:rPr>
              <a:t>Predicción </a:t>
            </a:r>
            <a:r>
              <a:rPr lang="es-ES" b="1" dirty="0" err="1">
                <a:solidFill>
                  <a:schemeClr val="accent1">
                    <a:lumMod val="50000"/>
                  </a:schemeClr>
                </a:solidFill>
              </a:rPr>
              <a:t>Hierarchical</a:t>
            </a:r>
            <a:r>
              <a:rPr lang="es-ES" b="1" dirty="0">
                <a:solidFill>
                  <a:schemeClr val="accent1">
                    <a:lumMod val="50000"/>
                  </a:schemeClr>
                </a:solidFill>
              </a:rPr>
              <a:t> </a:t>
            </a:r>
            <a:r>
              <a:rPr lang="es-ES" b="1" dirty="0" err="1">
                <a:solidFill>
                  <a:schemeClr val="accent1">
                    <a:lumMod val="50000"/>
                  </a:schemeClr>
                </a:solidFill>
              </a:rPr>
              <a:t>Clustering</a:t>
            </a:r>
            <a:endParaRPr lang="es-ES" b="1" dirty="0">
              <a:solidFill>
                <a:schemeClr val="accent1">
                  <a:lumMod val="50000"/>
                </a:schemeClr>
              </a:solidFill>
            </a:endParaRPr>
          </a:p>
        </p:txBody>
      </p:sp>
    </p:spTree>
    <p:extLst>
      <p:ext uri="{BB962C8B-B14F-4D97-AF65-F5344CB8AC3E}">
        <p14:creationId xmlns:p14="http://schemas.microsoft.com/office/powerpoint/2010/main" val="273802273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7993CC0-FDBD-26F4-7B73-3131004186E5}"/>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29</a:t>
            </a:fld>
            <a:endParaRPr lang="es-ES" dirty="0">
              <a:solidFill>
                <a:prstClr val="black">
                  <a:tint val="75000"/>
                </a:prstClr>
              </a:solidFill>
            </a:endParaRPr>
          </a:p>
        </p:txBody>
      </p:sp>
      <p:sp>
        <p:nvSpPr>
          <p:cNvPr id="2" name="CuadroTexto 1">
            <a:extLst>
              <a:ext uri="{FF2B5EF4-FFF2-40B4-BE49-F238E27FC236}">
                <a16:creationId xmlns:a16="http://schemas.microsoft.com/office/drawing/2014/main" id="{174029F8-3D25-8361-F529-8B5B141325A6}"/>
              </a:ext>
            </a:extLst>
          </p:cNvPr>
          <p:cNvSpPr txBox="1"/>
          <p:nvPr/>
        </p:nvSpPr>
        <p:spPr>
          <a:xfrm>
            <a:off x="427100" y="94478"/>
            <a:ext cx="3687997" cy="506292"/>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s-ES" sz="2000" dirty="0">
                <a:solidFill>
                  <a:schemeClr val="accent1">
                    <a:lumMod val="50000"/>
                  </a:schemeClr>
                </a:solidFill>
              </a:rPr>
              <a:t>Implementación del algoritmo.</a:t>
            </a:r>
          </a:p>
        </p:txBody>
      </p:sp>
      <p:sp>
        <p:nvSpPr>
          <p:cNvPr id="7" name="Rectángulo: esquinas redondeadas 6">
            <a:extLst>
              <a:ext uri="{FF2B5EF4-FFF2-40B4-BE49-F238E27FC236}">
                <a16:creationId xmlns:a16="http://schemas.microsoft.com/office/drawing/2014/main" id="{C60EBAA1-473D-1E2C-0C8A-2FD8853A9F24}"/>
              </a:ext>
            </a:extLst>
          </p:cNvPr>
          <p:cNvSpPr/>
          <p:nvPr/>
        </p:nvSpPr>
        <p:spPr>
          <a:xfrm>
            <a:off x="599722" y="1223290"/>
            <a:ext cx="4343938" cy="1866140"/>
          </a:xfrm>
          <a:prstGeom prst="roundRect">
            <a:avLst/>
          </a:prstGeom>
          <a:solidFill>
            <a:schemeClr val="accent1">
              <a:lumMod val="20000"/>
              <a:lumOff val="80000"/>
              <a:alpha val="55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dirty="0">
                <a:solidFill>
                  <a:schemeClr val="accent1">
                    <a:lumMod val="50000"/>
                  </a:schemeClr>
                </a:solidFill>
              </a:rPr>
              <a:t>Elección variables de entrada.</a:t>
            </a:r>
          </a:p>
          <a:p>
            <a:pPr marL="342900" indent="-342900">
              <a:buFont typeface="Arial" panose="020B0604020202020204" pitchFamily="34" charset="0"/>
              <a:buChar char="•"/>
            </a:pPr>
            <a:r>
              <a:rPr lang="es-ES" dirty="0">
                <a:solidFill>
                  <a:schemeClr val="accent1">
                    <a:lumMod val="50000"/>
                  </a:schemeClr>
                </a:solidFill>
              </a:rPr>
              <a:t>Limpieza de datos.</a:t>
            </a:r>
          </a:p>
          <a:p>
            <a:pPr marL="342900" indent="-342900">
              <a:buFont typeface="Arial" panose="020B0604020202020204" pitchFamily="34" charset="0"/>
              <a:buChar char="•"/>
            </a:pPr>
            <a:r>
              <a:rPr lang="es-ES" dirty="0">
                <a:solidFill>
                  <a:schemeClr val="accent1">
                    <a:lumMod val="50000"/>
                  </a:schemeClr>
                </a:solidFill>
              </a:rPr>
              <a:t>Normalización o Estandarización de Variables Numéricas.</a:t>
            </a:r>
          </a:p>
          <a:p>
            <a:pPr marL="342900" indent="-342900">
              <a:buFont typeface="Arial" panose="020B0604020202020204" pitchFamily="34" charset="0"/>
              <a:buChar char="•"/>
            </a:pPr>
            <a:r>
              <a:rPr lang="es-ES" dirty="0">
                <a:solidFill>
                  <a:schemeClr val="accent1">
                    <a:lumMod val="50000"/>
                  </a:schemeClr>
                </a:solidFill>
              </a:rPr>
              <a:t>Conversión de Variables Categóricas a Formato Numérico.</a:t>
            </a:r>
          </a:p>
        </p:txBody>
      </p:sp>
      <p:sp>
        <p:nvSpPr>
          <p:cNvPr id="9" name="Rectángulo: esquinas redondeadas 8">
            <a:extLst>
              <a:ext uri="{FF2B5EF4-FFF2-40B4-BE49-F238E27FC236}">
                <a16:creationId xmlns:a16="http://schemas.microsoft.com/office/drawing/2014/main" id="{03C497F2-BC04-94F2-4016-595E69315D09}"/>
              </a:ext>
            </a:extLst>
          </p:cNvPr>
          <p:cNvSpPr/>
          <p:nvPr/>
        </p:nvSpPr>
        <p:spPr>
          <a:xfrm>
            <a:off x="599719" y="4144731"/>
            <a:ext cx="4343941" cy="1448201"/>
          </a:xfrm>
          <a:prstGeom prst="roundRect">
            <a:avLst/>
          </a:prstGeom>
          <a:solidFill>
            <a:schemeClr val="accent1">
              <a:lumMod val="20000"/>
              <a:lumOff val="80000"/>
              <a:alpha val="55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dirty="0">
                <a:solidFill>
                  <a:schemeClr val="accent1">
                    <a:lumMod val="50000"/>
                  </a:schemeClr>
                </a:solidFill>
              </a:rPr>
              <a:t>Elección del número de clústeres.</a:t>
            </a:r>
          </a:p>
          <a:p>
            <a:pPr marL="342900" indent="-342900">
              <a:buFont typeface="Arial" panose="020B0604020202020204" pitchFamily="34" charset="0"/>
              <a:buChar char="•"/>
            </a:pPr>
            <a:r>
              <a:rPr lang="es-ES" dirty="0">
                <a:solidFill>
                  <a:schemeClr val="accent1">
                    <a:lumMod val="50000"/>
                  </a:schemeClr>
                </a:solidFill>
              </a:rPr>
              <a:t>Agrupar según la métrica y el método.</a:t>
            </a:r>
          </a:p>
          <a:p>
            <a:pPr marL="342900" indent="-342900">
              <a:buFont typeface="Arial" panose="020B0604020202020204" pitchFamily="34" charset="0"/>
              <a:buChar char="•"/>
            </a:pPr>
            <a:r>
              <a:rPr lang="es-ES" dirty="0">
                <a:solidFill>
                  <a:schemeClr val="accent1">
                    <a:lumMod val="50000"/>
                  </a:schemeClr>
                </a:solidFill>
              </a:rPr>
              <a:t>Evaluación de la bondad del agrupamiento.</a:t>
            </a:r>
          </a:p>
        </p:txBody>
      </p:sp>
      <p:sp>
        <p:nvSpPr>
          <p:cNvPr id="12" name="Flecha: a la derecha 11">
            <a:extLst>
              <a:ext uri="{FF2B5EF4-FFF2-40B4-BE49-F238E27FC236}">
                <a16:creationId xmlns:a16="http://schemas.microsoft.com/office/drawing/2014/main" id="{8DAB3E76-2913-749F-A403-5A7E4377EB43}"/>
              </a:ext>
            </a:extLst>
          </p:cNvPr>
          <p:cNvSpPr/>
          <p:nvPr/>
        </p:nvSpPr>
        <p:spPr>
          <a:xfrm>
            <a:off x="5106143" y="1718798"/>
            <a:ext cx="436552" cy="2536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esquinas redondeadas 14">
            <a:extLst>
              <a:ext uri="{FF2B5EF4-FFF2-40B4-BE49-F238E27FC236}">
                <a16:creationId xmlns:a16="http://schemas.microsoft.com/office/drawing/2014/main" id="{8A4E2ED6-F5CD-8EFB-281E-DA1D797F1F0B}"/>
              </a:ext>
            </a:extLst>
          </p:cNvPr>
          <p:cNvSpPr/>
          <p:nvPr/>
        </p:nvSpPr>
        <p:spPr>
          <a:xfrm>
            <a:off x="5705178" y="608216"/>
            <a:ext cx="6338074" cy="4073186"/>
          </a:xfrm>
          <a:prstGeom prst="roundRect">
            <a:avLst>
              <a:gd name="adj" fmla="val 597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B6D8A1ED-4BA7-7956-4C08-7566AA34D1DA}"/>
              </a:ext>
            </a:extLst>
          </p:cNvPr>
          <p:cNvSpPr txBox="1"/>
          <p:nvPr/>
        </p:nvSpPr>
        <p:spPr>
          <a:xfrm>
            <a:off x="1498436" y="909615"/>
            <a:ext cx="2707857" cy="369332"/>
          </a:xfrm>
          <a:prstGeom prst="rect">
            <a:avLst/>
          </a:prstGeom>
          <a:noFill/>
        </p:spPr>
        <p:txBody>
          <a:bodyPr wrap="none" rtlCol="0">
            <a:spAutoFit/>
          </a:bodyPr>
          <a:lstStyle/>
          <a:p>
            <a:r>
              <a:rPr lang="es-ES" b="1" dirty="0">
                <a:solidFill>
                  <a:schemeClr val="accent1">
                    <a:lumMod val="50000"/>
                  </a:schemeClr>
                </a:solidFill>
              </a:rPr>
              <a:t>Preparación datos entrada</a:t>
            </a:r>
          </a:p>
        </p:txBody>
      </p:sp>
      <p:sp>
        <p:nvSpPr>
          <p:cNvPr id="19" name="CuadroTexto 18">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3" name="Rectángulo 2"/>
          <p:cNvSpPr/>
          <p:nvPr/>
        </p:nvSpPr>
        <p:spPr>
          <a:xfrm>
            <a:off x="5947252" y="711084"/>
            <a:ext cx="6096000" cy="3970318"/>
          </a:xfrm>
          <a:prstGeom prst="rect">
            <a:avLst/>
          </a:prstGeom>
        </p:spPr>
        <p:txBody>
          <a:bodyPr>
            <a:spAutoFit/>
          </a:bodyPr>
          <a:lstStyle/>
          <a:p>
            <a:r>
              <a:rPr lang="es-ES" sz="1200" dirty="0" err="1">
                <a:solidFill>
                  <a:srgbClr val="0000FF"/>
                </a:solidFill>
                <a:latin typeface="Consolas" panose="020B0609020204030204" pitchFamily="49" charset="0"/>
              </a:rPr>
              <a:t>import</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numpy</a:t>
            </a:r>
            <a:r>
              <a:rPr lang="es-ES" sz="1200" dirty="0">
                <a:solidFill>
                  <a:srgbClr val="000000"/>
                </a:solidFill>
                <a:latin typeface="Consolas" panose="020B0609020204030204" pitchFamily="49" charset="0"/>
              </a:rPr>
              <a:t> </a:t>
            </a:r>
            <a:r>
              <a:rPr lang="es-ES" sz="1200" dirty="0">
                <a:solidFill>
                  <a:srgbClr val="0000FF"/>
                </a:solidFill>
                <a:latin typeface="Consolas" panose="020B0609020204030204" pitchFamily="49" charset="0"/>
              </a:rPr>
              <a:t>as</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np</a:t>
            </a:r>
            <a:endParaRPr lang="es-ES" sz="1200" dirty="0">
              <a:solidFill>
                <a:srgbClr val="000000"/>
              </a:solidFill>
              <a:latin typeface="Consolas" panose="020B0609020204030204" pitchFamily="49" charset="0"/>
            </a:endParaRPr>
          </a:p>
          <a:p>
            <a:r>
              <a:rPr lang="es-ES" sz="1200" dirty="0" err="1">
                <a:solidFill>
                  <a:srgbClr val="0000FF"/>
                </a:solidFill>
                <a:latin typeface="Consolas" panose="020B0609020204030204" pitchFamily="49" charset="0"/>
              </a:rPr>
              <a:t>from</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numpy.random</a:t>
            </a:r>
            <a:r>
              <a:rPr lang="es-ES" sz="1200" dirty="0">
                <a:solidFill>
                  <a:srgbClr val="000000"/>
                </a:solidFill>
                <a:latin typeface="Consolas" panose="020B0609020204030204" pitchFamily="49" charset="0"/>
              </a:rPr>
              <a:t> </a:t>
            </a:r>
            <a:r>
              <a:rPr lang="es-ES" sz="1200" dirty="0" err="1">
                <a:solidFill>
                  <a:srgbClr val="0000FF"/>
                </a:solidFill>
                <a:latin typeface="Consolas" panose="020B0609020204030204" pitchFamily="49" charset="0"/>
              </a:rPr>
              <a:t>import</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default_rng</a:t>
            </a:r>
            <a:endParaRPr lang="es-ES" sz="1200" dirty="0">
              <a:solidFill>
                <a:srgbClr val="000000"/>
              </a:solidFill>
              <a:latin typeface="Consolas" panose="020B0609020204030204" pitchFamily="49" charset="0"/>
            </a:endParaRPr>
          </a:p>
          <a:p>
            <a:r>
              <a:rPr lang="es-ES" sz="1200" dirty="0" err="1">
                <a:solidFill>
                  <a:srgbClr val="0000FF"/>
                </a:solidFill>
                <a:latin typeface="Consolas" panose="020B0609020204030204" pitchFamily="49" charset="0"/>
              </a:rPr>
              <a:t>import</a:t>
            </a:r>
            <a:r>
              <a:rPr lang="es-ES" sz="1200" dirty="0">
                <a:solidFill>
                  <a:srgbClr val="000000"/>
                </a:solidFill>
                <a:latin typeface="Consolas" panose="020B0609020204030204" pitchFamily="49" charset="0"/>
              </a:rPr>
              <a:t> pandas </a:t>
            </a:r>
            <a:r>
              <a:rPr lang="es-ES" sz="1200" dirty="0">
                <a:solidFill>
                  <a:srgbClr val="0000FF"/>
                </a:solidFill>
                <a:latin typeface="Consolas" panose="020B0609020204030204" pitchFamily="49" charset="0"/>
              </a:rPr>
              <a:t>as</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pd</a:t>
            </a:r>
            <a:endParaRPr lang="es-ES" sz="1200" dirty="0">
              <a:solidFill>
                <a:srgbClr val="000000"/>
              </a:solidFill>
              <a:latin typeface="Consolas" panose="020B0609020204030204" pitchFamily="49" charset="0"/>
            </a:endParaRPr>
          </a:p>
          <a:p>
            <a:r>
              <a:rPr lang="es-ES" sz="1200" dirty="0" err="1">
                <a:solidFill>
                  <a:srgbClr val="0000FF"/>
                </a:solidFill>
                <a:latin typeface="Consolas" panose="020B0609020204030204" pitchFamily="49" charset="0"/>
              </a:rPr>
              <a:t>from</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sklearn.preprocessing</a:t>
            </a:r>
            <a:r>
              <a:rPr lang="es-ES" sz="1200" dirty="0">
                <a:solidFill>
                  <a:srgbClr val="000000"/>
                </a:solidFill>
                <a:latin typeface="Consolas" panose="020B0609020204030204" pitchFamily="49" charset="0"/>
              </a:rPr>
              <a:t> </a:t>
            </a:r>
            <a:r>
              <a:rPr lang="es-ES" sz="1200" dirty="0" err="1">
                <a:solidFill>
                  <a:srgbClr val="0000FF"/>
                </a:solidFill>
                <a:latin typeface="Consolas" panose="020B0609020204030204" pitchFamily="49" charset="0"/>
              </a:rPr>
              <a:t>import</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StandardScaler</a:t>
            </a:r>
            <a:endParaRPr lang="es-ES" sz="1200" dirty="0">
              <a:solidFill>
                <a:srgbClr val="000000"/>
              </a:solidFill>
              <a:latin typeface="Consolas" panose="020B0609020204030204" pitchFamily="49" charset="0"/>
            </a:endParaRPr>
          </a:p>
          <a:p>
            <a:r>
              <a:rPr lang="es-ES" sz="1200" dirty="0" err="1">
                <a:solidFill>
                  <a:srgbClr val="0000FF"/>
                </a:solidFill>
                <a:latin typeface="Consolas" panose="020B0609020204030204" pitchFamily="49" charset="0"/>
              </a:rPr>
              <a:t>from</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sklearn.cluster</a:t>
            </a:r>
            <a:r>
              <a:rPr lang="es-ES" sz="1200" dirty="0">
                <a:solidFill>
                  <a:srgbClr val="000000"/>
                </a:solidFill>
                <a:latin typeface="Consolas" panose="020B0609020204030204" pitchFamily="49" charset="0"/>
              </a:rPr>
              <a:t> </a:t>
            </a:r>
            <a:r>
              <a:rPr lang="es-ES" sz="1200" dirty="0" err="1">
                <a:solidFill>
                  <a:srgbClr val="0000FF"/>
                </a:solidFill>
                <a:latin typeface="Consolas" panose="020B0609020204030204" pitchFamily="49" charset="0"/>
              </a:rPr>
              <a:t>import</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AgglomerativeClustering</a:t>
            </a:r>
            <a:endParaRPr lang="es-ES" sz="1200" dirty="0">
              <a:solidFill>
                <a:srgbClr val="000000"/>
              </a:solidFill>
              <a:latin typeface="Consolas" panose="020B0609020204030204" pitchFamily="49" charset="0"/>
            </a:endParaRPr>
          </a:p>
          <a:p>
            <a:r>
              <a:rPr lang="es-ES" sz="1200" dirty="0" err="1">
                <a:solidFill>
                  <a:srgbClr val="0000FF"/>
                </a:solidFill>
                <a:latin typeface="Consolas" panose="020B0609020204030204" pitchFamily="49" charset="0"/>
              </a:rPr>
              <a:t>from</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sklearn.metrics</a:t>
            </a:r>
            <a:r>
              <a:rPr lang="es-ES" sz="1200" dirty="0">
                <a:solidFill>
                  <a:srgbClr val="000000"/>
                </a:solidFill>
                <a:latin typeface="Consolas" panose="020B0609020204030204" pitchFamily="49" charset="0"/>
              </a:rPr>
              <a:t> </a:t>
            </a:r>
            <a:r>
              <a:rPr lang="es-ES" sz="1200" dirty="0" err="1">
                <a:solidFill>
                  <a:srgbClr val="0000FF"/>
                </a:solidFill>
                <a:latin typeface="Consolas" panose="020B0609020204030204" pitchFamily="49" charset="0"/>
              </a:rPr>
              <a:t>import</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silhouette_score</a:t>
            </a:r>
            <a:endParaRPr lang="es-ES" sz="1200" dirty="0">
              <a:solidFill>
                <a:srgbClr val="000000"/>
              </a:solidFill>
              <a:latin typeface="Consolas" panose="020B0609020204030204" pitchFamily="49" charset="0"/>
            </a:endParaRPr>
          </a:p>
          <a:p>
            <a:r>
              <a:rPr lang="es-ES" sz="1200" dirty="0" err="1">
                <a:solidFill>
                  <a:srgbClr val="0000FF"/>
                </a:solidFill>
                <a:latin typeface="Consolas" panose="020B0609020204030204" pitchFamily="49" charset="0"/>
              </a:rPr>
              <a:t>from</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scipy.cluster.hierarchy</a:t>
            </a:r>
            <a:r>
              <a:rPr lang="es-ES" sz="1200" dirty="0">
                <a:solidFill>
                  <a:srgbClr val="000000"/>
                </a:solidFill>
                <a:latin typeface="Consolas" panose="020B0609020204030204" pitchFamily="49" charset="0"/>
              </a:rPr>
              <a:t> </a:t>
            </a:r>
            <a:r>
              <a:rPr lang="es-ES" sz="1200" dirty="0" err="1">
                <a:solidFill>
                  <a:srgbClr val="0000FF"/>
                </a:solidFill>
                <a:latin typeface="Consolas" panose="020B0609020204030204" pitchFamily="49" charset="0"/>
              </a:rPr>
              <a:t>import</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dendrogram</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linkage</a:t>
            </a:r>
            <a:endParaRPr lang="es-ES" sz="1200" dirty="0">
              <a:solidFill>
                <a:srgbClr val="000000"/>
              </a:solidFill>
              <a:latin typeface="Consolas" panose="020B0609020204030204" pitchFamily="49" charset="0"/>
            </a:endParaRPr>
          </a:p>
          <a:p>
            <a:r>
              <a:rPr lang="es-ES" sz="1200" dirty="0" err="1">
                <a:solidFill>
                  <a:srgbClr val="0000FF"/>
                </a:solidFill>
                <a:latin typeface="Consolas" panose="020B0609020204030204" pitchFamily="49" charset="0"/>
              </a:rPr>
              <a:t>import</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matplotlib.pyplot</a:t>
            </a:r>
            <a:r>
              <a:rPr lang="es-ES" sz="1200" dirty="0">
                <a:solidFill>
                  <a:srgbClr val="000000"/>
                </a:solidFill>
                <a:latin typeface="Consolas" panose="020B0609020204030204" pitchFamily="49" charset="0"/>
              </a:rPr>
              <a:t> </a:t>
            </a:r>
            <a:r>
              <a:rPr lang="es-ES" sz="1200" dirty="0">
                <a:solidFill>
                  <a:srgbClr val="0000FF"/>
                </a:solidFill>
                <a:latin typeface="Consolas" panose="020B0609020204030204" pitchFamily="49" charset="0"/>
              </a:rPr>
              <a:t>as</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plt</a:t>
            </a:r>
            <a:endParaRPr lang="es-ES" sz="1200" dirty="0">
              <a:solidFill>
                <a:srgbClr val="000000"/>
              </a:solidFill>
              <a:latin typeface="Consolas" panose="020B0609020204030204" pitchFamily="49" charset="0"/>
            </a:endParaRPr>
          </a:p>
          <a:p>
            <a:endParaRPr lang="es-ES" sz="1200" b="0" dirty="0">
              <a:solidFill>
                <a:srgbClr val="000000"/>
              </a:solidFill>
              <a:effectLst/>
              <a:latin typeface="Consolas" panose="020B0609020204030204" pitchFamily="49" charset="0"/>
            </a:endParaRPr>
          </a:p>
          <a:p>
            <a:endParaRPr lang="es-ES" sz="1200" dirty="0">
              <a:solidFill>
                <a:srgbClr val="000000"/>
              </a:solidFill>
              <a:latin typeface="Consolas" panose="020B0609020204030204" pitchFamily="49" charset="0"/>
            </a:endParaRPr>
          </a:p>
          <a:p>
            <a:r>
              <a:rPr lang="es-ES" sz="1200" dirty="0" err="1">
                <a:solidFill>
                  <a:srgbClr val="000000"/>
                </a:solidFill>
                <a:latin typeface="Consolas" panose="020B0609020204030204" pitchFamily="49" charset="0"/>
              </a:rPr>
              <a:t>rng</a:t>
            </a:r>
            <a:r>
              <a:rPr lang="es-ES" sz="1200" dirty="0">
                <a:solidFill>
                  <a:srgbClr val="000000"/>
                </a:solidFill>
                <a:latin typeface="Consolas" panose="020B0609020204030204" pitchFamily="49" charset="0"/>
              </a:rPr>
              <a:t> = </a:t>
            </a:r>
            <a:r>
              <a:rPr lang="es-ES" sz="1200" dirty="0" err="1">
                <a:solidFill>
                  <a:srgbClr val="000000"/>
                </a:solidFill>
                <a:latin typeface="Consolas" panose="020B0609020204030204" pitchFamily="49" charset="0"/>
              </a:rPr>
              <a:t>default_rng</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1513</a:t>
            </a:r>
            <a:r>
              <a:rPr lang="es-ES" sz="1200" dirty="0">
                <a:solidFill>
                  <a:srgbClr val="000000"/>
                </a:solidFill>
                <a:latin typeface="Consolas" panose="020B0609020204030204" pitchFamily="49" charset="0"/>
              </a:rPr>
              <a:t>)</a:t>
            </a:r>
          </a:p>
          <a:p>
            <a:r>
              <a:rPr lang="es-ES" sz="1200" dirty="0">
                <a:solidFill>
                  <a:srgbClr val="008000"/>
                </a:solidFill>
                <a:latin typeface="Consolas" panose="020B0609020204030204" pitchFamily="49" charset="0"/>
              </a:rPr>
              <a:t># Creamos los puntos (Agrupados en 5 grupos ‘normales’)</a:t>
            </a:r>
            <a:endParaRPr lang="es-ES" sz="1200" dirty="0">
              <a:solidFill>
                <a:srgbClr val="000000"/>
              </a:solidFill>
              <a:latin typeface="Consolas" panose="020B0609020204030204" pitchFamily="49" charset="0"/>
            </a:endParaRPr>
          </a:p>
          <a:p>
            <a:r>
              <a:rPr lang="es-ES" sz="1200" dirty="0">
                <a:solidFill>
                  <a:srgbClr val="000000"/>
                </a:solidFill>
                <a:latin typeface="Consolas" panose="020B0609020204030204" pitchFamily="49" charset="0"/>
              </a:rPr>
              <a:t>X1 = </a:t>
            </a:r>
            <a:r>
              <a:rPr lang="es-ES" sz="1200" dirty="0" err="1">
                <a:solidFill>
                  <a:srgbClr val="000000"/>
                </a:solidFill>
                <a:latin typeface="Consolas" panose="020B0609020204030204" pitchFamily="49" charset="0"/>
              </a:rPr>
              <a:t>rng.normal</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loc</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2.0</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scale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0.5</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size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20</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reshape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10</a:t>
            </a:r>
            <a:r>
              <a:rPr lang="es-ES" sz="1200" dirty="0">
                <a:solidFill>
                  <a:srgbClr val="000000"/>
                </a:solidFill>
                <a:latin typeface="Consolas" panose="020B0609020204030204" pitchFamily="49" charset="0"/>
              </a:rPr>
              <a:t>, </a:t>
            </a:r>
            <a:r>
              <a:rPr lang="es-ES" sz="1200" dirty="0">
                <a:solidFill>
                  <a:srgbClr val="098658"/>
                </a:solidFill>
                <a:latin typeface="Consolas" panose="020B0609020204030204" pitchFamily="49" charset="0"/>
              </a:rPr>
              <a:t>2</a:t>
            </a:r>
            <a:r>
              <a:rPr lang="es-ES" sz="1200" dirty="0">
                <a:solidFill>
                  <a:srgbClr val="000000"/>
                </a:solidFill>
                <a:latin typeface="Consolas" panose="020B0609020204030204" pitchFamily="49" charset="0"/>
              </a:rPr>
              <a:t>))</a:t>
            </a:r>
          </a:p>
          <a:p>
            <a:r>
              <a:rPr lang="es-ES" sz="1200" dirty="0">
                <a:solidFill>
                  <a:srgbClr val="000000"/>
                </a:solidFill>
                <a:latin typeface="Consolas" panose="020B0609020204030204" pitchFamily="49" charset="0"/>
              </a:rPr>
              <a:t>X2 = </a:t>
            </a:r>
            <a:r>
              <a:rPr lang="es-ES" sz="1200" dirty="0" err="1">
                <a:solidFill>
                  <a:srgbClr val="000000"/>
                </a:solidFill>
                <a:latin typeface="Consolas" panose="020B0609020204030204" pitchFamily="49" charset="0"/>
              </a:rPr>
              <a:t>rng.normal</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loc</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2.0</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scale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0.5</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size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20</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reshape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10</a:t>
            </a:r>
            <a:r>
              <a:rPr lang="es-ES" sz="1200" dirty="0">
                <a:solidFill>
                  <a:srgbClr val="000000"/>
                </a:solidFill>
                <a:latin typeface="Consolas" panose="020B0609020204030204" pitchFamily="49" charset="0"/>
              </a:rPr>
              <a:t>, </a:t>
            </a:r>
            <a:r>
              <a:rPr lang="es-ES" sz="1200" dirty="0">
                <a:solidFill>
                  <a:srgbClr val="098658"/>
                </a:solidFill>
                <a:latin typeface="Consolas" panose="020B0609020204030204" pitchFamily="49" charset="0"/>
              </a:rPr>
              <a:t>2</a:t>
            </a:r>
            <a:r>
              <a:rPr lang="es-ES" sz="1200" dirty="0">
                <a:solidFill>
                  <a:srgbClr val="000000"/>
                </a:solidFill>
                <a:latin typeface="Consolas" panose="020B0609020204030204" pitchFamily="49" charset="0"/>
              </a:rPr>
              <a:t>))</a:t>
            </a:r>
          </a:p>
          <a:p>
            <a:r>
              <a:rPr lang="es-ES" sz="1200" dirty="0">
                <a:solidFill>
                  <a:srgbClr val="000000"/>
                </a:solidFill>
                <a:latin typeface="Consolas" panose="020B0609020204030204" pitchFamily="49" charset="0"/>
              </a:rPr>
              <a:t>X3 = </a:t>
            </a:r>
            <a:r>
              <a:rPr lang="es-ES" sz="1200" dirty="0" err="1">
                <a:solidFill>
                  <a:srgbClr val="000000"/>
                </a:solidFill>
                <a:latin typeface="Consolas" panose="020B0609020204030204" pitchFamily="49" charset="0"/>
              </a:rPr>
              <a:t>rng.normal</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loc</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5.0</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scale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0.5</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size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20</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reshape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10</a:t>
            </a:r>
            <a:r>
              <a:rPr lang="es-ES" sz="1200" dirty="0">
                <a:solidFill>
                  <a:srgbClr val="000000"/>
                </a:solidFill>
                <a:latin typeface="Consolas" panose="020B0609020204030204" pitchFamily="49" charset="0"/>
              </a:rPr>
              <a:t>, </a:t>
            </a:r>
            <a:r>
              <a:rPr lang="es-ES" sz="1200" dirty="0">
                <a:solidFill>
                  <a:srgbClr val="098658"/>
                </a:solidFill>
                <a:latin typeface="Consolas" panose="020B0609020204030204" pitchFamily="49" charset="0"/>
              </a:rPr>
              <a:t>2</a:t>
            </a:r>
            <a:r>
              <a:rPr lang="es-ES" sz="1200" dirty="0">
                <a:solidFill>
                  <a:srgbClr val="000000"/>
                </a:solidFill>
                <a:latin typeface="Consolas" panose="020B0609020204030204" pitchFamily="49" charset="0"/>
              </a:rPr>
              <a:t>))</a:t>
            </a:r>
          </a:p>
          <a:p>
            <a:r>
              <a:rPr lang="es-ES" sz="1200" dirty="0">
                <a:solidFill>
                  <a:srgbClr val="000000"/>
                </a:solidFill>
                <a:latin typeface="Consolas" panose="020B0609020204030204" pitchFamily="49" charset="0"/>
              </a:rPr>
              <a:t>X4 = </a:t>
            </a:r>
            <a:r>
              <a:rPr lang="es-ES" sz="1200" dirty="0" err="1">
                <a:solidFill>
                  <a:srgbClr val="000000"/>
                </a:solidFill>
                <a:latin typeface="Consolas" panose="020B0609020204030204" pitchFamily="49" charset="0"/>
              </a:rPr>
              <a:t>rng.normal</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loc</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5.0</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scale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0.5</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size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20</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reshape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10</a:t>
            </a:r>
            <a:r>
              <a:rPr lang="es-ES" sz="1200" dirty="0">
                <a:solidFill>
                  <a:srgbClr val="000000"/>
                </a:solidFill>
                <a:latin typeface="Consolas" panose="020B0609020204030204" pitchFamily="49" charset="0"/>
              </a:rPr>
              <a:t>, </a:t>
            </a:r>
            <a:r>
              <a:rPr lang="es-ES" sz="1200" dirty="0">
                <a:solidFill>
                  <a:srgbClr val="098658"/>
                </a:solidFill>
                <a:latin typeface="Consolas" panose="020B0609020204030204" pitchFamily="49" charset="0"/>
              </a:rPr>
              <a:t>2</a:t>
            </a:r>
            <a:r>
              <a:rPr lang="es-ES" sz="1200" dirty="0">
                <a:solidFill>
                  <a:srgbClr val="000000"/>
                </a:solidFill>
                <a:latin typeface="Consolas" panose="020B0609020204030204" pitchFamily="49" charset="0"/>
              </a:rPr>
              <a:t>))</a:t>
            </a:r>
          </a:p>
          <a:p>
            <a:r>
              <a:rPr lang="es-ES" sz="1200" dirty="0">
                <a:solidFill>
                  <a:srgbClr val="000000"/>
                </a:solidFill>
                <a:latin typeface="Consolas" panose="020B0609020204030204" pitchFamily="49" charset="0"/>
              </a:rPr>
              <a:t>X5 = </a:t>
            </a:r>
            <a:r>
              <a:rPr lang="es-ES" sz="1200" dirty="0" err="1">
                <a:solidFill>
                  <a:srgbClr val="000000"/>
                </a:solidFill>
                <a:latin typeface="Consolas" panose="020B0609020204030204" pitchFamily="49" charset="0"/>
              </a:rPr>
              <a:t>rng.normal</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loc</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0.0</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scale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0.5</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size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20</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reshape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10</a:t>
            </a:r>
            <a:r>
              <a:rPr lang="es-ES" sz="1200" dirty="0">
                <a:solidFill>
                  <a:srgbClr val="000000"/>
                </a:solidFill>
                <a:latin typeface="Consolas" panose="020B0609020204030204" pitchFamily="49" charset="0"/>
              </a:rPr>
              <a:t>, </a:t>
            </a:r>
            <a:r>
              <a:rPr lang="es-ES" sz="1200" dirty="0">
                <a:solidFill>
                  <a:srgbClr val="098658"/>
                </a:solidFill>
                <a:latin typeface="Consolas" panose="020B0609020204030204" pitchFamily="49" charset="0"/>
              </a:rPr>
              <a:t>2</a:t>
            </a:r>
            <a:r>
              <a:rPr lang="es-ES" sz="1200" dirty="0">
                <a:solidFill>
                  <a:srgbClr val="000000"/>
                </a:solidFill>
                <a:latin typeface="Consolas" panose="020B0609020204030204" pitchFamily="49" charset="0"/>
              </a:rPr>
              <a:t>))</a:t>
            </a:r>
          </a:p>
          <a:p>
            <a:r>
              <a:rPr lang="es-ES" sz="1200" dirty="0" err="1">
                <a:solidFill>
                  <a:srgbClr val="000000"/>
                </a:solidFill>
                <a:latin typeface="Consolas" panose="020B0609020204030204" pitchFamily="49" charset="0"/>
              </a:rPr>
              <a:t>dummy_data</a:t>
            </a:r>
            <a:r>
              <a:rPr lang="es-ES" sz="1200" dirty="0">
                <a:solidFill>
                  <a:srgbClr val="000000"/>
                </a:solidFill>
                <a:latin typeface="Consolas" panose="020B0609020204030204" pitchFamily="49" charset="0"/>
              </a:rPr>
              <a:t> = </a:t>
            </a:r>
            <a:r>
              <a:rPr lang="es-ES" sz="1200" dirty="0" err="1">
                <a:solidFill>
                  <a:srgbClr val="000000"/>
                </a:solidFill>
                <a:latin typeface="Consolas" panose="020B0609020204030204" pitchFamily="49" charset="0"/>
              </a:rPr>
              <a:t>np.vstack</a:t>
            </a:r>
            <a:r>
              <a:rPr lang="es-ES" sz="1200" dirty="0">
                <a:solidFill>
                  <a:srgbClr val="000000"/>
                </a:solidFill>
                <a:latin typeface="Consolas" panose="020B0609020204030204" pitchFamily="49" charset="0"/>
              </a:rPr>
              <a:t>([X1, X2, X3, X4, X5])</a:t>
            </a:r>
          </a:p>
          <a:p>
            <a:r>
              <a:rPr lang="es-ES" sz="1200" dirty="0">
                <a:solidFill>
                  <a:srgbClr val="000000"/>
                </a:solidFill>
                <a:latin typeface="Consolas" panose="020B0609020204030204" pitchFamily="49" charset="0"/>
              </a:rPr>
              <a:t>data = </a:t>
            </a:r>
            <a:r>
              <a:rPr lang="es-ES" sz="1200" dirty="0" err="1">
                <a:solidFill>
                  <a:srgbClr val="000000"/>
                </a:solidFill>
                <a:latin typeface="Consolas" panose="020B0609020204030204" pitchFamily="49" charset="0"/>
              </a:rPr>
              <a:t>pd.DataFrame</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dummy_data</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columns</a:t>
            </a:r>
            <a:r>
              <a:rPr lang="es-ES" sz="1200" dirty="0">
                <a:solidFill>
                  <a:srgbClr val="000000"/>
                </a:solidFill>
                <a:latin typeface="Consolas" panose="020B0609020204030204" pitchFamily="49" charset="0"/>
              </a:rPr>
              <a:t>=[</a:t>
            </a:r>
            <a:r>
              <a:rPr lang="es-ES" sz="1200" dirty="0">
                <a:solidFill>
                  <a:srgbClr val="A31515"/>
                </a:solidFill>
                <a:latin typeface="Consolas" panose="020B0609020204030204" pitchFamily="49" charset="0"/>
              </a:rPr>
              <a:t>'x'</a:t>
            </a:r>
            <a:r>
              <a:rPr lang="es-ES" sz="1200" dirty="0">
                <a:solidFill>
                  <a:srgbClr val="000000"/>
                </a:solidFill>
                <a:latin typeface="Consolas" panose="020B0609020204030204" pitchFamily="49" charset="0"/>
              </a:rPr>
              <a:t>, </a:t>
            </a:r>
            <a:r>
              <a:rPr lang="es-ES" sz="1200" dirty="0">
                <a:solidFill>
                  <a:srgbClr val="A31515"/>
                </a:solidFill>
                <a:latin typeface="Consolas" panose="020B0609020204030204" pitchFamily="49" charset="0"/>
              </a:rPr>
              <a:t>'y'</a:t>
            </a:r>
            <a:r>
              <a:rPr lang="es-ES" sz="1200" dirty="0">
                <a:solidFill>
                  <a:srgbClr val="000000"/>
                </a:solidFill>
                <a:latin typeface="Consolas" panose="020B0609020204030204" pitchFamily="49" charset="0"/>
              </a:rPr>
              <a:t>])</a:t>
            </a:r>
          </a:p>
          <a:p>
            <a:endParaRPr lang="es-ES" sz="1200" dirty="0" smtClean="0">
              <a:solidFill>
                <a:srgbClr val="000000"/>
              </a:solidFill>
              <a:latin typeface="Consolas" panose="020B0609020204030204" pitchFamily="49" charset="0"/>
            </a:endParaRPr>
          </a:p>
          <a:p>
            <a:endParaRPr lang="es-ES" sz="1200" dirty="0">
              <a:solidFill>
                <a:srgbClr val="000000"/>
              </a:solidFill>
              <a:latin typeface="Consolas" panose="020B0609020204030204" pitchFamily="49" charset="0"/>
            </a:endParaRPr>
          </a:p>
        </p:txBody>
      </p:sp>
      <p:sp>
        <p:nvSpPr>
          <p:cNvPr id="14" name="CuadroTexto 13">
            <a:extLst>
              <a:ext uri="{FF2B5EF4-FFF2-40B4-BE49-F238E27FC236}">
                <a16:creationId xmlns:a16="http://schemas.microsoft.com/office/drawing/2014/main" id="{992131C0-B0E9-1EC2-9A54-9645B71419AD}"/>
              </a:ext>
            </a:extLst>
          </p:cNvPr>
          <p:cNvSpPr txBox="1"/>
          <p:nvPr/>
        </p:nvSpPr>
        <p:spPr>
          <a:xfrm>
            <a:off x="1089978" y="3775399"/>
            <a:ext cx="3363421" cy="369332"/>
          </a:xfrm>
          <a:prstGeom prst="rect">
            <a:avLst/>
          </a:prstGeom>
          <a:noFill/>
        </p:spPr>
        <p:txBody>
          <a:bodyPr wrap="none" rtlCol="0">
            <a:spAutoFit/>
          </a:bodyPr>
          <a:lstStyle/>
          <a:p>
            <a:r>
              <a:rPr lang="es-ES" b="1" dirty="0">
                <a:solidFill>
                  <a:schemeClr val="accent1">
                    <a:lumMod val="50000"/>
                  </a:schemeClr>
                </a:solidFill>
              </a:rPr>
              <a:t>Predicción </a:t>
            </a:r>
            <a:r>
              <a:rPr lang="es-ES" b="1" dirty="0" err="1">
                <a:solidFill>
                  <a:schemeClr val="accent1">
                    <a:lumMod val="50000"/>
                  </a:schemeClr>
                </a:solidFill>
              </a:rPr>
              <a:t>Hierarchical</a:t>
            </a:r>
            <a:r>
              <a:rPr lang="es-ES" b="1" dirty="0">
                <a:solidFill>
                  <a:schemeClr val="accent1">
                    <a:lumMod val="50000"/>
                  </a:schemeClr>
                </a:solidFill>
              </a:rPr>
              <a:t> </a:t>
            </a:r>
            <a:r>
              <a:rPr lang="es-ES" b="1" dirty="0" err="1">
                <a:solidFill>
                  <a:schemeClr val="accent1">
                    <a:lumMod val="50000"/>
                  </a:schemeClr>
                </a:solidFill>
              </a:rPr>
              <a:t>Clustering</a:t>
            </a:r>
            <a:endParaRPr lang="es-ES" b="1" dirty="0">
              <a:solidFill>
                <a:schemeClr val="accent1">
                  <a:lumMod val="50000"/>
                </a:schemeClr>
              </a:solidFill>
            </a:endParaRPr>
          </a:p>
        </p:txBody>
      </p:sp>
    </p:spTree>
    <p:extLst>
      <p:ext uri="{BB962C8B-B14F-4D97-AF65-F5344CB8AC3E}">
        <p14:creationId xmlns:p14="http://schemas.microsoft.com/office/powerpoint/2010/main" val="31836210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7993CC0-FDBD-26F4-7B73-3131004186E5}"/>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30</a:t>
            </a:fld>
            <a:endParaRPr lang="es-ES" dirty="0">
              <a:solidFill>
                <a:prstClr val="black">
                  <a:tint val="75000"/>
                </a:prstClr>
              </a:solidFill>
            </a:endParaRPr>
          </a:p>
        </p:txBody>
      </p:sp>
      <p:sp>
        <p:nvSpPr>
          <p:cNvPr id="2" name="CuadroTexto 1">
            <a:extLst>
              <a:ext uri="{FF2B5EF4-FFF2-40B4-BE49-F238E27FC236}">
                <a16:creationId xmlns:a16="http://schemas.microsoft.com/office/drawing/2014/main" id="{174029F8-3D25-8361-F529-8B5B141325A6}"/>
              </a:ext>
            </a:extLst>
          </p:cNvPr>
          <p:cNvSpPr txBox="1"/>
          <p:nvPr/>
        </p:nvSpPr>
        <p:spPr>
          <a:xfrm>
            <a:off x="427100" y="94478"/>
            <a:ext cx="3687997" cy="506292"/>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s-ES" sz="2000" dirty="0">
                <a:solidFill>
                  <a:schemeClr val="accent1">
                    <a:lumMod val="50000"/>
                  </a:schemeClr>
                </a:solidFill>
              </a:rPr>
              <a:t>Implementación del algoritmo.</a:t>
            </a:r>
          </a:p>
        </p:txBody>
      </p:sp>
      <p:sp>
        <p:nvSpPr>
          <p:cNvPr id="7" name="Rectángulo: esquinas redondeadas 6">
            <a:extLst>
              <a:ext uri="{FF2B5EF4-FFF2-40B4-BE49-F238E27FC236}">
                <a16:creationId xmlns:a16="http://schemas.microsoft.com/office/drawing/2014/main" id="{C60EBAA1-473D-1E2C-0C8A-2FD8853A9F24}"/>
              </a:ext>
            </a:extLst>
          </p:cNvPr>
          <p:cNvSpPr/>
          <p:nvPr/>
        </p:nvSpPr>
        <p:spPr>
          <a:xfrm>
            <a:off x="599722" y="1223290"/>
            <a:ext cx="4343938" cy="1866140"/>
          </a:xfrm>
          <a:prstGeom prst="roundRect">
            <a:avLst/>
          </a:prstGeom>
          <a:solidFill>
            <a:schemeClr val="accent1">
              <a:lumMod val="20000"/>
              <a:lumOff val="80000"/>
              <a:alpha val="55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dirty="0">
                <a:solidFill>
                  <a:schemeClr val="accent1">
                    <a:lumMod val="50000"/>
                  </a:schemeClr>
                </a:solidFill>
              </a:rPr>
              <a:t>Elección variables de entrada.</a:t>
            </a:r>
          </a:p>
          <a:p>
            <a:pPr marL="342900" indent="-342900">
              <a:buFont typeface="Arial" panose="020B0604020202020204" pitchFamily="34" charset="0"/>
              <a:buChar char="•"/>
            </a:pPr>
            <a:r>
              <a:rPr lang="es-ES" dirty="0">
                <a:solidFill>
                  <a:schemeClr val="accent1">
                    <a:lumMod val="50000"/>
                  </a:schemeClr>
                </a:solidFill>
              </a:rPr>
              <a:t>Limpieza de datos.</a:t>
            </a:r>
          </a:p>
          <a:p>
            <a:pPr marL="342900" indent="-342900">
              <a:buFont typeface="Arial" panose="020B0604020202020204" pitchFamily="34" charset="0"/>
              <a:buChar char="•"/>
            </a:pPr>
            <a:r>
              <a:rPr lang="es-ES" dirty="0">
                <a:solidFill>
                  <a:schemeClr val="accent1">
                    <a:lumMod val="50000"/>
                  </a:schemeClr>
                </a:solidFill>
              </a:rPr>
              <a:t>Normalización o Estandarización de Variables Numéricas.</a:t>
            </a:r>
          </a:p>
          <a:p>
            <a:pPr marL="342900" indent="-342900">
              <a:buFont typeface="Arial" panose="020B0604020202020204" pitchFamily="34" charset="0"/>
              <a:buChar char="•"/>
            </a:pPr>
            <a:r>
              <a:rPr lang="es-ES" dirty="0">
                <a:solidFill>
                  <a:schemeClr val="accent1">
                    <a:lumMod val="50000"/>
                  </a:schemeClr>
                </a:solidFill>
              </a:rPr>
              <a:t>Conversión de Variables Categóricas a Formato Numérico.</a:t>
            </a:r>
          </a:p>
        </p:txBody>
      </p:sp>
      <p:sp>
        <p:nvSpPr>
          <p:cNvPr id="9" name="Rectángulo: esquinas redondeadas 8">
            <a:extLst>
              <a:ext uri="{FF2B5EF4-FFF2-40B4-BE49-F238E27FC236}">
                <a16:creationId xmlns:a16="http://schemas.microsoft.com/office/drawing/2014/main" id="{03C497F2-BC04-94F2-4016-595E69315D09}"/>
              </a:ext>
            </a:extLst>
          </p:cNvPr>
          <p:cNvSpPr/>
          <p:nvPr/>
        </p:nvSpPr>
        <p:spPr>
          <a:xfrm>
            <a:off x="599719" y="4144731"/>
            <a:ext cx="4343941" cy="1448201"/>
          </a:xfrm>
          <a:prstGeom prst="roundRect">
            <a:avLst/>
          </a:prstGeom>
          <a:solidFill>
            <a:schemeClr val="accent1">
              <a:lumMod val="20000"/>
              <a:lumOff val="80000"/>
              <a:alpha val="55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dirty="0">
                <a:solidFill>
                  <a:schemeClr val="accent1">
                    <a:lumMod val="50000"/>
                  </a:schemeClr>
                </a:solidFill>
              </a:rPr>
              <a:t>Elección del número de clústeres.</a:t>
            </a:r>
          </a:p>
          <a:p>
            <a:pPr marL="342900" indent="-342900">
              <a:buFont typeface="Arial" panose="020B0604020202020204" pitchFamily="34" charset="0"/>
              <a:buChar char="•"/>
            </a:pPr>
            <a:r>
              <a:rPr lang="es-ES" dirty="0">
                <a:solidFill>
                  <a:schemeClr val="accent1">
                    <a:lumMod val="50000"/>
                  </a:schemeClr>
                </a:solidFill>
              </a:rPr>
              <a:t>Agrupar según la métrica y el método.</a:t>
            </a:r>
          </a:p>
          <a:p>
            <a:pPr marL="342900" indent="-342900">
              <a:buFont typeface="Arial" panose="020B0604020202020204" pitchFamily="34" charset="0"/>
              <a:buChar char="•"/>
            </a:pPr>
            <a:r>
              <a:rPr lang="es-ES" dirty="0">
                <a:solidFill>
                  <a:schemeClr val="accent1">
                    <a:lumMod val="50000"/>
                  </a:schemeClr>
                </a:solidFill>
              </a:rPr>
              <a:t>Evaluación de la bondad del agrupamiento.</a:t>
            </a:r>
          </a:p>
        </p:txBody>
      </p:sp>
      <p:sp>
        <p:nvSpPr>
          <p:cNvPr id="12" name="Flecha: a la derecha 11">
            <a:extLst>
              <a:ext uri="{FF2B5EF4-FFF2-40B4-BE49-F238E27FC236}">
                <a16:creationId xmlns:a16="http://schemas.microsoft.com/office/drawing/2014/main" id="{8DAB3E76-2913-749F-A403-5A7E4377EB43}"/>
              </a:ext>
            </a:extLst>
          </p:cNvPr>
          <p:cNvSpPr/>
          <p:nvPr/>
        </p:nvSpPr>
        <p:spPr>
          <a:xfrm>
            <a:off x="5008904" y="4681402"/>
            <a:ext cx="436552" cy="2536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esquinas redondeadas 14">
            <a:extLst>
              <a:ext uri="{FF2B5EF4-FFF2-40B4-BE49-F238E27FC236}">
                <a16:creationId xmlns:a16="http://schemas.microsoft.com/office/drawing/2014/main" id="{8A4E2ED6-F5CD-8EFB-281E-DA1D797F1F0B}"/>
              </a:ext>
            </a:extLst>
          </p:cNvPr>
          <p:cNvSpPr/>
          <p:nvPr/>
        </p:nvSpPr>
        <p:spPr>
          <a:xfrm>
            <a:off x="5705178" y="3923930"/>
            <a:ext cx="6338074" cy="1784411"/>
          </a:xfrm>
          <a:prstGeom prst="roundRect">
            <a:avLst>
              <a:gd name="adj" fmla="val 597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B6D8A1ED-4BA7-7956-4C08-7566AA34D1DA}"/>
              </a:ext>
            </a:extLst>
          </p:cNvPr>
          <p:cNvSpPr txBox="1"/>
          <p:nvPr/>
        </p:nvSpPr>
        <p:spPr>
          <a:xfrm>
            <a:off x="1498436" y="909615"/>
            <a:ext cx="2707857" cy="369332"/>
          </a:xfrm>
          <a:prstGeom prst="rect">
            <a:avLst/>
          </a:prstGeom>
          <a:noFill/>
        </p:spPr>
        <p:txBody>
          <a:bodyPr wrap="none" rtlCol="0">
            <a:spAutoFit/>
          </a:bodyPr>
          <a:lstStyle/>
          <a:p>
            <a:r>
              <a:rPr lang="es-ES" b="1" dirty="0">
                <a:solidFill>
                  <a:schemeClr val="accent1">
                    <a:lumMod val="50000"/>
                  </a:schemeClr>
                </a:solidFill>
              </a:rPr>
              <a:t>Preparación datos entrada</a:t>
            </a:r>
          </a:p>
        </p:txBody>
      </p:sp>
      <p:sp>
        <p:nvSpPr>
          <p:cNvPr id="17" name="CuadroTexto 16">
            <a:extLst>
              <a:ext uri="{FF2B5EF4-FFF2-40B4-BE49-F238E27FC236}">
                <a16:creationId xmlns:a16="http://schemas.microsoft.com/office/drawing/2014/main" id="{992131C0-B0E9-1EC2-9A54-9645B71419AD}"/>
              </a:ext>
            </a:extLst>
          </p:cNvPr>
          <p:cNvSpPr txBox="1"/>
          <p:nvPr/>
        </p:nvSpPr>
        <p:spPr>
          <a:xfrm>
            <a:off x="1089978" y="3775399"/>
            <a:ext cx="3363421" cy="369332"/>
          </a:xfrm>
          <a:prstGeom prst="rect">
            <a:avLst/>
          </a:prstGeom>
          <a:noFill/>
        </p:spPr>
        <p:txBody>
          <a:bodyPr wrap="none" rtlCol="0">
            <a:spAutoFit/>
          </a:bodyPr>
          <a:lstStyle/>
          <a:p>
            <a:r>
              <a:rPr lang="es-ES" b="1" dirty="0">
                <a:solidFill>
                  <a:schemeClr val="accent1">
                    <a:lumMod val="50000"/>
                  </a:schemeClr>
                </a:solidFill>
              </a:rPr>
              <a:t>Predicción </a:t>
            </a:r>
            <a:r>
              <a:rPr lang="es-ES" b="1" dirty="0" err="1">
                <a:solidFill>
                  <a:schemeClr val="accent1">
                    <a:lumMod val="50000"/>
                  </a:schemeClr>
                </a:solidFill>
              </a:rPr>
              <a:t>Hierarchical</a:t>
            </a:r>
            <a:r>
              <a:rPr lang="es-ES" b="1" dirty="0">
                <a:solidFill>
                  <a:schemeClr val="accent1">
                    <a:lumMod val="50000"/>
                  </a:schemeClr>
                </a:solidFill>
              </a:rPr>
              <a:t> </a:t>
            </a:r>
            <a:r>
              <a:rPr lang="es-ES" b="1" dirty="0" err="1">
                <a:solidFill>
                  <a:schemeClr val="accent1">
                    <a:lumMod val="50000"/>
                  </a:schemeClr>
                </a:solidFill>
              </a:rPr>
              <a:t>Clustering</a:t>
            </a:r>
            <a:endParaRPr lang="es-ES" b="1" dirty="0">
              <a:solidFill>
                <a:schemeClr val="accent1">
                  <a:lumMod val="50000"/>
                </a:schemeClr>
              </a:solidFill>
            </a:endParaRPr>
          </a:p>
        </p:txBody>
      </p:sp>
      <p:sp>
        <p:nvSpPr>
          <p:cNvPr id="19" name="CuadroTexto 18">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3" name="Rectángulo 2"/>
          <p:cNvSpPr/>
          <p:nvPr/>
        </p:nvSpPr>
        <p:spPr>
          <a:xfrm>
            <a:off x="5826215" y="4038120"/>
            <a:ext cx="6096000" cy="1569660"/>
          </a:xfrm>
          <a:prstGeom prst="rect">
            <a:avLst/>
          </a:prstGeom>
        </p:spPr>
        <p:txBody>
          <a:bodyPr wrap="square">
            <a:spAutoFit/>
          </a:bodyPr>
          <a:lstStyle/>
          <a:p>
            <a:r>
              <a:rPr lang="es-ES" sz="1200" dirty="0">
                <a:solidFill>
                  <a:srgbClr val="008000"/>
                </a:solidFill>
                <a:latin typeface="Consolas" panose="020B0609020204030204" pitchFamily="49" charset="0"/>
              </a:rPr>
              <a:t># Configurar </a:t>
            </a:r>
            <a:r>
              <a:rPr lang="es-ES" sz="1200" dirty="0" err="1">
                <a:solidFill>
                  <a:srgbClr val="008000"/>
                </a:solidFill>
                <a:latin typeface="Consolas" panose="020B0609020204030204" pitchFamily="49" charset="0"/>
              </a:rPr>
              <a:t>clustering</a:t>
            </a:r>
            <a:r>
              <a:rPr lang="es-ES" sz="1200" dirty="0">
                <a:solidFill>
                  <a:srgbClr val="008000"/>
                </a:solidFill>
                <a:latin typeface="Consolas" panose="020B0609020204030204" pitchFamily="49" charset="0"/>
              </a:rPr>
              <a:t> jerárquico</a:t>
            </a:r>
            <a:endParaRPr lang="es-ES" sz="1200" dirty="0">
              <a:solidFill>
                <a:srgbClr val="000000"/>
              </a:solidFill>
              <a:latin typeface="Consolas" panose="020B0609020204030204" pitchFamily="49" charset="0"/>
            </a:endParaRPr>
          </a:p>
          <a:p>
            <a:r>
              <a:rPr lang="es-ES" sz="1200" dirty="0" err="1">
                <a:solidFill>
                  <a:srgbClr val="000000"/>
                </a:solidFill>
                <a:latin typeface="Consolas" panose="020B0609020204030204" pitchFamily="49" charset="0"/>
              </a:rPr>
              <a:t>n_clusters</a:t>
            </a:r>
            <a:r>
              <a:rPr lang="es-ES" sz="1200" dirty="0">
                <a:solidFill>
                  <a:srgbClr val="000000"/>
                </a:solidFill>
                <a:latin typeface="Consolas" panose="020B0609020204030204" pitchFamily="49" charset="0"/>
              </a:rPr>
              <a:t> = </a:t>
            </a:r>
            <a:r>
              <a:rPr lang="es-ES" sz="1200" dirty="0">
                <a:solidFill>
                  <a:srgbClr val="098658"/>
                </a:solidFill>
                <a:latin typeface="Consolas" panose="020B0609020204030204" pitchFamily="49" charset="0"/>
              </a:rPr>
              <a:t>5</a:t>
            </a:r>
            <a:endParaRPr lang="es-ES" sz="1200" dirty="0">
              <a:solidFill>
                <a:srgbClr val="000000"/>
              </a:solidFill>
              <a:latin typeface="Consolas" panose="020B0609020204030204" pitchFamily="49" charset="0"/>
            </a:endParaRPr>
          </a:p>
          <a:p>
            <a:r>
              <a:rPr lang="es-ES" sz="1200" dirty="0" err="1">
                <a:solidFill>
                  <a:srgbClr val="000000"/>
                </a:solidFill>
                <a:latin typeface="Consolas" panose="020B0609020204030204" pitchFamily="49" charset="0"/>
              </a:rPr>
              <a:t>clustering</a:t>
            </a:r>
            <a:r>
              <a:rPr lang="es-ES" sz="1200" dirty="0">
                <a:solidFill>
                  <a:srgbClr val="000000"/>
                </a:solidFill>
                <a:latin typeface="Consolas" panose="020B0609020204030204" pitchFamily="49" charset="0"/>
              </a:rPr>
              <a:t> = </a:t>
            </a:r>
            <a:r>
              <a:rPr lang="es-ES" sz="1200" dirty="0" err="1">
                <a:solidFill>
                  <a:srgbClr val="000000"/>
                </a:solidFill>
                <a:latin typeface="Consolas" panose="020B0609020204030204" pitchFamily="49" charset="0"/>
              </a:rPr>
              <a:t>AgglomerativeClustering</a:t>
            </a:r>
            <a:r>
              <a:rPr lang="es-ES" sz="1200" dirty="0">
                <a:solidFill>
                  <a:srgbClr val="000000"/>
                </a:solidFill>
                <a:latin typeface="Consolas" panose="020B0609020204030204" pitchFamily="49" charset="0"/>
              </a:rPr>
              <a:t>(</a:t>
            </a:r>
          </a:p>
          <a:p>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n_clusters</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n_clusters</a:t>
            </a:r>
            <a:r>
              <a:rPr lang="es-ES" sz="1200" dirty="0">
                <a:solidFill>
                  <a:srgbClr val="000000"/>
                </a:solidFill>
                <a:latin typeface="Consolas" panose="020B0609020204030204" pitchFamily="49" charset="0"/>
              </a:rPr>
              <a:t>, </a:t>
            </a:r>
          </a:p>
          <a:p>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metric</a:t>
            </a:r>
            <a:r>
              <a:rPr lang="es-ES" sz="1200" dirty="0">
                <a:solidFill>
                  <a:srgbClr val="000000"/>
                </a:solidFill>
                <a:latin typeface="Consolas" panose="020B0609020204030204" pitchFamily="49" charset="0"/>
              </a:rPr>
              <a:t>=</a:t>
            </a:r>
            <a:r>
              <a:rPr lang="es-ES" sz="1200" dirty="0">
                <a:solidFill>
                  <a:srgbClr val="A31515"/>
                </a:solidFill>
                <a:latin typeface="Consolas" panose="020B0609020204030204" pitchFamily="49" charset="0"/>
              </a:rPr>
              <a:t>'</a:t>
            </a:r>
            <a:r>
              <a:rPr lang="es-ES" sz="1200" dirty="0" err="1">
                <a:solidFill>
                  <a:srgbClr val="A31515"/>
                </a:solidFill>
                <a:latin typeface="Consolas" panose="020B0609020204030204" pitchFamily="49" charset="0"/>
              </a:rPr>
              <a:t>euclidean</a:t>
            </a:r>
            <a:r>
              <a:rPr lang="es-ES" sz="1200" dirty="0">
                <a:solidFill>
                  <a:srgbClr val="A31515"/>
                </a:solidFill>
                <a:latin typeface="Consolas" panose="020B0609020204030204" pitchFamily="49" charset="0"/>
              </a:rPr>
              <a:t>'</a:t>
            </a:r>
            <a:r>
              <a:rPr lang="es-ES" sz="1200" dirty="0">
                <a:solidFill>
                  <a:srgbClr val="000000"/>
                </a:solidFill>
                <a:latin typeface="Consolas" panose="020B0609020204030204" pitchFamily="49" charset="0"/>
              </a:rPr>
              <a:t>, </a:t>
            </a:r>
          </a:p>
          <a:p>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linkage</a:t>
            </a:r>
            <a:r>
              <a:rPr lang="es-ES" sz="1200" dirty="0">
                <a:solidFill>
                  <a:srgbClr val="000000"/>
                </a:solidFill>
                <a:latin typeface="Consolas" panose="020B0609020204030204" pitchFamily="49" charset="0"/>
              </a:rPr>
              <a:t> =</a:t>
            </a:r>
            <a:r>
              <a:rPr lang="es-ES" sz="1200" dirty="0">
                <a:solidFill>
                  <a:srgbClr val="A31515"/>
                </a:solidFill>
                <a:latin typeface="Consolas" panose="020B0609020204030204" pitchFamily="49" charset="0"/>
              </a:rPr>
              <a:t>'</a:t>
            </a:r>
            <a:r>
              <a:rPr lang="es-ES" sz="1200" dirty="0" err="1">
                <a:solidFill>
                  <a:srgbClr val="A31515"/>
                </a:solidFill>
                <a:latin typeface="Consolas" panose="020B0609020204030204" pitchFamily="49" charset="0"/>
              </a:rPr>
              <a:t>average</a:t>
            </a:r>
            <a:r>
              <a:rPr lang="es-ES" sz="1200" dirty="0">
                <a:solidFill>
                  <a:srgbClr val="A31515"/>
                </a:solidFill>
                <a:latin typeface="Consolas" panose="020B0609020204030204" pitchFamily="49" charset="0"/>
              </a:rPr>
              <a:t>'</a:t>
            </a:r>
            <a:r>
              <a:rPr lang="es-ES" sz="1200" dirty="0">
                <a:solidFill>
                  <a:srgbClr val="000000"/>
                </a:solidFill>
                <a:latin typeface="Consolas" panose="020B0609020204030204" pitchFamily="49" charset="0"/>
              </a:rPr>
              <a:t> )</a:t>
            </a:r>
          </a:p>
          <a:p>
            <a:endParaRPr lang="es-ES" sz="1200" dirty="0">
              <a:solidFill>
                <a:srgbClr val="000000"/>
              </a:solidFill>
              <a:latin typeface="Consolas" panose="020B0609020204030204" pitchFamily="49" charset="0"/>
            </a:endParaRPr>
          </a:p>
          <a:p>
            <a:r>
              <a:rPr lang="es-ES" sz="1200" dirty="0" err="1">
                <a:solidFill>
                  <a:srgbClr val="000000"/>
                </a:solidFill>
                <a:latin typeface="Consolas" panose="020B0609020204030204" pitchFamily="49" charset="0"/>
              </a:rPr>
              <a:t>cluster_labels</a:t>
            </a:r>
            <a:r>
              <a:rPr lang="es-ES" sz="1200" dirty="0">
                <a:solidFill>
                  <a:srgbClr val="000000"/>
                </a:solidFill>
                <a:latin typeface="Consolas" panose="020B0609020204030204" pitchFamily="49" charset="0"/>
              </a:rPr>
              <a:t> = </a:t>
            </a:r>
            <a:r>
              <a:rPr lang="es-ES" sz="1200" dirty="0" err="1">
                <a:solidFill>
                  <a:srgbClr val="000000"/>
                </a:solidFill>
                <a:latin typeface="Consolas" panose="020B0609020204030204" pitchFamily="49" charset="0"/>
              </a:rPr>
              <a:t>clustering.fit_predict</a:t>
            </a:r>
            <a:r>
              <a:rPr lang="es-ES" sz="1200" dirty="0">
                <a:solidFill>
                  <a:srgbClr val="000000"/>
                </a:solidFill>
                <a:latin typeface="Consolas" panose="020B0609020204030204" pitchFamily="49" charset="0"/>
              </a:rPr>
              <a:t>(data)</a:t>
            </a:r>
            <a:endParaRPr lang="es-ES" sz="1200" dirty="0">
              <a:solidFill>
                <a:srgbClr val="008000"/>
              </a:solidFill>
              <a:latin typeface="Consolas" panose="020B0609020204030204" pitchFamily="49" charset="0"/>
            </a:endParaRPr>
          </a:p>
        </p:txBody>
      </p:sp>
    </p:spTree>
    <p:extLst>
      <p:ext uri="{BB962C8B-B14F-4D97-AF65-F5344CB8AC3E}">
        <p14:creationId xmlns:p14="http://schemas.microsoft.com/office/powerpoint/2010/main" val="373076170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7993CC0-FDBD-26F4-7B73-3131004186E5}"/>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31</a:t>
            </a:fld>
            <a:endParaRPr lang="es-ES" dirty="0">
              <a:solidFill>
                <a:prstClr val="black">
                  <a:tint val="75000"/>
                </a:prstClr>
              </a:solidFill>
            </a:endParaRPr>
          </a:p>
        </p:txBody>
      </p:sp>
      <p:sp>
        <p:nvSpPr>
          <p:cNvPr id="2" name="CuadroTexto 1">
            <a:extLst>
              <a:ext uri="{FF2B5EF4-FFF2-40B4-BE49-F238E27FC236}">
                <a16:creationId xmlns:a16="http://schemas.microsoft.com/office/drawing/2014/main" id="{174029F8-3D25-8361-F529-8B5B141325A6}"/>
              </a:ext>
            </a:extLst>
          </p:cNvPr>
          <p:cNvSpPr txBox="1"/>
          <p:nvPr/>
        </p:nvSpPr>
        <p:spPr>
          <a:xfrm>
            <a:off x="427100" y="94478"/>
            <a:ext cx="3687997" cy="506292"/>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s-ES" sz="2000" dirty="0">
                <a:solidFill>
                  <a:schemeClr val="accent1">
                    <a:lumMod val="50000"/>
                  </a:schemeClr>
                </a:solidFill>
              </a:rPr>
              <a:t>Implementación del algoritmo.</a:t>
            </a:r>
          </a:p>
        </p:txBody>
      </p:sp>
      <p:sp>
        <p:nvSpPr>
          <p:cNvPr id="7" name="Rectángulo: esquinas redondeadas 6">
            <a:extLst>
              <a:ext uri="{FF2B5EF4-FFF2-40B4-BE49-F238E27FC236}">
                <a16:creationId xmlns:a16="http://schemas.microsoft.com/office/drawing/2014/main" id="{C60EBAA1-473D-1E2C-0C8A-2FD8853A9F24}"/>
              </a:ext>
            </a:extLst>
          </p:cNvPr>
          <p:cNvSpPr/>
          <p:nvPr/>
        </p:nvSpPr>
        <p:spPr>
          <a:xfrm>
            <a:off x="599722" y="1223290"/>
            <a:ext cx="4343938" cy="1866140"/>
          </a:xfrm>
          <a:prstGeom prst="roundRect">
            <a:avLst/>
          </a:prstGeom>
          <a:solidFill>
            <a:schemeClr val="accent1">
              <a:lumMod val="20000"/>
              <a:lumOff val="80000"/>
              <a:alpha val="55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dirty="0">
                <a:solidFill>
                  <a:schemeClr val="accent1">
                    <a:lumMod val="50000"/>
                  </a:schemeClr>
                </a:solidFill>
              </a:rPr>
              <a:t>Elección variables de entrada.</a:t>
            </a:r>
          </a:p>
          <a:p>
            <a:pPr marL="342900" indent="-342900">
              <a:buFont typeface="Arial" panose="020B0604020202020204" pitchFamily="34" charset="0"/>
              <a:buChar char="•"/>
            </a:pPr>
            <a:r>
              <a:rPr lang="es-ES" dirty="0">
                <a:solidFill>
                  <a:schemeClr val="accent1">
                    <a:lumMod val="50000"/>
                  </a:schemeClr>
                </a:solidFill>
              </a:rPr>
              <a:t>Limpieza de datos.</a:t>
            </a:r>
          </a:p>
          <a:p>
            <a:pPr marL="342900" indent="-342900">
              <a:buFont typeface="Arial" panose="020B0604020202020204" pitchFamily="34" charset="0"/>
              <a:buChar char="•"/>
            </a:pPr>
            <a:r>
              <a:rPr lang="es-ES" dirty="0">
                <a:solidFill>
                  <a:schemeClr val="accent1">
                    <a:lumMod val="50000"/>
                  </a:schemeClr>
                </a:solidFill>
              </a:rPr>
              <a:t>Normalización o Estandarización de Variables Numéricas.</a:t>
            </a:r>
          </a:p>
          <a:p>
            <a:pPr marL="342900" indent="-342900">
              <a:buFont typeface="Arial" panose="020B0604020202020204" pitchFamily="34" charset="0"/>
              <a:buChar char="•"/>
            </a:pPr>
            <a:r>
              <a:rPr lang="es-ES" dirty="0">
                <a:solidFill>
                  <a:schemeClr val="accent1">
                    <a:lumMod val="50000"/>
                  </a:schemeClr>
                </a:solidFill>
              </a:rPr>
              <a:t>Conversión de Variables Categóricas a Formato Numérico.</a:t>
            </a:r>
          </a:p>
        </p:txBody>
      </p:sp>
      <p:sp>
        <p:nvSpPr>
          <p:cNvPr id="9" name="Rectángulo: esquinas redondeadas 8">
            <a:extLst>
              <a:ext uri="{FF2B5EF4-FFF2-40B4-BE49-F238E27FC236}">
                <a16:creationId xmlns:a16="http://schemas.microsoft.com/office/drawing/2014/main" id="{03C497F2-BC04-94F2-4016-595E69315D09}"/>
              </a:ext>
            </a:extLst>
          </p:cNvPr>
          <p:cNvSpPr/>
          <p:nvPr/>
        </p:nvSpPr>
        <p:spPr>
          <a:xfrm>
            <a:off x="599719" y="4144731"/>
            <a:ext cx="4343941" cy="1448201"/>
          </a:xfrm>
          <a:prstGeom prst="roundRect">
            <a:avLst/>
          </a:prstGeom>
          <a:solidFill>
            <a:schemeClr val="accent1">
              <a:lumMod val="20000"/>
              <a:lumOff val="80000"/>
              <a:alpha val="55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dirty="0">
                <a:solidFill>
                  <a:schemeClr val="accent1">
                    <a:lumMod val="50000"/>
                  </a:schemeClr>
                </a:solidFill>
              </a:rPr>
              <a:t>Elección del número de clústeres.</a:t>
            </a:r>
          </a:p>
          <a:p>
            <a:pPr marL="342900" indent="-342900">
              <a:buFont typeface="Arial" panose="020B0604020202020204" pitchFamily="34" charset="0"/>
              <a:buChar char="•"/>
            </a:pPr>
            <a:r>
              <a:rPr lang="es-ES" dirty="0">
                <a:solidFill>
                  <a:schemeClr val="accent1">
                    <a:lumMod val="50000"/>
                  </a:schemeClr>
                </a:solidFill>
              </a:rPr>
              <a:t>Agrupar según la métrica y el método.</a:t>
            </a:r>
          </a:p>
          <a:p>
            <a:pPr marL="342900" indent="-342900">
              <a:buFont typeface="Arial" panose="020B0604020202020204" pitchFamily="34" charset="0"/>
              <a:buChar char="•"/>
            </a:pPr>
            <a:r>
              <a:rPr lang="es-ES" dirty="0">
                <a:solidFill>
                  <a:schemeClr val="accent1">
                    <a:lumMod val="50000"/>
                  </a:schemeClr>
                </a:solidFill>
              </a:rPr>
              <a:t>Evaluación de la bondad del agrupamiento.</a:t>
            </a:r>
          </a:p>
        </p:txBody>
      </p:sp>
      <p:sp>
        <p:nvSpPr>
          <p:cNvPr id="12" name="Flecha: a la derecha 11">
            <a:extLst>
              <a:ext uri="{FF2B5EF4-FFF2-40B4-BE49-F238E27FC236}">
                <a16:creationId xmlns:a16="http://schemas.microsoft.com/office/drawing/2014/main" id="{8DAB3E76-2913-749F-A403-5A7E4377EB43}"/>
              </a:ext>
            </a:extLst>
          </p:cNvPr>
          <p:cNvSpPr/>
          <p:nvPr/>
        </p:nvSpPr>
        <p:spPr>
          <a:xfrm>
            <a:off x="5008904" y="4681402"/>
            <a:ext cx="436552" cy="2536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esquinas redondeadas 14">
            <a:extLst>
              <a:ext uri="{FF2B5EF4-FFF2-40B4-BE49-F238E27FC236}">
                <a16:creationId xmlns:a16="http://schemas.microsoft.com/office/drawing/2014/main" id="{8A4E2ED6-F5CD-8EFB-281E-DA1D797F1F0B}"/>
              </a:ext>
            </a:extLst>
          </p:cNvPr>
          <p:cNvSpPr/>
          <p:nvPr/>
        </p:nvSpPr>
        <p:spPr>
          <a:xfrm>
            <a:off x="5705178" y="600771"/>
            <a:ext cx="6338074" cy="6120706"/>
          </a:xfrm>
          <a:prstGeom prst="roundRect">
            <a:avLst>
              <a:gd name="adj" fmla="val 597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B6D8A1ED-4BA7-7956-4C08-7566AA34D1DA}"/>
              </a:ext>
            </a:extLst>
          </p:cNvPr>
          <p:cNvSpPr txBox="1"/>
          <p:nvPr/>
        </p:nvSpPr>
        <p:spPr>
          <a:xfrm>
            <a:off x="1498436" y="909615"/>
            <a:ext cx="2707857" cy="369332"/>
          </a:xfrm>
          <a:prstGeom prst="rect">
            <a:avLst/>
          </a:prstGeom>
          <a:noFill/>
        </p:spPr>
        <p:txBody>
          <a:bodyPr wrap="none" rtlCol="0">
            <a:spAutoFit/>
          </a:bodyPr>
          <a:lstStyle/>
          <a:p>
            <a:r>
              <a:rPr lang="es-ES" b="1" dirty="0">
                <a:solidFill>
                  <a:schemeClr val="accent1">
                    <a:lumMod val="50000"/>
                  </a:schemeClr>
                </a:solidFill>
              </a:rPr>
              <a:t>Preparación datos entrada</a:t>
            </a:r>
          </a:p>
        </p:txBody>
      </p:sp>
      <p:sp>
        <p:nvSpPr>
          <p:cNvPr id="17" name="CuadroTexto 16">
            <a:extLst>
              <a:ext uri="{FF2B5EF4-FFF2-40B4-BE49-F238E27FC236}">
                <a16:creationId xmlns:a16="http://schemas.microsoft.com/office/drawing/2014/main" id="{992131C0-B0E9-1EC2-9A54-9645B71419AD}"/>
              </a:ext>
            </a:extLst>
          </p:cNvPr>
          <p:cNvSpPr txBox="1"/>
          <p:nvPr/>
        </p:nvSpPr>
        <p:spPr>
          <a:xfrm>
            <a:off x="1089978" y="3775399"/>
            <a:ext cx="3363421" cy="369332"/>
          </a:xfrm>
          <a:prstGeom prst="rect">
            <a:avLst/>
          </a:prstGeom>
          <a:noFill/>
        </p:spPr>
        <p:txBody>
          <a:bodyPr wrap="none" rtlCol="0">
            <a:spAutoFit/>
          </a:bodyPr>
          <a:lstStyle/>
          <a:p>
            <a:r>
              <a:rPr lang="es-ES" b="1" dirty="0">
                <a:solidFill>
                  <a:schemeClr val="accent1">
                    <a:lumMod val="50000"/>
                  </a:schemeClr>
                </a:solidFill>
              </a:rPr>
              <a:t>Predicción </a:t>
            </a:r>
            <a:r>
              <a:rPr lang="es-ES" b="1" dirty="0" err="1">
                <a:solidFill>
                  <a:schemeClr val="accent1">
                    <a:lumMod val="50000"/>
                  </a:schemeClr>
                </a:solidFill>
              </a:rPr>
              <a:t>Hierarchical</a:t>
            </a:r>
            <a:r>
              <a:rPr lang="es-ES" b="1" dirty="0">
                <a:solidFill>
                  <a:schemeClr val="accent1">
                    <a:lumMod val="50000"/>
                  </a:schemeClr>
                </a:solidFill>
              </a:rPr>
              <a:t> </a:t>
            </a:r>
            <a:r>
              <a:rPr lang="es-ES" b="1" dirty="0" err="1">
                <a:solidFill>
                  <a:schemeClr val="accent1">
                    <a:lumMod val="50000"/>
                  </a:schemeClr>
                </a:solidFill>
              </a:rPr>
              <a:t>Clustering</a:t>
            </a:r>
            <a:endParaRPr lang="es-ES" b="1" dirty="0">
              <a:solidFill>
                <a:schemeClr val="accent1">
                  <a:lumMod val="50000"/>
                </a:schemeClr>
              </a:solidFill>
            </a:endParaRPr>
          </a:p>
        </p:txBody>
      </p:sp>
      <p:sp>
        <p:nvSpPr>
          <p:cNvPr id="19" name="CuadroTexto 18">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3" name="Rectángulo 2"/>
          <p:cNvSpPr/>
          <p:nvPr/>
        </p:nvSpPr>
        <p:spPr>
          <a:xfrm>
            <a:off x="5826215" y="725199"/>
            <a:ext cx="6096000" cy="2862322"/>
          </a:xfrm>
          <a:prstGeom prst="rect">
            <a:avLst/>
          </a:prstGeom>
        </p:spPr>
        <p:txBody>
          <a:bodyPr wrap="square">
            <a:spAutoFit/>
          </a:bodyPr>
          <a:lstStyle/>
          <a:p>
            <a:r>
              <a:rPr lang="es-ES" sz="1200" dirty="0">
                <a:solidFill>
                  <a:srgbClr val="008000"/>
                </a:solidFill>
                <a:latin typeface="Consolas" panose="020B0609020204030204" pitchFamily="49" charset="0"/>
              </a:rPr>
              <a:t># Agregar etiquetas de clúster a los datos</a:t>
            </a:r>
            <a:endParaRPr lang="es-ES" sz="1200" dirty="0">
              <a:solidFill>
                <a:srgbClr val="000000"/>
              </a:solidFill>
              <a:latin typeface="Consolas" panose="020B0609020204030204" pitchFamily="49" charset="0"/>
            </a:endParaRPr>
          </a:p>
          <a:p>
            <a:r>
              <a:rPr lang="es-ES" sz="1200" dirty="0">
                <a:solidFill>
                  <a:srgbClr val="000000"/>
                </a:solidFill>
                <a:latin typeface="Consolas" panose="020B0609020204030204" pitchFamily="49" charset="0"/>
              </a:rPr>
              <a:t>data[</a:t>
            </a:r>
            <a:r>
              <a:rPr lang="es-ES" sz="1200" dirty="0">
                <a:solidFill>
                  <a:srgbClr val="A31515"/>
                </a:solidFill>
                <a:latin typeface="Consolas" panose="020B0609020204030204" pitchFamily="49" charset="0"/>
              </a:rPr>
              <a:t>'</a:t>
            </a:r>
            <a:r>
              <a:rPr lang="es-ES" sz="1200" dirty="0" err="1">
                <a:solidFill>
                  <a:srgbClr val="A31515"/>
                </a:solidFill>
                <a:latin typeface="Consolas" panose="020B0609020204030204" pitchFamily="49" charset="0"/>
              </a:rPr>
              <a:t>cluster</a:t>
            </a:r>
            <a:r>
              <a:rPr lang="es-ES" sz="1200" dirty="0">
                <a:solidFill>
                  <a:srgbClr val="A31515"/>
                </a:solidFill>
                <a:latin typeface="Consolas" panose="020B0609020204030204" pitchFamily="49" charset="0"/>
              </a:rPr>
              <a:t>'</a:t>
            </a:r>
            <a:r>
              <a:rPr lang="es-ES" sz="1200" dirty="0">
                <a:solidFill>
                  <a:srgbClr val="000000"/>
                </a:solidFill>
                <a:latin typeface="Consolas" panose="020B0609020204030204" pitchFamily="49" charset="0"/>
              </a:rPr>
              <a:t>] = </a:t>
            </a:r>
            <a:r>
              <a:rPr lang="es-ES" sz="1200" dirty="0" err="1">
                <a:solidFill>
                  <a:srgbClr val="000000"/>
                </a:solidFill>
                <a:latin typeface="Consolas" panose="020B0609020204030204" pitchFamily="49" charset="0"/>
              </a:rPr>
              <a:t>cluster_labels</a:t>
            </a:r>
            <a:endParaRPr lang="es-ES" sz="1200" dirty="0">
              <a:solidFill>
                <a:srgbClr val="000000"/>
              </a:solidFill>
              <a:latin typeface="Consolas" panose="020B0609020204030204" pitchFamily="49" charset="0"/>
            </a:endParaRPr>
          </a:p>
          <a:p>
            <a:r>
              <a:rPr lang="es-ES" sz="1200" dirty="0">
                <a:solidFill>
                  <a:srgbClr val="000000"/>
                </a:solidFill>
                <a:latin typeface="Consolas" panose="020B0609020204030204" pitchFamily="49" charset="0"/>
              </a:rPr>
              <a:t/>
            </a:r>
            <a:br>
              <a:rPr lang="es-ES" sz="1200" dirty="0">
                <a:solidFill>
                  <a:srgbClr val="000000"/>
                </a:solidFill>
                <a:latin typeface="Consolas" panose="020B0609020204030204" pitchFamily="49" charset="0"/>
              </a:rPr>
            </a:br>
            <a:r>
              <a:rPr lang="es-ES" sz="1200" dirty="0">
                <a:solidFill>
                  <a:srgbClr val="008000"/>
                </a:solidFill>
                <a:latin typeface="Consolas" panose="020B0609020204030204" pitchFamily="49" charset="0"/>
              </a:rPr>
              <a:t># Visualización de los clústeres</a:t>
            </a:r>
            <a:endParaRPr lang="es-ES" sz="1200" dirty="0">
              <a:solidFill>
                <a:srgbClr val="000000"/>
              </a:solidFill>
              <a:latin typeface="Consolas" panose="020B0609020204030204" pitchFamily="49" charset="0"/>
            </a:endParaRPr>
          </a:p>
          <a:p>
            <a:r>
              <a:rPr lang="es-ES" sz="1200" dirty="0" err="1">
                <a:solidFill>
                  <a:srgbClr val="000000"/>
                </a:solidFill>
                <a:latin typeface="Consolas" panose="020B0609020204030204" pitchFamily="49" charset="0"/>
              </a:rPr>
              <a:t>plt.figure</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figsize</a:t>
            </a:r>
            <a:r>
              <a:rPr lang="es-ES" sz="1200" dirty="0">
                <a:solidFill>
                  <a:srgbClr val="000000"/>
                </a:solidFill>
                <a:latin typeface="Consolas" panose="020B0609020204030204" pitchFamily="49" charset="0"/>
              </a:rPr>
              <a:t>=(</a:t>
            </a:r>
            <a:r>
              <a:rPr lang="es-ES" sz="1200" dirty="0">
                <a:solidFill>
                  <a:srgbClr val="098658"/>
                </a:solidFill>
                <a:latin typeface="Consolas" panose="020B0609020204030204" pitchFamily="49" charset="0"/>
              </a:rPr>
              <a:t>8</a:t>
            </a:r>
            <a:r>
              <a:rPr lang="es-ES" sz="1200" dirty="0">
                <a:solidFill>
                  <a:srgbClr val="000000"/>
                </a:solidFill>
                <a:latin typeface="Consolas" panose="020B0609020204030204" pitchFamily="49" charset="0"/>
              </a:rPr>
              <a:t>, </a:t>
            </a:r>
            <a:r>
              <a:rPr lang="es-ES" sz="1200" dirty="0">
                <a:solidFill>
                  <a:srgbClr val="098658"/>
                </a:solidFill>
                <a:latin typeface="Consolas" panose="020B0609020204030204" pitchFamily="49" charset="0"/>
              </a:rPr>
              <a:t>6</a:t>
            </a:r>
            <a:r>
              <a:rPr lang="es-ES" sz="1200" dirty="0">
                <a:solidFill>
                  <a:srgbClr val="000000"/>
                </a:solidFill>
                <a:latin typeface="Consolas" panose="020B0609020204030204" pitchFamily="49" charset="0"/>
              </a:rPr>
              <a:t>))</a:t>
            </a:r>
          </a:p>
          <a:p>
            <a:r>
              <a:rPr lang="es-ES" sz="1200" dirty="0" err="1">
                <a:solidFill>
                  <a:srgbClr val="0000FF"/>
                </a:solidFill>
                <a:latin typeface="Consolas" panose="020B0609020204030204" pitchFamily="49" charset="0"/>
              </a:rPr>
              <a:t>for</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cluster</a:t>
            </a:r>
            <a:r>
              <a:rPr lang="es-ES" sz="1200" dirty="0">
                <a:solidFill>
                  <a:srgbClr val="000000"/>
                </a:solidFill>
                <a:latin typeface="Consolas" panose="020B0609020204030204" pitchFamily="49" charset="0"/>
              </a:rPr>
              <a:t> </a:t>
            </a:r>
            <a:r>
              <a:rPr lang="es-ES" sz="1200" dirty="0">
                <a:solidFill>
                  <a:srgbClr val="0000FF"/>
                </a:solidFill>
                <a:latin typeface="Consolas" panose="020B0609020204030204" pitchFamily="49" charset="0"/>
              </a:rPr>
              <a:t>in</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range</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n_clusters</a:t>
            </a:r>
            <a:r>
              <a:rPr lang="es-ES" sz="1200" dirty="0">
                <a:solidFill>
                  <a:srgbClr val="000000"/>
                </a:solidFill>
                <a:latin typeface="Consolas" panose="020B0609020204030204" pitchFamily="49" charset="0"/>
              </a:rPr>
              <a:t>):</a:t>
            </a:r>
          </a:p>
          <a:p>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cluster_data</a:t>
            </a:r>
            <a:r>
              <a:rPr lang="es-ES" sz="1200" dirty="0">
                <a:solidFill>
                  <a:srgbClr val="000000"/>
                </a:solidFill>
                <a:latin typeface="Consolas" panose="020B0609020204030204" pitchFamily="49" charset="0"/>
              </a:rPr>
              <a:t> = data[data[</a:t>
            </a:r>
            <a:r>
              <a:rPr lang="es-ES" sz="1200" dirty="0">
                <a:solidFill>
                  <a:srgbClr val="A31515"/>
                </a:solidFill>
                <a:latin typeface="Consolas" panose="020B0609020204030204" pitchFamily="49" charset="0"/>
              </a:rPr>
              <a:t>'</a:t>
            </a:r>
            <a:r>
              <a:rPr lang="es-ES" sz="1200" dirty="0" err="1">
                <a:solidFill>
                  <a:srgbClr val="A31515"/>
                </a:solidFill>
                <a:latin typeface="Consolas" panose="020B0609020204030204" pitchFamily="49" charset="0"/>
              </a:rPr>
              <a:t>cluster</a:t>
            </a:r>
            <a:r>
              <a:rPr lang="es-ES" sz="1200" dirty="0">
                <a:solidFill>
                  <a:srgbClr val="A31515"/>
                </a:solidFill>
                <a:latin typeface="Consolas" panose="020B0609020204030204" pitchFamily="49" charset="0"/>
              </a:rPr>
              <a:t>'</a:t>
            </a:r>
            <a:r>
              <a:rPr lang="es-ES" sz="1200" dirty="0">
                <a:solidFill>
                  <a:srgbClr val="000000"/>
                </a:solidFill>
                <a:latin typeface="Consolas" panose="020B0609020204030204" pitchFamily="49" charset="0"/>
              </a:rPr>
              <a:t>] == </a:t>
            </a:r>
            <a:r>
              <a:rPr lang="es-ES" sz="1200" dirty="0" err="1">
                <a:solidFill>
                  <a:srgbClr val="000000"/>
                </a:solidFill>
                <a:latin typeface="Consolas" panose="020B0609020204030204" pitchFamily="49" charset="0"/>
              </a:rPr>
              <a:t>cluster</a:t>
            </a:r>
            <a:r>
              <a:rPr lang="es-ES" sz="1200" dirty="0">
                <a:solidFill>
                  <a:srgbClr val="000000"/>
                </a:solidFill>
                <a:latin typeface="Consolas" panose="020B0609020204030204" pitchFamily="49" charset="0"/>
              </a:rPr>
              <a:t>]</a:t>
            </a:r>
          </a:p>
          <a:p>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plt.scatter</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cluster_data</a:t>
            </a:r>
            <a:r>
              <a:rPr lang="es-ES" sz="1200" dirty="0">
                <a:solidFill>
                  <a:srgbClr val="000000"/>
                </a:solidFill>
                <a:latin typeface="Consolas" panose="020B0609020204030204" pitchFamily="49" charset="0"/>
              </a:rPr>
              <a:t>[</a:t>
            </a:r>
            <a:r>
              <a:rPr lang="es-ES" sz="1200" dirty="0">
                <a:solidFill>
                  <a:srgbClr val="A31515"/>
                </a:solidFill>
                <a:latin typeface="Consolas" panose="020B0609020204030204" pitchFamily="49" charset="0"/>
              </a:rPr>
              <a:t>'x'</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cluster_data</a:t>
            </a:r>
            <a:r>
              <a:rPr lang="es-ES" sz="1200" dirty="0">
                <a:solidFill>
                  <a:srgbClr val="000000"/>
                </a:solidFill>
                <a:latin typeface="Consolas" panose="020B0609020204030204" pitchFamily="49" charset="0"/>
              </a:rPr>
              <a:t>[</a:t>
            </a:r>
            <a:r>
              <a:rPr lang="es-ES" sz="1200" dirty="0">
                <a:solidFill>
                  <a:srgbClr val="A31515"/>
                </a:solidFill>
                <a:latin typeface="Consolas" panose="020B0609020204030204" pitchFamily="49" charset="0"/>
              </a:rPr>
              <a:t>'y'</a:t>
            </a:r>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label</a:t>
            </a:r>
            <a:r>
              <a:rPr lang="es-ES" sz="1200" dirty="0">
                <a:solidFill>
                  <a:srgbClr val="000000"/>
                </a:solidFill>
                <a:latin typeface="Consolas" panose="020B0609020204030204" pitchFamily="49" charset="0"/>
              </a:rPr>
              <a:t>=</a:t>
            </a:r>
            <a:r>
              <a:rPr lang="es-ES" sz="1200" dirty="0" err="1">
                <a:solidFill>
                  <a:srgbClr val="0000FF"/>
                </a:solidFill>
                <a:latin typeface="Consolas" panose="020B0609020204030204" pitchFamily="49" charset="0"/>
              </a:rPr>
              <a:t>f</a:t>
            </a:r>
            <a:r>
              <a:rPr lang="es-ES" sz="1200" dirty="0" err="1">
                <a:solidFill>
                  <a:srgbClr val="A31515"/>
                </a:solidFill>
                <a:latin typeface="Consolas" panose="020B0609020204030204" pitchFamily="49" charset="0"/>
              </a:rPr>
              <a:t>'Cluster</a:t>
            </a:r>
            <a:r>
              <a:rPr lang="es-ES" sz="1200" dirty="0">
                <a:solidFill>
                  <a:srgbClr val="A31515"/>
                </a:solidFill>
                <a:latin typeface="Consolas" panose="020B0609020204030204" pitchFamily="49" charset="0"/>
              </a:rPr>
              <a:t> </a:t>
            </a:r>
            <a:r>
              <a:rPr lang="es-ES" sz="1200" dirty="0">
                <a:solidFill>
                  <a:srgbClr val="000000"/>
                </a:solidFill>
                <a:latin typeface="Consolas" panose="020B0609020204030204" pitchFamily="49" charset="0"/>
              </a:rPr>
              <a:t>{</a:t>
            </a:r>
            <a:r>
              <a:rPr lang="es-ES" sz="1200" dirty="0" err="1">
                <a:solidFill>
                  <a:srgbClr val="000000"/>
                </a:solidFill>
                <a:latin typeface="Consolas" panose="020B0609020204030204" pitchFamily="49" charset="0"/>
              </a:rPr>
              <a:t>cluster</a:t>
            </a:r>
            <a:r>
              <a:rPr lang="es-ES" sz="1200" dirty="0">
                <a:solidFill>
                  <a:srgbClr val="000000"/>
                </a:solidFill>
                <a:latin typeface="Consolas" panose="020B0609020204030204" pitchFamily="49" charset="0"/>
              </a:rPr>
              <a:t>}</a:t>
            </a:r>
            <a:r>
              <a:rPr lang="es-ES" sz="1200" dirty="0">
                <a:solidFill>
                  <a:srgbClr val="A31515"/>
                </a:solidFill>
                <a:latin typeface="Consolas" panose="020B0609020204030204" pitchFamily="49" charset="0"/>
              </a:rPr>
              <a:t>'</a:t>
            </a:r>
            <a:r>
              <a:rPr lang="es-ES" sz="1200" dirty="0">
                <a:solidFill>
                  <a:srgbClr val="000000"/>
                </a:solidFill>
                <a:latin typeface="Consolas" panose="020B0609020204030204" pitchFamily="49" charset="0"/>
              </a:rPr>
              <a:t>)</a:t>
            </a:r>
          </a:p>
          <a:p>
            <a:r>
              <a:rPr lang="es-ES" sz="1200" dirty="0">
                <a:solidFill>
                  <a:srgbClr val="000000"/>
                </a:solidFill>
                <a:latin typeface="Consolas" panose="020B0609020204030204" pitchFamily="49" charset="0"/>
              </a:rPr>
              <a:t>    </a:t>
            </a:r>
          </a:p>
          <a:p>
            <a:r>
              <a:rPr lang="es-ES" sz="1200" dirty="0" err="1">
                <a:solidFill>
                  <a:srgbClr val="000000"/>
                </a:solidFill>
                <a:latin typeface="Consolas" panose="020B0609020204030204" pitchFamily="49" charset="0"/>
              </a:rPr>
              <a:t>plt.xlabel</a:t>
            </a:r>
            <a:r>
              <a:rPr lang="es-ES" sz="1200" dirty="0">
                <a:solidFill>
                  <a:srgbClr val="000000"/>
                </a:solidFill>
                <a:latin typeface="Consolas" panose="020B0609020204030204" pitchFamily="49" charset="0"/>
              </a:rPr>
              <a:t>(</a:t>
            </a:r>
            <a:r>
              <a:rPr lang="es-ES" sz="1200" dirty="0">
                <a:solidFill>
                  <a:srgbClr val="A31515"/>
                </a:solidFill>
                <a:latin typeface="Consolas" panose="020B0609020204030204" pitchFamily="49" charset="0"/>
              </a:rPr>
              <a:t>"X"</a:t>
            </a:r>
            <a:r>
              <a:rPr lang="es-ES" sz="1200" dirty="0">
                <a:solidFill>
                  <a:srgbClr val="000000"/>
                </a:solidFill>
                <a:latin typeface="Consolas" panose="020B0609020204030204" pitchFamily="49" charset="0"/>
              </a:rPr>
              <a:t>)</a:t>
            </a:r>
          </a:p>
          <a:p>
            <a:r>
              <a:rPr lang="es-ES" sz="1200" dirty="0" err="1">
                <a:solidFill>
                  <a:srgbClr val="000000"/>
                </a:solidFill>
                <a:latin typeface="Consolas" panose="020B0609020204030204" pitchFamily="49" charset="0"/>
              </a:rPr>
              <a:t>plt.ylabel</a:t>
            </a:r>
            <a:r>
              <a:rPr lang="es-ES" sz="1200" dirty="0">
                <a:solidFill>
                  <a:srgbClr val="000000"/>
                </a:solidFill>
                <a:latin typeface="Consolas" panose="020B0609020204030204" pitchFamily="49" charset="0"/>
              </a:rPr>
              <a:t>(</a:t>
            </a:r>
            <a:r>
              <a:rPr lang="es-ES" sz="1200" dirty="0">
                <a:solidFill>
                  <a:srgbClr val="A31515"/>
                </a:solidFill>
                <a:latin typeface="Consolas" panose="020B0609020204030204" pitchFamily="49" charset="0"/>
              </a:rPr>
              <a:t>"Y"</a:t>
            </a:r>
            <a:r>
              <a:rPr lang="es-ES" sz="1200" dirty="0">
                <a:solidFill>
                  <a:srgbClr val="000000"/>
                </a:solidFill>
                <a:latin typeface="Consolas" panose="020B0609020204030204" pitchFamily="49" charset="0"/>
              </a:rPr>
              <a:t>)</a:t>
            </a:r>
          </a:p>
          <a:p>
            <a:r>
              <a:rPr lang="es-ES" sz="1200" dirty="0" err="1">
                <a:solidFill>
                  <a:srgbClr val="000000"/>
                </a:solidFill>
                <a:latin typeface="Consolas" panose="020B0609020204030204" pitchFamily="49" charset="0"/>
              </a:rPr>
              <a:t>plt.title</a:t>
            </a:r>
            <a:r>
              <a:rPr lang="es-ES" sz="1200" dirty="0">
                <a:solidFill>
                  <a:srgbClr val="000000"/>
                </a:solidFill>
                <a:latin typeface="Consolas" panose="020B0609020204030204" pitchFamily="49" charset="0"/>
              </a:rPr>
              <a:t>(</a:t>
            </a:r>
            <a:r>
              <a:rPr lang="es-ES" sz="1200" dirty="0">
                <a:solidFill>
                  <a:srgbClr val="A31515"/>
                </a:solidFill>
                <a:latin typeface="Consolas" panose="020B0609020204030204" pitchFamily="49" charset="0"/>
              </a:rPr>
              <a:t>"Visualización de Clústeres (</a:t>
            </a:r>
            <a:r>
              <a:rPr lang="es-ES" sz="1200" dirty="0" err="1">
                <a:solidFill>
                  <a:srgbClr val="A31515"/>
                </a:solidFill>
                <a:latin typeface="Consolas" panose="020B0609020204030204" pitchFamily="49" charset="0"/>
              </a:rPr>
              <a:t>Hierarchical</a:t>
            </a:r>
            <a:r>
              <a:rPr lang="es-ES" sz="1200" dirty="0">
                <a:solidFill>
                  <a:srgbClr val="A31515"/>
                </a:solidFill>
                <a:latin typeface="Consolas" panose="020B0609020204030204" pitchFamily="49" charset="0"/>
              </a:rPr>
              <a:t> </a:t>
            </a:r>
            <a:r>
              <a:rPr lang="es-ES" sz="1200" dirty="0" err="1">
                <a:solidFill>
                  <a:srgbClr val="A31515"/>
                </a:solidFill>
                <a:latin typeface="Consolas" panose="020B0609020204030204" pitchFamily="49" charset="0"/>
              </a:rPr>
              <a:t>Clustering</a:t>
            </a:r>
            <a:r>
              <a:rPr lang="es-ES" sz="1200" dirty="0">
                <a:solidFill>
                  <a:srgbClr val="A31515"/>
                </a:solidFill>
                <a:latin typeface="Consolas" panose="020B0609020204030204" pitchFamily="49" charset="0"/>
              </a:rPr>
              <a:t>)"</a:t>
            </a:r>
            <a:r>
              <a:rPr lang="es-ES" sz="1200" dirty="0">
                <a:solidFill>
                  <a:srgbClr val="000000"/>
                </a:solidFill>
                <a:latin typeface="Consolas" panose="020B0609020204030204" pitchFamily="49" charset="0"/>
              </a:rPr>
              <a:t>)</a:t>
            </a:r>
          </a:p>
          <a:p>
            <a:r>
              <a:rPr lang="es-ES" sz="1200" dirty="0" err="1">
                <a:solidFill>
                  <a:srgbClr val="000000"/>
                </a:solidFill>
                <a:latin typeface="Consolas" panose="020B0609020204030204" pitchFamily="49" charset="0"/>
              </a:rPr>
              <a:t>plt.legend</a:t>
            </a:r>
            <a:r>
              <a:rPr lang="es-ES" sz="1200" dirty="0">
                <a:solidFill>
                  <a:srgbClr val="000000"/>
                </a:solidFill>
                <a:latin typeface="Consolas" panose="020B0609020204030204" pitchFamily="49" charset="0"/>
              </a:rPr>
              <a:t>()</a:t>
            </a:r>
          </a:p>
          <a:p>
            <a:r>
              <a:rPr lang="es-ES" sz="1200" dirty="0" err="1">
                <a:solidFill>
                  <a:srgbClr val="000000"/>
                </a:solidFill>
                <a:latin typeface="Consolas" panose="020B0609020204030204" pitchFamily="49" charset="0"/>
              </a:rPr>
              <a:t>plt.show</a:t>
            </a:r>
            <a:r>
              <a:rPr lang="es-ES" sz="1200" dirty="0">
                <a:solidFill>
                  <a:srgbClr val="000000"/>
                </a:solidFill>
                <a:latin typeface="Consolas" panose="020B0609020204030204" pitchFamily="49" charset="0"/>
              </a:rPr>
              <a:t>()</a:t>
            </a:r>
          </a:p>
        </p:txBody>
      </p:sp>
      <p:pic>
        <p:nvPicPr>
          <p:cNvPr id="6" name="Imagen 5"/>
          <p:cNvPicPr>
            <a:picLocks noChangeAspect="1"/>
          </p:cNvPicPr>
          <p:nvPr/>
        </p:nvPicPr>
        <p:blipFill>
          <a:blip r:embed="rId2"/>
          <a:stretch>
            <a:fillRect/>
          </a:stretch>
        </p:blipFill>
        <p:spPr>
          <a:xfrm>
            <a:off x="6944341" y="3390761"/>
            <a:ext cx="4007176" cy="3088625"/>
          </a:xfrm>
          <a:prstGeom prst="rect">
            <a:avLst/>
          </a:prstGeom>
        </p:spPr>
      </p:pic>
    </p:spTree>
    <p:extLst>
      <p:ext uri="{BB962C8B-B14F-4D97-AF65-F5344CB8AC3E}">
        <p14:creationId xmlns:p14="http://schemas.microsoft.com/office/powerpoint/2010/main" val="30527801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n 34">
            <a:extLst>
              <a:ext uri="{FF2B5EF4-FFF2-40B4-BE49-F238E27FC236}">
                <a16:creationId xmlns:a16="http://schemas.microsoft.com/office/drawing/2014/main" id="{A917AB97-8654-5D60-C073-D049F178DDE5}"/>
              </a:ext>
            </a:extLst>
          </p:cNvPr>
          <p:cNvPicPr>
            <a:picLocks noChangeAspect="1"/>
          </p:cNvPicPr>
          <p:nvPr/>
        </p:nvPicPr>
        <p:blipFill>
          <a:blip r:embed="rId2"/>
          <a:stretch>
            <a:fillRect/>
          </a:stretch>
        </p:blipFill>
        <p:spPr>
          <a:xfrm>
            <a:off x="45584" y="1014367"/>
            <a:ext cx="7048820" cy="4829265"/>
          </a:xfrm>
          <a:prstGeom prst="rect">
            <a:avLst/>
          </a:prstGeom>
        </p:spPr>
      </p:pic>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32</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5" name="CuadroTexto 4">
            <a:extLst>
              <a:ext uri="{FF2B5EF4-FFF2-40B4-BE49-F238E27FC236}">
                <a16:creationId xmlns:a16="http://schemas.microsoft.com/office/drawing/2014/main" id="{D4286E82-FF38-1057-622F-02244AD16F2B}"/>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Estructura de árbol:</a:t>
            </a:r>
          </a:p>
        </p:txBody>
      </p:sp>
      <p:cxnSp>
        <p:nvCxnSpPr>
          <p:cNvPr id="25" name="Conector recto 24"/>
          <p:cNvCxnSpPr>
            <a:cxnSpLocks/>
          </p:cNvCxnSpPr>
          <p:nvPr/>
        </p:nvCxnSpPr>
        <p:spPr>
          <a:xfrm>
            <a:off x="634867" y="2265294"/>
            <a:ext cx="6459537" cy="0"/>
          </a:xfrm>
          <a:prstGeom prst="line">
            <a:avLst/>
          </a:prstGeom>
          <a:ln w="31750">
            <a:solidFill>
              <a:srgbClr val="00B050"/>
            </a:solidFill>
            <a:prstDash val="dash"/>
          </a:ln>
        </p:spPr>
        <p:style>
          <a:lnRef idx="1">
            <a:schemeClr val="accent1"/>
          </a:lnRef>
          <a:fillRef idx="0">
            <a:schemeClr val="accent1"/>
          </a:fillRef>
          <a:effectRef idx="0">
            <a:schemeClr val="accent1"/>
          </a:effectRef>
          <a:fontRef idx="minor">
            <a:schemeClr val="tx1"/>
          </a:fontRef>
        </p:style>
      </p:cxnSp>
      <p:pic>
        <p:nvPicPr>
          <p:cNvPr id="26" name="Imagen 25">
            <a:extLst>
              <a:ext uri="{FF2B5EF4-FFF2-40B4-BE49-F238E27FC236}">
                <a16:creationId xmlns:a16="http://schemas.microsoft.com/office/drawing/2014/main" id="{0CEAAC73-8178-B859-73B6-D0550178C760}"/>
              </a:ext>
            </a:extLst>
          </p:cNvPr>
          <p:cNvPicPr>
            <a:picLocks/>
          </p:cNvPicPr>
          <p:nvPr/>
        </p:nvPicPr>
        <p:blipFill>
          <a:blip r:embed="rId3"/>
          <a:stretch>
            <a:fillRect/>
          </a:stretch>
        </p:blipFill>
        <p:spPr>
          <a:xfrm>
            <a:off x="7740000" y="1332000"/>
            <a:ext cx="4248000" cy="4248000"/>
          </a:xfrm>
          <a:prstGeom prst="rect">
            <a:avLst/>
          </a:prstGeom>
          <a:ln w="57150">
            <a:solidFill>
              <a:srgbClr val="92D050"/>
            </a:solidFill>
            <a:prstDash val="dash"/>
          </a:ln>
        </p:spPr>
      </p:pic>
      <p:sp>
        <p:nvSpPr>
          <p:cNvPr id="30" name="Rectángulo: esquinas redondeadas 29">
            <a:extLst>
              <a:ext uri="{FF2B5EF4-FFF2-40B4-BE49-F238E27FC236}">
                <a16:creationId xmlns:a16="http://schemas.microsoft.com/office/drawing/2014/main" id="{8E5E216C-C6F5-19B5-F43F-A5F3E7BD7207}"/>
              </a:ext>
            </a:extLst>
          </p:cNvPr>
          <p:cNvSpPr/>
          <p:nvPr/>
        </p:nvSpPr>
        <p:spPr>
          <a:xfrm>
            <a:off x="2605635" y="5186995"/>
            <a:ext cx="4288779" cy="469333"/>
          </a:xfrm>
          <a:prstGeom prst="roundRect">
            <a:avLst/>
          </a:prstGeom>
          <a:solidFill>
            <a:schemeClr val="accent1">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esquinas redondeadas 30">
            <a:extLst>
              <a:ext uri="{FF2B5EF4-FFF2-40B4-BE49-F238E27FC236}">
                <a16:creationId xmlns:a16="http://schemas.microsoft.com/office/drawing/2014/main" id="{00161A23-FB8F-64A5-19E3-643D93EC4F23}"/>
              </a:ext>
            </a:extLst>
          </p:cNvPr>
          <p:cNvSpPr/>
          <p:nvPr/>
        </p:nvSpPr>
        <p:spPr>
          <a:xfrm>
            <a:off x="709386" y="5195763"/>
            <a:ext cx="1730824" cy="469333"/>
          </a:xfrm>
          <a:prstGeom prst="roundRect">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38447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141E8-C1A5-FA31-F285-F34A1102FDDC}"/>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09F746D-7867-FA7C-CE07-8A6B5E0E682B}"/>
              </a:ext>
            </a:extLst>
          </p:cNvPr>
          <p:cNvPicPr>
            <a:picLocks noChangeAspect="1"/>
          </p:cNvPicPr>
          <p:nvPr/>
        </p:nvPicPr>
        <p:blipFill>
          <a:blip r:embed="rId2"/>
          <a:stretch>
            <a:fillRect/>
          </a:stretch>
        </p:blipFill>
        <p:spPr>
          <a:xfrm>
            <a:off x="45584" y="1014367"/>
            <a:ext cx="7048820" cy="4829265"/>
          </a:xfrm>
          <a:prstGeom prst="rect">
            <a:avLst/>
          </a:prstGeom>
        </p:spPr>
      </p:pic>
      <p:sp>
        <p:nvSpPr>
          <p:cNvPr id="2" name="Marcador de número de diapositiva 1">
            <a:extLst>
              <a:ext uri="{FF2B5EF4-FFF2-40B4-BE49-F238E27FC236}">
                <a16:creationId xmlns:a16="http://schemas.microsoft.com/office/drawing/2014/main" id="{38C6F561-8F28-E361-5A6D-13084EFAFB9A}"/>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33</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062E343-49C9-6985-53FA-D552B30D37E3}"/>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5" name="CuadroTexto 4">
            <a:extLst>
              <a:ext uri="{FF2B5EF4-FFF2-40B4-BE49-F238E27FC236}">
                <a16:creationId xmlns:a16="http://schemas.microsoft.com/office/drawing/2014/main" id="{05801546-513A-E8E3-5E30-8E641BEC8827}"/>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Estructura de árbol:</a:t>
            </a:r>
          </a:p>
        </p:txBody>
      </p:sp>
      <p:cxnSp>
        <p:nvCxnSpPr>
          <p:cNvPr id="21" name="Conector recto 20">
            <a:extLst>
              <a:ext uri="{FF2B5EF4-FFF2-40B4-BE49-F238E27FC236}">
                <a16:creationId xmlns:a16="http://schemas.microsoft.com/office/drawing/2014/main" id="{BBB152FE-0F8F-CCB1-C2A3-F587524F5131}"/>
              </a:ext>
            </a:extLst>
          </p:cNvPr>
          <p:cNvCxnSpPr>
            <a:cxnSpLocks/>
          </p:cNvCxnSpPr>
          <p:nvPr/>
        </p:nvCxnSpPr>
        <p:spPr>
          <a:xfrm>
            <a:off x="634867" y="3804129"/>
            <a:ext cx="6364744" cy="0"/>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C42DB63C-E38F-5553-8E37-6608D51FAA61}"/>
              </a:ext>
            </a:extLst>
          </p:cNvPr>
          <p:cNvCxnSpPr>
            <a:cxnSpLocks/>
          </p:cNvCxnSpPr>
          <p:nvPr/>
        </p:nvCxnSpPr>
        <p:spPr>
          <a:xfrm>
            <a:off x="634867" y="2265294"/>
            <a:ext cx="6459537" cy="0"/>
          </a:xfrm>
          <a:prstGeom prst="line">
            <a:avLst/>
          </a:prstGeom>
          <a:ln w="3175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30" name="Rectángulo: esquinas redondeadas 29">
            <a:extLst>
              <a:ext uri="{FF2B5EF4-FFF2-40B4-BE49-F238E27FC236}">
                <a16:creationId xmlns:a16="http://schemas.microsoft.com/office/drawing/2014/main" id="{435AA71B-E9E9-8009-F231-ADF17DF72452}"/>
              </a:ext>
            </a:extLst>
          </p:cNvPr>
          <p:cNvSpPr/>
          <p:nvPr/>
        </p:nvSpPr>
        <p:spPr>
          <a:xfrm>
            <a:off x="2605635" y="5186995"/>
            <a:ext cx="1140977" cy="469333"/>
          </a:xfrm>
          <a:prstGeom prst="roundRect">
            <a:avLst/>
          </a:prstGeom>
          <a:solidFill>
            <a:schemeClr val="accent6">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esquinas redondeadas 30">
            <a:extLst>
              <a:ext uri="{FF2B5EF4-FFF2-40B4-BE49-F238E27FC236}">
                <a16:creationId xmlns:a16="http://schemas.microsoft.com/office/drawing/2014/main" id="{79F94A8A-4DB3-F7CF-B7D5-4997DE1DDA61}"/>
              </a:ext>
            </a:extLst>
          </p:cNvPr>
          <p:cNvSpPr/>
          <p:nvPr/>
        </p:nvSpPr>
        <p:spPr>
          <a:xfrm>
            <a:off x="709386" y="5195763"/>
            <a:ext cx="1730824" cy="469333"/>
          </a:xfrm>
          <a:prstGeom prst="roundRect">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 name="Imagen 5">
            <a:extLst>
              <a:ext uri="{FF2B5EF4-FFF2-40B4-BE49-F238E27FC236}">
                <a16:creationId xmlns:a16="http://schemas.microsoft.com/office/drawing/2014/main" id="{050C7E9B-3C95-66C9-91B0-8A337CB9824E}"/>
              </a:ext>
            </a:extLst>
          </p:cNvPr>
          <p:cNvPicPr>
            <a:picLocks/>
          </p:cNvPicPr>
          <p:nvPr/>
        </p:nvPicPr>
        <p:blipFill>
          <a:blip r:embed="rId3"/>
          <a:stretch>
            <a:fillRect/>
          </a:stretch>
        </p:blipFill>
        <p:spPr>
          <a:xfrm>
            <a:off x="7740000" y="1332000"/>
            <a:ext cx="4248000" cy="4248000"/>
          </a:xfrm>
          <a:prstGeom prst="rect">
            <a:avLst/>
          </a:prstGeom>
          <a:ln w="57150">
            <a:solidFill>
              <a:srgbClr val="C00000"/>
            </a:solidFill>
            <a:prstDash val="dash"/>
          </a:ln>
        </p:spPr>
      </p:pic>
      <p:sp>
        <p:nvSpPr>
          <p:cNvPr id="8" name="Rectángulo: esquinas redondeadas 7">
            <a:extLst>
              <a:ext uri="{FF2B5EF4-FFF2-40B4-BE49-F238E27FC236}">
                <a16:creationId xmlns:a16="http://schemas.microsoft.com/office/drawing/2014/main" id="{E39FD9C2-A4F1-8183-B966-F78B3BBF46FA}"/>
              </a:ext>
            </a:extLst>
          </p:cNvPr>
          <p:cNvSpPr/>
          <p:nvPr/>
        </p:nvSpPr>
        <p:spPr>
          <a:xfrm>
            <a:off x="5267916" y="5186994"/>
            <a:ext cx="1731696" cy="469333"/>
          </a:xfrm>
          <a:prstGeom prst="roundRect">
            <a:avLst/>
          </a:prstGeom>
          <a:solidFill>
            <a:schemeClr val="accent1">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esquinas redondeadas 9">
            <a:extLst>
              <a:ext uri="{FF2B5EF4-FFF2-40B4-BE49-F238E27FC236}">
                <a16:creationId xmlns:a16="http://schemas.microsoft.com/office/drawing/2014/main" id="{0C2A74EB-EC8A-619D-AB80-DBC3CFBFE9E9}"/>
              </a:ext>
            </a:extLst>
          </p:cNvPr>
          <p:cNvSpPr/>
          <p:nvPr/>
        </p:nvSpPr>
        <p:spPr>
          <a:xfrm>
            <a:off x="3953417" y="5195763"/>
            <a:ext cx="1140977" cy="469333"/>
          </a:xfrm>
          <a:prstGeom prst="roundRect">
            <a:avLst/>
          </a:prstGeom>
          <a:solidFill>
            <a:srgbClr val="C00000">
              <a:alpha val="16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428811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0FD8E-13B2-1A81-90DF-49E6CE975C42}"/>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55582105-EEC4-98D1-7850-E4FA872D55D5}"/>
              </a:ext>
            </a:extLst>
          </p:cNvPr>
          <p:cNvPicPr>
            <a:picLocks noChangeAspect="1"/>
          </p:cNvPicPr>
          <p:nvPr/>
        </p:nvPicPr>
        <p:blipFill>
          <a:blip r:embed="rId2"/>
          <a:stretch>
            <a:fillRect/>
          </a:stretch>
        </p:blipFill>
        <p:spPr>
          <a:xfrm>
            <a:off x="45584" y="1014367"/>
            <a:ext cx="7048820" cy="4829265"/>
          </a:xfrm>
          <a:prstGeom prst="rect">
            <a:avLst/>
          </a:prstGeom>
        </p:spPr>
      </p:pic>
      <p:sp>
        <p:nvSpPr>
          <p:cNvPr id="2" name="Marcador de número de diapositiva 1">
            <a:extLst>
              <a:ext uri="{FF2B5EF4-FFF2-40B4-BE49-F238E27FC236}">
                <a16:creationId xmlns:a16="http://schemas.microsoft.com/office/drawing/2014/main" id="{08D2A0F0-E3C1-41D0-55FB-FEFA6A697296}"/>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34</a:t>
            </a:fld>
            <a:endParaRPr lang="es-ES">
              <a:solidFill>
                <a:prstClr val="black">
                  <a:tint val="75000"/>
                </a:prstClr>
              </a:solidFill>
            </a:endParaRPr>
          </a:p>
        </p:txBody>
      </p:sp>
      <p:sp>
        <p:nvSpPr>
          <p:cNvPr id="3" name="CuadroTexto 2">
            <a:extLst>
              <a:ext uri="{FF2B5EF4-FFF2-40B4-BE49-F238E27FC236}">
                <a16:creationId xmlns:a16="http://schemas.microsoft.com/office/drawing/2014/main" id="{AB18D557-8BD4-F1F4-1710-327E0CE9822F}"/>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5" name="CuadroTexto 4">
            <a:extLst>
              <a:ext uri="{FF2B5EF4-FFF2-40B4-BE49-F238E27FC236}">
                <a16:creationId xmlns:a16="http://schemas.microsoft.com/office/drawing/2014/main" id="{CEA76357-266E-5A0A-D944-457B8A3BC38A}"/>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Estructura de árbol:</a:t>
            </a:r>
          </a:p>
        </p:txBody>
      </p:sp>
      <p:cxnSp>
        <p:nvCxnSpPr>
          <p:cNvPr id="21" name="Conector recto 20">
            <a:extLst>
              <a:ext uri="{FF2B5EF4-FFF2-40B4-BE49-F238E27FC236}">
                <a16:creationId xmlns:a16="http://schemas.microsoft.com/office/drawing/2014/main" id="{ED590B50-B0B3-CD4A-72AA-7EB8EC2F72E3}"/>
              </a:ext>
            </a:extLst>
          </p:cNvPr>
          <p:cNvCxnSpPr>
            <a:cxnSpLocks/>
          </p:cNvCxnSpPr>
          <p:nvPr/>
        </p:nvCxnSpPr>
        <p:spPr>
          <a:xfrm>
            <a:off x="634867" y="3804129"/>
            <a:ext cx="6364744" cy="0"/>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349DF5D8-C92B-FBCB-C20E-1024AC62A5F5}"/>
              </a:ext>
            </a:extLst>
          </p:cNvPr>
          <p:cNvCxnSpPr>
            <a:cxnSpLocks/>
          </p:cNvCxnSpPr>
          <p:nvPr/>
        </p:nvCxnSpPr>
        <p:spPr>
          <a:xfrm>
            <a:off x="634867" y="2265294"/>
            <a:ext cx="6459537" cy="0"/>
          </a:xfrm>
          <a:prstGeom prst="line">
            <a:avLst/>
          </a:prstGeom>
          <a:ln w="3175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30" name="Rectángulo: esquinas redondeadas 29">
            <a:extLst>
              <a:ext uri="{FF2B5EF4-FFF2-40B4-BE49-F238E27FC236}">
                <a16:creationId xmlns:a16="http://schemas.microsoft.com/office/drawing/2014/main" id="{AA03090F-9C00-B753-F648-FAE317C8E6F8}"/>
              </a:ext>
            </a:extLst>
          </p:cNvPr>
          <p:cNvSpPr/>
          <p:nvPr/>
        </p:nvSpPr>
        <p:spPr>
          <a:xfrm>
            <a:off x="2670372" y="5186995"/>
            <a:ext cx="1076240" cy="469333"/>
          </a:xfrm>
          <a:prstGeom prst="roundRect">
            <a:avLst/>
          </a:prstGeom>
          <a:solidFill>
            <a:schemeClr val="accent6">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esquinas redondeadas 30">
            <a:extLst>
              <a:ext uri="{FF2B5EF4-FFF2-40B4-BE49-F238E27FC236}">
                <a16:creationId xmlns:a16="http://schemas.microsoft.com/office/drawing/2014/main" id="{5D966C20-6BAA-C492-50A4-61D53F15A755}"/>
              </a:ext>
            </a:extLst>
          </p:cNvPr>
          <p:cNvSpPr/>
          <p:nvPr/>
        </p:nvSpPr>
        <p:spPr>
          <a:xfrm>
            <a:off x="3940821" y="5186995"/>
            <a:ext cx="1135195" cy="469333"/>
          </a:xfrm>
          <a:prstGeom prst="roundRect">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esquinas redondeadas 7">
            <a:extLst>
              <a:ext uri="{FF2B5EF4-FFF2-40B4-BE49-F238E27FC236}">
                <a16:creationId xmlns:a16="http://schemas.microsoft.com/office/drawing/2014/main" id="{601EE090-E4A7-C587-6D62-2A64F5EAD80C}"/>
              </a:ext>
            </a:extLst>
          </p:cNvPr>
          <p:cNvSpPr/>
          <p:nvPr/>
        </p:nvSpPr>
        <p:spPr>
          <a:xfrm>
            <a:off x="712098" y="5178899"/>
            <a:ext cx="1731696" cy="469333"/>
          </a:xfrm>
          <a:prstGeom prst="roundRect">
            <a:avLst/>
          </a:prstGeom>
          <a:solidFill>
            <a:schemeClr val="accent1">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esquinas redondeadas 9">
            <a:extLst>
              <a:ext uri="{FF2B5EF4-FFF2-40B4-BE49-F238E27FC236}">
                <a16:creationId xmlns:a16="http://schemas.microsoft.com/office/drawing/2014/main" id="{4F8179C9-174E-CA98-DF9E-0FCB6D3A84AF}"/>
              </a:ext>
            </a:extLst>
          </p:cNvPr>
          <p:cNvSpPr/>
          <p:nvPr/>
        </p:nvSpPr>
        <p:spPr>
          <a:xfrm>
            <a:off x="5951633" y="5186995"/>
            <a:ext cx="942781" cy="469333"/>
          </a:xfrm>
          <a:prstGeom prst="roundRect">
            <a:avLst/>
          </a:prstGeom>
          <a:solidFill>
            <a:srgbClr val="C00000">
              <a:alpha val="16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7" name="Imagen 6">
            <a:extLst>
              <a:ext uri="{FF2B5EF4-FFF2-40B4-BE49-F238E27FC236}">
                <a16:creationId xmlns:a16="http://schemas.microsoft.com/office/drawing/2014/main" id="{1A4E1F48-6E60-7E80-E2E4-44C14111D30F}"/>
              </a:ext>
            </a:extLst>
          </p:cNvPr>
          <p:cNvPicPr>
            <a:picLocks/>
          </p:cNvPicPr>
          <p:nvPr/>
        </p:nvPicPr>
        <p:blipFill>
          <a:blip r:embed="rId3"/>
          <a:stretch>
            <a:fillRect/>
          </a:stretch>
        </p:blipFill>
        <p:spPr>
          <a:xfrm>
            <a:off x="7740000" y="1332000"/>
            <a:ext cx="4248000" cy="4248000"/>
          </a:xfrm>
          <a:prstGeom prst="rect">
            <a:avLst/>
          </a:prstGeom>
          <a:ln w="57150">
            <a:solidFill>
              <a:schemeClr val="accent1">
                <a:shade val="15000"/>
              </a:schemeClr>
            </a:solidFill>
            <a:prstDash val="dash"/>
          </a:ln>
        </p:spPr>
      </p:pic>
      <p:cxnSp>
        <p:nvCxnSpPr>
          <p:cNvPr id="11" name="Conector recto 10">
            <a:extLst>
              <a:ext uri="{FF2B5EF4-FFF2-40B4-BE49-F238E27FC236}">
                <a16:creationId xmlns:a16="http://schemas.microsoft.com/office/drawing/2014/main" id="{FB403506-81CC-B606-D026-A1152E2465E9}"/>
              </a:ext>
            </a:extLst>
          </p:cNvPr>
          <p:cNvCxnSpPr>
            <a:cxnSpLocks/>
          </p:cNvCxnSpPr>
          <p:nvPr/>
        </p:nvCxnSpPr>
        <p:spPr>
          <a:xfrm>
            <a:off x="633519" y="4296393"/>
            <a:ext cx="6364744"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Rectángulo: esquinas redondeadas 11">
            <a:extLst>
              <a:ext uri="{FF2B5EF4-FFF2-40B4-BE49-F238E27FC236}">
                <a16:creationId xmlns:a16="http://schemas.microsoft.com/office/drawing/2014/main" id="{7AA56F27-08F7-A752-165A-554B5F272E8E}"/>
              </a:ext>
            </a:extLst>
          </p:cNvPr>
          <p:cNvSpPr/>
          <p:nvPr/>
        </p:nvSpPr>
        <p:spPr>
          <a:xfrm>
            <a:off x="5276006" y="5195074"/>
            <a:ext cx="475637" cy="469333"/>
          </a:xfrm>
          <a:prstGeom prst="roundRect">
            <a:avLst/>
          </a:prstGeom>
          <a:solidFill>
            <a:srgbClr val="7030A0">
              <a:alpha val="16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015420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E23F8-97B2-C744-DE68-CAEF4BB38500}"/>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741A8769-5695-7D18-E3A3-8C6493601507}"/>
              </a:ext>
            </a:extLst>
          </p:cNvPr>
          <p:cNvPicPr>
            <a:picLocks noChangeAspect="1"/>
          </p:cNvPicPr>
          <p:nvPr/>
        </p:nvPicPr>
        <p:blipFill>
          <a:blip r:embed="rId2"/>
          <a:stretch>
            <a:fillRect/>
          </a:stretch>
        </p:blipFill>
        <p:spPr>
          <a:xfrm>
            <a:off x="45584" y="1014367"/>
            <a:ext cx="7048820" cy="4829265"/>
          </a:xfrm>
          <a:prstGeom prst="rect">
            <a:avLst/>
          </a:prstGeom>
        </p:spPr>
      </p:pic>
      <p:sp>
        <p:nvSpPr>
          <p:cNvPr id="2" name="Marcador de número de diapositiva 1">
            <a:extLst>
              <a:ext uri="{FF2B5EF4-FFF2-40B4-BE49-F238E27FC236}">
                <a16:creationId xmlns:a16="http://schemas.microsoft.com/office/drawing/2014/main" id="{C2206486-D086-3D33-4A3D-669956F8DD5E}"/>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35</a:t>
            </a:fld>
            <a:endParaRPr lang="es-ES">
              <a:solidFill>
                <a:prstClr val="black">
                  <a:tint val="75000"/>
                </a:prstClr>
              </a:solidFill>
            </a:endParaRPr>
          </a:p>
        </p:txBody>
      </p:sp>
      <p:sp>
        <p:nvSpPr>
          <p:cNvPr id="3" name="CuadroTexto 2">
            <a:extLst>
              <a:ext uri="{FF2B5EF4-FFF2-40B4-BE49-F238E27FC236}">
                <a16:creationId xmlns:a16="http://schemas.microsoft.com/office/drawing/2014/main" id="{3BE644A6-28B9-BC44-F901-1A2CBF7A293F}"/>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5" name="CuadroTexto 4">
            <a:extLst>
              <a:ext uri="{FF2B5EF4-FFF2-40B4-BE49-F238E27FC236}">
                <a16:creationId xmlns:a16="http://schemas.microsoft.com/office/drawing/2014/main" id="{D2A9952E-ACEB-B96C-9F24-48472108B5C8}"/>
              </a:ext>
            </a:extLst>
          </p:cNvPr>
          <p:cNvSpPr txBox="1"/>
          <p:nvPr/>
        </p:nvSpPr>
        <p:spPr>
          <a:xfrm>
            <a:off x="312377" y="460686"/>
            <a:ext cx="11278513" cy="400110"/>
          </a:xfrm>
          <a:prstGeom prst="rect">
            <a:avLst/>
          </a:prstGeom>
          <a:noFill/>
        </p:spPr>
        <p:txBody>
          <a:bodyPr wrap="square" rtlCol="0">
            <a:spAutoFit/>
          </a:bodyPr>
          <a:lstStyle/>
          <a:p>
            <a:r>
              <a:rPr lang="es-ES" sz="2000" dirty="0">
                <a:solidFill>
                  <a:schemeClr val="accent1">
                    <a:lumMod val="50000"/>
                  </a:schemeClr>
                </a:solidFill>
              </a:rPr>
              <a:t>Estructura de árbol:</a:t>
            </a:r>
          </a:p>
        </p:txBody>
      </p:sp>
      <p:cxnSp>
        <p:nvCxnSpPr>
          <p:cNvPr id="21" name="Conector recto 20">
            <a:extLst>
              <a:ext uri="{FF2B5EF4-FFF2-40B4-BE49-F238E27FC236}">
                <a16:creationId xmlns:a16="http://schemas.microsoft.com/office/drawing/2014/main" id="{AD65324A-FB1E-031B-2AEE-6E186F70C11F}"/>
              </a:ext>
            </a:extLst>
          </p:cNvPr>
          <p:cNvCxnSpPr>
            <a:cxnSpLocks/>
          </p:cNvCxnSpPr>
          <p:nvPr/>
        </p:nvCxnSpPr>
        <p:spPr>
          <a:xfrm>
            <a:off x="634867" y="3804129"/>
            <a:ext cx="6364744" cy="0"/>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B8533557-68A1-CD23-D94A-2B4ED6F00716}"/>
              </a:ext>
            </a:extLst>
          </p:cNvPr>
          <p:cNvCxnSpPr>
            <a:cxnSpLocks/>
          </p:cNvCxnSpPr>
          <p:nvPr/>
        </p:nvCxnSpPr>
        <p:spPr>
          <a:xfrm>
            <a:off x="634867" y="2265294"/>
            <a:ext cx="6459537" cy="0"/>
          </a:xfrm>
          <a:prstGeom prst="line">
            <a:avLst/>
          </a:prstGeom>
          <a:ln w="3810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903B95FF-785F-6164-2E23-6CAB73D086EA}"/>
              </a:ext>
            </a:extLst>
          </p:cNvPr>
          <p:cNvCxnSpPr>
            <a:cxnSpLocks/>
          </p:cNvCxnSpPr>
          <p:nvPr/>
        </p:nvCxnSpPr>
        <p:spPr>
          <a:xfrm>
            <a:off x="633519" y="4296393"/>
            <a:ext cx="6364744"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A2F8171D-3BC4-0109-4363-D538ECCB131D}"/>
              </a:ext>
            </a:extLst>
          </p:cNvPr>
          <p:cNvPicPr>
            <a:picLocks/>
          </p:cNvPicPr>
          <p:nvPr/>
        </p:nvPicPr>
        <p:blipFill>
          <a:blip r:embed="rId3"/>
          <a:stretch>
            <a:fillRect/>
          </a:stretch>
        </p:blipFill>
        <p:spPr>
          <a:xfrm>
            <a:off x="7740000" y="1332000"/>
            <a:ext cx="4248000" cy="4248000"/>
          </a:xfrm>
          <a:prstGeom prst="rect">
            <a:avLst/>
          </a:prstGeom>
          <a:ln w="57150">
            <a:solidFill>
              <a:srgbClr val="7030A0"/>
            </a:solidFill>
            <a:prstDash val="dash"/>
          </a:ln>
        </p:spPr>
      </p:pic>
      <p:cxnSp>
        <p:nvCxnSpPr>
          <p:cNvPr id="13" name="Conector recto 12">
            <a:extLst>
              <a:ext uri="{FF2B5EF4-FFF2-40B4-BE49-F238E27FC236}">
                <a16:creationId xmlns:a16="http://schemas.microsoft.com/office/drawing/2014/main" id="{BED52A25-4DFF-94EC-FF55-FC042F2CE259}"/>
              </a:ext>
            </a:extLst>
          </p:cNvPr>
          <p:cNvCxnSpPr>
            <a:cxnSpLocks/>
          </p:cNvCxnSpPr>
          <p:nvPr/>
        </p:nvCxnSpPr>
        <p:spPr>
          <a:xfrm>
            <a:off x="633519" y="5202703"/>
            <a:ext cx="6364744" cy="0"/>
          </a:xfrm>
          <a:prstGeom prst="line">
            <a:avLst/>
          </a:prstGeom>
          <a:ln w="38100">
            <a:solidFill>
              <a:srgbClr val="7030A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72454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7993CC0-FDBD-26F4-7B73-3131004186E5}"/>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36</a:t>
            </a:fld>
            <a:endParaRPr lang="es-ES" dirty="0">
              <a:solidFill>
                <a:prstClr val="black">
                  <a:tint val="75000"/>
                </a:prstClr>
              </a:solidFill>
            </a:endParaRPr>
          </a:p>
        </p:txBody>
      </p:sp>
      <p:sp>
        <p:nvSpPr>
          <p:cNvPr id="2" name="CuadroTexto 1">
            <a:extLst>
              <a:ext uri="{FF2B5EF4-FFF2-40B4-BE49-F238E27FC236}">
                <a16:creationId xmlns:a16="http://schemas.microsoft.com/office/drawing/2014/main" id="{174029F8-3D25-8361-F529-8B5B141325A6}"/>
              </a:ext>
            </a:extLst>
          </p:cNvPr>
          <p:cNvSpPr txBox="1"/>
          <p:nvPr/>
        </p:nvSpPr>
        <p:spPr>
          <a:xfrm>
            <a:off x="427100" y="94478"/>
            <a:ext cx="3687997" cy="506292"/>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s-ES" sz="2000" dirty="0">
                <a:solidFill>
                  <a:schemeClr val="accent1">
                    <a:lumMod val="50000"/>
                  </a:schemeClr>
                </a:solidFill>
              </a:rPr>
              <a:t>Implementación del algoritmo.</a:t>
            </a:r>
          </a:p>
        </p:txBody>
      </p:sp>
      <p:sp>
        <p:nvSpPr>
          <p:cNvPr id="7" name="Rectángulo: esquinas redondeadas 6">
            <a:extLst>
              <a:ext uri="{FF2B5EF4-FFF2-40B4-BE49-F238E27FC236}">
                <a16:creationId xmlns:a16="http://schemas.microsoft.com/office/drawing/2014/main" id="{C60EBAA1-473D-1E2C-0C8A-2FD8853A9F24}"/>
              </a:ext>
            </a:extLst>
          </p:cNvPr>
          <p:cNvSpPr/>
          <p:nvPr/>
        </p:nvSpPr>
        <p:spPr>
          <a:xfrm>
            <a:off x="599722" y="1223290"/>
            <a:ext cx="4343938" cy="1866140"/>
          </a:xfrm>
          <a:prstGeom prst="roundRect">
            <a:avLst/>
          </a:prstGeom>
          <a:solidFill>
            <a:schemeClr val="accent1">
              <a:lumMod val="20000"/>
              <a:lumOff val="80000"/>
              <a:alpha val="55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dirty="0">
                <a:solidFill>
                  <a:schemeClr val="accent1">
                    <a:lumMod val="50000"/>
                  </a:schemeClr>
                </a:solidFill>
              </a:rPr>
              <a:t>Elección variables de entrada.</a:t>
            </a:r>
          </a:p>
          <a:p>
            <a:pPr marL="342900" indent="-342900">
              <a:buFont typeface="Arial" panose="020B0604020202020204" pitchFamily="34" charset="0"/>
              <a:buChar char="•"/>
            </a:pPr>
            <a:r>
              <a:rPr lang="es-ES" dirty="0">
                <a:solidFill>
                  <a:schemeClr val="accent1">
                    <a:lumMod val="50000"/>
                  </a:schemeClr>
                </a:solidFill>
              </a:rPr>
              <a:t>Limpieza de datos.</a:t>
            </a:r>
          </a:p>
          <a:p>
            <a:pPr marL="342900" indent="-342900">
              <a:buFont typeface="Arial" panose="020B0604020202020204" pitchFamily="34" charset="0"/>
              <a:buChar char="•"/>
            </a:pPr>
            <a:r>
              <a:rPr lang="es-ES" dirty="0">
                <a:solidFill>
                  <a:schemeClr val="accent1">
                    <a:lumMod val="50000"/>
                  </a:schemeClr>
                </a:solidFill>
              </a:rPr>
              <a:t>Normalización o Estandarización de Variables Numéricas.</a:t>
            </a:r>
          </a:p>
          <a:p>
            <a:pPr marL="342900" indent="-342900">
              <a:buFont typeface="Arial" panose="020B0604020202020204" pitchFamily="34" charset="0"/>
              <a:buChar char="•"/>
            </a:pPr>
            <a:r>
              <a:rPr lang="es-ES" dirty="0">
                <a:solidFill>
                  <a:schemeClr val="accent1">
                    <a:lumMod val="50000"/>
                  </a:schemeClr>
                </a:solidFill>
              </a:rPr>
              <a:t>Conversión de Variables Categóricas a Formato Numérico.</a:t>
            </a:r>
          </a:p>
        </p:txBody>
      </p:sp>
      <p:sp>
        <p:nvSpPr>
          <p:cNvPr id="9" name="Rectángulo: esquinas redondeadas 8">
            <a:extLst>
              <a:ext uri="{FF2B5EF4-FFF2-40B4-BE49-F238E27FC236}">
                <a16:creationId xmlns:a16="http://schemas.microsoft.com/office/drawing/2014/main" id="{03C497F2-BC04-94F2-4016-595E69315D09}"/>
              </a:ext>
            </a:extLst>
          </p:cNvPr>
          <p:cNvSpPr/>
          <p:nvPr/>
        </p:nvSpPr>
        <p:spPr>
          <a:xfrm>
            <a:off x="599719" y="4144731"/>
            <a:ext cx="4343941" cy="1448201"/>
          </a:xfrm>
          <a:prstGeom prst="roundRect">
            <a:avLst/>
          </a:prstGeom>
          <a:solidFill>
            <a:schemeClr val="accent1">
              <a:lumMod val="20000"/>
              <a:lumOff val="80000"/>
              <a:alpha val="55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dirty="0">
                <a:solidFill>
                  <a:schemeClr val="accent1">
                    <a:lumMod val="50000"/>
                  </a:schemeClr>
                </a:solidFill>
              </a:rPr>
              <a:t>Elección del número de clústeres.</a:t>
            </a:r>
          </a:p>
          <a:p>
            <a:pPr marL="342900" indent="-342900">
              <a:buFont typeface="Arial" panose="020B0604020202020204" pitchFamily="34" charset="0"/>
              <a:buChar char="•"/>
            </a:pPr>
            <a:r>
              <a:rPr lang="es-ES" dirty="0">
                <a:solidFill>
                  <a:schemeClr val="accent1">
                    <a:lumMod val="50000"/>
                  </a:schemeClr>
                </a:solidFill>
              </a:rPr>
              <a:t>Agrupar según la métrica y el método.</a:t>
            </a:r>
          </a:p>
          <a:p>
            <a:pPr marL="342900" indent="-342900">
              <a:buFont typeface="Arial" panose="020B0604020202020204" pitchFamily="34" charset="0"/>
              <a:buChar char="•"/>
            </a:pPr>
            <a:r>
              <a:rPr lang="es-ES" dirty="0">
                <a:solidFill>
                  <a:schemeClr val="accent1">
                    <a:lumMod val="50000"/>
                  </a:schemeClr>
                </a:solidFill>
              </a:rPr>
              <a:t>Evaluación de la bondad del agrupamiento.</a:t>
            </a:r>
          </a:p>
        </p:txBody>
      </p:sp>
      <p:sp>
        <p:nvSpPr>
          <p:cNvPr id="12" name="Flecha: a la derecha 11">
            <a:extLst>
              <a:ext uri="{FF2B5EF4-FFF2-40B4-BE49-F238E27FC236}">
                <a16:creationId xmlns:a16="http://schemas.microsoft.com/office/drawing/2014/main" id="{8DAB3E76-2913-749F-A403-5A7E4377EB43}"/>
              </a:ext>
            </a:extLst>
          </p:cNvPr>
          <p:cNvSpPr/>
          <p:nvPr/>
        </p:nvSpPr>
        <p:spPr>
          <a:xfrm>
            <a:off x="5008904" y="4681402"/>
            <a:ext cx="436552" cy="2536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esquinas redondeadas 14">
            <a:extLst>
              <a:ext uri="{FF2B5EF4-FFF2-40B4-BE49-F238E27FC236}">
                <a16:creationId xmlns:a16="http://schemas.microsoft.com/office/drawing/2014/main" id="{8A4E2ED6-F5CD-8EFB-281E-DA1D797F1F0B}"/>
              </a:ext>
            </a:extLst>
          </p:cNvPr>
          <p:cNvSpPr/>
          <p:nvPr/>
        </p:nvSpPr>
        <p:spPr>
          <a:xfrm>
            <a:off x="5705178" y="2011680"/>
            <a:ext cx="6338074" cy="4709796"/>
          </a:xfrm>
          <a:prstGeom prst="roundRect">
            <a:avLst>
              <a:gd name="adj" fmla="val 597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B6D8A1ED-4BA7-7956-4C08-7566AA34D1DA}"/>
              </a:ext>
            </a:extLst>
          </p:cNvPr>
          <p:cNvSpPr txBox="1"/>
          <p:nvPr/>
        </p:nvSpPr>
        <p:spPr>
          <a:xfrm>
            <a:off x="1498436" y="909615"/>
            <a:ext cx="2707857" cy="369332"/>
          </a:xfrm>
          <a:prstGeom prst="rect">
            <a:avLst/>
          </a:prstGeom>
          <a:noFill/>
        </p:spPr>
        <p:txBody>
          <a:bodyPr wrap="none" rtlCol="0">
            <a:spAutoFit/>
          </a:bodyPr>
          <a:lstStyle/>
          <a:p>
            <a:r>
              <a:rPr lang="es-ES" b="1" dirty="0">
                <a:solidFill>
                  <a:schemeClr val="accent1">
                    <a:lumMod val="50000"/>
                  </a:schemeClr>
                </a:solidFill>
              </a:rPr>
              <a:t>Preparación datos entrada</a:t>
            </a:r>
          </a:p>
        </p:txBody>
      </p:sp>
      <p:sp>
        <p:nvSpPr>
          <p:cNvPr id="17" name="CuadroTexto 16">
            <a:extLst>
              <a:ext uri="{FF2B5EF4-FFF2-40B4-BE49-F238E27FC236}">
                <a16:creationId xmlns:a16="http://schemas.microsoft.com/office/drawing/2014/main" id="{992131C0-B0E9-1EC2-9A54-9645B71419AD}"/>
              </a:ext>
            </a:extLst>
          </p:cNvPr>
          <p:cNvSpPr txBox="1"/>
          <p:nvPr/>
        </p:nvSpPr>
        <p:spPr>
          <a:xfrm>
            <a:off x="1089978" y="3775399"/>
            <a:ext cx="3363421" cy="369332"/>
          </a:xfrm>
          <a:prstGeom prst="rect">
            <a:avLst/>
          </a:prstGeom>
          <a:noFill/>
        </p:spPr>
        <p:txBody>
          <a:bodyPr wrap="none" rtlCol="0">
            <a:spAutoFit/>
          </a:bodyPr>
          <a:lstStyle/>
          <a:p>
            <a:r>
              <a:rPr lang="es-ES" b="1" dirty="0">
                <a:solidFill>
                  <a:schemeClr val="accent1">
                    <a:lumMod val="50000"/>
                  </a:schemeClr>
                </a:solidFill>
              </a:rPr>
              <a:t>Predicción </a:t>
            </a:r>
            <a:r>
              <a:rPr lang="es-ES" b="1" dirty="0" err="1">
                <a:solidFill>
                  <a:schemeClr val="accent1">
                    <a:lumMod val="50000"/>
                  </a:schemeClr>
                </a:solidFill>
              </a:rPr>
              <a:t>Hierarchical</a:t>
            </a:r>
            <a:r>
              <a:rPr lang="es-ES" b="1" dirty="0">
                <a:solidFill>
                  <a:schemeClr val="accent1">
                    <a:lumMod val="50000"/>
                  </a:schemeClr>
                </a:solidFill>
              </a:rPr>
              <a:t> </a:t>
            </a:r>
            <a:r>
              <a:rPr lang="es-ES" b="1" dirty="0" err="1">
                <a:solidFill>
                  <a:schemeClr val="accent1">
                    <a:lumMod val="50000"/>
                  </a:schemeClr>
                </a:solidFill>
              </a:rPr>
              <a:t>Clustering</a:t>
            </a:r>
            <a:endParaRPr lang="es-ES" b="1" dirty="0">
              <a:solidFill>
                <a:schemeClr val="accent1">
                  <a:lumMod val="50000"/>
                </a:schemeClr>
              </a:solidFill>
            </a:endParaRPr>
          </a:p>
        </p:txBody>
      </p:sp>
      <p:sp>
        <p:nvSpPr>
          <p:cNvPr id="19" name="CuadroTexto 18">
            <a:extLst>
              <a:ext uri="{FF2B5EF4-FFF2-40B4-BE49-F238E27FC236}">
                <a16:creationId xmlns:a16="http://schemas.microsoft.com/office/drawing/2014/main" id="{B721C4E8-F774-C602-C20C-95042CFF3868}"/>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3" name="Rectángulo 2"/>
          <p:cNvSpPr/>
          <p:nvPr/>
        </p:nvSpPr>
        <p:spPr>
          <a:xfrm>
            <a:off x="5924537" y="2069362"/>
            <a:ext cx="6096000" cy="4401205"/>
          </a:xfrm>
          <a:prstGeom prst="rect">
            <a:avLst/>
          </a:prstGeom>
        </p:spPr>
        <p:txBody>
          <a:bodyPr wrap="square">
            <a:spAutoFit/>
          </a:bodyPr>
          <a:lstStyle/>
          <a:p>
            <a:pPr>
              <a:lnSpc>
                <a:spcPts val="1425"/>
              </a:lnSpc>
            </a:pPr>
            <a:r>
              <a:rPr lang="es-ES" sz="1200" b="0" dirty="0" err="1">
                <a:solidFill>
                  <a:srgbClr val="0000FF"/>
                </a:solidFill>
                <a:effectLst/>
                <a:latin typeface="Consolas" panose="020B0609020204030204" pitchFamily="49" charset="0"/>
              </a:rPr>
              <a:t>def</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compute_wcss</a:t>
            </a:r>
            <a:r>
              <a:rPr lang="es-ES" sz="1200" b="0" dirty="0">
                <a:solidFill>
                  <a:srgbClr val="000000"/>
                </a:solidFill>
                <a:effectLst/>
                <a:latin typeface="Consolas" panose="020B0609020204030204" pitchFamily="49" charset="0"/>
              </a:rPr>
              <a:t>(X, </a:t>
            </a:r>
            <a:r>
              <a:rPr lang="es-ES" sz="1200" b="0" dirty="0" err="1">
                <a:solidFill>
                  <a:srgbClr val="000000"/>
                </a:solidFill>
                <a:effectLst/>
                <a:latin typeface="Consolas" panose="020B0609020204030204" pitchFamily="49" charset="0"/>
              </a:rPr>
              <a:t>labels</a:t>
            </a:r>
            <a:r>
              <a:rPr lang="es-ES" sz="1200" b="0" dirty="0">
                <a:solidFill>
                  <a:srgbClr val="000000"/>
                </a:solidFill>
                <a:effectLst/>
                <a:latin typeface="Consolas" panose="020B0609020204030204" pitchFamily="49" charset="0"/>
              </a:rPr>
              <a:t>):</a:t>
            </a:r>
          </a:p>
          <a:p>
            <a:pPr>
              <a:lnSpc>
                <a:spcPts val="1425"/>
              </a:lnSpc>
            </a:pP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wcss</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0</a:t>
            </a:r>
            <a:endParaRPr lang="es-ES" sz="1200" b="0" dirty="0">
              <a:solidFill>
                <a:srgbClr val="000000"/>
              </a:solidFill>
              <a:effectLst/>
              <a:latin typeface="Consolas" panose="020B0609020204030204" pitchFamily="49" charset="0"/>
            </a:endParaRPr>
          </a:p>
          <a:p>
            <a:pPr>
              <a:lnSpc>
                <a:spcPts val="1425"/>
              </a:lnSpc>
            </a:pP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for</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cluster</a:t>
            </a:r>
            <a:r>
              <a:rPr lang="es-ES" sz="1200" b="0" dirty="0">
                <a:solidFill>
                  <a:srgbClr val="000000"/>
                </a:solidFill>
                <a:effectLst/>
                <a:latin typeface="Consolas" panose="020B0609020204030204" pitchFamily="49" charset="0"/>
              </a:rPr>
              <a:t> </a:t>
            </a:r>
            <a:r>
              <a:rPr lang="es-ES" sz="1200" b="0" dirty="0">
                <a:solidFill>
                  <a:srgbClr val="0000FF"/>
                </a:solidFill>
                <a:effectLst/>
                <a:latin typeface="Consolas" panose="020B0609020204030204" pitchFamily="49" charset="0"/>
              </a:rPr>
              <a:t>in</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np.unique</a:t>
            </a:r>
            <a:r>
              <a:rPr lang="es-ES" sz="1200" b="0" dirty="0">
                <a:solidFill>
                  <a:srgbClr val="000000"/>
                </a:solidFill>
                <a:effectLst/>
                <a:latin typeface="Consolas" panose="020B0609020204030204" pitchFamily="49" charset="0"/>
              </a:rPr>
              <a:t>(</a:t>
            </a:r>
            <a:r>
              <a:rPr lang="es-ES" sz="1200" b="0" dirty="0" err="1">
                <a:solidFill>
                  <a:srgbClr val="000000"/>
                </a:solidFill>
                <a:effectLst/>
                <a:latin typeface="Consolas" panose="020B0609020204030204" pitchFamily="49" charset="0"/>
              </a:rPr>
              <a:t>labels</a:t>
            </a:r>
            <a:r>
              <a:rPr lang="es-ES" sz="1200" b="0" dirty="0">
                <a:solidFill>
                  <a:srgbClr val="000000"/>
                </a:solidFill>
                <a:effectLst/>
                <a:latin typeface="Consolas" panose="020B0609020204030204" pitchFamily="49" charset="0"/>
              </a:rPr>
              <a:t>):</a:t>
            </a:r>
          </a:p>
          <a:p>
            <a:pPr>
              <a:lnSpc>
                <a:spcPts val="1425"/>
              </a:lnSpc>
            </a:pPr>
            <a:r>
              <a:rPr lang="es-ES" sz="1200" dirty="0">
                <a:solidFill>
                  <a:srgbClr val="008000"/>
                </a:solidFill>
                <a:latin typeface="Consolas" panose="020B0609020204030204" pitchFamily="49" charset="0"/>
              </a:rPr>
              <a:t>        </a:t>
            </a:r>
            <a:r>
              <a:rPr lang="es-ES" sz="1200" b="0" dirty="0">
                <a:solidFill>
                  <a:srgbClr val="008000"/>
                </a:solidFill>
                <a:effectLst/>
                <a:latin typeface="Consolas" panose="020B0609020204030204" pitchFamily="49" charset="0"/>
              </a:rPr>
              <a:t># Extraer puntos del </a:t>
            </a:r>
            <a:r>
              <a:rPr lang="es-ES" sz="1200" b="0" dirty="0" err="1">
                <a:solidFill>
                  <a:srgbClr val="008000"/>
                </a:solidFill>
                <a:effectLst/>
                <a:latin typeface="Consolas" panose="020B0609020204030204" pitchFamily="49" charset="0"/>
              </a:rPr>
              <a:t>cluster</a:t>
            </a:r>
            <a:endParaRPr lang="es-ES" sz="1200" b="0" dirty="0">
              <a:solidFill>
                <a:srgbClr val="000000"/>
              </a:solidFill>
              <a:effectLst/>
              <a:latin typeface="Consolas" panose="020B0609020204030204" pitchFamily="49" charset="0"/>
            </a:endParaRPr>
          </a:p>
          <a:p>
            <a:pPr>
              <a:lnSpc>
                <a:spcPts val="1425"/>
              </a:lnSpc>
            </a:pP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cluster_points</a:t>
            </a:r>
            <a:r>
              <a:rPr lang="es-ES" sz="1200" b="0" dirty="0">
                <a:solidFill>
                  <a:srgbClr val="000000"/>
                </a:solidFill>
                <a:effectLst/>
                <a:latin typeface="Consolas" panose="020B0609020204030204" pitchFamily="49" charset="0"/>
              </a:rPr>
              <a:t> = X[</a:t>
            </a:r>
            <a:r>
              <a:rPr lang="es-ES" sz="1200" b="0" dirty="0" err="1">
                <a:solidFill>
                  <a:srgbClr val="000000"/>
                </a:solidFill>
                <a:effectLst/>
                <a:latin typeface="Consolas" panose="020B0609020204030204" pitchFamily="49" charset="0"/>
              </a:rPr>
              <a:t>labels</a:t>
            </a:r>
            <a:r>
              <a:rPr lang="es-ES" sz="1200" b="0" dirty="0">
                <a:solidFill>
                  <a:srgbClr val="000000"/>
                </a:solidFill>
                <a:effectLst/>
                <a:latin typeface="Consolas" panose="020B0609020204030204" pitchFamily="49" charset="0"/>
              </a:rPr>
              <a:t> == </a:t>
            </a:r>
            <a:r>
              <a:rPr lang="es-ES" sz="1200" b="0" dirty="0" err="1">
                <a:solidFill>
                  <a:srgbClr val="000000"/>
                </a:solidFill>
                <a:effectLst/>
                <a:latin typeface="Consolas" panose="020B0609020204030204" pitchFamily="49" charset="0"/>
              </a:rPr>
              <a:t>cluster</a:t>
            </a:r>
            <a:r>
              <a:rPr lang="es-ES" sz="1200" b="0" dirty="0">
                <a:solidFill>
                  <a:srgbClr val="000000"/>
                </a:solidFill>
                <a:effectLst/>
                <a:latin typeface="Consolas" panose="020B0609020204030204" pitchFamily="49" charset="0"/>
              </a:rPr>
              <a:t>]  </a:t>
            </a:r>
          </a:p>
          <a:p>
            <a:pPr>
              <a:lnSpc>
                <a:spcPts val="1425"/>
              </a:lnSpc>
            </a:pPr>
            <a:r>
              <a:rPr lang="es-ES" sz="1200" dirty="0">
                <a:solidFill>
                  <a:srgbClr val="000000"/>
                </a:solidFill>
                <a:latin typeface="Consolas" panose="020B0609020204030204" pitchFamily="49" charset="0"/>
              </a:rPr>
              <a:t>        </a:t>
            </a:r>
            <a:r>
              <a:rPr lang="es-ES" sz="1200" b="0" dirty="0">
                <a:solidFill>
                  <a:srgbClr val="008000"/>
                </a:solidFill>
                <a:effectLst/>
                <a:latin typeface="Consolas" panose="020B0609020204030204" pitchFamily="49" charset="0"/>
              </a:rPr>
              <a:t># Calcular centroide</a:t>
            </a:r>
            <a:endParaRPr lang="es-ES" sz="1200" b="0" dirty="0">
              <a:solidFill>
                <a:srgbClr val="000000"/>
              </a:solidFill>
              <a:effectLst/>
              <a:latin typeface="Consolas" panose="020B0609020204030204" pitchFamily="49" charset="0"/>
            </a:endParaRPr>
          </a:p>
          <a:p>
            <a:pPr>
              <a:lnSpc>
                <a:spcPts val="1425"/>
              </a:lnSpc>
            </a:pP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centroid</a:t>
            </a:r>
            <a:r>
              <a:rPr lang="es-ES" sz="1200" b="0" dirty="0">
                <a:solidFill>
                  <a:srgbClr val="000000"/>
                </a:solidFill>
                <a:effectLst/>
                <a:latin typeface="Consolas" panose="020B0609020204030204" pitchFamily="49" charset="0"/>
              </a:rPr>
              <a:t> = </a:t>
            </a:r>
            <a:r>
              <a:rPr lang="es-ES" sz="1200" b="0" dirty="0" err="1">
                <a:solidFill>
                  <a:srgbClr val="000000"/>
                </a:solidFill>
                <a:effectLst/>
                <a:latin typeface="Consolas" panose="020B0609020204030204" pitchFamily="49" charset="0"/>
              </a:rPr>
              <a:t>np.mean</a:t>
            </a:r>
            <a:r>
              <a:rPr lang="es-ES" sz="1200" b="0" dirty="0">
                <a:solidFill>
                  <a:srgbClr val="000000"/>
                </a:solidFill>
                <a:effectLst/>
                <a:latin typeface="Consolas" panose="020B0609020204030204" pitchFamily="49" charset="0"/>
              </a:rPr>
              <a:t>(</a:t>
            </a:r>
            <a:r>
              <a:rPr lang="es-ES" sz="1200" b="0" dirty="0" err="1">
                <a:solidFill>
                  <a:srgbClr val="000000"/>
                </a:solidFill>
                <a:effectLst/>
                <a:latin typeface="Consolas" panose="020B0609020204030204" pitchFamily="49" charset="0"/>
              </a:rPr>
              <a:t>cluster_points</a:t>
            </a:r>
            <a:r>
              <a:rPr lang="es-ES" sz="1200" b="0" dirty="0">
                <a:solidFill>
                  <a:srgbClr val="000000"/>
                </a:solidFill>
                <a:effectLst/>
                <a:latin typeface="Consolas" panose="020B0609020204030204" pitchFamily="49" charset="0"/>
              </a:rPr>
              <a:t>, axis=</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  </a:t>
            </a:r>
          </a:p>
          <a:p>
            <a:pPr>
              <a:lnSpc>
                <a:spcPts val="1425"/>
              </a:lnSpc>
            </a:pP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wcss</a:t>
            </a:r>
            <a:r>
              <a:rPr lang="es-ES" sz="1200" b="0" dirty="0">
                <a:solidFill>
                  <a:srgbClr val="000000"/>
                </a:solidFill>
                <a:effectLst/>
                <a:latin typeface="Consolas" panose="020B0609020204030204" pitchFamily="49" charset="0"/>
              </a:rPr>
              <a:t> += </a:t>
            </a:r>
            <a:r>
              <a:rPr lang="es-ES" sz="1200" b="0" dirty="0" err="1">
                <a:solidFill>
                  <a:srgbClr val="000000"/>
                </a:solidFill>
                <a:effectLst/>
                <a:latin typeface="Consolas" panose="020B0609020204030204" pitchFamily="49" charset="0"/>
              </a:rPr>
              <a:t>np.sum</a:t>
            </a:r>
            <a:r>
              <a:rPr lang="es-ES" sz="1200" b="0" dirty="0">
                <a:solidFill>
                  <a:srgbClr val="000000"/>
                </a:solidFill>
                <a:effectLst/>
                <a:latin typeface="Consolas" panose="020B0609020204030204" pitchFamily="49" charset="0"/>
              </a:rPr>
              <a:t>((</a:t>
            </a:r>
            <a:r>
              <a:rPr lang="es-ES" sz="1200" b="0" dirty="0" err="1">
                <a:solidFill>
                  <a:srgbClr val="000000"/>
                </a:solidFill>
                <a:effectLst/>
                <a:latin typeface="Consolas" panose="020B0609020204030204" pitchFamily="49" charset="0"/>
              </a:rPr>
              <a:t>cluster_points</a:t>
            </a:r>
            <a:r>
              <a:rPr lang="es-ES" sz="1200" b="0" dirty="0">
                <a:solidFill>
                  <a:srgbClr val="000000"/>
                </a:solidFill>
                <a:effectLst/>
                <a:latin typeface="Consolas" panose="020B0609020204030204" pitchFamily="49" charset="0"/>
              </a:rPr>
              <a:t> - </a:t>
            </a:r>
            <a:r>
              <a:rPr lang="es-ES" sz="1200" b="0" dirty="0" err="1">
                <a:solidFill>
                  <a:srgbClr val="000000"/>
                </a:solidFill>
                <a:effectLst/>
                <a:latin typeface="Consolas" panose="020B0609020204030204" pitchFamily="49" charset="0"/>
              </a:rPr>
              <a:t>centroid</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2</a:t>
            </a:r>
            <a:r>
              <a:rPr lang="es-ES" sz="1200" b="0" dirty="0">
                <a:solidFill>
                  <a:srgbClr val="000000"/>
                </a:solidFill>
                <a:effectLst/>
                <a:latin typeface="Consolas" panose="020B0609020204030204" pitchFamily="49" charset="0"/>
              </a:rPr>
              <a:t>)  </a:t>
            </a:r>
          </a:p>
          <a:p>
            <a:pPr>
              <a:lnSpc>
                <a:spcPts val="1425"/>
              </a:lnSpc>
            </a:pP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return</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wcss</a:t>
            </a:r>
            <a:endParaRPr lang="es-ES" sz="1200" b="0" dirty="0">
              <a:solidFill>
                <a:srgbClr val="000000"/>
              </a:solidFill>
              <a:effectLst/>
              <a:latin typeface="Consolas" panose="020B0609020204030204" pitchFamily="49" charset="0"/>
            </a:endParaRPr>
          </a:p>
          <a:p>
            <a:pPr>
              <a:lnSpc>
                <a:spcPts val="1425"/>
              </a:lnSpc>
            </a:pPr>
            <a:r>
              <a:rPr lang="en-US" sz="1200" dirty="0">
                <a:solidFill>
                  <a:srgbClr val="000000"/>
                </a:solidFill>
                <a:latin typeface="Consolas" panose="020B0609020204030204" pitchFamily="49" charset="0"/>
              </a:rPr>
              <a:t/>
            </a:r>
            <a:br>
              <a:rPr lang="en-US" sz="1200" dirty="0">
                <a:solidFill>
                  <a:srgbClr val="000000"/>
                </a:solidFill>
                <a:latin typeface="Consolas" panose="020B0609020204030204" pitchFamily="49" charset="0"/>
              </a:rPr>
            </a:br>
            <a:r>
              <a:rPr lang="en-US" sz="1200" b="0" dirty="0" err="1">
                <a:solidFill>
                  <a:srgbClr val="000000"/>
                </a:solidFill>
                <a:effectLst/>
                <a:latin typeface="Consolas" panose="020B0609020204030204" pitchFamily="49" charset="0"/>
              </a:rPr>
              <a:t>wcss_values</a:t>
            </a:r>
            <a:r>
              <a:rPr lang="en-US" sz="1200" b="0" dirty="0">
                <a:solidFill>
                  <a:srgbClr val="000000"/>
                </a:solidFill>
                <a:effectLst/>
                <a:latin typeface="Consolas" panose="020B0609020204030204" pitchFamily="49" charset="0"/>
              </a:rPr>
              <a:t> = []</a:t>
            </a:r>
          </a:p>
          <a:p>
            <a:pPr>
              <a:lnSpc>
                <a:spcPts val="1425"/>
              </a:lnSpc>
            </a:pPr>
            <a:r>
              <a:rPr lang="en-US" sz="1200" b="0" dirty="0">
                <a:solidFill>
                  <a:srgbClr val="000000"/>
                </a:solidFill>
                <a:effectLst/>
                <a:latin typeface="Consolas" panose="020B0609020204030204" pitchFamily="49" charset="0"/>
              </a:rPr>
              <a:t/>
            </a: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Probar</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diferentes</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números</a:t>
            </a:r>
            <a:r>
              <a:rPr lang="en-US" sz="1200" b="0" dirty="0">
                <a:solidFill>
                  <a:srgbClr val="008000"/>
                </a:solidFill>
                <a:effectLst/>
                <a:latin typeface="Consolas" panose="020B0609020204030204" pitchFamily="49" charset="0"/>
              </a:rPr>
              <a:t> de clusters</a:t>
            </a:r>
            <a:endParaRPr lang="en-US" sz="1200" b="0" dirty="0">
              <a:solidFill>
                <a:srgbClr val="000000"/>
              </a:solidFill>
              <a:effectLst/>
              <a:latin typeface="Consolas" panose="020B0609020204030204" pitchFamily="49" charset="0"/>
            </a:endParaRPr>
          </a:p>
          <a:p>
            <a:pPr>
              <a:lnSpc>
                <a:spcPts val="1425"/>
              </a:lnSpc>
            </a:pPr>
            <a:r>
              <a:rPr lang="en-US" sz="1200" b="0" dirty="0">
                <a:solidFill>
                  <a:srgbClr val="0000FF"/>
                </a:solidFill>
                <a:effectLst/>
                <a:latin typeface="Consolas" panose="020B0609020204030204" pitchFamily="49" charset="0"/>
              </a:rPr>
              <a:t>for</a:t>
            </a:r>
            <a:r>
              <a:rPr lang="en-US" sz="1200" b="0" dirty="0">
                <a:solidFill>
                  <a:srgbClr val="000000"/>
                </a:solidFill>
                <a:effectLst/>
                <a:latin typeface="Consolas" panose="020B0609020204030204" pitchFamily="49" charset="0"/>
              </a:rPr>
              <a:t> k </a:t>
            </a:r>
            <a:r>
              <a:rPr lang="en-US" sz="1200" b="0" dirty="0">
                <a:solidFill>
                  <a:srgbClr val="0000FF"/>
                </a:solidFill>
                <a:effectLst/>
                <a:latin typeface="Consolas" panose="020B0609020204030204" pitchFamily="49" charset="0"/>
              </a:rPr>
              <a:t>in</a:t>
            </a:r>
            <a:r>
              <a:rPr lang="en-US" sz="1200" b="0" dirty="0">
                <a:solidFill>
                  <a:srgbClr val="000000"/>
                </a:solidFill>
                <a:effectLst/>
                <a:latin typeface="Consolas" panose="020B0609020204030204" pitchFamily="49" charset="0"/>
              </a:rPr>
              <a:t> range(</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11</a:t>
            </a:r>
            <a:r>
              <a:rPr lang="en-US" sz="1200" b="0" dirty="0">
                <a:solidFill>
                  <a:srgbClr val="000000"/>
                </a:solidFill>
                <a:effectLst/>
                <a:latin typeface="Consolas" panose="020B0609020204030204" pitchFamily="49" charset="0"/>
              </a:rPr>
              <a:t>):</a:t>
            </a:r>
          </a:p>
          <a:p>
            <a:pPr>
              <a:lnSpc>
                <a:spcPts val="1425"/>
              </a:lnSpc>
            </a:pPr>
            <a:r>
              <a:rPr lang="en-US" sz="1200" b="0" dirty="0">
                <a:solidFill>
                  <a:srgbClr val="000000"/>
                </a:solidFill>
                <a:effectLst/>
                <a:latin typeface="Consolas" panose="020B0609020204030204" pitchFamily="49" charset="0"/>
              </a:rPr>
              <a:t>    clustering = </a:t>
            </a:r>
            <a:r>
              <a:rPr lang="en-US" sz="1200" b="0" dirty="0" err="1">
                <a:solidFill>
                  <a:srgbClr val="000000"/>
                </a:solidFill>
                <a:effectLst/>
                <a:latin typeface="Consolas" panose="020B0609020204030204" pitchFamily="49" charset="0"/>
              </a:rPr>
              <a:t>AgglomerativeClustering</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n_clusters</a:t>
            </a:r>
            <a:r>
              <a:rPr lang="en-US" sz="1200" b="0" dirty="0">
                <a:solidFill>
                  <a:srgbClr val="000000"/>
                </a:solidFill>
                <a:effectLst/>
                <a:latin typeface="Consolas" panose="020B0609020204030204" pitchFamily="49" charset="0"/>
              </a:rPr>
              <a:t>=k, linkage=</a:t>
            </a:r>
            <a:r>
              <a:rPr lang="en-US" sz="1200" b="0" dirty="0">
                <a:solidFill>
                  <a:srgbClr val="A31515"/>
                </a:solidFill>
                <a:effectLst/>
                <a:latin typeface="Consolas" panose="020B0609020204030204" pitchFamily="49" charset="0"/>
              </a:rPr>
              <a:t>'ward'</a:t>
            </a:r>
            <a:r>
              <a:rPr lang="en-US" sz="1200" b="0" dirty="0">
                <a:solidFill>
                  <a:srgbClr val="000000"/>
                </a:solidFill>
                <a:effectLst/>
                <a:latin typeface="Consolas" panose="020B0609020204030204" pitchFamily="49" charset="0"/>
              </a:rPr>
              <a:t>)</a:t>
            </a:r>
          </a:p>
          <a:p>
            <a:pPr>
              <a:lnSpc>
                <a:spcPts val="1425"/>
              </a:lnSpc>
            </a:pPr>
            <a:r>
              <a:rPr lang="en-US" sz="1200" b="0" dirty="0">
                <a:solidFill>
                  <a:srgbClr val="000000"/>
                </a:solidFill>
                <a:effectLst/>
                <a:latin typeface="Consolas" panose="020B0609020204030204" pitchFamily="49" charset="0"/>
              </a:rPr>
              <a:t>    labels = </a:t>
            </a:r>
            <a:r>
              <a:rPr lang="en-US" sz="1200" b="0" dirty="0" err="1">
                <a:solidFill>
                  <a:srgbClr val="000000"/>
                </a:solidFill>
                <a:effectLst/>
                <a:latin typeface="Consolas" panose="020B0609020204030204" pitchFamily="49" charset="0"/>
              </a:rPr>
              <a:t>clustering.fit_predict</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X_scaled</a:t>
            </a:r>
            <a:r>
              <a:rPr lang="en-US" sz="1200" b="0" dirty="0">
                <a:solidFill>
                  <a:srgbClr val="000000"/>
                </a:solidFill>
                <a:effectLst/>
                <a:latin typeface="Consolas" panose="020B0609020204030204" pitchFamily="49" charset="0"/>
              </a:rPr>
              <a:t>)</a:t>
            </a:r>
          </a:p>
          <a:p>
            <a:pPr>
              <a:lnSpc>
                <a:spcPts val="1425"/>
              </a:lnSpc>
            </a:pP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wcss_values.append</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compute_wcss</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X_scaled</a:t>
            </a:r>
            <a:r>
              <a:rPr lang="en-US" sz="1200" b="0" dirty="0">
                <a:solidFill>
                  <a:srgbClr val="000000"/>
                </a:solidFill>
                <a:effectLst/>
                <a:latin typeface="Consolas" panose="020B0609020204030204" pitchFamily="49" charset="0"/>
              </a:rPr>
              <a:t>, labels))</a:t>
            </a:r>
          </a:p>
          <a:p>
            <a:pPr>
              <a:lnSpc>
                <a:spcPts val="1425"/>
              </a:lnSpc>
            </a:pPr>
            <a:r>
              <a:rPr lang="en-US" sz="1200" b="0" dirty="0">
                <a:solidFill>
                  <a:srgbClr val="000000"/>
                </a:solidFill>
                <a:effectLst/>
                <a:latin typeface="Consolas" panose="020B0609020204030204" pitchFamily="49" charset="0"/>
              </a:rPr>
              <a:t/>
            </a: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Graficar</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el</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método</a:t>
            </a:r>
            <a:r>
              <a:rPr lang="en-US" sz="1200" b="0" dirty="0">
                <a:solidFill>
                  <a:srgbClr val="008000"/>
                </a:solidFill>
                <a:effectLst/>
                <a:latin typeface="Consolas" panose="020B0609020204030204" pitchFamily="49" charset="0"/>
              </a:rPr>
              <a:t> del </a:t>
            </a:r>
            <a:r>
              <a:rPr lang="en-US" sz="1200" b="0" dirty="0" err="1">
                <a:solidFill>
                  <a:srgbClr val="008000"/>
                </a:solidFill>
                <a:effectLst/>
                <a:latin typeface="Consolas" panose="020B0609020204030204" pitchFamily="49" charset="0"/>
              </a:rPr>
              <a:t>codo</a:t>
            </a:r>
            <a:endParaRPr lang="en-US" sz="1200" b="0" dirty="0">
              <a:solidFill>
                <a:srgbClr val="000000"/>
              </a:solidFill>
              <a:effectLst/>
              <a:latin typeface="Consolas" panose="020B0609020204030204" pitchFamily="49" charset="0"/>
            </a:endParaRPr>
          </a:p>
          <a:p>
            <a:pPr>
              <a:lnSpc>
                <a:spcPts val="1425"/>
              </a:lnSpc>
            </a:pPr>
            <a:r>
              <a:rPr lang="en-US" sz="1200" b="0" dirty="0" err="1">
                <a:solidFill>
                  <a:srgbClr val="000000"/>
                </a:solidFill>
                <a:effectLst/>
                <a:latin typeface="Consolas" panose="020B0609020204030204" pitchFamily="49" charset="0"/>
              </a:rPr>
              <a:t>plt.plot</a:t>
            </a:r>
            <a:r>
              <a:rPr lang="en-US" sz="1200" b="0" dirty="0">
                <a:solidFill>
                  <a:srgbClr val="000000"/>
                </a:solidFill>
                <a:effectLst/>
                <a:latin typeface="Consolas" panose="020B0609020204030204" pitchFamily="49" charset="0"/>
              </a:rPr>
              <a:t>(range(</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11</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wcss_values</a:t>
            </a:r>
            <a:r>
              <a:rPr lang="en-US" sz="1200" b="0" dirty="0">
                <a:solidFill>
                  <a:srgbClr val="000000"/>
                </a:solidFill>
                <a:effectLst/>
                <a:latin typeface="Consolas" panose="020B0609020204030204" pitchFamily="49" charset="0"/>
              </a:rPr>
              <a:t>, marker=</a:t>
            </a:r>
            <a:r>
              <a:rPr lang="en-US" sz="1200" b="0" dirty="0">
                <a:solidFill>
                  <a:srgbClr val="A31515"/>
                </a:solidFill>
                <a:effectLst/>
                <a:latin typeface="Consolas" panose="020B0609020204030204" pitchFamily="49" charset="0"/>
              </a:rPr>
              <a:t>'o'</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linestyle</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425"/>
              </a:lnSpc>
            </a:pPr>
            <a:r>
              <a:rPr lang="en-US" sz="1200" b="0" dirty="0" err="1">
                <a:solidFill>
                  <a:srgbClr val="000000"/>
                </a:solidFill>
                <a:effectLst/>
                <a:latin typeface="Consolas" panose="020B0609020204030204" pitchFamily="49" charset="0"/>
              </a:rPr>
              <a:t>plt.xlabel</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Número</a:t>
            </a:r>
            <a:r>
              <a:rPr lang="en-US" sz="1200" b="0" dirty="0">
                <a:solidFill>
                  <a:srgbClr val="A31515"/>
                </a:solidFill>
                <a:effectLst/>
                <a:latin typeface="Consolas" panose="020B0609020204030204" pitchFamily="49" charset="0"/>
              </a:rPr>
              <a:t> de Clusters"</a:t>
            </a:r>
            <a:r>
              <a:rPr lang="en-US" sz="1200" b="0" dirty="0">
                <a:solidFill>
                  <a:srgbClr val="000000"/>
                </a:solidFill>
                <a:effectLst/>
                <a:latin typeface="Consolas" panose="020B0609020204030204" pitchFamily="49" charset="0"/>
              </a:rPr>
              <a:t>)</a:t>
            </a:r>
          </a:p>
          <a:p>
            <a:pPr>
              <a:lnSpc>
                <a:spcPts val="1425"/>
              </a:lnSpc>
            </a:pPr>
            <a:r>
              <a:rPr lang="en-US" sz="1200" b="0" dirty="0" err="1">
                <a:solidFill>
                  <a:srgbClr val="000000"/>
                </a:solidFill>
                <a:effectLst/>
                <a:latin typeface="Consolas" panose="020B0609020204030204" pitchFamily="49" charset="0"/>
              </a:rPr>
              <a:t>plt.ylabel</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"WCSS"</a:t>
            </a:r>
            <a:r>
              <a:rPr lang="en-US" sz="1200" b="0" dirty="0">
                <a:solidFill>
                  <a:srgbClr val="000000"/>
                </a:solidFill>
                <a:effectLst/>
                <a:latin typeface="Consolas" panose="020B0609020204030204" pitchFamily="49" charset="0"/>
              </a:rPr>
              <a:t>)</a:t>
            </a:r>
          </a:p>
          <a:p>
            <a:pPr>
              <a:lnSpc>
                <a:spcPts val="1425"/>
              </a:lnSpc>
            </a:pPr>
            <a:r>
              <a:rPr lang="en-US" sz="1200" b="0" dirty="0" err="1">
                <a:solidFill>
                  <a:srgbClr val="000000"/>
                </a:solidFill>
                <a:effectLst/>
                <a:latin typeface="Consolas" panose="020B0609020204030204" pitchFamily="49" charset="0"/>
              </a:rPr>
              <a:t>plt.title</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Método</a:t>
            </a:r>
            <a:r>
              <a:rPr lang="en-US" sz="1200" b="0" dirty="0">
                <a:solidFill>
                  <a:srgbClr val="A31515"/>
                </a:solidFill>
                <a:effectLst/>
                <a:latin typeface="Consolas" panose="020B0609020204030204" pitchFamily="49" charset="0"/>
              </a:rPr>
              <a:t> del Codo para Agglomerative Clustering"</a:t>
            </a:r>
            <a:r>
              <a:rPr lang="en-US" sz="1200" b="0" dirty="0">
                <a:solidFill>
                  <a:srgbClr val="000000"/>
                </a:solidFill>
                <a:effectLst/>
                <a:latin typeface="Consolas" panose="020B0609020204030204" pitchFamily="49" charset="0"/>
              </a:rPr>
              <a:t>)</a:t>
            </a:r>
          </a:p>
          <a:p>
            <a:pPr>
              <a:lnSpc>
                <a:spcPts val="1425"/>
              </a:lnSpc>
            </a:pPr>
            <a:r>
              <a:rPr lang="en-US" sz="1200" b="0" dirty="0" err="1">
                <a:solidFill>
                  <a:srgbClr val="000000"/>
                </a:solidFill>
                <a:effectLst/>
                <a:latin typeface="Consolas" panose="020B0609020204030204" pitchFamily="49" charset="0"/>
              </a:rPr>
              <a:t>plt.show</a:t>
            </a:r>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370608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A3524-B2F9-71D9-1A80-14BDAF16B606}"/>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8E514798-D06F-EF47-9420-7BAB9D49170E}"/>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37</a:t>
            </a:fld>
            <a:endParaRPr lang="es-ES" dirty="0">
              <a:solidFill>
                <a:prstClr val="black">
                  <a:tint val="75000"/>
                </a:prstClr>
              </a:solidFill>
            </a:endParaRPr>
          </a:p>
        </p:txBody>
      </p:sp>
      <p:sp>
        <p:nvSpPr>
          <p:cNvPr id="2" name="CuadroTexto 1">
            <a:extLst>
              <a:ext uri="{FF2B5EF4-FFF2-40B4-BE49-F238E27FC236}">
                <a16:creationId xmlns:a16="http://schemas.microsoft.com/office/drawing/2014/main" id="{0F4F9A57-1FCF-0B8F-15D8-9D9543FA2ABF}"/>
              </a:ext>
            </a:extLst>
          </p:cNvPr>
          <p:cNvSpPr txBox="1"/>
          <p:nvPr/>
        </p:nvSpPr>
        <p:spPr>
          <a:xfrm>
            <a:off x="427100" y="94478"/>
            <a:ext cx="3687997" cy="506292"/>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s-ES" sz="2000" dirty="0">
                <a:solidFill>
                  <a:schemeClr val="accent1">
                    <a:lumMod val="50000"/>
                  </a:schemeClr>
                </a:solidFill>
              </a:rPr>
              <a:t>Implementación del algoritmo.</a:t>
            </a:r>
          </a:p>
        </p:txBody>
      </p:sp>
      <p:sp>
        <p:nvSpPr>
          <p:cNvPr id="7" name="Rectángulo: esquinas redondeadas 6">
            <a:extLst>
              <a:ext uri="{FF2B5EF4-FFF2-40B4-BE49-F238E27FC236}">
                <a16:creationId xmlns:a16="http://schemas.microsoft.com/office/drawing/2014/main" id="{C41B750D-28EB-113C-37B7-C2B24149AD40}"/>
              </a:ext>
            </a:extLst>
          </p:cNvPr>
          <p:cNvSpPr/>
          <p:nvPr/>
        </p:nvSpPr>
        <p:spPr>
          <a:xfrm>
            <a:off x="599722" y="1223290"/>
            <a:ext cx="4343938" cy="1866140"/>
          </a:xfrm>
          <a:prstGeom prst="roundRect">
            <a:avLst/>
          </a:prstGeom>
          <a:solidFill>
            <a:schemeClr val="accent1">
              <a:lumMod val="20000"/>
              <a:lumOff val="80000"/>
              <a:alpha val="55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dirty="0">
                <a:solidFill>
                  <a:schemeClr val="accent1">
                    <a:lumMod val="50000"/>
                  </a:schemeClr>
                </a:solidFill>
              </a:rPr>
              <a:t>Elección variables de entrada.</a:t>
            </a:r>
          </a:p>
          <a:p>
            <a:pPr marL="342900" indent="-342900">
              <a:buFont typeface="Arial" panose="020B0604020202020204" pitchFamily="34" charset="0"/>
              <a:buChar char="•"/>
            </a:pPr>
            <a:r>
              <a:rPr lang="es-ES" dirty="0">
                <a:solidFill>
                  <a:schemeClr val="accent1">
                    <a:lumMod val="50000"/>
                  </a:schemeClr>
                </a:solidFill>
              </a:rPr>
              <a:t>Limpieza de datos.</a:t>
            </a:r>
          </a:p>
          <a:p>
            <a:pPr marL="342900" indent="-342900">
              <a:buFont typeface="Arial" panose="020B0604020202020204" pitchFamily="34" charset="0"/>
              <a:buChar char="•"/>
            </a:pPr>
            <a:r>
              <a:rPr lang="es-ES" dirty="0">
                <a:solidFill>
                  <a:schemeClr val="accent1">
                    <a:lumMod val="50000"/>
                  </a:schemeClr>
                </a:solidFill>
              </a:rPr>
              <a:t>Normalización o Estandarización de Variables Numéricas.</a:t>
            </a:r>
          </a:p>
          <a:p>
            <a:pPr marL="342900" indent="-342900">
              <a:buFont typeface="Arial" panose="020B0604020202020204" pitchFamily="34" charset="0"/>
              <a:buChar char="•"/>
            </a:pPr>
            <a:r>
              <a:rPr lang="es-ES" dirty="0">
                <a:solidFill>
                  <a:schemeClr val="accent1">
                    <a:lumMod val="50000"/>
                  </a:schemeClr>
                </a:solidFill>
              </a:rPr>
              <a:t>Conversión de Variables Categóricas a Formato Numérico.</a:t>
            </a:r>
          </a:p>
        </p:txBody>
      </p:sp>
      <p:sp>
        <p:nvSpPr>
          <p:cNvPr id="9" name="Rectángulo: esquinas redondeadas 8">
            <a:extLst>
              <a:ext uri="{FF2B5EF4-FFF2-40B4-BE49-F238E27FC236}">
                <a16:creationId xmlns:a16="http://schemas.microsoft.com/office/drawing/2014/main" id="{0A583899-4526-AD4F-BCBD-F7AD2DDE2B25}"/>
              </a:ext>
            </a:extLst>
          </p:cNvPr>
          <p:cNvSpPr/>
          <p:nvPr/>
        </p:nvSpPr>
        <p:spPr>
          <a:xfrm>
            <a:off x="599719" y="4144731"/>
            <a:ext cx="4343941" cy="1448201"/>
          </a:xfrm>
          <a:prstGeom prst="roundRect">
            <a:avLst/>
          </a:prstGeom>
          <a:solidFill>
            <a:schemeClr val="accent1">
              <a:lumMod val="20000"/>
              <a:lumOff val="80000"/>
              <a:alpha val="55000"/>
            </a:schemeClr>
          </a:solidFill>
          <a:ln w="19050">
            <a:solidFill>
              <a:schemeClr val="accent1">
                <a:shade val="15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s-ES" dirty="0">
                <a:solidFill>
                  <a:schemeClr val="accent1">
                    <a:lumMod val="50000"/>
                  </a:schemeClr>
                </a:solidFill>
              </a:rPr>
              <a:t>Elección del número de clústeres.</a:t>
            </a:r>
          </a:p>
          <a:p>
            <a:pPr marL="342900" indent="-342900">
              <a:buFont typeface="Arial" panose="020B0604020202020204" pitchFamily="34" charset="0"/>
              <a:buChar char="•"/>
            </a:pPr>
            <a:r>
              <a:rPr lang="es-ES" dirty="0">
                <a:solidFill>
                  <a:schemeClr val="accent1">
                    <a:lumMod val="50000"/>
                  </a:schemeClr>
                </a:solidFill>
              </a:rPr>
              <a:t>Agrupar según la métrica y el método.</a:t>
            </a:r>
          </a:p>
          <a:p>
            <a:pPr marL="342900" indent="-342900">
              <a:buFont typeface="Arial" panose="020B0604020202020204" pitchFamily="34" charset="0"/>
              <a:buChar char="•"/>
            </a:pPr>
            <a:r>
              <a:rPr lang="es-ES" dirty="0">
                <a:solidFill>
                  <a:schemeClr val="accent1">
                    <a:lumMod val="50000"/>
                  </a:schemeClr>
                </a:solidFill>
              </a:rPr>
              <a:t>Evaluación de la bondad del agrupamiento.</a:t>
            </a:r>
          </a:p>
        </p:txBody>
      </p:sp>
      <p:sp>
        <p:nvSpPr>
          <p:cNvPr id="12" name="Flecha: a la derecha 11">
            <a:extLst>
              <a:ext uri="{FF2B5EF4-FFF2-40B4-BE49-F238E27FC236}">
                <a16:creationId xmlns:a16="http://schemas.microsoft.com/office/drawing/2014/main" id="{14DB6136-09A0-DC80-88E9-135EADF7B7E5}"/>
              </a:ext>
            </a:extLst>
          </p:cNvPr>
          <p:cNvSpPr/>
          <p:nvPr/>
        </p:nvSpPr>
        <p:spPr>
          <a:xfrm>
            <a:off x="5008904" y="4681402"/>
            <a:ext cx="436552" cy="2536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esquinas redondeadas 14">
            <a:extLst>
              <a:ext uri="{FF2B5EF4-FFF2-40B4-BE49-F238E27FC236}">
                <a16:creationId xmlns:a16="http://schemas.microsoft.com/office/drawing/2014/main" id="{E5FF5FD8-8ED3-E31E-E5AD-59864581EF3E}"/>
              </a:ext>
            </a:extLst>
          </p:cNvPr>
          <p:cNvSpPr/>
          <p:nvPr/>
        </p:nvSpPr>
        <p:spPr>
          <a:xfrm>
            <a:off x="5705178" y="2011680"/>
            <a:ext cx="6338074" cy="4709796"/>
          </a:xfrm>
          <a:prstGeom prst="roundRect">
            <a:avLst>
              <a:gd name="adj" fmla="val 597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77B2F8D9-3A02-F3F6-6487-DF739618B376}"/>
              </a:ext>
            </a:extLst>
          </p:cNvPr>
          <p:cNvSpPr txBox="1"/>
          <p:nvPr/>
        </p:nvSpPr>
        <p:spPr>
          <a:xfrm>
            <a:off x="1498436" y="909615"/>
            <a:ext cx="2707857" cy="369332"/>
          </a:xfrm>
          <a:prstGeom prst="rect">
            <a:avLst/>
          </a:prstGeom>
          <a:noFill/>
        </p:spPr>
        <p:txBody>
          <a:bodyPr wrap="none" rtlCol="0">
            <a:spAutoFit/>
          </a:bodyPr>
          <a:lstStyle/>
          <a:p>
            <a:r>
              <a:rPr lang="es-ES" b="1" dirty="0">
                <a:solidFill>
                  <a:schemeClr val="accent1">
                    <a:lumMod val="50000"/>
                  </a:schemeClr>
                </a:solidFill>
              </a:rPr>
              <a:t>Preparación datos entrada</a:t>
            </a:r>
          </a:p>
        </p:txBody>
      </p:sp>
      <p:sp>
        <p:nvSpPr>
          <p:cNvPr id="17" name="CuadroTexto 16">
            <a:extLst>
              <a:ext uri="{FF2B5EF4-FFF2-40B4-BE49-F238E27FC236}">
                <a16:creationId xmlns:a16="http://schemas.microsoft.com/office/drawing/2014/main" id="{469AD4EA-B07F-8939-2BC3-A1B9004498FD}"/>
              </a:ext>
            </a:extLst>
          </p:cNvPr>
          <p:cNvSpPr txBox="1"/>
          <p:nvPr/>
        </p:nvSpPr>
        <p:spPr>
          <a:xfrm>
            <a:off x="1089978" y="3775399"/>
            <a:ext cx="3363421" cy="369332"/>
          </a:xfrm>
          <a:prstGeom prst="rect">
            <a:avLst/>
          </a:prstGeom>
          <a:noFill/>
        </p:spPr>
        <p:txBody>
          <a:bodyPr wrap="none" rtlCol="0">
            <a:spAutoFit/>
          </a:bodyPr>
          <a:lstStyle/>
          <a:p>
            <a:r>
              <a:rPr lang="es-ES" b="1" dirty="0">
                <a:solidFill>
                  <a:schemeClr val="accent1">
                    <a:lumMod val="50000"/>
                  </a:schemeClr>
                </a:solidFill>
              </a:rPr>
              <a:t>Predicción </a:t>
            </a:r>
            <a:r>
              <a:rPr lang="es-ES" b="1" dirty="0" err="1">
                <a:solidFill>
                  <a:schemeClr val="accent1">
                    <a:lumMod val="50000"/>
                  </a:schemeClr>
                </a:solidFill>
              </a:rPr>
              <a:t>Hierarchical</a:t>
            </a:r>
            <a:r>
              <a:rPr lang="es-ES" b="1" dirty="0">
                <a:solidFill>
                  <a:schemeClr val="accent1">
                    <a:lumMod val="50000"/>
                  </a:schemeClr>
                </a:solidFill>
              </a:rPr>
              <a:t> </a:t>
            </a:r>
            <a:r>
              <a:rPr lang="es-ES" b="1" dirty="0" err="1">
                <a:solidFill>
                  <a:schemeClr val="accent1">
                    <a:lumMod val="50000"/>
                  </a:schemeClr>
                </a:solidFill>
              </a:rPr>
              <a:t>Clustering</a:t>
            </a:r>
            <a:endParaRPr lang="es-ES" b="1" dirty="0">
              <a:solidFill>
                <a:schemeClr val="accent1">
                  <a:lumMod val="50000"/>
                </a:schemeClr>
              </a:solidFill>
            </a:endParaRPr>
          </a:p>
        </p:txBody>
      </p:sp>
      <p:sp>
        <p:nvSpPr>
          <p:cNvPr id="19" name="CuadroTexto 18">
            <a:extLst>
              <a:ext uri="{FF2B5EF4-FFF2-40B4-BE49-F238E27FC236}">
                <a16:creationId xmlns:a16="http://schemas.microsoft.com/office/drawing/2014/main" id="{FFF977EA-91EC-4AC7-8CF6-461FE5832D3E}"/>
              </a:ext>
            </a:extLst>
          </p:cNvPr>
          <p:cNvSpPr txBox="1"/>
          <p:nvPr/>
        </p:nvSpPr>
        <p:spPr>
          <a:xfrm>
            <a:off x="10664348" y="175683"/>
            <a:ext cx="1378904" cy="246221"/>
          </a:xfrm>
          <a:prstGeom prst="rect">
            <a:avLst/>
          </a:prstGeom>
          <a:noFill/>
        </p:spPr>
        <p:txBody>
          <a:bodyPr wrap="none" rtlCol="0">
            <a:spAutoFit/>
          </a:bodyPr>
          <a:lstStyle/>
          <a:p>
            <a:r>
              <a:rPr lang="es-ES" sz="1000" b="1" dirty="0" err="1">
                <a:solidFill>
                  <a:schemeClr val="accent1">
                    <a:lumMod val="50000"/>
                  </a:schemeClr>
                </a:solidFill>
              </a:rPr>
              <a:t>Hierarchical</a:t>
            </a:r>
            <a:r>
              <a:rPr lang="es-ES" sz="1000" b="1" dirty="0">
                <a:solidFill>
                  <a:schemeClr val="accent1">
                    <a:lumMod val="50000"/>
                  </a:schemeClr>
                </a:solidFill>
              </a:rPr>
              <a:t> </a:t>
            </a:r>
            <a:r>
              <a:rPr lang="es-ES" sz="1000" b="1" dirty="0" err="1">
                <a:solidFill>
                  <a:schemeClr val="accent1">
                    <a:lumMod val="50000"/>
                  </a:schemeClr>
                </a:solidFill>
              </a:rPr>
              <a:t>Clustering</a:t>
            </a:r>
            <a:endParaRPr lang="es-ES" sz="4000" b="1" dirty="0">
              <a:solidFill>
                <a:schemeClr val="accent1">
                  <a:lumMod val="50000"/>
                </a:schemeClr>
              </a:solidFill>
            </a:endParaRPr>
          </a:p>
        </p:txBody>
      </p:sp>
      <p:sp>
        <p:nvSpPr>
          <p:cNvPr id="3" name="Rectángulo 2">
            <a:extLst>
              <a:ext uri="{FF2B5EF4-FFF2-40B4-BE49-F238E27FC236}">
                <a16:creationId xmlns:a16="http://schemas.microsoft.com/office/drawing/2014/main" id="{6B15A2D8-E42F-EE9A-5FEF-263D9EEC38C9}"/>
              </a:ext>
            </a:extLst>
          </p:cNvPr>
          <p:cNvSpPr/>
          <p:nvPr/>
        </p:nvSpPr>
        <p:spPr>
          <a:xfrm>
            <a:off x="5924537" y="2069362"/>
            <a:ext cx="6096000" cy="4401205"/>
          </a:xfrm>
          <a:prstGeom prst="rect">
            <a:avLst/>
          </a:prstGeom>
        </p:spPr>
        <p:txBody>
          <a:bodyPr wrap="square">
            <a:spAutoFit/>
          </a:bodyPr>
          <a:lstStyle/>
          <a:p>
            <a:pPr>
              <a:lnSpc>
                <a:spcPts val="1425"/>
              </a:lnSpc>
            </a:pPr>
            <a:r>
              <a:rPr lang="es-ES" sz="1200" b="0" dirty="0" err="1">
                <a:solidFill>
                  <a:srgbClr val="0000FF"/>
                </a:solidFill>
                <a:effectLst/>
                <a:latin typeface="Consolas" panose="020B0609020204030204" pitchFamily="49" charset="0"/>
              </a:rPr>
              <a:t>def</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compute_wcss</a:t>
            </a:r>
            <a:r>
              <a:rPr lang="es-ES" sz="1200" b="0" dirty="0">
                <a:solidFill>
                  <a:srgbClr val="000000"/>
                </a:solidFill>
                <a:effectLst/>
                <a:latin typeface="Consolas" panose="020B0609020204030204" pitchFamily="49" charset="0"/>
              </a:rPr>
              <a:t>(X, </a:t>
            </a:r>
            <a:r>
              <a:rPr lang="es-ES" sz="1200" b="0" dirty="0" err="1">
                <a:solidFill>
                  <a:srgbClr val="000000"/>
                </a:solidFill>
                <a:effectLst/>
                <a:latin typeface="Consolas" panose="020B0609020204030204" pitchFamily="49" charset="0"/>
              </a:rPr>
              <a:t>labels</a:t>
            </a:r>
            <a:r>
              <a:rPr lang="es-ES" sz="1200" b="0" dirty="0">
                <a:solidFill>
                  <a:srgbClr val="000000"/>
                </a:solidFill>
                <a:effectLst/>
                <a:latin typeface="Consolas" panose="020B0609020204030204" pitchFamily="49" charset="0"/>
              </a:rPr>
              <a:t>):</a:t>
            </a:r>
          </a:p>
          <a:p>
            <a:pPr>
              <a:lnSpc>
                <a:spcPts val="1425"/>
              </a:lnSpc>
            </a:pP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wcss</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0</a:t>
            </a:r>
            <a:endParaRPr lang="es-ES" sz="1200" b="0" dirty="0">
              <a:solidFill>
                <a:srgbClr val="000000"/>
              </a:solidFill>
              <a:effectLst/>
              <a:latin typeface="Consolas" panose="020B0609020204030204" pitchFamily="49" charset="0"/>
            </a:endParaRPr>
          </a:p>
          <a:p>
            <a:pPr>
              <a:lnSpc>
                <a:spcPts val="1425"/>
              </a:lnSpc>
            </a:pP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for</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cluster</a:t>
            </a:r>
            <a:r>
              <a:rPr lang="es-ES" sz="1200" b="0" dirty="0">
                <a:solidFill>
                  <a:srgbClr val="000000"/>
                </a:solidFill>
                <a:effectLst/>
                <a:latin typeface="Consolas" panose="020B0609020204030204" pitchFamily="49" charset="0"/>
              </a:rPr>
              <a:t> </a:t>
            </a:r>
            <a:r>
              <a:rPr lang="es-ES" sz="1200" b="0" dirty="0">
                <a:solidFill>
                  <a:srgbClr val="0000FF"/>
                </a:solidFill>
                <a:effectLst/>
                <a:latin typeface="Consolas" panose="020B0609020204030204" pitchFamily="49" charset="0"/>
              </a:rPr>
              <a:t>in</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np.unique</a:t>
            </a:r>
            <a:r>
              <a:rPr lang="es-ES" sz="1200" b="0" dirty="0">
                <a:solidFill>
                  <a:srgbClr val="000000"/>
                </a:solidFill>
                <a:effectLst/>
                <a:latin typeface="Consolas" panose="020B0609020204030204" pitchFamily="49" charset="0"/>
              </a:rPr>
              <a:t>(</a:t>
            </a:r>
            <a:r>
              <a:rPr lang="es-ES" sz="1200" b="0" dirty="0" err="1">
                <a:solidFill>
                  <a:srgbClr val="000000"/>
                </a:solidFill>
                <a:effectLst/>
                <a:latin typeface="Consolas" panose="020B0609020204030204" pitchFamily="49" charset="0"/>
              </a:rPr>
              <a:t>labels</a:t>
            </a:r>
            <a:r>
              <a:rPr lang="es-ES" sz="1200" b="0" dirty="0">
                <a:solidFill>
                  <a:srgbClr val="000000"/>
                </a:solidFill>
                <a:effectLst/>
                <a:latin typeface="Consolas" panose="020B0609020204030204" pitchFamily="49" charset="0"/>
              </a:rPr>
              <a:t>):</a:t>
            </a:r>
          </a:p>
          <a:p>
            <a:pPr>
              <a:lnSpc>
                <a:spcPts val="1425"/>
              </a:lnSpc>
            </a:pPr>
            <a:r>
              <a:rPr lang="es-ES" sz="1200" dirty="0">
                <a:solidFill>
                  <a:srgbClr val="008000"/>
                </a:solidFill>
                <a:latin typeface="Consolas" panose="020B0609020204030204" pitchFamily="49" charset="0"/>
              </a:rPr>
              <a:t>        </a:t>
            </a:r>
            <a:r>
              <a:rPr lang="es-ES" sz="1200" b="0" dirty="0">
                <a:solidFill>
                  <a:srgbClr val="008000"/>
                </a:solidFill>
                <a:effectLst/>
                <a:latin typeface="Consolas" panose="020B0609020204030204" pitchFamily="49" charset="0"/>
              </a:rPr>
              <a:t># Extraer puntos del </a:t>
            </a:r>
            <a:r>
              <a:rPr lang="es-ES" sz="1200" b="0" dirty="0" err="1">
                <a:solidFill>
                  <a:srgbClr val="008000"/>
                </a:solidFill>
                <a:effectLst/>
                <a:latin typeface="Consolas" panose="020B0609020204030204" pitchFamily="49" charset="0"/>
              </a:rPr>
              <a:t>cluster</a:t>
            </a:r>
            <a:endParaRPr lang="es-ES" sz="1200" b="0" dirty="0">
              <a:solidFill>
                <a:srgbClr val="000000"/>
              </a:solidFill>
              <a:effectLst/>
              <a:latin typeface="Consolas" panose="020B0609020204030204" pitchFamily="49" charset="0"/>
            </a:endParaRPr>
          </a:p>
          <a:p>
            <a:pPr>
              <a:lnSpc>
                <a:spcPts val="1425"/>
              </a:lnSpc>
            </a:pP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cluster_points</a:t>
            </a:r>
            <a:r>
              <a:rPr lang="es-ES" sz="1200" b="0" dirty="0">
                <a:solidFill>
                  <a:srgbClr val="000000"/>
                </a:solidFill>
                <a:effectLst/>
                <a:latin typeface="Consolas" panose="020B0609020204030204" pitchFamily="49" charset="0"/>
              </a:rPr>
              <a:t> = X[</a:t>
            </a:r>
            <a:r>
              <a:rPr lang="es-ES" sz="1200" b="0" dirty="0" err="1">
                <a:solidFill>
                  <a:srgbClr val="000000"/>
                </a:solidFill>
                <a:effectLst/>
                <a:latin typeface="Consolas" panose="020B0609020204030204" pitchFamily="49" charset="0"/>
              </a:rPr>
              <a:t>labels</a:t>
            </a:r>
            <a:r>
              <a:rPr lang="es-ES" sz="1200" b="0" dirty="0">
                <a:solidFill>
                  <a:srgbClr val="000000"/>
                </a:solidFill>
                <a:effectLst/>
                <a:latin typeface="Consolas" panose="020B0609020204030204" pitchFamily="49" charset="0"/>
              </a:rPr>
              <a:t> == </a:t>
            </a:r>
            <a:r>
              <a:rPr lang="es-ES" sz="1200" b="0" dirty="0" err="1">
                <a:solidFill>
                  <a:srgbClr val="000000"/>
                </a:solidFill>
                <a:effectLst/>
                <a:latin typeface="Consolas" panose="020B0609020204030204" pitchFamily="49" charset="0"/>
              </a:rPr>
              <a:t>cluster</a:t>
            </a:r>
            <a:r>
              <a:rPr lang="es-ES" sz="1200" b="0" dirty="0">
                <a:solidFill>
                  <a:srgbClr val="000000"/>
                </a:solidFill>
                <a:effectLst/>
                <a:latin typeface="Consolas" panose="020B0609020204030204" pitchFamily="49" charset="0"/>
              </a:rPr>
              <a:t>]  </a:t>
            </a:r>
          </a:p>
          <a:p>
            <a:pPr>
              <a:lnSpc>
                <a:spcPts val="1425"/>
              </a:lnSpc>
            </a:pPr>
            <a:r>
              <a:rPr lang="es-ES" sz="1200" dirty="0">
                <a:solidFill>
                  <a:srgbClr val="000000"/>
                </a:solidFill>
                <a:latin typeface="Consolas" panose="020B0609020204030204" pitchFamily="49" charset="0"/>
              </a:rPr>
              <a:t>        </a:t>
            </a:r>
            <a:r>
              <a:rPr lang="es-ES" sz="1200" b="0" dirty="0">
                <a:solidFill>
                  <a:srgbClr val="008000"/>
                </a:solidFill>
                <a:effectLst/>
                <a:latin typeface="Consolas" panose="020B0609020204030204" pitchFamily="49" charset="0"/>
              </a:rPr>
              <a:t># Calcular centroide</a:t>
            </a:r>
            <a:endParaRPr lang="es-ES" sz="1200" b="0" dirty="0">
              <a:solidFill>
                <a:srgbClr val="000000"/>
              </a:solidFill>
              <a:effectLst/>
              <a:latin typeface="Consolas" panose="020B0609020204030204" pitchFamily="49" charset="0"/>
            </a:endParaRPr>
          </a:p>
          <a:p>
            <a:pPr>
              <a:lnSpc>
                <a:spcPts val="1425"/>
              </a:lnSpc>
            </a:pP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centroid</a:t>
            </a:r>
            <a:r>
              <a:rPr lang="es-ES" sz="1200" b="0" dirty="0">
                <a:solidFill>
                  <a:srgbClr val="000000"/>
                </a:solidFill>
                <a:effectLst/>
                <a:latin typeface="Consolas" panose="020B0609020204030204" pitchFamily="49" charset="0"/>
              </a:rPr>
              <a:t> = </a:t>
            </a:r>
            <a:r>
              <a:rPr lang="es-ES" sz="1200" b="0" dirty="0" err="1">
                <a:solidFill>
                  <a:srgbClr val="000000"/>
                </a:solidFill>
                <a:effectLst/>
                <a:latin typeface="Consolas" panose="020B0609020204030204" pitchFamily="49" charset="0"/>
              </a:rPr>
              <a:t>np.mean</a:t>
            </a:r>
            <a:r>
              <a:rPr lang="es-ES" sz="1200" b="0" dirty="0">
                <a:solidFill>
                  <a:srgbClr val="000000"/>
                </a:solidFill>
                <a:effectLst/>
                <a:latin typeface="Consolas" panose="020B0609020204030204" pitchFamily="49" charset="0"/>
              </a:rPr>
              <a:t>(</a:t>
            </a:r>
            <a:r>
              <a:rPr lang="es-ES" sz="1200" b="0" dirty="0" err="1">
                <a:solidFill>
                  <a:srgbClr val="000000"/>
                </a:solidFill>
                <a:effectLst/>
                <a:latin typeface="Consolas" panose="020B0609020204030204" pitchFamily="49" charset="0"/>
              </a:rPr>
              <a:t>cluster_points</a:t>
            </a:r>
            <a:r>
              <a:rPr lang="es-ES" sz="1200" b="0" dirty="0">
                <a:solidFill>
                  <a:srgbClr val="000000"/>
                </a:solidFill>
                <a:effectLst/>
                <a:latin typeface="Consolas" panose="020B0609020204030204" pitchFamily="49" charset="0"/>
              </a:rPr>
              <a:t>, axis=</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  </a:t>
            </a:r>
          </a:p>
          <a:p>
            <a:pPr>
              <a:lnSpc>
                <a:spcPts val="1425"/>
              </a:lnSpc>
            </a:pP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wcss</a:t>
            </a:r>
            <a:r>
              <a:rPr lang="es-ES" sz="1200" b="0" dirty="0">
                <a:solidFill>
                  <a:srgbClr val="000000"/>
                </a:solidFill>
                <a:effectLst/>
                <a:latin typeface="Consolas" panose="020B0609020204030204" pitchFamily="49" charset="0"/>
              </a:rPr>
              <a:t> += </a:t>
            </a:r>
            <a:r>
              <a:rPr lang="es-ES" sz="1200" b="0" dirty="0" err="1">
                <a:solidFill>
                  <a:srgbClr val="000000"/>
                </a:solidFill>
                <a:effectLst/>
                <a:latin typeface="Consolas" panose="020B0609020204030204" pitchFamily="49" charset="0"/>
              </a:rPr>
              <a:t>np.sum</a:t>
            </a:r>
            <a:r>
              <a:rPr lang="es-ES" sz="1200" b="0" dirty="0">
                <a:solidFill>
                  <a:srgbClr val="000000"/>
                </a:solidFill>
                <a:effectLst/>
                <a:latin typeface="Consolas" panose="020B0609020204030204" pitchFamily="49" charset="0"/>
              </a:rPr>
              <a:t>((</a:t>
            </a:r>
            <a:r>
              <a:rPr lang="es-ES" sz="1200" b="0" dirty="0" err="1">
                <a:solidFill>
                  <a:srgbClr val="000000"/>
                </a:solidFill>
                <a:effectLst/>
                <a:latin typeface="Consolas" panose="020B0609020204030204" pitchFamily="49" charset="0"/>
              </a:rPr>
              <a:t>cluster_points</a:t>
            </a:r>
            <a:r>
              <a:rPr lang="es-ES" sz="1200" b="0" dirty="0">
                <a:solidFill>
                  <a:srgbClr val="000000"/>
                </a:solidFill>
                <a:effectLst/>
                <a:latin typeface="Consolas" panose="020B0609020204030204" pitchFamily="49" charset="0"/>
              </a:rPr>
              <a:t> - </a:t>
            </a:r>
            <a:r>
              <a:rPr lang="es-ES" sz="1200" b="0" dirty="0" err="1">
                <a:solidFill>
                  <a:srgbClr val="000000"/>
                </a:solidFill>
                <a:effectLst/>
                <a:latin typeface="Consolas" panose="020B0609020204030204" pitchFamily="49" charset="0"/>
              </a:rPr>
              <a:t>centroid</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2</a:t>
            </a:r>
            <a:r>
              <a:rPr lang="es-ES" sz="1200" b="0" dirty="0">
                <a:solidFill>
                  <a:srgbClr val="000000"/>
                </a:solidFill>
                <a:effectLst/>
                <a:latin typeface="Consolas" panose="020B0609020204030204" pitchFamily="49" charset="0"/>
              </a:rPr>
              <a:t>)  </a:t>
            </a:r>
          </a:p>
          <a:p>
            <a:pPr>
              <a:lnSpc>
                <a:spcPts val="1425"/>
              </a:lnSpc>
            </a:pP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return</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wcss</a:t>
            </a:r>
            <a:endParaRPr lang="es-ES" sz="1200" b="0" dirty="0">
              <a:solidFill>
                <a:srgbClr val="000000"/>
              </a:solidFill>
              <a:effectLst/>
              <a:latin typeface="Consolas" panose="020B0609020204030204" pitchFamily="49" charset="0"/>
            </a:endParaRPr>
          </a:p>
          <a:p>
            <a:pPr>
              <a:lnSpc>
                <a:spcPts val="1425"/>
              </a:lnSpc>
            </a:pPr>
            <a:r>
              <a:rPr lang="en-US" sz="1200" dirty="0">
                <a:solidFill>
                  <a:srgbClr val="000000"/>
                </a:solidFill>
                <a:latin typeface="Consolas" panose="020B0609020204030204" pitchFamily="49" charset="0"/>
              </a:rPr>
              <a:t/>
            </a:r>
            <a:br>
              <a:rPr lang="en-US" sz="1200" dirty="0">
                <a:solidFill>
                  <a:srgbClr val="000000"/>
                </a:solidFill>
                <a:latin typeface="Consolas" panose="020B0609020204030204" pitchFamily="49" charset="0"/>
              </a:rPr>
            </a:br>
            <a:r>
              <a:rPr lang="en-US" sz="1200" b="0" dirty="0" err="1">
                <a:solidFill>
                  <a:srgbClr val="000000"/>
                </a:solidFill>
                <a:effectLst/>
                <a:latin typeface="Consolas" panose="020B0609020204030204" pitchFamily="49" charset="0"/>
              </a:rPr>
              <a:t>wcss_values</a:t>
            </a:r>
            <a:r>
              <a:rPr lang="en-US" sz="1200" b="0" dirty="0">
                <a:solidFill>
                  <a:srgbClr val="000000"/>
                </a:solidFill>
                <a:effectLst/>
                <a:latin typeface="Consolas" panose="020B0609020204030204" pitchFamily="49" charset="0"/>
              </a:rPr>
              <a:t> = []</a:t>
            </a:r>
          </a:p>
          <a:p>
            <a:pPr>
              <a:lnSpc>
                <a:spcPts val="1425"/>
              </a:lnSpc>
            </a:pPr>
            <a:r>
              <a:rPr lang="en-US" sz="1200" b="0" dirty="0">
                <a:solidFill>
                  <a:srgbClr val="000000"/>
                </a:solidFill>
                <a:effectLst/>
                <a:latin typeface="Consolas" panose="020B0609020204030204" pitchFamily="49" charset="0"/>
              </a:rPr>
              <a:t/>
            </a: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Probar</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diferentes</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números</a:t>
            </a:r>
            <a:r>
              <a:rPr lang="en-US" sz="1200" b="0" dirty="0">
                <a:solidFill>
                  <a:srgbClr val="008000"/>
                </a:solidFill>
                <a:effectLst/>
                <a:latin typeface="Consolas" panose="020B0609020204030204" pitchFamily="49" charset="0"/>
              </a:rPr>
              <a:t> de clusters</a:t>
            </a:r>
            <a:endParaRPr lang="en-US" sz="1200" b="0" dirty="0">
              <a:solidFill>
                <a:srgbClr val="000000"/>
              </a:solidFill>
              <a:effectLst/>
              <a:latin typeface="Consolas" panose="020B0609020204030204" pitchFamily="49" charset="0"/>
            </a:endParaRPr>
          </a:p>
          <a:p>
            <a:pPr>
              <a:lnSpc>
                <a:spcPts val="1425"/>
              </a:lnSpc>
            </a:pPr>
            <a:r>
              <a:rPr lang="en-US" sz="1200" b="0" dirty="0">
                <a:solidFill>
                  <a:srgbClr val="0000FF"/>
                </a:solidFill>
                <a:effectLst/>
                <a:latin typeface="Consolas" panose="020B0609020204030204" pitchFamily="49" charset="0"/>
              </a:rPr>
              <a:t>for</a:t>
            </a:r>
            <a:r>
              <a:rPr lang="en-US" sz="1200" b="0" dirty="0">
                <a:solidFill>
                  <a:srgbClr val="000000"/>
                </a:solidFill>
                <a:effectLst/>
                <a:latin typeface="Consolas" panose="020B0609020204030204" pitchFamily="49" charset="0"/>
              </a:rPr>
              <a:t> k </a:t>
            </a:r>
            <a:r>
              <a:rPr lang="en-US" sz="1200" b="0" dirty="0">
                <a:solidFill>
                  <a:srgbClr val="0000FF"/>
                </a:solidFill>
                <a:effectLst/>
                <a:latin typeface="Consolas" panose="020B0609020204030204" pitchFamily="49" charset="0"/>
              </a:rPr>
              <a:t>in</a:t>
            </a:r>
            <a:r>
              <a:rPr lang="en-US" sz="1200" b="0" dirty="0">
                <a:solidFill>
                  <a:srgbClr val="000000"/>
                </a:solidFill>
                <a:effectLst/>
                <a:latin typeface="Consolas" panose="020B0609020204030204" pitchFamily="49" charset="0"/>
              </a:rPr>
              <a:t> range(</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11</a:t>
            </a:r>
            <a:r>
              <a:rPr lang="en-US" sz="1200" b="0" dirty="0">
                <a:solidFill>
                  <a:srgbClr val="000000"/>
                </a:solidFill>
                <a:effectLst/>
                <a:latin typeface="Consolas" panose="020B0609020204030204" pitchFamily="49" charset="0"/>
              </a:rPr>
              <a:t>):</a:t>
            </a:r>
          </a:p>
          <a:p>
            <a:pPr>
              <a:lnSpc>
                <a:spcPts val="1425"/>
              </a:lnSpc>
            </a:pPr>
            <a:r>
              <a:rPr lang="en-US" sz="1200" b="0" dirty="0">
                <a:solidFill>
                  <a:srgbClr val="000000"/>
                </a:solidFill>
                <a:effectLst/>
                <a:latin typeface="Consolas" panose="020B0609020204030204" pitchFamily="49" charset="0"/>
              </a:rPr>
              <a:t>    clustering = </a:t>
            </a:r>
            <a:r>
              <a:rPr lang="en-US" sz="1200" b="0" dirty="0" err="1">
                <a:solidFill>
                  <a:srgbClr val="000000"/>
                </a:solidFill>
                <a:effectLst/>
                <a:latin typeface="Consolas" panose="020B0609020204030204" pitchFamily="49" charset="0"/>
              </a:rPr>
              <a:t>AgglomerativeClustering</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n_clusters</a:t>
            </a:r>
            <a:r>
              <a:rPr lang="en-US" sz="1200" b="0" dirty="0">
                <a:solidFill>
                  <a:srgbClr val="000000"/>
                </a:solidFill>
                <a:effectLst/>
                <a:latin typeface="Consolas" panose="020B0609020204030204" pitchFamily="49" charset="0"/>
              </a:rPr>
              <a:t>=k, linkage=</a:t>
            </a:r>
            <a:r>
              <a:rPr lang="en-US" sz="1200" b="0" dirty="0">
                <a:solidFill>
                  <a:srgbClr val="A31515"/>
                </a:solidFill>
                <a:effectLst/>
                <a:latin typeface="Consolas" panose="020B0609020204030204" pitchFamily="49" charset="0"/>
              </a:rPr>
              <a:t>'ward'</a:t>
            </a:r>
            <a:r>
              <a:rPr lang="en-US" sz="1200" b="0" dirty="0">
                <a:solidFill>
                  <a:srgbClr val="000000"/>
                </a:solidFill>
                <a:effectLst/>
                <a:latin typeface="Consolas" panose="020B0609020204030204" pitchFamily="49" charset="0"/>
              </a:rPr>
              <a:t>)</a:t>
            </a:r>
          </a:p>
          <a:p>
            <a:pPr>
              <a:lnSpc>
                <a:spcPts val="1425"/>
              </a:lnSpc>
            </a:pPr>
            <a:r>
              <a:rPr lang="en-US" sz="1200" b="0" dirty="0">
                <a:solidFill>
                  <a:srgbClr val="000000"/>
                </a:solidFill>
                <a:effectLst/>
                <a:latin typeface="Consolas" panose="020B0609020204030204" pitchFamily="49" charset="0"/>
              </a:rPr>
              <a:t>    labels = </a:t>
            </a:r>
            <a:r>
              <a:rPr lang="en-US" sz="1200" b="0" dirty="0" err="1">
                <a:solidFill>
                  <a:srgbClr val="000000"/>
                </a:solidFill>
                <a:effectLst/>
                <a:latin typeface="Consolas" panose="020B0609020204030204" pitchFamily="49" charset="0"/>
              </a:rPr>
              <a:t>clustering.fit_predict</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X_scaled</a:t>
            </a:r>
            <a:r>
              <a:rPr lang="en-US" sz="1200" b="0" dirty="0">
                <a:solidFill>
                  <a:srgbClr val="000000"/>
                </a:solidFill>
                <a:effectLst/>
                <a:latin typeface="Consolas" panose="020B0609020204030204" pitchFamily="49" charset="0"/>
              </a:rPr>
              <a:t>)</a:t>
            </a:r>
          </a:p>
          <a:p>
            <a:pPr>
              <a:lnSpc>
                <a:spcPts val="1425"/>
              </a:lnSpc>
            </a:pP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wcss_values.append</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compute_wcss</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X_scaled</a:t>
            </a:r>
            <a:r>
              <a:rPr lang="en-US" sz="1200" b="0" dirty="0">
                <a:solidFill>
                  <a:srgbClr val="000000"/>
                </a:solidFill>
                <a:effectLst/>
                <a:latin typeface="Consolas" panose="020B0609020204030204" pitchFamily="49" charset="0"/>
              </a:rPr>
              <a:t>, labels))</a:t>
            </a:r>
          </a:p>
          <a:p>
            <a:pPr>
              <a:lnSpc>
                <a:spcPts val="1425"/>
              </a:lnSpc>
            </a:pPr>
            <a:r>
              <a:rPr lang="en-US" sz="1200" b="0" dirty="0">
                <a:solidFill>
                  <a:srgbClr val="000000"/>
                </a:solidFill>
                <a:effectLst/>
                <a:latin typeface="Consolas" panose="020B0609020204030204" pitchFamily="49" charset="0"/>
              </a:rPr>
              <a:t/>
            </a: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Graficar</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el</a:t>
            </a:r>
            <a:r>
              <a:rPr lang="en-US" sz="1200" b="0" dirty="0">
                <a:solidFill>
                  <a:srgbClr val="008000"/>
                </a:solidFill>
                <a:effectLst/>
                <a:latin typeface="Consolas" panose="020B0609020204030204" pitchFamily="49" charset="0"/>
              </a:rPr>
              <a:t> </a:t>
            </a:r>
            <a:r>
              <a:rPr lang="en-US" sz="1200" b="0" dirty="0" err="1">
                <a:solidFill>
                  <a:srgbClr val="008000"/>
                </a:solidFill>
                <a:effectLst/>
                <a:latin typeface="Consolas" panose="020B0609020204030204" pitchFamily="49" charset="0"/>
              </a:rPr>
              <a:t>método</a:t>
            </a:r>
            <a:r>
              <a:rPr lang="en-US" sz="1200" b="0" dirty="0">
                <a:solidFill>
                  <a:srgbClr val="008000"/>
                </a:solidFill>
                <a:effectLst/>
                <a:latin typeface="Consolas" panose="020B0609020204030204" pitchFamily="49" charset="0"/>
              </a:rPr>
              <a:t> del </a:t>
            </a:r>
            <a:r>
              <a:rPr lang="en-US" sz="1200" b="0" dirty="0" err="1">
                <a:solidFill>
                  <a:srgbClr val="008000"/>
                </a:solidFill>
                <a:effectLst/>
                <a:latin typeface="Consolas" panose="020B0609020204030204" pitchFamily="49" charset="0"/>
              </a:rPr>
              <a:t>codo</a:t>
            </a:r>
            <a:endParaRPr lang="en-US" sz="1200" b="0" dirty="0">
              <a:solidFill>
                <a:srgbClr val="000000"/>
              </a:solidFill>
              <a:effectLst/>
              <a:latin typeface="Consolas" panose="020B0609020204030204" pitchFamily="49" charset="0"/>
            </a:endParaRPr>
          </a:p>
          <a:p>
            <a:pPr>
              <a:lnSpc>
                <a:spcPts val="1425"/>
              </a:lnSpc>
            </a:pPr>
            <a:r>
              <a:rPr lang="en-US" sz="1200" b="0" dirty="0" err="1">
                <a:solidFill>
                  <a:srgbClr val="000000"/>
                </a:solidFill>
                <a:effectLst/>
                <a:latin typeface="Consolas" panose="020B0609020204030204" pitchFamily="49" charset="0"/>
              </a:rPr>
              <a:t>plt.plot</a:t>
            </a:r>
            <a:r>
              <a:rPr lang="en-US" sz="1200" b="0" dirty="0">
                <a:solidFill>
                  <a:srgbClr val="000000"/>
                </a:solidFill>
                <a:effectLst/>
                <a:latin typeface="Consolas" panose="020B0609020204030204" pitchFamily="49" charset="0"/>
              </a:rPr>
              <a:t>(range(</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11</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wcss_values</a:t>
            </a:r>
            <a:r>
              <a:rPr lang="en-US" sz="1200" b="0" dirty="0">
                <a:solidFill>
                  <a:srgbClr val="000000"/>
                </a:solidFill>
                <a:effectLst/>
                <a:latin typeface="Consolas" panose="020B0609020204030204" pitchFamily="49" charset="0"/>
              </a:rPr>
              <a:t>, marker=</a:t>
            </a:r>
            <a:r>
              <a:rPr lang="en-US" sz="1200" b="0" dirty="0">
                <a:solidFill>
                  <a:srgbClr val="A31515"/>
                </a:solidFill>
                <a:effectLst/>
                <a:latin typeface="Consolas" panose="020B0609020204030204" pitchFamily="49" charset="0"/>
              </a:rPr>
              <a:t>'o'</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linestyle</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425"/>
              </a:lnSpc>
            </a:pPr>
            <a:r>
              <a:rPr lang="en-US" sz="1200" b="0" dirty="0" err="1">
                <a:solidFill>
                  <a:srgbClr val="000000"/>
                </a:solidFill>
                <a:effectLst/>
                <a:latin typeface="Consolas" panose="020B0609020204030204" pitchFamily="49" charset="0"/>
              </a:rPr>
              <a:t>plt.xlabel</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Número</a:t>
            </a:r>
            <a:r>
              <a:rPr lang="en-US" sz="1200" b="0" dirty="0">
                <a:solidFill>
                  <a:srgbClr val="A31515"/>
                </a:solidFill>
                <a:effectLst/>
                <a:latin typeface="Consolas" panose="020B0609020204030204" pitchFamily="49" charset="0"/>
              </a:rPr>
              <a:t> de Clusters"</a:t>
            </a:r>
            <a:r>
              <a:rPr lang="en-US" sz="1200" b="0" dirty="0">
                <a:solidFill>
                  <a:srgbClr val="000000"/>
                </a:solidFill>
                <a:effectLst/>
                <a:latin typeface="Consolas" panose="020B0609020204030204" pitchFamily="49" charset="0"/>
              </a:rPr>
              <a:t>)</a:t>
            </a:r>
          </a:p>
          <a:p>
            <a:pPr>
              <a:lnSpc>
                <a:spcPts val="1425"/>
              </a:lnSpc>
            </a:pPr>
            <a:r>
              <a:rPr lang="en-US" sz="1200" b="0" dirty="0" err="1">
                <a:solidFill>
                  <a:srgbClr val="000000"/>
                </a:solidFill>
                <a:effectLst/>
                <a:latin typeface="Consolas" panose="020B0609020204030204" pitchFamily="49" charset="0"/>
              </a:rPr>
              <a:t>plt.ylabel</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"WCSS"</a:t>
            </a:r>
            <a:r>
              <a:rPr lang="en-US" sz="1200" b="0" dirty="0">
                <a:solidFill>
                  <a:srgbClr val="000000"/>
                </a:solidFill>
                <a:effectLst/>
                <a:latin typeface="Consolas" panose="020B0609020204030204" pitchFamily="49" charset="0"/>
              </a:rPr>
              <a:t>)</a:t>
            </a:r>
          </a:p>
          <a:p>
            <a:pPr>
              <a:lnSpc>
                <a:spcPts val="1425"/>
              </a:lnSpc>
            </a:pPr>
            <a:r>
              <a:rPr lang="en-US" sz="1200" b="0" dirty="0" err="1">
                <a:solidFill>
                  <a:srgbClr val="000000"/>
                </a:solidFill>
                <a:effectLst/>
                <a:latin typeface="Consolas" panose="020B0609020204030204" pitchFamily="49" charset="0"/>
              </a:rPr>
              <a:t>plt.title</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Método</a:t>
            </a:r>
            <a:r>
              <a:rPr lang="en-US" sz="1200" b="0" dirty="0">
                <a:solidFill>
                  <a:srgbClr val="A31515"/>
                </a:solidFill>
                <a:effectLst/>
                <a:latin typeface="Consolas" panose="020B0609020204030204" pitchFamily="49" charset="0"/>
              </a:rPr>
              <a:t> del Codo para Agglomerative Clustering"</a:t>
            </a:r>
            <a:r>
              <a:rPr lang="en-US" sz="1200" b="0" dirty="0">
                <a:solidFill>
                  <a:srgbClr val="000000"/>
                </a:solidFill>
                <a:effectLst/>
                <a:latin typeface="Consolas" panose="020B0609020204030204" pitchFamily="49" charset="0"/>
              </a:rPr>
              <a:t>)</a:t>
            </a:r>
          </a:p>
          <a:p>
            <a:pPr>
              <a:lnSpc>
                <a:spcPts val="1425"/>
              </a:lnSpc>
            </a:pPr>
            <a:r>
              <a:rPr lang="en-US" sz="1200" b="0" dirty="0" err="1">
                <a:solidFill>
                  <a:srgbClr val="000000"/>
                </a:solidFill>
                <a:effectLst/>
                <a:latin typeface="Consolas" panose="020B0609020204030204" pitchFamily="49" charset="0"/>
              </a:rPr>
              <a:t>plt.show</a:t>
            </a:r>
            <a:r>
              <a:rPr lang="en-US" sz="1200" b="0" dirty="0">
                <a:solidFill>
                  <a:srgbClr val="000000"/>
                </a:solidFill>
                <a:effectLst/>
                <a:latin typeface="Consolas" panose="020B0609020204030204" pitchFamily="49" charset="0"/>
              </a:rPr>
              <a:t>()</a:t>
            </a:r>
          </a:p>
        </p:txBody>
      </p:sp>
      <p:pic>
        <p:nvPicPr>
          <p:cNvPr id="6" name="Imagen 5">
            <a:extLst>
              <a:ext uri="{FF2B5EF4-FFF2-40B4-BE49-F238E27FC236}">
                <a16:creationId xmlns:a16="http://schemas.microsoft.com/office/drawing/2014/main" id="{460D492B-6D0F-3BD0-4544-791BF5EFF144}"/>
              </a:ext>
            </a:extLst>
          </p:cNvPr>
          <p:cNvPicPr>
            <a:picLocks noChangeAspect="1"/>
          </p:cNvPicPr>
          <p:nvPr/>
        </p:nvPicPr>
        <p:blipFill>
          <a:blip r:embed="rId2"/>
          <a:stretch>
            <a:fillRect/>
          </a:stretch>
        </p:blipFill>
        <p:spPr>
          <a:xfrm>
            <a:off x="5940022" y="600770"/>
            <a:ext cx="5939086" cy="4635812"/>
          </a:xfrm>
          <a:prstGeom prst="rect">
            <a:avLst/>
          </a:prstGeom>
          <a:ln w="57150">
            <a:solidFill>
              <a:srgbClr val="C00000">
                <a:alpha val="79000"/>
              </a:srgbClr>
            </a:solidFill>
          </a:ln>
        </p:spPr>
      </p:pic>
    </p:spTree>
    <p:extLst>
      <p:ext uri="{BB962C8B-B14F-4D97-AF65-F5344CB8AC3E}">
        <p14:creationId xmlns:p14="http://schemas.microsoft.com/office/powerpoint/2010/main" val="26489432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5104FCC0-1602-4E53-A4A9-B84AD752D31B}" type="slidenum">
              <a:rPr lang="es-ES" smtClean="0">
                <a:solidFill>
                  <a:prstClr val="black">
                    <a:tint val="75000"/>
                  </a:prstClr>
                </a:solidFill>
              </a:rPr>
              <a:pPr/>
              <a:t>38</a:t>
            </a:fld>
            <a:endParaRPr lang="es-ES">
              <a:solidFill>
                <a:prstClr val="black">
                  <a:tint val="75000"/>
                </a:prstClr>
              </a:solidFill>
            </a:endParaRPr>
          </a:p>
        </p:txBody>
      </p:sp>
      <p:sp>
        <p:nvSpPr>
          <p:cNvPr id="3" name="Rectángulo 2"/>
          <p:cNvSpPr/>
          <p:nvPr/>
        </p:nvSpPr>
        <p:spPr>
          <a:xfrm>
            <a:off x="490491" y="930806"/>
            <a:ext cx="10970581" cy="2308324"/>
          </a:xfrm>
          <a:prstGeom prst="rect">
            <a:avLst/>
          </a:prstGeom>
        </p:spPr>
        <p:txBody>
          <a:bodyPr wrap="square">
            <a:spAutoFit/>
          </a:bodyPr>
          <a:lstStyle/>
          <a:p>
            <a:endParaRPr lang="es-ES" dirty="0">
              <a:hlinkClick r:id="rId2"/>
            </a:endParaRPr>
          </a:p>
          <a:p>
            <a:endParaRPr lang="es-ES" dirty="0">
              <a:hlinkClick r:id="rId2"/>
            </a:endParaRPr>
          </a:p>
          <a:p>
            <a:r>
              <a:rPr lang="es-ES" dirty="0">
                <a:hlinkClick r:id="rId2"/>
              </a:rPr>
              <a:t>https://www.kaggle.com/code/marcinrutecki/clustering-methods-comprehensive-study</a:t>
            </a:r>
          </a:p>
          <a:p>
            <a:r>
              <a:rPr lang="es-ES" dirty="0">
                <a:hlinkClick r:id="rId2"/>
              </a:rPr>
              <a:t>https://www.kaggle.com/code/vipulgandhi/hierarchical-clustering-explanation</a:t>
            </a:r>
          </a:p>
          <a:p>
            <a:r>
              <a:rPr lang="es-ES" dirty="0">
                <a:hlinkClick r:id="rId2"/>
              </a:rPr>
              <a:t>https://dashee87.github.io/data%20science/general/Clustering-with-Scikit-with-GIFs/</a:t>
            </a:r>
            <a:endParaRPr lang="es-ES" dirty="0"/>
          </a:p>
          <a:p>
            <a:r>
              <a:rPr lang="es-ES" dirty="0">
                <a:hlinkClick r:id="rId3"/>
              </a:rPr>
              <a:t>https://www.kaggle.com/code/sumaiyasande2494/create-gifs-in-python-hierarchical-clustering</a:t>
            </a:r>
            <a:endParaRPr lang="es-ES" dirty="0"/>
          </a:p>
          <a:p>
            <a:r>
              <a:rPr lang="es-ES" dirty="0"/>
              <a:t>https://www.kaggle.com/code/devahuja2808/hierarchical-clustering</a:t>
            </a:r>
          </a:p>
          <a:p>
            <a:endParaRPr lang="es-ES" dirty="0"/>
          </a:p>
        </p:txBody>
      </p:sp>
      <p:sp>
        <p:nvSpPr>
          <p:cNvPr id="4" name="CuadroTexto 3">
            <a:extLst>
              <a:ext uri="{FF2B5EF4-FFF2-40B4-BE49-F238E27FC236}">
                <a16:creationId xmlns:a16="http://schemas.microsoft.com/office/drawing/2014/main" id="{FB0CF4F6-AF90-D2D7-7806-925A9624AB19}"/>
              </a:ext>
            </a:extLst>
          </p:cNvPr>
          <p:cNvSpPr txBox="1"/>
          <p:nvPr/>
        </p:nvSpPr>
        <p:spPr>
          <a:xfrm>
            <a:off x="368990" y="415380"/>
            <a:ext cx="5085110" cy="707886"/>
          </a:xfrm>
          <a:prstGeom prst="rect">
            <a:avLst/>
          </a:prstGeom>
          <a:noFill/>
        </p:spPr>
        <p:txBody>
          <a:bodyPr wrap="none" rtlCol="0">
            <a:spAutoFit/>
          </a:bodyPr>
          <a:lstStyle/>
          <a:p>
            <a:r>
              <a:rPr lang="es-ES" sz="4000" b="1" dirty="0" err="1">
                <a:solidFill>
                  <a:schemeClr val="accent1">
                    <a:lumMod val="50000"/>
                  </a:schemeClr>
                </a:solidFill>
              </a:rPr>
              <a:t>Hierarchical</a:t>
            </a:r>
            <a:r>
              <a:rPr lang="es-ES" sz="4000" b="1" dirty="0">
                <a:solidFill>
                  <a:schemeClr val="accent1">
                    <a:lumMod val="50000"/>
                  </a:schemeClr>
                </a:solidFill>
              </a:rPr>
              <a:t> </a:t>
            </a:r>
            <a:r>
              <a:rPr lang="es-ES" sz="4000" b="1" dirty="0" err="1">
                <a:solidFill>
                  <a:schemeClr val="accent1">
                    <a:lumMod val="50000"/>
                  </a:schemeClr>
                </a:solidFill>
              </a:rPr>
              <a:t>Clustering</a:t>
            </a:r>
            <a:r>
              <a:rPr lang="es-ES" sz="4000" b="1" dirty="0">
                <a:solidFill>
                  <a:schemeClr val="accent1">
                    <a:lumMod val="50000"/>
                  </a:schemeClr>
                </a:solidFill>
              </a:rPr>
              <a:t>.</a:t>
            </a:r>
          </a:p>
        </p:txBody>
      </p:sp>
    </p:spTree>
    <p:extLst>
      <p:ext uri="{BB962C8B-B14F-4D97-AF65-F5344CB8AC3E}">
        <p14:creationId xmlns:p14="http://schemas.microsoft.com/office/powerpoint/2010/main" val="127417886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F302CC60E946844A44D317C8BB05DF9" ma:contentTypeVersion="33" ma:contentTypeDescription="Crear nuevo documento." ma:contentTypeScope="" ma:versionID="6c7e834fe0d5188d98b29a4344d1f3e2">
  <xsd:schema xmlns:xsd="http://www.w3.org/2001/XMLSchema" xmlns:xs="http://www.w3.org/2001/XMLSchema" xmlns:p="http://schemas.microsoft.com/office/2006/metadata/properties" xmlns:ns2="68147b4b-69d7-4619-95cc-ccc087043548" xmlns:ns3="a938ec2a-6b57-4b72-a76f-73152430bf4a" targetNamespace="http://schemas.microsoft.com/office/2006/metadata/properties" ma:root="true" ma:fieldsID="1cf8b5368cec60b5cd6cb2330498c9d6" ns2:_="" ns3:_="">
    <xsd:import namespace="68147b4b-69d7-4619-95cc-ccc087043548"/>
    <xsd:import namespace="a938ec2a-6b57-4b72-a76f-73152430bf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147b4b-69d7-4619-95cc-ccc0870435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6b79bab5-423c-41bb-b2a6-fa644551eac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NotebookType" ma:index="20" nillable="true" ma:displayName="Notebook Type" ma:internalName="NotebookType">
      <xsd:simpleType>
        <xsd:restriction base="dms:Text"/>
      </xsd:simpleType>
    </xsd:element>
    <xsd:element name="FolderType" ma:index="21" nillable="true" ma:displayName="Folder Type" ma:internalName="FolderType">
      <xsd:simpleType>
        <xsd:restriction base="dms:Text"/>
      </xsd:simpleType>
    </xsd:element>
    <xsd:element name="CultureName" ma:index="22" nillable="true" ma:displayName="Culture Name" ma:internalName="CultureName">
      <xsd:simpleType>
        <xsd:restriction base="dms:Text"/>
      </xsd:simpleType>
    </xsd:element>
    <xsd:element name="AppVersion" ma:index="23" nillable="true" ma:displayName="App Version" ma:internalName="AppVersion">
      <xsd:simpleType>
        <xsd:restriction base="dms:Text"/>
      </xsd:simpleType>
    </xsd:element>
    <xsd:element name="TeamsChannelId" ma:index="24" nillable="true" ma:displayName="Teams Channel Id" ma:internalName="TeamsChannelId">
      <xsd:simpleType>
        <xsd:restriction base="dms:Text"/>
      </xsd:simpleType>
    </xsd:element>
    <xsd:element name="Owner" ma:index="2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6" nillable="true" ma:displayName="Math Settings" ma:internalName="Math_Settings">
      <xsd:simpleType>
        <xsd:restriction base="dms:Text"/>
      </xsd:simpleType>
    </xsd:element>
    <xsd:element name="DefaultSectionNames" ma:index="27" nillable="true" ma:displayName="Default Section Names" ma:internalName="DefaultSectionNames">
      <xsd:simpleType>
        <xsd:restriction base="dms:Note">
          <xsd:maxLength value="255"/>
        </xsd:restriction>
      </xsd:simpleType>
    </xsd:element>
    <xsd:element name="Templates" ma:index="28" nillable="true" ma:displayName="Templates" ma:internalName="Templates">
      <xsd:simpleType>
        <xsd:restriction base="dms:Note">
          <xsd:maxLength value="255"/>
        </xsd:restriction>
      </xsd:simpleType>
    </xsd:element>
    <xsd:element name="Teachers" ma:index="29"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0"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1"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2" nillable="true" ma:displayName="Distribution Groups" ma:internalName="Distribution_Groups">
      <xsd:simpleType>
        <xsd:restriction base="dms:Note">
          <xsd:maxLength value="255"/>
        </xsd:restriction>
      </xsd:simpleType>
    </xsd:element>
    <xsd:element name="LMS_Mappings" ma:index="33" nillable="true" ma:displayName="LMS Mappings" ma:internalName="LMS_Mappings">
      <xsd:simpleType>
        <xsd:restriction base="dms:Note">
          <xsd:maxLength value="255"/>
        </xsd:restriction>
      </xsd:simpleType>
    </xsd:element>
    <xsd:element name="Invited_Teachers" ma:index="34" nillable="true" ma:displayName="Invited Teachers" ma:internalName="Invited_Teachers">
      <xsd:simpleType>
        <xsd:restriction base="dms:Note">
          <xsd:maxLength value="255"/>
        </xsd:restriction>
      </xsd:simpleType>
    </xsd:element>
    <xsd:element name="Invited_Students" ma:index="35" nillable="true" ma:displayName="Invited Students" ma:internalName="Invited_Students">
      <xsd:simpleType>
        <xsd:restriction base="dms:Note">
          <xsd:maxLength value="255"/>
        </xsd:restriction>
      </xsd:simpleType>
    </xsd:element>
    <xsd:element name="Self_Registration_Enabled" ma:index="36" nillable="true" ma:displayName="Self Registration Enabled" ma:internalName="Self_Registration_Enabled">
      <xsd:simpleType>
        <xsd:restriction base="dms:Boolean"/>
      </xsd:simpleType>
    </xsd:element>
    <xsd:element name="Has_Teacher_Only_SectionGroup" ma:index="37" nillable="true" ma:displayName="Has Teacher Only SectionGroup" ma:internalName="Has_Teacher_Only_SectionGroup">
      <xsd:simpleType>
        <xsd:restriction base="dms:Boolean"/>
      </xsd:simpleType>
    </xsd:element>
    <xsd:element name="Is_Collaboration_Space_Locked" ma:index="38" nillable="true" ma:displayName="Is Collaboration Space Locked" ma:internalName="Is_Collaboration_Space_Locked">
      <xsd:simpleType>
        <xsd:restriction base="dms:Boolean"/>
      </xsd:simpleType>
    </xsd:element>
    <xsd:element name="IsNotebookLocked" ma:index="39" nillable="true" ma:displayName="Is Notebook Locked" ma:internalName="IsNotebookLocked">
      <xsd:simpleType>
        <xsd:restriction base="dms:Boolean"/>
      </xsd:simpleType>
    </xsd:element>
    <xsd:element name="Teams_Channel_Section_Location" ma:index="40" nillable="true" ma:displayName="Teams Channel Section Location" ma:internalName="Teams_Channel_Section_Loca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38ec2a-6b57-4b72-a76f-73152430bf4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bc230d2-7967-476b-a5b7-5f7b59276066}" ma:internalName="TaxCatchAll" ma:showField="CatchAllData" ma:web="a938ec2a-6b57-4b72-a76f-73152430bf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wner xmlns="68147b4b-69d7-4619-95cc-ccc087043548">
      <UserInfo>
        <DisplayName/>
        <AccountId xsi:nil="true"/>
        <AccountType/>
      </UserInfo>
    </Owner>
    <Is_Collaboration_Space_Locked xmlns="68147b4b-69d7-4619-95cc-ccc087043548" xsi:nil="true"/>
    <Teams_Channel_Section_Location xmlns="68147b4b-69d7-4619-95cc-ccc087043548" xsi:nil="true"/>
    <Templates xmlns="68147b4b-69d7-4619-95cc-ccc087043548" xsi:nil="true"/>
    <lcf76f155ced4ddcb4097134ff3c332f xmlns="68147b4b-69d7-4619-95cc-ccc087043548">
      <Terms xmlns="http://schemas.microsoft.com/office/infopath/2007/PartnerControls"/>
    </lcf76f155ced4ddcb4097134ff3c332f>
    <TaxCatchAll xmlns="a938ec2a-6b57-4b72-a76f-73152430bf4a" xsi:nil="true"/>
    <NotebookType xmlns="68147b4b-69d7-4619-95cc-ccc087043548" xsi:nil="true"/>
    <FolderType xmlns="68147b4b-69d7-4619-95cc-ccc087043548" xsi:nil="true"/>
    <Teachers xmlns="68147b4b-69d7-4619-95cc-ccc087043548">
      <UserInfo>
        <DisplayName/>
        <AccountId xsi:nil="true"/>
        <AccountType/>
      </UserInfo>
    </Teachers>
    <Distribution_Groups xmlns="68147b4b-69d7-4619-95cc-ccc087043548" xsi:nil="true"/>
    <LMS_Mappings xmlns="68147b4b-69d7-4619-95cc-ccc087043548" xsi:nil="true"/>
    <Invited_Teachers xmlns="68147b4b-69d7-4619-95cc-ccc087043548" xsi:nil="true"/>
    <IsNotebookLocked xmlns="68147b4b-69d7-4619-95cc-ccc087043548" xsi:nil="true"/>
    <CultureName xmlns="68147b4b-69d7-4619-95cc-ccc087043548" xsi:nil="true"/>
    <Students xmlns="68147b4b-69d7-4619-95cc-ccc087043548">
      <UserInfo>
        <DisplayName/>
        <AccountId xsi:nil="true"/>
        <AccountType/>
      </UserInfo>
    </Students>
    <Student_Groups xmlns="68147b4b-69d7-4619-95cc-ccc087043548">
      <UserInfo>
        <DisplayName/>
        <AccountId xsi:nil="true"/>
        <AccountType/>
      </UserInfo>
    </Student_Groups>
    <TeamsChannelId xmlns="68147b4b-69d7-4619-95cc-ccc087043548" xsi:nil="true"/>
    <Invited_Students xmlns="68147b4b-69d7-4619-95cc-ccc087043548" xsi:nil="true"/>
    <DefaultSectionNames xmlns="68147b4b-69d7-4619-95cc-ccc087043548" xsi:nil="true"/>
    <Self_Registration_Enabled xmlns="68147b4b-69d7-4619-95cc-ccc087043548" xsi:nil="true"/>
    <Has_Teacher_Only_SectionGroup xmlns="68147b4b-69d7-4619-95cc-ccc087043548" xsi:nil="true"/>
    <Math_Settings xmlns="68147b4b-69d7-4619-95cc-ccc087043548" xsi:nil="true"/>
    <AppVersion xmlns="68147b4b-69d7-4619-95cc-ccc087043548" xsi:nil="true"/>
  </documentManagement>
</p:properties>
</file>

<file path=customXml/itemProps1.xml><?xml version="1.0" encoding="utf-8"?>
<ds:datastoreItem xmlns:ds="http://schemas.openxmlformats.org/officeDocument/2006/customXml" ds:itemID="{A02145DD-551B-4AD3-936F-8C45B42F3F1A}"/>
</file>

<file path=customXml/itemProps2.xml><?xml version="1.0" encoding="utf-8"?>
<ds:datastoreItem xmlns:ds="http://schemas.openxmlformats.org/officeDocument/2006/customXml" ds:itemID="{4D793241-0339-4564-A394-AAAC84299F13}"/>
</file>

<file path=customXml/itemProps3.xml><?xml version="1.0" encoding="utf-8"?>
<ds:datastoreItem xmlns:ds="http://schemas.openxmlformats.org/officeDocument/2006/customXml" ds:itemID="{E2F02A54-716D-4A0C-A5C6-B34AFBEC16E4}"/>
</file>

<file path=docProps/app.xml><?xml version="1.0" encoding="utf-8"?>
<Properties xmlns="http://schemas.openxmlformats.org/officeDocument/2006/extended-properties" xmlns:vt="http://schemas.openxmlformats.org/officeDocument/2006/docPropsVTypes">
  <TotalTime>379</TotalTime>
  <Words>2679</Words>
  <Application>Microsoft Office PowerPoint</Application>
  <PresentationFormat>Panorámica</PresentationFormat>
  <Paragraphs>542</Paragraphs>
  <Slides>38</Slides>
  <Notes>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38</vt:i4>
      </vt:variant>
    </vt:vector>
  </HeadingPairs>
  <TitlesOfParts>
    <vt:vector size="47" baseType="lpstr">
      <vt:lpstr>Arial</vt:lpstr>
      <vt:lpstr>Calibri</vt:lpstr>
      <vt:lpstr>Calibri Light</vt:lpstr>
      <vt:lpstr>Cambria Math</vt:lpstr>
      <vt:lpstr>Consolas</vt:lpstr>
      <vt:lpstr>Courier New</vt:lpstr>
      <vt:lpstr>g_d0_f2</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uss</dc:creator>
  <cp:lastModifiedBy>Javier_PC</cp:lastModifiedBy>
  <cp:revision>330</cp:revision>
  <cp:lastPrinted>2024-05-20T14:53:26Z</cp:lastPrinted>
  <dcterms:created xsi:type="dcterms:W3CDTF">2018-11-26T16:12:09Z</dcterms:created>
  <dcterms:modified xsi:type="dcterms:W3CDTF">2026-02-25T09:41:54Z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0x010100CF302CC60E946844A44D317C8BB05DF9</vt:lpwstr>
  </property>
</Properties>
</file>